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1" r:id="rId4"/>
    <p:sldId id="260" r:id="rId5"/>
    <p:sldId id="262" r:id="rId6"/>
    <p:sldId id="264" r:id="rId7"/>
    <p:sldId id="265" r:id="rId8"/>
    <p:sldId id="263" r:id="rId9"/>
    <p:sldId id="266" r:id="rId10"/>
    <p:sldId id="268" r:id="rId11"/>
    <p:sldId id="267" r:id="rId12"/>
    <p:sldId id="25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2E93"/>
    <a:srgbClr val="995BCC"/>
    <a:srgbClr val="6C1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04" autoAdjust="0"/>
  </p:normalViewPr>
  <p:slideViewPr>
    <p:cSldViewPr snapToGrid="0">
      <p:cViewPr>
        <p:scale>
          <a:sx n="75" d="100"/>
          <a:sy n="75" d="100"/>
        </p:scale>
        <p:origin x="843" y="3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AF322-1614-4B94-B6A1-B76658E349DC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FD236-6467-47CF-9CC9-221BD919C8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29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6E90A-740A-4036-B77E-D4A16F619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9B4659-1E1C-40EB-81DA-554E1F8629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9FEFE0-4738-4A9E-9F01-7117B8AA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37ACC0-6018-4137-AE99-81AC778F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5FE467-19C9-4A75-8577-29967111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33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3A844A-7364-47F6-A761-0D8F6E16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373E6D-2323-486B-BE09-2F8E60C89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605EB3-3C0D-4730-A334-3BAE921F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00432-AAA1-474F-BC5C-AE99E740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9CE2DA-F8E5-42D7-B973-A9633560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01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3BF8F-99D4-4D88-9ACD-D78411E8B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EEC6C7-A7F9-4EA0-8BFE-575CA83C8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1E3EF7-B249-493A-A023-45E60481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F9B23A-5C21-4F3A-99A7-52FF35FB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7C035E-D7A7-49D7-94A3-EFBCECC38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54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E7F3E-158F-44E1-AD1C-182B7B51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0217F2-7190-4A33-93C4-EAA2C5B10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1AE3EB-D975-416C-B543-A0579D15E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11C581-1BE3-4367-A765-029EA088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50909E-C4D7-49AF-9BFB-01E040F5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55C4F6-D9F8-4DC1-8F71-5C97FA91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87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5BAD2-9DDA-4C1B-9460-D5B9C3CC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D12923-4545-4D9E-A2C7-96F3EA50E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D2AE5F-574A-4C26-BAED-6F5DD9338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E4313C-59A4-4A43-98F3-C1A35392D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D1C7F94-6A8F-4E96-B098-14DF75935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5F89490-43B3-47E0-945A-EDB58B9D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3AD3602-85C0-4BDA-B84C-B972A7DA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25450D-B67A-4FEA-A9B4-36DBEC15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90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199A44-7B61-4A47-956D-1F014917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7D5DBF-656C-478F-B680-4AC3F54D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AEFFB1D-F737-4C50-B3FF-B7038984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5B7082-AAE5-46D5-AF61-6F4C2814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89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0471FE-5864-489D-A592-5B97C6C0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1EF6CC-ACA4-4CBF-9575-19900942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D58BC9-BC32-44BC-B81A-6B3127F5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55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64CC7-139D-4F87-820F-A04EF281D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3AE14D-923A-4FED-A3C3-F6148F2D6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C88556-DC5D-4DB9-88BA-A4EF747EC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50DED5-48E9-47D0-81DB-725B4B11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5D2FD8-CD8C-47A9-B4B1-A1AB7963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BECAD6-F06F-4ACA-AD76-73963B4D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61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DCB24-E3EC-4295-BF95-351DB2FA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7C9491-2B1C-4CFA-A559-8E915849F8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F49A99-254A-48D7-ADAE-8508C56F4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0C7DCB-6CA8-4FDB-BFE9-10872A26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60CA91-BF09-41A3-A58F-824E8580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99730A-35D5-4E81-96C2-FA79CA74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6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CA712-21DC-4BD1-8249-A7BE4A76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0DE9C6-B3F3-43D6-A0F5-527BF53E6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25DC13-8A02-4368-B94C-820B45CE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E279F1-2B33-4200-AEB7-A9B10670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E51E21-A68C-4C07-8617-AE9DC2FB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35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F1B4797-34DD-4F49-AEF3-ECB7313C5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E3A757-69FE-4A83-847F-F4291BA9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971DE9-B35B-4AB9-979C-280359E9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88C09A-3295-4059-BFB9-970DA9F5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12CB15-6C40-42A9-8571-D1847B93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693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5CE17-72C1-4CE5-9A32-316036A6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2EC54C-2DB6-40DA-91A6-B0F20E9AF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BDA523-9CCA-4B64-8DC8-48D64ECE8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92180-FD14-4913-9D18-66C9AD820358}" type="datetimeFigureOut">
              <a:rPr lang="ru-RU" smtClean="0"/>
              <a:pPr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73392F-E304-4063-9604-B8D01B6B0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A73235-DA13-4CB4-AC81-3AA4E34B7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2C54E-EFF1-4B00-8652-01128ACE980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947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C4908-1E9F-E0B5-107C-C84FCD4D6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378" y="1814663"/>
            <a:ext cx="9743243" cy="1175713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+mn-lt"/>
              </a:rPr>
              <a:t>Разработка корпоративного веб-приложения для клонирования баз данных </a:t>
            </a:r>
            <a:r>
              <a:rPr lang="en-US" sz="3200" b="1" dirty="0">
                <a:latin typeface="+mn-lt"/>
              </a:rPr>
              <a:t>MS SQL</a:t>
            </a:r>
            <a:r>
              <a:rPr lang="ru-RU" sz="3200" b="1" dirty="0">
                <a:latin typeface="+mn-lt"/>
              </a:rPr>
              <a:t> </a:t>
            </a:r>
            <a:r>
              <a:rPr lang="en-US" sz="3200" b="1" dirty="0">
                <a:latin typeface="+mn-lt"/>
              </a:rPr>
              <a:t>c</a:t>
            </a:r>
            <a:r>
              <a:rPr lang="ru-RU" sz="3200" b="1" dirty="0">
                <a:latin typeface="+mn-lt"/>
              </a:rPr>
              <a:t> возможностью управления клонами и мониторингом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D52BBF-204D-0C99-2294-C290AEDB8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9468" y="379444"/>
            <a:ext cx="7833064" cy="996595"/>
          </a:xfrm>
        </p:spPr>
        <p:txBody>
          <a:bodyPr>
            <a:normAutofit/>
          </a:bodyPr>
          <a:lstStyle/>
          <a:p>
            <a:r>
              <a:rPr lang="ru-RU" b="1" dirty="0"/>
              <a:t>Высший колледж информатики Университета (ВКИ НГУ)</a:t>
            </a:r>
          </a:p>
          <a:p>
            <a:r>
              <a:rPr lang="ru-RU" b="1" dirty="0"/>
              <a:t>Кафедра информатики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80897C1-5711-BD90-FA6E-1F975E437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266511"/>
              </p:ext>
            </p:extLst>
          </p:nvPr>
        </p:nvGraphicFramePr>
        <p:xfrm>
          <a:off x="310718" y="3429001"/>
          <a:ext cx="11611993" cy="2228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51166">
                  <a:extLst>
                    <a:ext uri="{9D8B030D-6E8A-4147-A177-3AD203B41FA5}">
                      <a16:colId xmlns:a16="http://schemas.microsoft.com/office/drawing/2014/main" val="3662582577"/>
                    </a:ext>
                  </a:extLst>
                </a:gridCol>
                <a:gridCol w="5460827">
                  <a:extLst>
                    <a:ext uri="{9D8B030D-6E8A-4147-A177-3AD203B41FA5}">
                      <a16:colId xmlns:a16="http://schemas.microsoft.com/office/drawing/2014/main" val="1086863165"/>
                    </a:ext>
                  </a:extLst>
                </a:gridCol>
              </a:tblGrid>
              <a:tr h="1516897">
                <a:tc>
                  <a:txBody>
                    <a:bodyPr/>
                    <a:lstStyle/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</a:rPr>
                        <a:t>Руководитель </a:t>
                      </a:r>
                    </a:p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</a:rPr>
                        <a:t>инженер ВКИ НГУ</a:t>
                      </a:r>
                      <a:endParaRPr lang="ru-RU" sz="2200" b="1" i="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25730" algn="r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</a:rPr>
                        <a:t>Цимбалист Г.Н.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20685"/>
                  </a:ext>
                </a:extLst>
              </a:tr>
              <a:tr h="711953">
                <a:tc>
                  <a:txBody>
                    <a:bodyPr/>
                    <a:lstStyle/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</a:rPr>
                        <a:t>Студентка </a:t>
                      </a:r>
                      <a:r>
                        <a:rPr lang="en-US" sz="2200" b="1" i="0" baseline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</a:rPr>
                        <a:t> курса</a:t>
                      </a:r>
                    </a:p>
                    <a:p>
                      <a:pPr marR="125730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</a:rPr>
                        <a:t>гр. 2207д2</a:t>
                      </a:r>
                      <a:endParaRPr lang="ru-RU" sz="2200" b="1" i="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125730" algn="r"/>
                      <a:r>
                        <a:rPr lang="ru-RU" sz="2200" b="1" i="0" baseline="0" dirty="0">
                          <a:solidFill>
                            <a:schemeClr val="tx1"/>
                          </a:solidFill>
                          <a:effectLst/>
                        </a:rPr>
                        <a:t>Бородина А.В.</a:t>
                      </a: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821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31673CA-AF50-77EF-E883-E71BB54FB373}"/>
              </a:ext>
            </a:extLst>
          </p:cNvPr>
          <p:cNvSpPr txBox="1"/>
          <p:nvPr/>
        </p:nvSpPr>
        <p:spPr>
          <a:xfrm>
            <a:off x="4292907" y="5866264"/>
            <a:ext cx="36061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25730" algn="ctr"/>
            <a:r>
              <a:rPr lang="ru-RU" sz="2000" dirty="0">
                <a:solidFill>
                  <a:schemeClr val="tx1"/>
                </a:solidFill>
                <a:effectLst/>
              </a:rPr>
              <a:t>Новосибирск</a:t>
            </a:r>
          </a:p>
          <a:p>
            <a:pPr marR="125730" algn="ctr"/>
            <a:r>
              <a:rPr lang="ru-RU" sz="2000" dirty="0">
                <a:ea typeface="Calibri" panose="020F0502020204030204" pitchFamily="34" charset="0"/>
              </a:rPr>
              <a:t>2025</a:t>
            </a:r>
            <a:endParaRPr lang="ru-RU" sz="2000" dirty="0"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16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6828D-7D8B-4737-89C7-236C42EAA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0004"/>
            <a:ext cx="10515600" cy="1325563"/>
          </a:xfrm>
        </p:spPr>
        <p:txBody>
          <a:bodyPr/>
          <a:lstStyle/>
          <a:p>
            <a:r>
              <a:rPr lang="ru-RU" b="1" dirty="0"/>
              <a:t>Актуальность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FFB2B26-12FC-4B11-83AD-B3F82D1AB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2168"/>
            <a:ext cx="10515600" cy="79206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Разработано по заказу компании ООО «БАЙТ» («Автотрейд»</a:t>
            </a:r>
            <a:r>
              <a:rPr lang="en-US" dirty="0"/>
              <a:t>).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7A1734-1DF6-4CC3-BA66-5059BF3AED96}"/>
              </a:ext>
            </a:extLst>
          </p:cNvPr>
          <p:cNvSpPr txBox="1"/>
          <p:nvPr/>
        </p:nvSpPr>
        <p:spPr>
          <a:xfrm>
            <a:off x="838201" y="1687341"/>
            <a:ext cx="5906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Потребность</a:t>
            </a:r>
            <a:r>
              <a:rPr lang="en-US" b="1" dirty="0"/>
              <a:t>: </a:t>
            </a:r>
            <a:r>
              <a:rPr lang="ru-RU" dirty="0"/>
              <a:t>Разработчикам БД нужен доступ к копиям рабочих баз.</a:t>
            </a:r>
            <a:br>
              <a:rPr lang="ru-RU" dirty="0"/>
            </a:br>
            <a:endParaRPr lang="ru-RU" dirty="0"/>
          </a:p>
        </p:txBody>
      </p:sp>
      <p:pic>
        <p:nvPicPr>
          <p:cNvPr id="5" name="Picture 6" descr="Microsoft Sql Server Logo Png">
            <a:extLst>
              <a:ext uri="{FF2B5EF4-FFF2-40B4-BE49-F238E27FC236}">
                <a16:creationId xmlns:a16="http://schemas.microsoft.com/office/drawing/2014/main" id="{FD2A3D73-1BDB-492A-0A85-89E74B48B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6" y="3168324"/>
            <a:ext cx="3578494" cy="289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99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CFF57-B02B-4ADB-B30E-322B0395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E749BE-F775-49AC-8E09-FEBAA2E48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3978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dirty="0"/>
              <a:t>Цель работы: </a:t>
            </a:r>
            <a:r>
              <a:rPr lang="ru-RU" sz="2000" dirty="0"/>
              <a:t>Разработка системы централизованного управления копиями баз данных MS SQL с возможностью создания образов и развёртывания клонов через веб-интерфейс на .NET Core и Blazor</a:t>
            </a:r>
            <a:r>
              <a:rPr lang="en-US" sz="2000" dirty="0"/>
              <a:t>.</a:t>
            </a:r>
            <a:endParaRPr lang="ru-RU" sz="2000" dirty="0"/>
          </a:p>
          <a:p>
            <a:pPr>
              <a:lnSpc>
                <a:spcPct val="110000"/>
              </a:lnSpc>
            </a:pPr>
            <a:r>
              <a:rPr lang="ru-RU" dirty="0"/>
              <a:t>Задачи: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r>
              <a:rPr lang="ru-RU" sz="2000" dirty="0">
                <a:solidFill>
                  <a:srgbClr val="000000"/>
                </a:solidFill>
                <a:ea typeface="Cambria" panose="02040503050406030204" pitchFamily="18" charset="0"/>
              </a:rPr>
              <a:t>Реализация функционала службы-агента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r>
              <a:rPr lang="ru-RU" sz="20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Разработка клиентской (браузерной) части веб-приложения 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r>
              <a:rPr lang="ru-RU" sz="20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Разработка серверной части веб-приложения </a:t>
            </a:r>
          </a:p>
          <a:p>
            <a:pPr marL="742950" lvl="1" indent="-285750">
              <a:lnSpc>
                <a:spcPct val="110000"/>
              </a:lnSpc>
              <a:tabLst>
                <a:tab pos="630555" algn="l"/>
              </a:tabLst>
            </a:pPr>
            <a:r>
              <a:rPr lang="ru-RU" sz="2000" dirty="0">
                <a:solidFill>
                  <a:srgbClr val="000000"/>
                </a:solidFill>
                <a:ea typeface="Cambria" panose="02040503050406030204" pitchFamily="18" charset="0"/>
              </a:rPr>
              <a:t>Тестирование и отладка веб-приложения</a:t>
            </a:r>
            <a:endParaRPr lang="ru-RU" sz="2000" dirty="0"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655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zure SQL Database: Managed Relational Service - Pipeliner CRM">
            <a:extLst>
              <a:ext uri="{FF2B5EF4-FFF2-40B4-BE49-F238E27FC236}">
                <a16:creationId xmlns:a16="http://schemas.microsoft.com/office/drawing/2014/main" id="{2F230536-17E8-811A-9A03-F25AE27A8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275" y="1325563"/>
            <a:ext cx="4297680" cy="42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6828D-7D8B-4737-89C7-236C42EAA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681316"/>
          </a:xfrm>
        </p:spPr>
        <p:txBody>
          <a:bodyPr/>
          <a:lstStyle/>
          <a:p>
            <a:r>
              <a:rPr lang="ru-RU" b="1" dirty="0">
                <a:solidFill>
                  <a:srgbClr val="C00000"/>
                </a:solidFill>
                <a:latin typeface="+mn-lt"/>
              </a:rPr>
              <a:t>Аналоги</a:t>
            </a:r>
          </a:p>
        </p:txBody>
      </p:sp>
      <p:pic>
        <p:nvPicPr>
          <p:cNvPr id="3" name="Picture 2" descr="SQL Clone - Visual Studio Marketplace">
            <a:extLst>
              <a:ext uri="{FF2B5EF4-FFF2-40B4-BE49-F238E27FC236}">
                <a16:creationId xmlns:a16="http://schemas.microsoft.com/office/drawing/2014/main" id="{3ACD3316-3EC8-4C92-37AD-6A71F2DE3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50" y="2040024"/>
            <a:ext cx="2079131" cy="213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6F113C-5DF9-7056-03BA-AACE0A7DECDD}"/>
              </a:ext>
            </a:extLst>
          </p:cNvPr>
          <p:cNvSpPr txBox="1"/>
          <p:nvPr/>
        </p:nvSpPr>
        <p:spPr>
          <a:xfrm>
            <a:off x="910351" y="4341456"/>
            <a:ext cx="2031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Redgate SQL clone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48A217-88A9-CD36-B07D-CC4374F4A6F5}"/>
              </a:ext>
            </a:extLst>
          </p:cNvPr>
          <p:cNvSpPr txBox="1"/>
          <p:nvPr/>
        </p:nvSpPr>
        <p:spPr>
          <a:xfrm>
            <a:off x="3527877" y="2651126"/>
            <a:ext cx="51362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рынке существуют альтернативные решения, но заказчику они не подходят, так нет возможности приобрести лицензию в РФ.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283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0">
              <a:schemeClr val="bg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298B6-8ED4-473E-9D5D-3F277376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359" y="271479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662E93"/>
                </a:solidFill>
                <a:latin typeface="+mn-lt"/>
                <a:cs typeface="Times New Roman" panose="02020603050405020304" pitchFamily="18" charset="0"/>
              </a:rPr>
              <a:t>Программные средства разработки</a:t>
            </a:r>
          </a:p>
        </p:txBody>
      </p:sp>
      <p:pic>
        <p:nvPicPr>
          <p:cNvPr id="2052" name="Picture 4" descr="Microsoft Visual Studio 2019 Launch Date Announced | CSW Solutions">
            <a:extLst>
              <a:ext uri="{FF2B5EF4-FFF2-40B4-BE49-F238E27FC236}">
                <a16:creationId xmlns:a16="http://schemas.microsoft.com/office/drawing/2014/main" id="{96398E16-3B78-1ECE-5EEA-3B9E76672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3182" y="2055768"/>
            <a:ext cx="1830976" cy="1373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icrosoft Sql Server Logo Png">
            <a:extLst>
              <a:ext uri="{FF2B5EF4-FFF2-40B4-BE49-F238E27FC236}">
                <a16:creationId xmlns:a16="http://schemas.microsoft.com/office/drawing/2014/main" id="{ABD92126-4870-A97C-6540-EA8EE3C79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104" y="4209304"/>
            <a:ext cx="1745132" cy="141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90A7987-6BB9-4345-9C89-E8FFE176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004" y="2138450"/>
            <a:ext cx="1290550" cy="129055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8B98B5E-7BA8-E32C-3C9C-4FE8CB923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658" y="2055768"/>
            <a:ext cx="1948522" cy="1219730"/>
          </a:xfrm>
          <a:prstGeom prst="rect">
            <a:avLst/>
          </a:prstGeom>
        </p:spPr>
      </p:pic>
      <p:sp>
        <p:nvSpPr>
          <p:cNvPr id="2048" name="TextBox 2047">
            <a:extLst>
              <a:ext uri="{FF2B5EF4-FFF2-40B4-BE49-F238E27FC236}">
                <a16:creationId xmlns:a16="http://schemas.microsoft.com/office/drawing/2014/main" id="{CF36CB90-3C93-5911-CCBE-41E2DA0AEB70}"/>
              </a:ext>
            </a:extLst>
          </p:cNvPr>
          <p:cNvSpPr txBox="1"/>
          <p:nvPr/>
        </p:nvSpPr>
        <p:spPr>
          <a:xfrm>
            <a:off x="1210359" y="5751052"/>
            <a:ext cx="230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.NET Core  (</a:t>
            </a:r>
            <a:r>
              <a:rPr lang="en-US" dirty="0"/>
              <a:t>ASP.NET</a:t>
            </a:r>
            <a:r>
              <a:rPr lang="ru-RU" dirty="0"/>
              <a:t>).</a:t>
            </a:r>
          </a:p>
        </p:txBody>
      </p:sp>
      <p:pic>
        <p:nvPicPr>
          <p:cNvPr id="2086" name="Picture 38" descr="C# developer | Backend">
            <a:extLst>
              <a:ext uri="{FF2B5EF4-FFF2-40B4-BE49-F238E27FC236}">
                <a16:creationId xmlns:a16="http://schemas.microsoft.com/office/drawing/2014/main" id="{24B3D150-9DC8-7FEF-4740-53FF71DAE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181" y="4149788"/>
            <a:ext cx="1421476" cy="142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8" name="Picture 40" descr="An In-depth Look: HTML5 and CSS3 | Global Wire Associates">
            <a:extLst>
              <a:ext uri="{FF2B5EF4-FFF2-40B4-BE49-F238E27FC236}">
                <a16:creationId xmlns:a16="http://schemas.microsoft.com/office/drawing/2014/main" id="{755AABCE-C4BE-557C-6F20-EF61896B5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5922" y="4230586"/>
            <a:ext cx="2018897" cy="1472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33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6608" y="365125"/>
            <a:ext cx="10515600" cy="1325563"/>
          </a:xfrm>
        </p:spPr>
        <p:txBody>
          <a:bodyPr/>
          <a:lstStyle/>
          <a:p>
            <a:r>
              <a:rPr lang="en-US" b="1" dirty="0"/>
              <a:t>UML </a:t>
            </a:r>
            <a:r>
              <a:rPr lang="ru-RU" b="1" dirty="0"/>
              <a:t>диаграмма последовательности для процесса клонирования базы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19B42E-70DE-7647-5BC8-A510B3C96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767" y="1755950"/>
            <a:ext cx="8679782" cy="4736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Диаграмма прецедентов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203476-AB47-4ABA-19B8-838AAB5D7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" y="1690688"/>
            <a:ext cx="11452979" cy="4503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 веб-клиента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116415B-0FF3-9266-88BF-6B785AB2E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40" y="1607223"/>
            <a:ext cx="7412148" cy="48414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6368-DC0E-2816-0C34-9AF31F80D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58553-CB87-61FE-2FC8-83E183DCE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 веб-клиента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2E8F9CA-869D-A9D9-DD4B-7BC300E33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691" y="1540825"/>
            <a:ext cx="6902151" cy="495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83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8413C-0549-A625-79F0-C4F0080D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56E4F-BF31-4A6F-83D9-32AE73AE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 веб-клиента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B23A3A3-7AA6-8C84-3B4E-DAFFBC97A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708" y="1429265"/>
            <a:ext cx="3880269" cy="522039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D3D2AD-75EA-1535-9E2B-8ADBB6F1F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29265"/>
            <a:ext cx="3851108" cy="522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09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0CD7B-613B-1CE3-D4E8-A5524958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FE07E-F65E-5FF2-A97E-65A706AA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 веб-клиента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7FDEC0E-37AD-22EB-1DD3-315926863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19" y="1558840"/>
            <a:ext cx="6618920" cy="494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97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01C50A-C6E6-44F5-AF9B-2730E5C2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D7845B-26BC-4B97-B7FD-7A4913143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542"/>
            <a:ext cx="10515600" cy="482618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sz="2000" dirty="0">
                <a:solidFill>
                  <a:srgbClr val="000000"/>
                </a:solidFill>
                <a:ea typeface="Cambria" panose="02040503050406030204" pitchFamily="18" charset="0"/>
              </a:rPr>
              <a:t>В данным момент в ходе реализации поставленной цели были выполнены следующие задачи: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ea typeface="Cambria" panose="02040503050406030204" pitchFamily="18" charset="0"/>
              </a:rPr>
              <a:t>Выявлены ключевые потребности, которые должен покрывать продукт.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Разработка технического задания и согласование с заказчиком, внесение правок в ТЗ. 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solidFill>
                  <a:srgbClr val="000000"/>
                </a:solidFill>
                <a:ea typeface="Cambria" panose="02040503050406030204" pitchFamily="18" charset="0"/>
              </a:rPr>
              <a:t>Разработка макета веб-клиента, диаграмм. </a:t>
            </a:r>
          </a:p>
          <a:p>
            <a:pPr algn="just">
              <a:lnSpc>
                <a:spcPct val="150000"/>
              </a:lnSpc>
            </a:pPr>
            <a:endParaRPr lang="ru-RU" sz="1500" dirty="0">
              <a:solidFill>
                <a:srgbClr val="000000"/>
              </a:solidFill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ru-RU" sz="1500" dirty="0">
              <a:solidFill>
                <a:srgbClr val="000000"/>
              </a:solidFill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422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367</TotalTime>
  <Words>218</Words>
  <Application>Microsoft Office PowerPoint</Application>
  <PresentationFormat>Широкоэкранный</PresentationFormat>
  <Paragraphs>37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Тема Office</vt:lpstr>
      <vt:lpstr>Разработка корпоративного веб-приложения для клонирования баз данных MS SQL c возможностью управления клонами и мониторингом</vt:lpstr>
      <vt:lpstr>Актуальность</vt:lpstr>
      <vt:lpstr>Цель и задачи</vt:lpstr>
      <vt:lpstr>Аналоги</vt:lpstr>
      <vt:lpstr>Программные средства разработки</vt:lpstr>
      <vt:lpstr>UML диаграмма последовательности для процесса клонирования базы данных</vt:lpstr>
      <vt:lpstr>Диаграмма прецедентов</vt:lpstr>
      <vt:lpstr>Макет веб-клиента</vt:lpstr>
      <vt:lpstr>Макет веб-клиента</vt:lpstr>
      <vt:lpstr>Макет веб-клиента</vt:lpstr>
      <vt:lpstr>Макет веб-клиента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maxsmg</dc:creator>
  <cp:lastModifiedBy>Анастасия Бородина</cp:lastModifiedBy>
  <cp:revision>60</cp:revision>
  <dcterms:created xsi:type="dcterms:W3CDTF">2025-12-16T11:40:20Z</dcterms:created>
  <dcterms:modified xsi:type="dcterms:W3CDTF">2025-12-18T16:14:22Z</dcterms:modified>
</cp:coreProperties>
</file>