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7" r:id="rId2"/>
    <p:sldId id="258" r:id="rId3"/>
    <p:sldId id="261" r:id="rId4"/>
    <p:sldId id="260" r:id="rId5"/>
    <p:sldId id="262" r:id="rId6"/>
    <p:sldId id="264" r:id="rId7"/>
    <p:sldId id="265" r:id="rId8"/>
    <p:sldId id="263" r:id="rId9"/>
    <p:sldId id="266" r:id="rId10"/>
    <p:sldId id="268" r:id="rId11"/>
    <p:sldId id="267" r:id="rId12"/>
    <p:sldId id="259" r:id="rId13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704" autoAdjust="0"/>
  </p:normalViewPr>
  <p:slideViewPr>
    <p:cSldViewPr snapToGrid="0">
      <p:cViewPr>
        <p:scale>
          <a:sx n="75" d="100"/>
          <a:sy n="75" d="100"/>
        </p:scale>
        <p:origin x="843" y="355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BAF322-1614-4B94-B6A1-B76658E349DC}" type="datetimeFigureOut">
              <a:rPr lang="ru-RU" smtClean="0"/>
              <a:pPr/>
              <a:t>17.12.2025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A2FD236-6467-47CF-9CC9-221BD919C86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592925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7F6E90A-740A-4036-B77E-D4A16F6191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C99B4659-1E1C-40EB-81DA-554E1F8629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C9FEFE0-4738-4A9E-9F01-7117B8AA7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392180-FD14-4913-9D18-66C9AD820358}" type="datetimeFigureOut">
              <a:rPr lang="ru-RU" smtClean="0"/>
              <a:pPr/>
              <a:t>17.12.2025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637ACC0-6018-4137-AE99-81AC778F8A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25FE467-19C9-4A75-8577-2996711198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373335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43A844A-7364-47F6-A761-0D8F6E168A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B373E6D-2323-486B-BE09-2F8E60C899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F605EB3-3C0D-4730-A334-3BAE921F1C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392180-FD14-4913-9D18-66C9AD820358}" type="datetimeFigureOut">
              <a:rPr lang="ru-RU" smtClean="0"/>
              <a:pPr/>
              <a:t>17.12.2025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B300432-AAA1-474F-BC5C-AE99E74022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79CE2DA-F8E5-42D7-B973-A96335609E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100190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4D3BF8F-99D4-4D88-9ACD-D78411E8B5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AEEC6C7-A7F9-4EA0-8BFE-575CA83C84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31E3EF7-B249-493A-A023-45E6048175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392180-FD14-4913-9D18-66C9AD820358}" type="datetimeFigureOut">
              <a:rPr lang="ru-RU" smtClean="0"/>
              <a:pPr/>
              <a:t>17.12.2025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7F9B23A-5C21-4F3A-99A7-52FF35FB9A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97C035E-D7A7-49D7-94A3-EFBCECC38E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425487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3CE7F3E-158F-44E1-AD1C-182B7B5135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00217F2-7190-4A33-93C4-EAA2C5B102C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9D1AE3EB-D975-416C-B543-A0579D15E9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3111C581-1BE3-4367-A765-029EA088C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392180-FD14-4913-9D18-66C9AD820358}" type="datetimeFigureOut">
              <a:rPr lang="ru-RU" smtClean="0"/>
              <a:pPr/>
              <a:t>17.12.2025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2250909E-C4D7-49AF-9BFB-01E040F539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0055C4F6-D9F8-4DC1-8F71-5C97FA9104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778796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165BAD2-9DDA-4C1B-9460-D5B9C3CC5B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8D12923-4545-4D9E-A2C7-96F3EA50EC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6D2AE5F-574A-4C26-BAED-6F5DD93386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B3E4313C-59A4-4A43-98F3-C1A35392DE2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4D1C7F94-6A8F-4E96-B098-14DF75935A7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25F89490-43B3-47E0-945A-EDB58B9DA2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392180-FD14-4913-9D18-66C9AD820358}" type="datetimeFigureOut">
              <a:rPr lang="ru-RU" smtClean="0"/>
              <a:pPr/>
              <a:t>17.12.2025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C3AD3602-85C0-4BDA-B84C-B972A7DAE4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1A25450D-B67A-4FEA-A9B4-36DBEC15E9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009005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E199A44-7B61-4A47-956D-1F0149177C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AF7D5DBF-656C-478F-B680-4AC3F54DCC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392180-FD14-4913-9D18-66C9AD820358}" type="datetimeFigureOut">
              <a:rPr lang="ru-RU" smtClean="0"/>
              <a:pPr/>
              <a:t>17.12.2025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DAEFFB1D-F737-4C50-B3FF-B703898451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285B7082-AAE5-46D5-AF61-6F4C28149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038983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9E0471FE-5864-489D-A592-5B97C6C0A1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392180-FD14-4913-9D18-66C9AD820358}" type="datetimeFigureOut">
              <a:rPr lang="ru-RU" smtClean="0"/>
              <a:pPr/>
              <a:t>17.12.2025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AD1EF6CC-ACA4-4CBF-9575-19900942FD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FD58BC9-BC32-44BC-B81A-6B3127F5F2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035508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C964CC7-139D-4F87-820F-A04EF281D0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33AE14D-923A-4FED-A3C3-F6148F2D66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E7C88556-DC5D-4DB9-88BA-A4EF747EC1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3C50DED5-48E9-47D0-81DB-725B4B1143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392180-FD14-4913-9D18-66C9AD820358}" type="datetimeFigureOut">
              <a:rPr lang="ru-RU" smtClean="0"/>
              <a:pPr/>
              <a:t>17.12.2025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D5D2FD8-CD8C-47A9-B4B1-A1AB796332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DBECAD6-F06F-4ACA-AD76-73963B4DAF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946171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45DCB24-E3EC-4295-BF95-351DB2FABF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B17C9491-2B1C-4CFA-A559-8E915849F80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6F49A99-254A-48D7-ADAE-8508C56F40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880C7DCB-6CA8-4FDB-BFE9-10872A26A9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392180-FD14-4913-9D18-66C9AD820358}" type="datetimeFigureOut">
              <a:rPr lang="ru-RU" smtClean="0"/>
              <a:pPr/>
              <a:t>17.12.2025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7760CA91-BF09-41A3-A58F-824E8580FD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A099730A-35D5-4E81-96C2-FA79CA74E3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38676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E7CA712-21DC-4BD1-8249-A7BE4A76C8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2E0DE9C6-B3F3-43D6-A0F5-527BF53E6D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325DC13-8A02-4368-B94C-820B45CEFA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392180-FD14-4913-9D18-66C9AD820358}" type="datetimeFigureOut">
              <a:rPr lang="ru-RU" smtClean="0"/>
              <a:pPr/>
              <a:t>17.12.2025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1E279F1-2B33-4200-AEB7-A9B10670CD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7E51E21-A68C-4C07-8617-AE9DC2FB8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433542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BF1B4797-34DD-4F49-AEF3-ECB7313C50B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25E3A757-69FE-4A83-847F-F4291BA9C2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A971DE9-B35B-4AB9-979C-280359E9CF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392180-FD14-4913-9D18-66C9AD820358}" type="datetimeFigureOut">
              <a:rPr lang="ru-RU" smtClean="0"/>
              <a:pPr/>
              <a:t>17.12.2025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D88C09A-3295-4059-BFB9-970DA9F572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812CB15-6C40-42A9-8571-D1847B93C4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92C54E-EFF1-4B00-8652-01128ACE980F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656938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35CE17-72C1-4CE5-9A32-316036A69C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22EC54C-2DB6-40DA-91A6-B0F20E9AF4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3BDA523-9CCA-4B64-8DC8-48D64ECE81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9392180-FD14-4913-9D18-66C9AD820358}" type="datetimeFigureOut">
              <a:rPr lang="ru-RU" smtClean="0"/>
              <a:pPr/>
              <a:t>17.12.2025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573392F-E304-4063-9604-B8D01B6B0D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2A73235-DA13-4CB4-AC81-3AA4E34B74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92C54E-EFF1-4B00-8652-01128ACE980F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759474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9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AFC4908-1E9F-E0B5-107C-C84FCD4D656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24378" y="1814663"/>
            <a:ext cx="9743243" cy="1175713"/>
          </a:xfrm>
        </p:spPr>
        <p:txBody>
          <a:bodyPr>
            <a:normAutofit fontScale="90000"/>
          </a:bodyPr>
          <a:lstStyle/>
          <a:p>
            <a:r>
              <a:rPr lang="ru-RU" sz="3200" b="1" dirty="0">
                <a:latin typeface="+mn-lt"/>
              </a:rPr>
              <a:t>Разработка корпоративного веб-приложения для клонирования баз данных </a:t>
            </a:r>
            <a:r>
              <a:rPr lang="en-US" sz="3200" b="1" dirty="0">
                <a:latin typeface="+mn-lt"/>
              </a:rPr>
              <a:t>MS SQL</a:t>
            </a:r>
            <a:r>
              <a:rPr lang="ru-RU" sz="3200" b="1" dirty="0">
                <a:latin typeface="+mn-lt"/>
              </a:rPr>
              <a:t> </a:t>
            </a:r>
            <a:r>
              <a:rPr lang="en-US" sz="3200" b="1" dirty="0">
                <a:latin typeface="+mn-lt"/>
              </a:rPr>
              <a:t>c</a:t>
            </a:r>
            <a:r>
              <a:rPr lang="ru-RU" sz="3200" b="1" dirty="0">
                <a:latin typeface="+mn-lt"/>
              </a:rPr>
              <a:t> возможностью управления клонами и мониторингом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69D52BBF-204D-0C99-2294-C290AEDB8A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179468" y="379444"/>
            <a:ext cx="7833064" cy="996595"/>
          </a:xfrm>
        </p:spPr>
        <p:txBody>
          <a:bodyPr>
            <a:normAutofit/>
          </a:bodyPr>
          <a:lstStyle/>
          <a:p>
            <a:r>
              <a:rPr lang="ru-RU" b="1" dirty="0"/>
              <a:t>Высший колледж информатики Университета (ВКИ НГУ)</a:t>
            </a:r>
          </a:p>
          <a:p>
            <a:r>
              <a:rPr lang="ru-RU" b="1" dirty="0"/>
              <a:t>Кафедра информатики</a:t>
            </a:r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980897C1-5711-BD90-FA6E-1F975E4373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5266511"/>
              </p:ext>
            </p:extLst>
          </p:nvPr>
        </p:nvGraphicFramePr>
        <p:xfrm>
          <a:off x="310718" y="3429001"/>
          <a:ext cx="11611993" cy="22288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151166">
                  <a:extLst>
                    <a:ext uri="{9D8B030D-6E8A-4147-A177-3AD203B41FA5}">
                      <a16:colId xmlns:a16="http://schemas.microsoft.com/office/drawing/2014/main" val="3662582577"/>
                    </a:ext>
                  </a:extLst>
                </a:gridCol>
                <a:gridCol w="5460827">
                  <a:extLst>
                    <a:ext uri="{9D8B030D-6E8A-4147-A177-3AD203B41FA5}">
                      <a16:colId xmlns:a16="http://schemas.microsoft.com/office/drawing/2014/main" val="1086863165"/>
                    </a:ext>
                  </a:extLst>
                </a:gridCol>
              </a:tblGrid>
              <a:tr h="1516897">
                <a:tc>
                  <a:txBody>
                    <a:bodyPr/>
                    <a:lstStyle/>
                    <a:p>
                      <a:pPr marR="125730"/>
                      <a:r>
                        <a:rPr lang="ru-RU" sz="2200" b="1" i="0" baseline="0" dirty="0">
                          <a:solidFill>
                            <a:schemeClr val="tx1"/>
                          </a:solidFill>
                          <a:effectLst/>
                        </a:rPr>
                        <a:t>Руководитель </a:t>
                      </a:r>
                    </a:p>
                    <a:p>
                      <a:pPr marR="125730"/>
                      <a:r>
                        <a:rPr lang="ru-RU" sz="2200" b="1" i="0" baseline="0" dirty="0">
                          <a:solidFill>
                            <a:schemeClr val="tx1"/>
                          </a:solidFill>
                          <a:effectLst/>
                        </a:rPr>
                        <a:t>инженер ВКИ НГУ</a:t>
                      </a:r>
                      <a:endParaRPr lang="ru-RU" sz="2200" b="1" i="0" baseline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R="125730" algn="r"/>
                      <a:r>
                        <a:rPr lang="ru-RU" sz="2200" b="1" i="0" baseline="0" dirty="0">
                          <a:solidFill>
                            <a:schemeClr val="tx1"/>
                          </a:solidFill>
                          <a:effectLst/>
                        </a:rPr>
                        <a:t>Цимбалист Г.Н.</a:t>
                      </a: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0620685"/>
                  </a:ext>
                </a:extLst>
              </a:tr>
              <a:tr h="711953">
                <a:tc>
                  <a:txBody>
                    <a:bodyPr/>
                    <a:lstStyle/>
                    <a:p>
                      <a:pPr marR="125730"/>
                      <a:r>
                        <a:rPr lang="ru-RU" sz="2200" b="1" i="0" baseline="0" dirty="0">
                          <a:solidFill>
                            <a:schemeClr val="tx1"/>
                          </a:solidFill>
                          <a:effectLst/>
                        </a:rPr>
                        <a:t>Студентка </a:t>
                      </a:r>
                      <a:r>
                        <a:rPr lang="en-US" sz="2200" b="1" i="0" baseline="0" dirty="0">
                          <a:solidFill>
                            <a:schemeClr val="tx1"/>
                          </a:solidFill>
                          <a:effectLst/>
                        </a:rPr>
                        <a:t>4</a:t>
                      </a:r>
                      <a:r>
                        <a:rPr lang="ru-RU" sz="2200" b="1" i="0" baseline="0" dirty="0">
                          <a:solidFill>
                            <a:schemeClr val="tx1"/>
                          </a:solidFill>
                          <a:effectLst/>
                        </a:rPr>
                        <a:t> курса</a:t>
                      </a:r>
                    </a:p>
                    <a:p>
                      <a:pPr marR="125730"/>
                      <a:r>
                        <a:rPr lang="ru-RU" sz="2200" b="1" i="0" baseline="0" dirty="0">
                          <a:solidFill>
                            <a:schemeClr val="tx1"/>
                          </a:solidFill>
                          <a:effectLst/>
                        </a:rPr>
                        <a:t>гр. 2207д2</a:t>
                      </a:r>
                      <a:endParaRPr lang="ru-RU" sz="2200" b="1" i="0" baseline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R="125730" algn="r"/>
                      <a:r>
                        <a:rPr lang="ru-RU" sz="2200" b="1" i="0" baseline="0" dirty="0">
                          <a:solidFill>
                            <a:schemeClr val="tx1"/>
                          </a:solidFill>
                          <a:effectLst/>
                        </a:rPr>
                        <a:t>Бородина А.В.</a:t>
                      </a: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0682175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E31673CA-AF50-77EF-E883-E71BB54FB373}"/>
              </a:ext>
            </a:extLst>
          </p:cNvPr>
          <p:cNvSpPr txBox="1"/>
          <p:nvPr/>
        </p:nvSpPr>
        <p:spPr>
          <a:xfrm>
            <a:off x="4292907" y="5866264"/>
            <a:ext cx="3606183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125730" algn="ctr"/>
            <a:r>
              <a:rPr lang="ru-RU" sz="2000" dirty="0">
                <a:solidFill>
                  <a:schemeClr val="tx1"/>
                </a:solidFill>
                <a:effectLst/>
              </a:rPr>
              <a:t>Новосибирск</a:t>
            </a:r>
          </a:p>
          <a:p>
            <a:pPr marR="125730" algn="ctr"/>
            <a:r>
              <a:rPr lang="ru-RU" sz="2000" dirty="0">
                <a:ea typeface="Calibri" panose="020F0502020204030204" pitchFamily="34" charset="0"/>
              </a:rPr>
              <a:t>2025</a:t>
            </a:r>
            <a:endParaRPr lang="ru-RU" sz="2000" dirty="0">
              <a:solidFill>
                <a:schemeClr val="tx1"/>
              </a:solidFill>
              <a:effectLst/>
              <a:ea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731677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FED5B07-4905-05FE-91BB-46265DD9A6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0809" y="5835832"/>
            <a:ext cx="1411432" cy="79207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326828D-7D8B-4737-89C7-236C42EAAD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10004"/>
            <a:ext cx="10515600" cy="1325563"/>
          </a:xfrm>
        </p:spPr>
        <p:txBody>
          <a:bodyPr/>
          <a:lstStyle/>
          <a:p>
            <a:r>
              <a:rPr lang="ru-RU" dirty="0"/>
              <a:t>Актуальность</a:t>
            </a:r>
          </a:p>
        </p:txBody>
      </p:sp>
      <p:sp>
        <p:nvSpPr>
          <p:cNvPr id="7" name="Объект 6">
            <a:extLst>
              <a:ext uri="{FF2B5EF4-FFF2-40B4-BE49-F238E27FC236}">
                <a16:creationId xmlns:a16="http://schemas.microsoft.com/office/drawing/2014/main" id="{2FFB2B26-12FC-4B11-83AD-B3F82D1AB8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22168"/>
            <a:ext cx="10515600" cy="792069"/>
          </a:xfrm>
        </p:spPr>
        <p:txBody>
          <a:bodyPr/>
          <a:lstStyle/>
          <a:p>
            <a:pPr marL="0" indent="0">
              <a:buNone/>
            </a:pPr>
            <a:r>
              <a:rPr lang="ru-RU" dirty="0"/>
              <a:t>Разработано по заказу компании ООО «БАЙТ» («Автотрейд»</a:t>
            </a:r>
            <a:r>
              <a:rPr lang="en-US" dirty="0"/>
              <a:t>).</a:t>
            </a:r>
            <a:endParaRPr lang="ru-RU" dirty="0"/>
          </a:p>
          <a:p>
            <a:pPr marL="0" indent="0">
              <a:buNone/>
            </a:pPr>
            <a:endParaRPr lang="ru-RU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77A1734-1DF6-4CC3-BA66-5059BF3AED96}"/>
              </a:ext>
            </a:extLst>
          </p:cNvPr>
          <p:cNvSpPr txBox="1"/>
          <p:nvPr/>
        </p:nvSpPr>
        <p:spPr>
          <a:xfrm>
            <a:off x="755072" y="1681233"/>
            <a:ext cx="9810403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/>
              <a:t>Потребность</a:t>
            </a:r>
            <a:r>
              <a:rPr lang="en-US" b="1" dirty="0"/>
              <a:t>: </a:t>
            </a:r>
            <a:r>
              <a:rPr lang="ru-RU" dirty="0"/>
              <a:t>Администраторам и разработчикам баз данных важно иметь доступ к актуальным, но изолированным копиям рабочих БД. Им требуется создавать «клон» рабочей базы для отладки, тестирования и анализа производительности. Однако стандартные инструменты SQL Server (например, RESTORE DATABASE) неэффективны при работе с большими базами (объёмом от 25 ГБ и выше). Процесс полного восстановления может занимать несколько часов.</a:t>
            </a:r>
          </a:p>
          <a:p>
            <a:r>
              <a:rPr lang="ru-RU" dirty="0"/>
              <a:t>Для решения этой проблемы в компании были разработаны PowerShell-скрипты, позволяющие использовать технологию виртуальных дисков (VHD) для создания клонов образа. Это значительно ускорило процесс, но породило новую проблему.</a:t>
            </a:r>
          </a:p>
          <a:p>
            <a:br>
              <a:rPr lang="ru-RU" dirty="0"/>
            </a:br>
            <a:r>
              <a:rPr lang="ru-RU" b="1" dirty="0"/>
              <a:t>Проблема: </a:t>
            </a:r>
            <a:r>
              <a:rPr lang="ru-RU" dirty="0"/>
              <a:t>На сегодняшний день разработчики вынуждены вручную запускать несколько скриптов PowerShell для выполнения операций </a:t>
            </a:r>
            <a:r>
              <a:rPr lang="en-US" dirty="0"/>
              <a:t>c</a:t>
            </a:r>
            <a:r>
              <a:rPr lang="ru-RU" dirty="0"/>
              <a:t>оздание VHD-образа, развёртывание клонов. Этот процесс требует технических знаний, высокой концентрации и времени. Отсутствует централизованное управление, контроль за использованием дискового пространства, проверка доступности серверов</a:t>
            </a:r>
            <a:r>
              <a:rPr lang="en-US" dirty="0"/>
              <a:t> </a:t>
            </a:r>
            <a:r>
              <a:rPr lang="ru-RU" dirty="0"/>
              <a:t>и т.д. Все это приводит к ошибкам, задержкам и потере рабочего времени.</a:t>
            </a:r>
          </a:p>
          <a:p>
            <a:endParaRPr lang="ru-RU" dirty="0"/>
          </a:p>
        </p:txBody>
      </p:sp>
      <p:pic>
        <p:nvPicPr>
          <p:cNvPr id="5" name="Picture 6" descr="Microsoft Sql Server Logo Png">
            <a:extLst>
              <a:ext uri="{FF2B5EF4-FFF2-40B4-BE49-F238E27FC236}">
                <a16:creationId xmlns:a16="http://schemas.microsoft.com/office/drawing/2014/main" id="{FD2A3D73-1BDB-492A-0A85-89E74B48BE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92908" y="5752407"/>
            <a:ext cx="1079687" cy="872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839925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44CFF57-B02B-4ADB-B30E-322B0395B9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Цель и задачи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6E749BE-F775-49AC-8E09-FEBAA2E48A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539783"/>
          </a:xfrm>
        </p:spPr>
        <p:txBody>
          <a:bodyPr>
            <a:normAutofit fontScale="92500" lnSpcReduction="20000"/>
          </a:bodyPr>
          <a:lstStyle/>
          <a:p>
            <a:pPr>
              <a:lnSpc>
                <a:spcPct val="110000"/>
              </a:lnSpc>
            </a:pPr>
            <a:r>
              <a:rPr lang="ru-RU" dirty="0"/>
              <a:t>Цель работы: Разработка системы централизованного управления копиями баз данных MS SQL с возможностью создания образов и развёртывания клонов через веб-интерфейс на .NET Core и Blazor</a:t>
            </a:r>
            <a:r>
              <a:rPr lang="en-US" dirty="0"/>
              <a:t>.</a:t>
            </a:r>
            <a:endParaRPr lang="ru-RU" dirty="0"/>
          </a:p>
          <a:p>
            <a:pPr>
              <a:lnSpc>
                <a:spcPct val="110000"/>
              </a:lnSpc>
            </a:pPr>
            <a:r>
              <a:rPr lang="ru-RU" dirty="0"/>
              <a:t>Задачи:</a:t>
            </a:r>
          </a:p>
          <a:p>
            <a:pPr marL="742950" lvl="1" indent="-285750">
              <a:lnSpc>
                <a:spcPct val="110000"/>
              </a:lnSpc>
              <a:tabLst>
                <a:tab pos="630555" algn="l"/>
              </a:tabLst>
            </a:pPr>
            <a:r>
              <a:rPr lang="ru-RU" sz="2000" b="1" dirty="0">
                <a:solidFill>
                  <a:srgbClr val="000000"/>
                </a:solidFill>
                <a:ea typeface="Cambria" panose="02040503050406030204" pitchFamily="18" charset="0"/>
              </a:rPr>
              <a:t>Реализация функционала агента Windows Service </a:t>
            </a:r>
            <a:r>
              <a:rPr lang="ru-RU" sz="2000" dirty="0">
                <a:solidFill>
                  <a:srgbClr val="000000"/>
                </a:solidFill>
                <a:ea typeface="Cambria" panose="02040503050406030204" pitchFamily="18" charset="0"/>
              </a:rPr>
              <a:t>для взаимодействия с СУБД.</a:t>
            </a:r>
          </a:p>
          <a:p>
            <a:pPr marL="742950" lvl="1" indent="-285750">
              <a:lnSpc>
                <a:spcPct val="110000"/>
              </a:lnSpc>
              <a:tabLst>
                <a:tab pos="630555" algn="l"/>
              </a:tabLst>
            </a:pPr>
            <a:r>
              <a:rPr lang="ru-RU" sz="2000" b="1" dirty="0">
                <a:solidFill>
                  <a:srgbClr val="000000"/>
                </a:solidFill>
                <a:ea typeface="Cambria" panose="02040503050406030204" pitchFamily="18" charset="0"/>
              </a:rPr>
              <a:t>Разработка клиентской (браузерной) части веб-приложения </a:t>
            </a:r>
            <a:r>
              <a:rPr lang="ru-RU" sz="2000" dirty="0">
                <a:solidFill>
                  <a:srgbClr val="000000"/>
                </a:solidFill>
                <a:ea typeface="Cambria" panose="02040503050406030204" pitchFamily="18" charset="0"/>
              </a:rPr>
              <a:t>на Blazor Server, предоставляющей интерфейс для создания/удаления образов и клонов, а также мониторинга их состояния.</a:t>
            </a:r>
          </a:p>
          <a:p>
            <a:pPr marL="742950" lvl="1" indent="-285750">
              <a:lnSpc>
                <a:spcPct val="110000"/>
              </a:lnSpc>
              <a:tabLst>
                <a:tab pos="630555" algn="l"/>
              </a:tabLst>
            </a:pPr>
            <a:r>
              <a:rPr lang="ru-RU" sz="2000" b="1" dirty="0">
                <a:solidFill>
                  <a:srgbClr val="000000"/>
                </a:solidFill>
                <a:ea typeface="Cambria" panose="02040503050406030204" pitchFamily="18" charset="0"/>
              </a:rPr>
              <a:t>Разработка серверной части веб-приложения </a:t>
            </a:r>
            <a:r>
              <a:rPr lang="ru-RU" sz="2000" dirty="0">
                <a:solidFill>
                  <a:srgbClr val="000000"/>
                </a:solidFill>
                <a:ea typeface="Cambria" panose="02040503050406030204" pitchFamily="18" charset="0"/>
              </a:rPr>
              <a:t>на ASP.NET Core для реализации бизнес-логики, взаимодействия с агентом, управления метаданными и обеспечения безопасности доступа.</a:t>
            </a:r>
          </a:p>
          <a:p>
            <a:pPr marL="742950" lvl="1" indent="-285750">
              <a:lnSpc>
                <a:spcPct val="110000"/>
              </a:lnSpc>
              <a:tabLst>
                <a:tab pos="630555" algn="l"/>
              </a:tabLst>
            </a:pPr>
            <a:r>
              <a:rPr lang="ru-RU" sz="2000" b="1" dirty="0">
                <a:solidFill>
                  <a:srgbClr val="000000"/>
                </a:solidFill>
                <a:ea typeface="Cambria" panose="02040503050406030204" pitchFamily="18" charset="0"/>
              </a:rPr>
              <a:t>Тестирование и отладка веб-приложения</a:t>
            </a:r>
            <a:r>
              <a:rPr lang="ru-RU" sz="2000" dirty="0">
                <a:solidFill>
                  <a:srgbClr val="000000"/>
                </a:solidFill>
                <a:ea typeface="Cambria" panose="02040503050406030204" pitchFamily="18" charset="0"/>
              </a:rPr>
              <a:t>, включая проверку корректности создания образов и клонов, обработки ошибок.</a:t>
            </a:r>
            <a:endParaRPr lang="ru-RU" sz="2000" dirty="0"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96556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zure SQL Database: Managed Relational Service - Pipeliner CRM">
            <a:extLst>
              <a:ext uri="{FF2B5EF4-FFF2-40B4-BE49-F238E27FC236}">
                <a16:creationId xmlns:a16="http://schemas.microsoft.com/office/drawing/2014/main" id="{2F230536-17E8-811A-9A03-F25AE27A8B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19" y="3496228"/>
            <a:ext cx="3200400" cy="3200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326828D-7D8B-4737-89C7-236C42EAAD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ru-RU" dirty="0"/>
              <a:t>Аналоги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B6C9E6A-12CC-415A-AFC3-5253464C3445}"/>
              </a:ext>
            </a:extLst>
          </p:cNvPr>
          <p:cNvSpPr txBox="1"/>
          <p:nvPr/>
        </p:nvSpPr>
        <p:spPr>
          <a:xfrm>
            <a:off x="3244735" y="4070263"/>
            <a:ext cx="8055032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+ Облачное решение от </a:t>
            </a:r>
            <a:r>
              <a:rPr lang="en-US" dirty="0"/>
              <a:t>Microsoft.</a:t>
            </a:r>
            <a:r>
              <a:rPr lang="ru-RU" dirty="0"/>
              <a:t> Встроенные механизмы восстановления и клонирования. Полная изоляция, автоматическое резервное копирование, масштабируемость.</a:t>
            </a:r>
          </a:p>
          <a:p>
            <a:r>
              <a:rPr lang="ru-RU" dirty="0"/>
              <a:t>- Требует миграции в облако Azure.</a:t>
            </a:r>
          </a:p>
          <a:p>
            <a:r>
              <a:rPr lang="ru-RU" dirty="0"/>
              <a:t>- Нет прямого контроля над VHD-файлами.</a:t>
            </a:r>
            <a:br>
              <a:rPr lang="en-US" dirty="0"/>
            </a:br>
            <a:r>
              <a:rPr lang="en-US" dirty="0"/>
              <a:t>- </a:t>
            </a:r>
            <a:r>
              <a:rPr lang="ru-RU" dirty="0"/>
              <a:t>Стоимость может быть высокой при частом создании/удалении клонов</a:t>
            </a:r>
          </a:p>
        </p:txBody>
      </p:sp>
      <p:pic>
        <p:nvPicPr>
          <p:cNvPr id="3" name="Picture 2" descr="SQL Clone - Visual Studio Marketplace">
            <a:extLst>
              <a:ext uri="{FF2B5EF4-FFF2-40B4-BE49-F238E27FC236}">
                <a16:creationId xmlns:a16="http://schemas.microsoft.com/office/drawing/2014/main" id="{3ACD3316-3EC8-4C92-37AD-6A71F2DE37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8510" y="1229557"/>
            <a:ext cx="2079131" cy="21322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66F113C-5DF9-7056-03BA-AACE0A7DECDD}"/>
              </a:ext>
            </a:extLst>
          </p:cNvPr>
          <p:cNvSpPr txBox="1"/>
          <p:nvPr/>
        </p:nvSpPr>
        <p:spPr>
          <a:xfrm>
            <a:off x="838200" y="3429000"/>
            <a:ext cx="20310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Redgate SQL clone</a:t>
            </a:r>
            <a:endParaRPr lang="ru-RU" b="1" dirty="0">
              <a:solidFill>
                <a:srgbClr val="FF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648A217-88A9-CD36-B07D-CC4374F4A6F5}"/>
              </a:ext>
            </a:extLst>
          </p:cNvPr>
          <p:cNvSpPr txBox="1"/>
          <p:nvPr/>
        </p:nvSpPr>
        <p:spPr>
          <a:xfrm>
            <a:off x="3244735" y="1570902"/>
            <a:ext cx="687185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+ Расширенный функционал - специализированный инструмент с развитым UI, поддержкой командной строки, интеграцией с CI/CD</a:t>
            </a:r>
            <a:br>
              <a:rPr lang="en-US" dirty="0"/>
            </a:br>
            <a:r>
              <a:rPr lang="en-US" dirty="0"/>
              <a:t>-  </a:t>
            </a:r>
            <a:r>
              <a:rPr lang="ru-RU" dirty="0"/>
              <a:t>Высокая стоимость лицензий, особенно при масштабировании на множество серверов и пользователей.</a:t>
            </a:r>
            <a:r>
              <a:rPr lang="en-US" dirty="0"/>
              <a:t> </a:t>
            </a:r>
            <a:r>
              <a:rPr lang="ru-RU" dirty="0"/>
              <a:t>Нет возможности приобрести ПО в России.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928390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92298B6-8ED4-473E-9D5D-3F2773764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Программные средства разработки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FA23089-62F2-4EEA-B036-CA898FC9961E}"/>
              </a:ext>
            </a:extLst>
          </p:cNvPr>
          <p:cNvSpPr txBox="1"/>
          <p:nvPr/>
        </p:nvSpPr>
        <p:spPr>
          <a:xfrm>
            <a:off x="8634152" y="1891945"/>
            <a:ext cx="316711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Visual Studio </a:t>
            </a:r>
            <a:r>
              <a:rPr lang="ru-RU" dirty="0"/>
              <a:t>-</a:t>
            </a:r>
            <a:r>
              <a:rPr lang="en-US" dirty="0"/>
              <a:t> IDE </a:t>
            </a:r>
            <a:r>
              <a:rPr lang="ru-RU" dirty="0"/>
              <a:t>для разработки клиентской</a:t>
            </a:r>
            <a:r>
              <a:rPr lang="en-US" dirty="0"/>
              <a:t> </a:t>
            </a:r>
            <a:r>
              <a:rPr lang="ru-RU" dirty="0"/>
              <a:t>и серверной части.</a:t>
            </a:r>
          </a:p>
        </p:txBody>
      </p:sp>
      <p:pic>
        <p:nvPicPr>
          <p:cNvPr id="2052" name="Picture 4" descr="Microsoft Visual Studio 2019 Launch Date Announced | CSW Solutions">
            <a:extLst>
              <a:ext uri="{FF2B5EF4-FFF2-40B4-BE49-F238E27FC236}">
                <a16:creationId xmlns:a16="http://schemas.microsoft.com/office/drawing/2014/main" id="{96398E16-3B78-1ECE-5EEA-3B9E766724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19358" y="1690687"/>
            <a:ext cx="1830976" cy="1373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Microsoft Sql Server Logo Png">
            <a:extLst>
              <a:ext uri="{FF2B5EF4-FFF2-40B4-BE49-F238E27FC236}">
                <a16:creationId xmlns:a16="http://schemas.microsoft.com/office/drawing/2014/main" id="{ABD92126-4870-A97C-6540-EA8EE3C79F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80239" y="1690687"/>
            <a:ext cx="1745132" cy="14107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BB542EF8-BED0-C8BC-8A9B-4452A07E0AF4}"/>
              </a:ext>
            </a:extLst>
          </p:cNvPr>
          <p:cNvSpPr txBox="1"/>
          <p:nvPr/>
        </p:nvSpPr>
        <p:spPr>
          <a:xfrm>
            <a:off x="3175679" y="1831198"/>
            <a:ext cx="29203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MSSQL – </a:t>
            </a:r>
            <a:r>
              <a:rPr lang="ru-RU" dirty="0"/>
              <a:t>СУБД с которым будет работать агент.</a:t>
            </a:r>
          </a:p>
        </p:txBody>
      </p:sp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590A7987-6BB9-4345-9C89-E8FFE1765F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71" y="3489961"/>
            <a:ext cx="1290550" cy="1290550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4E48AB1A-E5CF-B731-D4D7-01F3E55D533F}"/>
              </a:ext>
            </a:extLst>
          </p:cNvPr>
          <p:cNvSpPr txBox="1"/>
          <p:nvPr/>
        </p:nvSpPr>
        <p:spPr>
          <a:xfrm>
            <a:off x="8634152" y="3630471"/>
            <a:ext cx="316711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C#</a:t>
            </a:r>
            <a:r>
              <a:rPr lang="ru-RU" dirty="0"/>
              <a:t> -</a:t>
            </a:r>
            <a:r>
              <a:rPr lang="en-US" dirty="0"/>
              <a:t> </a:t>
            </a:r>
            <a:r>
              <a:rPr lang="ru-RU" dirty="0"/>
              <a:t>Язык программирования, используемый для написания продукта.</a:t>
            </a:r>
          </a:p>
        </p:txBody>
      </p:sp>
      <p:pic>
        <p:nvPicPr>
          <p:cNvPr id="30" name="Рисунок 29">
            <a:extLst>
              <a:ext uri="{FF2B5EF4-FFF2-40B4-BE49-F238E27FC236}">
                <a16:creationId xmlns:a16="http://schemas.microsoft.com/office/drawing/2014/main" id="{48B98B5E-7BA8-E32C-3C9C-4FE8CB923A2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8208" y="3605647"/>
            <a:ext cx="1948522" cy="1219730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E74D11DA-3345-5EEE-EC4F-5A7048242065}"/>
              </a:ext>
            </a:extLst>
          </p:cNvPr>
          <p:cNvSpPr txBox="1"/>
          <p:nvPr/>
        </p:nvSpPr>
        <p:spPr>
          <a:xfrm>
            <a:off x="3175679" y="3605647"/>
            <a:ext cx="311023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Blazor - это UI-фреймворк для создания интерактивных веб-приложений с использованием C# и .NET </a:t>
            </a:r>
          </a:p>
        </p:txBody>
      </p:sp>
      <p:sp>
        <p:nvSpPr>
          <p:cNvPr id="2048" name="TextBox 2047">
            <a:extLst>
              <a:ext uri="{FF2B5EF4-FFF2-40B4-BE49-F238E27FC236}">
                <a16:creationId xmlns:a16="http://schemas.microsoft.com/office/drawing/2014/main" id="{CF36CB90-3C93-5911-CCBE-41E2DA0AEB70}"/>
              </a:ext>
            </a:extLst>
          </p:cNvPr>
          <p:cNvSpPr txBox="1"/>
          <p:nvPr/>
        </p:nvSpPr>
        <p:spPr>
          <a:xfrm>
            <a:off x="3080722" y="5167313"/>
            <a:ext cx="320519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.NET Core </a:t>
            </a:r>
            <a:r>
              <a:rPr lang="en-US" dirty="0"/>
              <a:t>-</a:t>
            </a:r>
            <a:r>
              <a:rPr lang="ru-RU" dirty="0"/>
              <a:t> это платформа для разработки, предназначенная для создания приложений, включая веб(</a:t>
            </a:r>
            <a:r>
              <a:rPr lang="en-US" dirty="0"/>
              <a:t>ASP.NET</a:t>
            </a:r>
            <a:r>
              <a:rPr lang="ru-RU" dirty="0"/>
              <a:t>).</a:t>
            </a:r>
          </a:p>
        </p:txBody>
      </p:sp>
      <p:pic>
        <p:nvPicPr>
          <p:cNvPr id="2086" name="Picture 38" descr="C# developer | Backend">
            <a:extLst>
              <a:ext uri="{FF2B5EF4-FFF2-40B4-BE49-F238E27FC236}">
                <a16:creationId xmlns:a16="http://schemas.microsoft.com/office/drawing/2014/main" id="{24B3D150-9DC8-7FEF-4740-53FF71DAE2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80239" y="5167313"/>
            <a:ext cx="1421476" cy="14214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88" name="Picture 40" descr="An In-depth Look: HTML5 and CSS3 | Global Wire Associates">
            <a:extLst>
              <a:ext uri="{FF2B5EF4-FFF2-40B4-BE49-F238E27FC236}">
                <a16:creationId xmlns:a16="http://schemas.microsoft.com/office/drawing/2014/main" id="{755AABCE-C4BE-557C-6F20-EF61896B5A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35540" y="4963107"/>
            <a:ext cx="2090683" cy="15297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49" name="TextBox 2048">
            <a:extLst>
              <a:ext uri="{FF2B5EF4-FFF2-40B4-BE49-F238E27FC236}">
                <a16:creationId xmlns:a16="http://schemas.microsoft.com/office/drawing/2014/main" id="{AC8C7983-841F-6210-CD6A-7518D12EBA7B}"/>
              </a:ext>
            </a:extLst>
          </p:cNvPr>
          <p:cNvSpPr txBox="1"/>
          <p:nvPr/>
        </p:nvSpPr>
        <p:spPr>
          <a:xfrm>
            <a:off x="8634152" y="5164364"/>
            <a:ext cx="316711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 </a:t>
            </a:r>
            <a:r>
              <a:rPr lang="en-US" dirty="0"/>
              <a:t>HTML </a:t>
            </a:r>
            <a:r>
              <a:rPr lang="ru-RU" dirty="0"/>
              <a:t>и </a:t>
            </a:r>
            <a:r>
              <a:rPr lang="en-US" dirty="0"/>
              <a:t>CSS</a:t>
            </a:r>
            <a:r>
              <a:rPr lang="ru-RU" dirty="0"/>
              <a:t> - язык разметки, используемые для создания структуры веб-страниц.</a:t>
            </a:r>
          </a:p>
        </p:txBody>
      </p:sp>
    </p:spTree>
    <p:extLst>
      <p:ext uri="{BB962C8B-B14F-4D97-AF65-F5344CB8AC3E}">
        <p14:creationId xmlns:p14="http://schemas.microsoft.com/office/powerpoint/2010/main" val="20113323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36608" y="365125"/>
            <a:ext cx="10515600" cy="1325563"/>
          </a:xfrm>
        </p:spPr>
        <p:txBody>
          <a:bodyPr/>
          <a:lstStyle/>
          <a:p>
            <a:r>
              <a:rPr lang="en-US" dirty="0"/>
              <a:t>UML </a:t>
            </a:r>
            <a:r>
              <a:rPr lang="ru-RU" dirty="0"/>
              <a:t>диаграмма последовательности для процесса клонирования базы данных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C419B42E-70DE-7647-5BC8-A510B3C96B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5767" y="1755950"/>
            <a:ext cx="8679782" cy="473692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Диаграмма прецедентов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04203476-AB47-4ABA-19B8-838AAB5D7D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5974" y="1690688"/>
            <a:ext cx="11452979" cy="450373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Макет веб-клиента</a:t>
            </a:r>
          </a:p>
        </p:txBody>
      </p:sp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0116415B-0FF3-9266-88BF-6B785AB2E8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0740" y="1607223"/>
            <a:ext cx="7412148" cy="484146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C6368-DC0E-2816-0C34-9AF31F80DA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4358553-CB87-61FE-2FC8-83E183DCE7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Макет веб-клиента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2E8F9CA-869D-A9D9-DD4B-7BC300E339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6691" y="1540825"/>
            <a:ext cx="6902151" cy="4959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10835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E8413C-0549-A625-79F0-C4F0080D2D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6356E4F-BF31-4A6F-83D9-32AE73AEBD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Макет веб-клиента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1B23A3A3-7AA6-8C84-3B4E-DAFFBC97AD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708" y="1429265"/>
            <a:ext cx="3880269" cy="5220392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FD3D2AD-75EA-1535-9E2B-8ADBB6F1F4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429265"/>
            <a:ext cx="3851108" cy="52203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50096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F0CD7B-613B-1CE3-D4E8-A5524958EF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38FE07E-F65E-5FF2-A97E-65A706AA7D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Макет веб-клиента</a:t>
            </a:r>
          </a:p>
        </p:txBody>
      </p: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67FDEC0E-37AD-22EB-1DD3-315926863F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919" y="1558840"/>
            <a:ext cx="6618920" cy="49451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24972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D01C50A-C6E6-44F5-AF9B-2730E5C208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Заключение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AD7845B-26BC-4B97-B7FD-7A49131438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2542"/>
            <a:ext cx="10515600" cy="4826187"/>
          </a:xfrm>
        </p:spPr>
        <p:txBody>
          <a:bodyPr>
            <a:noAutofit/>
          </a:bodyPr>
          <a:lstStyle/>
          <a:p>
            <a:pPr marL="0" indent="0" algn="just">
              <a:lnSpc>
                <a:spcPct val="150000"/>
              </a:lnSpc>
              <a:buNone/>
            </a:pPr>
            <a:r>
              <a:rPr lang="ru-RU" sz="1500" dirty="0">
                <a:solidFill>
                  <a:srgbClr val="000000"/>
                </a:solidFill>
                <a:ea typeface="Cambria" panose="02040503050406030204" pitchFamily="18" charset="0"/>
              </a:rPr>
              <a:t>В ходе реализации поставленной цели были выполнены следующие задачи:</a:t>
            </a:r>
            <a:endParaRPr lang="ru-RU" sz="1500" dirty="0">
              <a:ea typeface="Cambria" panose="02040503050406030204" pitchFamily="18" charset="0"/>
            </a:endParaRPr>
          </a:p>
          <a:p>
            <a:pPr marL="285750" lvl="0" indent="-285750">
              <a:lnSpc>
                <a:spcPct val="150000"/>
              </a:lnSpc>
              <a:tabLst>
                <a:tab pos="630555" algn="l"/>
              </a:tabLst>
            </a:pPr>
            <a:r>
              <a:rPr lang="ru-RU" sz="1500" dirty="0">
                <a:ea typeface="Cambria" panose="02040503050406030204" pitchFamily="18" charset="0"/>
              </a:rPr>
              <a:t>Разработана архитектура системы согласно требованиям заказчика.</a:t>
            </a:r>
          </a:p>
          <a:p>
            <a:pPr marL="285750" lvl="0" indent="-285750">
              <a:lnSpc>
                <a:spcPct val="150000"/>
              </a:lnSpc>
              <a:tabLst>
                <a:tab pos="630555" algn="l"/>
              </a:tabLst>
            </a:pPr>
            <a:r>
              <a:rPr lang="ru-RU" sz="1500" dirty="0">
                <a:ea typeface="Cambria" panose="02040503050406030204" pitchFamily="18" charset="0"/>
              </a:rPr>
              <a:t>Разработана серверная и клиент часть веб-приложения.</a:t>
            </a:r>
          </a:p>
          <a:p>
            <a:pPr marL="285750" lvl="0" indent="-285750">
              <a:lnSpc>
                <a:spcPct val="150000"/>
              </a:lnSpc>
              <a:tabLst>
                <a:tab pos="630555" algn="l"/>
              </a:tabLst>
            </a:pPr>
            <a:r>
              <a:rPr lang="ru-RU" sz="1500" dirty="0">
                <a:ea typeface="Cambria" panose="02040503050406030204" pitchFamily="18" charset="0"/>
              </a:rPr>
              <a:t>Разработан функционал аутентификации.</a:t>
            </a:r>
          </a:p>
          <a:p>
            <a:pPr marL="285750" lvl="0" indent="-285750">
              <a:lnSpc>
                <a:spcPct val="150000"/>
              </a:lnSpc>
              <a:tabLst>
                <a:tab pos="630555" algn="l"/>
              </a:tabLst>
            </a:pPr>
            <a:r>
              <a:rPr lang="ru-RU" sz="1500" dirty="0">
                <a:ea typeface="Cambria" panose="02040503050406030204" pitchFamily="18" charset="0"/>
              </a:rPr>
              <a:t>Разработан функционал клонирования, удаления, мониторинга.</a:t>
            </a:r>
          </a:p>
          <a:p>
            <a:pPr marL="285750" lvl="0" indent="-285750">
              <a:lnSpc>
                <a:spcPct val="150000"/>
              </a:lnSpc>
              <a:tabLst>
                <a:tab pos="630555" algn="l"/>
              </a:tabLst>
            </a:pPr>
            <a:r>
              <a:rPr lang="ru-RU" sz="1500" dirty="0">
                <a:ea typeface="Cambria" panose="02040503050406030204" pitchFamily="18" charset="0"/>
              </a:rPr>
              <a:t>Разработана служба агента для взаимодействия с СУБД</a:t>
            </a:r>
          </a:p>
          <a:p>
            <a:pPr marL="285750" lvl="0" indent="-285750">
              <a:lnSpc>
                <a:spcPct val="150000"/>
              </a:lnSpc>
              <a:tabLst>
                <a:tab pos="630555" algn="l"/>
              </a:tabLst>
            </a:pPr>
            <a:r>
              <a:rPr lang="ru-RU" sz="1500" dirty="0">
                <a:ea typeface="Cambria" panose="02040503050406030204" pitchFamily="18" charset="0"/>
              </a:rPr>
              <a:t>Проведено тестирование и оптимизация кода.</a:t>
            </a:r>
          </a:p>
        </p:txBody>
      </p:sp>
    </p:spTree>
    <p:extLst>
      <p:ext uri="{BB962C8B-B14F-4D97-AF65-F5344CB8AC3E}">
        <p14:creationId xmlns:p14="http://schemas.microsoft.com/office/powerpoint/2010/main" val="182442262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Integral</Template>
  <TotalTime>345</TotalTime>
  <Words>579</Words>
  <Application>Microsoft Office PowerPoint</Application>
  <PresentationFormat>Широкоэкранный</PresentationFormat>
  <Paragraphs>50</Paragraphs>
  <Slides>12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7" baseType="lpstr">
      <vt:lpstr>Arial</vt:lpstr>
      <vt:lpstr>Calibri</vt:lpstr>
      <vt:lpstr>Calibri Light</vt:lpstr>
      <vt:lpstr>Cambria</vt:lpstr>
      <vt:lpstr>Тема Office</vt:lpstr>
      <vt:lpstr>Разработка корпоративного веб-приложения для клонирования баз данных MS SQL c возможностью управления клонами и мониторингом</vt:lpstr>
      <vt:lpstr>Актуальность</vt:lpstr>
      <vt:lpstr>Цель и задачи</vt:lpstr>
      <vt:lpstr>Аналоги</vt:lpstr>
      <vt:lpstr>Программные средства разработки</vt:lpstr>
      <vt:lpstr>UML диаграмма последовательности для процесса клонирования базы данных</vt:lpstr>
      <vt:lpstr>Диаграмма прецедентов</vt:lpstr>
      <vt:lpstr>Макет веб-клиента</vt:lpstr>
      <vt:lpstr>Макет веб-клиента</vt:lpstr>
      <vt:lpstr>Макет веб-клиента</vt:lpstr>
      <vt:lpstr>Макет веб-клиента</vt:lpstr>
      <vt:lpstr>Заключение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maxsmg</dc:creator>
  <cp:lastModifiedBy>Анастасия Бородина</cp:lastModifiedBy>
  <cp:revision>59</cp:revision>
  <dcterms:created xsi:type="dcterms:W3CDTF">2025-12-16T11:40:20Z</dcterms:created>
  <dcterms:modified xsi:type="dcterms:W3CDTF">2025-12-17T17:47:53Z</dcterms:modified>
</cp:coreProperties>
</file>