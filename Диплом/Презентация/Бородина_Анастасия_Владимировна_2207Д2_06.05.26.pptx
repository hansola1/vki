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61" r:id="rId4"/>
    <p:sldId id="260" r:id="rId5"/>
    <p:sldId id="262" r:id="rId6"/>
    <p:sldId id="265" r:id="rId7"/>
    <p:sldId id="264" r:id="rId8"/>
    <p:sldId id="272" r:id="rId9"/>
    <p:sldId id="269" r:id="rId10"/>
    <p:sldId id="266" r:id="rId11"/>
    <p:sldId id="271" r:id="rId12"/>
    <p:sldId id="263" r:id="rId13"/>
    <p:sldId id="270" r:id="rId14"/>
    <p:sldId id="268" r:id="rId15"/>
    <p:sldId id="267" r:id="rId16"/>
    <p:sldId id="25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2646"/>
    <a:srgbClr val="6C1579"/>
    <a:srgbClr val="9A4A92"/>
    <a:srgbClr val="5C2D91"/>
    <a:srgbClr val="662E93"/>
    <a:srgbClr val="995B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359" autoAdjust="0"/>
    <p:restoredTop sz="94704" autoAdjust="0"/>
  </p:normalViewPr>
  <p:slideViewPr>
    <p:cSldViewPr snapToGrid="0">
      <p:cViewPr varScale="1">
        <p:scale>
          <a:sx n="88" d="100"/>
          <a:sy n="88" d="100"/>
        </p:scale>
        <p:origin x="613" y="6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AF322-1614-4B94-B6A1-B76658E349DC}" type="datetimeFigureOut">
              <a:rPr lang="ru-RU" smtClean="0"/>
              <a:pPr/>
              <a:t>18.05.2026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2FD236-6467-47CF-9CC9-221BD919C86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29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F6E90A-740A-4036-B77E-D4A16F619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B4659-1E1C-40EB-81DA-554E1F862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9FEFE0-4738-4A9E-9F01-7117B8AA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F2640-2EF4-4A43-9842-276C25197E25}" type="datetime1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37ACC0-6018-4137-AE99-81AC778F8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5FE467-19C9-4A75-8577-299671119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33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3A844A-7364-47F6-A761-0D8F6E16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373E6D-2323-486B-BE09-2F8E60C89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605EB3-3C0D-4730-A334-3BAE921F1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30A2B-E972-4650-9194-9F682251A062}" type="datetime1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00432-AAA1-474F-BC5C-AE99E7402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9CE2DA-F8E5-42D7-B973-A96335609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019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D3BF8F-99D4-4D88-9ACD-D78411E8B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EEC6C7-A7F9-4EA0-8BFE-575CA83C8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1E3EF7-B249-493A-A023-45E60481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89D3F-9628-40A0-8CDF-BFC5BF8A512E}" type="datetime1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F9B23A-5C21-4F3A-99A7-52FF35FB9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7C035E-D7A7-49D7-94A3-EFBCECC38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548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CE7F3E-158F-44E1-AD1C-182B7B513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0217F2-7190-4A33-93C4-EAA2C5B10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1AE3EB-D975-416C-B543-A0579D15E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111C581-1BE3-4367-A765-029EA088C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C618-F43D-4137-885A-9D660F20BABE}" type="datetime1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0909E-C4D7-49AF-9BFB-01E040F53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55C4F6-D9F8-4DC1-8F71-5C97FA910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787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65BAD2-9DDA-4C1B-9460-D5B9C3CC5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8D12923-4545-4D9E-A2C7-96F3EA50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6D2AE5F-574A-4C26-BAED-6F5DD93386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3E4313C-59A4-4A43-98F3-C1A35392DE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1C7F94-6A8F-4E96-B098-14DF75935A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5F89490-43B3-47E0-945A-EDB58B9D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59E0F-81D3-46F2-A21F-80B324275C0B}" type="datetime1">
              <a:rPr lang="ru-RU" smtClean="0"/>
              <a:t>18.05.2026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3AD3602-85C0-4BDA-B84C-B972A7DAE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A25450D-B67A-4FEA-A9B4-36DBEC15E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900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199A44-7B61-4A47-956D-1F0149177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7D5DBF-656C-478F-B680-4AC3F54DC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F851B-9994-4471-A95F-63C98C94C25C}" type="datetime1">
              <a:rPr lang="ru-RU" smtClean="0"/>
              <a:t>18.05.2026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AEFFB1D-F737-4C50-B3FF-B70389845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5B7082-AAE5-46D5-AF61-6F4C28149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898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E0471FE-5864-489D-A592-5B97C6C0A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C0E54-4CC8-47B6-A2ED-519E308C3D5C}" type="datetime1">
              <a:rPr lang="ru-RU" smtClean="0"/>
              <a:t>18.05.2026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D1EF6CC-ACA4-4CBF-9575-19900942F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D58BC9-BC32-44BC-B81A-6B3127F5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550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964CC7-139D-4F87-820F-A04EF281D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3AE14D-923A-4FED-A3C3-F6148F2D6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C88556-DC5D-4DB9-88BA-A4EF747EC1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50DED5-48E9-47D0-81DB-725B4B114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8578A-6CC4-494D-9939-AE0BC863DCC9}" type="datetime1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5D2FD8-CD8C-47A9-B4B1-A1AB79633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BECAD6-F06F-4ACA-AD76-73963B4DA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4617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5DCB24-E3EC-4295-BF95-351DB2FAB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17C9491-2B1C-4CFA-A559-8E915849F8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F49A99-254A-48D7-ADAE-8508C56F4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80C7DCB-6CA8-4FDB-BFE9-10872A26A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30757-F38F-41AC-A030-FD2A4ED4502C}" type="datetime1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60CA91-BF09-41A3-A58F-824E8580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99730A-35D5-4E81-96C2-FA79CA74E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6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7CA712-21DC-4BD1-8249-A7BE4A76C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0DE9C6-B3F3-43D6-A0F5-527BF53E6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25DC13-8A02-4368-B94C-820B45CEF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AEEE2-DC8F-4C66-9038-4CB95A7529D0}" type="datetime1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E279F1-2B33-4200-AEB7-A9B10670C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E51E21-A68C-4C07-8617-AE9DC2FB8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335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1B4797-34DD-4F49-AEF3-ECB7313C50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5E3A757-69FE-4A83-847F-F4291BA9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971DE9-B35B-4AB9-979C-280359E9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6C36E5-C478-443C-BAEF-26B63FBE0A6B}" type="datetime1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88C09A-3295-4059-BFB9-970DA9F5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2CB15-6C40-42A9-8571-D1847B93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693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35CE17-72C1-4CE5-9A32-316036A6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2EC54C-2DB6-40DA-91A6-B0F20E9AF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BDA523-9CCA-4B64-8DC8-48D64ECE8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EF9CD6-0EBB-4035-B231-EA9AEF8C103A}" type="datetime1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73392F-E304-4063-9604-B8D01B6B0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A73235-DA13-4CB4-AC81-3AA4E34B7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947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FC4908-1E9F-E0B5-107C-C84FCD4D6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378" y="1814663"/>
            <a:ext cx="9743243" cy="1175713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+mn-lt"/>
                <a:cs typeface="Times New Roman" panose="02020603050405020304" pitchFamily="18" charset="0"/>
              </a:rPr>
              <a:t>Разработка корпоративного веб-приложения для клонирования баз данных </a:t>
            </a:r>
            <a:r>
              <a:rPr lang="en-US" sz="3200" b="1" dirty="0">
                <a:latin typeface="+mn-lt"/>
                <a:cs typeface="Times New Roman" panose="02020603050405020304" pitchFamily="18" charset="0"/>
              </a:rPr>
              <a:t>MS SQL</a:t>
            </a:r>
            <a:endParaRPr lang="ru-RU" sz="3200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D52BBF-204D-0C99-2294-C290AEDB8A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9468" y="379444"/>
            <a:ext cx="7833064" cy="996595"/>
          </a:xfrm>
        </p:spPr>
        <p:txBody>
          <a:bodyPr>
            <a:normAutofit/>
          </a:bodyPr>
          <a:lstStyle/>
          <a:p>
            <a:r>
              <a:rPr lang="ru-RU" b="1" dirty="0">
                <a:cs typeface="Times New Roman" panose="02020603050405020304" pitchFamily="18" charset="0"/>
              </a:rPr>
              <a:t>Высший колледж информатики Университета (ВКИ НГУ)</a:t>
            </a:r>
          </a:p>
          <a:p>
            <a:r>
              <a:rPr lang="ru-RU" b="1" dirty="0">
                <a:cs typeface="Times New Roman" panose="02020603050405020304" pitchFamily="18" charset="0"/>
              </a:rPr>
              <a:t>Кафедра информатики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80897C1-5711-BD90-FA6E-1F975E4373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79177"/>
              </p:ext>
            </p:extLst>
          </p:nvPr>
        </p:nvGraphicFramePr>
        <p:xfrm>
          <a:off x="310718" y="3429001"/>
          <a:ext cx="11611993" cy="2228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51166">
                  <a:extLst>
                    <a:ext uri="{9D8B030D-6E8A-4147-A177-3AD203B41FA5}">
                      <a16:colId xmlns:a16="http://schemas.microsoft.com/office/drawing/2014/main" val="3662582577"/>
                    </a:ext>
                  </a:extLst>
                </a:gridCol>
                <a:gridCol w="5460827">
                  <a:extLst>
                    <a:ext uri="{9D8B030D-6E8A-4147-A177-3AD203B41FA5}">
                      <a16:colId xmlns:a16="http://schemas.microsoft.com/office/drawing/2014/main" val="1086863165"/>
                    </a:ext>
                  </a:extLst>
                </a:gridCol>
              </a:tblGrid>
              <a:tr h="1516897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Руководитель 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инженер ВКИ НГУ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Цимбалист Г.Н.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20685"/>
                  </a:ext>
                </a:extLst>
              </a:tr>
              <a:tr h="711953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Студентка </a:t>
                      </a:r>
                      <a:r>
                        <a:rPr lang="en-US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курса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гр. 2207д2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Бородина А.В.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6821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31673CA-AF50-77EF-E883-E71BB54FB373}"/>
              </a:ext>
            </a:extLst>
          </p:cNvPr>
          <p:cNvSpPr txBox="1"/>
          <p:nvPr/>
        </p:nvSpPr>
        <p:spPr>
          <a:xfrm>
            <a:off x="4292907" y="5866264"/>
            <a:ext cx="360618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25730" algn="ctr"/>
            <a:r>
              <a:rPr lang="ru-RU" sz="2000" dirty="0"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Новосибирск</a:t>
            </a:r>
          </a:p>
          <a:p>
            <a:pPr marR="125730" algn="ctr"/>
            <a:r>
              <a:rPr lang="ru-RU" sz="2000" dirty="0">
                <a:ea typeface="Calibri" panose="020F0502020204030204" pitchFamily="34" charset="0"/>
                <a:cs typeface="Times New Roman" panose="02020603050405020304" pitchFamily="18" charset="0"/>
              </a:rPr>
              <a:t>2026</a:t>
            </a:r>
            <a:endParaRPr lang="ru-RU" sz="2000" dirty="0">
              <a:solidFill>
                <a:schemeClr val="tx1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167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588CFED-C0B4-C3CE-360B-2510B28568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23" r="59708" b="63355"/>
          <a:stretch>
            <a:fillRect/>
          </a:stretch>
        </p:blipFill>
        <p:spPr>
          <a:xfrm>
            <a:off x="698269" y="1736032"/>
            <a:ext cx="10133768" cy="38041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065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FFB2B26-12FC-4B11-83AD-B3F82D1AB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6062"/>
            <a:ext cx="10515600" cy="82523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Программное средство разработано по заказу компании ООО «БАЙТ» («Автотрейд»). </a:t>
            </a:r>
            <a:br>
              <a:rPr lang="ru-RU" sz="2400" dirty="0"/>
            </a:br>
            <a:endParaRPr lang="ru-RU" sz="2400" dirty="0">
              <a:cs typeface="Times New Roman" panose="02020603050405020304" pitchFamily="18" charset="0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702737B-4A0B-CCBE-B496-CC0E47113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88BA4AED-33AE-373C-168C-F46908453026}"/>
              </a:ext>
            </a:extLst>
          </p:cNvPr>
          <p:cNvSpPr txBox="1">
            <a:spLocks/>
          </p:cNvSpPr>
          <p:nvPr/>
        </p:nvSpPr>
        <p:spPr>
          <a:xfrm>
            <a:off x="838200" y="2011298"/>
            <a:ext cx="10515600" cy="23811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DD5EA1B7-E286-3293-4DE8-8552DEE21911}"/>
              </a:ext>
            </a:extLst>
          </p:cNvPr>
          <p:cNvSpPr txBox="1">
            <a:spLocks/>
          </p:cNvSpPr>
          <p:nvPr/>
        </p:nvSpPr>
        <p:spPr>
          <a:xfrm>
            <a:off x="1741239" y="5441374"/>
            <a:ext cx="585215" cy="3296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500" b="1" dirty="0">
                <a:solidFill>
                  <a:srgbClr val="052646"/>
                </a:solidFill>
                <a:latin typeface="+mn-lt"/>
                <a:cs typeface="Times New Roman" panose="02020603050405020304" pitchFamily="18" charset="0"/>
              </a:rPr>
              <a:t>БД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6B07CC-E271-C309-BFE7-DF0DCCB90A28}"/>
              </a:ext>
            </a:extLst>
          </p:cNvPr>
          <p:cNvSpPr txBox="1"/>
          <p:nvPr/>
        </p:nvSpPr>
        <p:spPr>
          <a:xfrm>
            <a:off x="9448108" y="5313739"/>
            <a:ext cx="6767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052646"/>
                </a:solidFill>
                <a:latin typeface="+mn-lt"/>
                <a:cs typeface="Times New Roman" panose="02020603050405020304" pitchFamily="18" charset="0"/>
              </a:rPr>
              <a:t>БД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B7A1E3-AC9A-A094-A71B-B91F2248AFBC}"/>
              </a:ext>
            </a:extLst>
          </p:cNvPr>
          <p:cNvSpPr txBox="1"/>
          <p:nvPr/>
        </p:nvSpPr>
        <p:spPr>
          <a:xfrm>
            <a:off x="5900306" y="5321646"/>
            <a:ext cx="11156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052646"/>
                </a:solidFill>
                <a:latin typeface="+mn-lt"/>
                <a:cs typeface="Times New Roman" panose="02020603050405020304" pitchFamily="18" charset="0"/>
              </a:rPr>
              <a:t>Клоны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B6B481-E017-7D65-046E-6F3B89AB320E}"/>
              </a:ext>
            </a:extLst>
          </p:cNvPr>
          <p:cNvSpPr txBox="1"/>
          <p:nvPr/>
        </p:nvSpPr>
        <p:spPr>
          <a:xfrm>
            <a:off x="3932617" y="5309369"/>
            <a:ext cx="102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052646"/>
                </a:solidFill>
                <a:latin typeface="+mn-lt"/>
                <a:cs typeface="Times New Roman" panose="02020603050405020304" pitchFamily="18" charset="0"/>
              </a:rPr>
              <a:t>Образ</a:t>
            </a:r>
          </a:p>
        </p:txBody>
      </p:sp>
    </p:spTree>
    <p:extLst>
      <p:ext uri="{BB962C8B-B14F-4D97-AF65-F5344CB8AC3E}">
        <p14:creationId xmlns:p14="http://schemas.microsoft.com/office/powerpoint/2010/main" val="198399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4CFF57-B02B-4ADB-B30E-322B0395B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  <a:cs typeface="Times New Roman" panose="02020603050405020304" pitchFamily="18" charset="0"/>
              </a:rPr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E749BE-F775-49AC-8E09-FEBAA2E48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751041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ru-RU" sz="2400" b="1" dirty="0">
                <a:cs typeface="Times New Roman" panose="02020603050405020304" pitchFamily="18" charset="0"/>
              </a:rPr>
              <a:t>Цель работы: </a:t>
            </a:r>
            <a:r>
              <a:rPr lang="ru-RU" sz="2400" dirty="0">
                <a:cs typeface="Times New Roman" panose="02020603050405020304" pitchFamily="18" charset="0"/>
              </a:rPr>
              <a:t>Разработка системы централизованного управления копиями баз данных M</a:t>
            </a:r>
            <a:r>
              <a:rPr lang="en-US" sz="2400" dirty="0">
                <a:cs typeface="Times New Roman" panose="02020603050405020304" pitchFamily="18" charset="0"/>
              </a:rPr>
              <a:t>ircosoft</a:t>
            </a:r>
            <a:r>
              <a:rPr lang="ru-RU" sz="2400" dirty="0">
                <a:cs typeface="Times New Roman" panose="02020603050405020304" pitchFamily="18" charset="0"/>
              </a:rPr>
              <a:t> SQL с возможностью создания образов и развёртывания клонов через веб-интерфейс на .NET Core и Blazor</a:t>
            </a:r>
            <a:r>
              <a:rPr lang="en-US" sz="2400" dirty="0">
                <a:cs typeface="Times New Roman" panose="02020603050405020304" pitchFamily="18" charset="0"/>
              </a:rPr>
              <a:t>.</a:t>
            </a:r>
            <a:endParaRPr lang="ru-RU" sz="2400" dirty="0">
              <a:cs typeface="Times New Roman" panose="02020603050405020304" pitchFamily="18" charset="0"/>
            </a:endParaRPr>
          </a:p>
          <a:p>
            <a:pPr>
              <a:lnSpc>
                <a:spcPct val="110000"/>
              </a:lnSpc>
            </a:pPr>
            <a:r>
              <a:rPr lang="ru-RU" sz="2400" b="1" dirty="0">
                <a:cs typeface="Times New Roman" panose="02020603050405020304" pitchFamily="18" charset="0"/>
              </a:rPr>
              <a:t>Задачи:</a:t>
            </a:r>
          </a:p>
          <a:p>
            <a:pPr lvl="0"/>
            <a:r>
              <a:rPr lang="ru-RU" sz="2400" dirty="0"/>
              <a:t>Разработка технического задания</a:t>
            </a:r>
            <a:endParaRPr lang="ru-RU" sz="4400" dirty="0"/>
          </a:p>
          <a:p>
            <a:pPr lvl="0"/>
            <a:r>
              <a:rPr lang="ru-RU" sz="2400" dirty="0"/>
              <a:t>Реализация функционала службы-агента, которые будет работать с базой на сервере.</a:t>
            </a:r>
            <a:endParaRPr lang="ru-RU" sz="4400" dirty="0"/>
          </a:p>
          <a:p>
            <a:pPr lvl="0"/>
            <a:r>
              <a:rPr lang="ru-RU" sz="2400" dirty="0"/>
              <a:t>Разработка клиентской части веб-приложения </a:t>
            </a:r>
            <a:endParaRPr lang="ru-RU" sz="4400" dirty="0"/>
          </a:p>
          <a:p>
            <a:pPr lvl="0"/>
            <a:r>
              <a:rPr lang="ru-RU" sz="2400" dirty="0"/>
              <a:t>Разработка серверной части веб-приложения, взаимодействующей с развёрнутыми агентами на серверах и клиентской часть.</a:t>
            </a:r>
            <a:endParaRPr lang="ru-RU" sz="4400" dirty="0"/>
          </a:p>
          <a:p>
            <a:pPr lvl="0"/>
            <a:r>
              <a:rPr lang="ru-RU" sz="2400" dirty="0"/>
              <a:t>Тестирование и отладка веб-приложения</a:t>
            </a:r>
            <a:endParaRPr lang="ru-RU" sz="4400" dirty="0"/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endParaRPr lang="ru-RU" dirty="0"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F368E3C-D348-87CF-4E12-8755DECFC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65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zure SQL Database: Managed Relational Service - Pipeliner CRM">
            <a:extLst>
              <a:ext uri="{FF2B5EF4-FFF2-40B4-BE49-F238E27FC236}">
                <a16:creationId xmlns:a16="http://schemas.microsoft.com/office/drawing/2014/main" id="{2F230536-17E8-811A-9A03-F25AE27A8B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20" b="20467"/>
          <a:stretch>
            <a:fillRect/>
          </a:stretch>
        </p:blipFill>
        <p:spPr bwMode="auto">
          <a:xfrm>
            <a:off x="5660966" y="2063937"/>
            <a:ext cx="5006097" cy="3169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4307"/>
            <a:ext cx="10515600" cy="1541260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Аналоги</a:t>
            </a:r>
          </a:p>
        </p:txBody>
      </p:sp>
      <p:pic>
        <p:nvPicPr>
          <p:cNvPr id="3" name="Picture 2" descr="SQL Clone - Visual Studio Marketplace">
            <a:extLst>
              <a:ext uri="{FF2B5EF4-FFF2-40B4-BE49-F238E27FC236}">
                <a16:creationId xmlns:a16="http://schemas.microsoft.com/office/drawing/2014/main" id="{3ACD3316-3EC8-4C92-37AD-6A71F2DE3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968" y="1997435"/>
            <a:ext cx="2662155" cy="273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6F113C-5DF9-7056-03BA-AACE0A7DECDD}"/>
              </a:ext>
            </a:extLst>
          </p:cNvPr>
          <p:cNvSpPr txBox="1"/>
          <p:nvPr/>
        </p:nvSpPr>
        <p:spPr>
          <a:xfrm>
            <a:off x="1850968" y="4647208"/>
            <a:ext cx="31138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Redgate SQL clone</a:t>
            </a:r>
            <a:endParaRPr lang="ru-RU" sz="2400" b="1" dirty="0">
              <a:solidFill>
                <a:srgbClr val="FF0000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08B033-9138-7ABF-0D4C-74F7823A5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2839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0">
              <a:schemeClr val="bg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2298B6-8ED4-473E-9D5D-3F2773764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45" y="11301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rgbClr val="662E93"/>
                </a:solidFill>
                <a:latin typeface="+mn-lt"/>
                <a:cs typeface="Times New Roman" panose="02020603050405020304" pitchFamily="18" charset="0"/>
              </a:rPr>
              <a:t>Программные средства разработки</a:t>
            </a:r>
          </a:p>
        </p:txBody>
      </p:sp>
      <p:pic>
        <p:nvPicPr>
          <p:cNvPr id="2052" name="Picture 4" descr="Microsoft Visual Studio 2019 Launch Date Announced | CSW Solutions">
            <a:extLst>
              <a:ext uri="{FF2B5EF4-FFF2-40B4-BE49-F238E27FC236}">
                <a16:creationId xmlns:a16="http://schemas.microsoft.com/office/drawing/2014/main" id="{96398E16-3B78-1ECE-5EEA-3B9E76672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615" y="1855640"/>
            <a:ext cx="1830976" cy="13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icrosoft Sql Server Logo Png">
            <a:extLst>
              <a:ext uri="{FF2B5EF4-FFF2-40B4-BE49-F238E27FC236}">
                <a16:creationId xmlns:a16="http://schemas.microsoft.com/office/drawing/2014/main" id="{ABD92126-4870-A97C-6540-EA8EE3C79F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537" y="4177318"/>
            <a:ext cx="1745132" cy="1410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90A7987-6BB9-4345-9C89-E8FFE176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0328" y="1855640"/>
            <a:ext cx="1290550" cy="1290550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8B98B5E-7BA8-E32C-3C9C-4FE8CB923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091" y="1891050"/>
            <a:ext cx="1948522" cy="1219730"/>
          </a:xfrm>
          <a:prstGeom prst="rect">
            <a:avLst/>
          </a:prstGeom>
        </p:spPr>
      </p:pic>
      <p:sp>
        <p:nvSpPr>
          <p:cNvPr id="2048" name="TextBox 2047">
            <a:extLst>
              <a:ext uri="{FF2B5EF4-FFF2-40B4-BE49-F238E27FC236}">
                <a16:creationId xmlns:a16="http://schemas.microsoft.com/office/drawing/2014/main" id="{CF36CB90-3C93-5911-CCBE-41E2DA0AEB70}"/>
              </a:ext>
            </a:extLst>
          </p:cNvPr>
          <p:cNvSpPr txBox="1"/>
          <p:nvPr/>
        </p:nvSpPr>
        <p:spPr>
          <a:xfrm>
            <a:off x="1079091" y="5379952"/>
            <a:ext cx="230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5C2D91"/>
                </a:solidFill>
              </a:rPr>
              <a:t>.NET Core  (</a:t>
            </a:r>
            <a:r>
              <a:rPr lang="en-US" b="1" dirty="0">
                <a:solidFill>
                  <a:srgbClr val="5C2D91"/>
                </a:solidFill>
              </a:rPr>
              <a:t>ASP.NET</a:t>
            </a:r>
            <a:r>
              <a:rPr lang="ru-RU" b="1" dirty="0">
                <a:solidFill>
                  <a:srgbClr val="5C2D91"/>
                </a:solidFill>
              </a:rPr>
              <a:t>).</a:t>
            </a:r>
          </a:p>
        </p:txBody>
      </p:sp>
      <p:pic>
        <p:nvPicPr>
          <p:cNvPr id="2086" name="Picture 38" descr="C# developer | Backend">
            <a:extLst>
              <a:ext uri="{FF2B5EF4-FFF2-40B4-BE49-F238E27FC236}">
                <a16:creationId xmlns:a16="http://schemas.microsoft.com/office/drawing/2014/main" id="{24B3D150-9DC8-7FEF-4740-53FF71DAE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614" y="3932467"/>
            <a:ext cx="1421476" cy="1421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8" name="Picture 40" descr="An In-depth Look: HTML5 and CSS3 | Global Wire Associates">
            <a:extLst>
              <a:ext uri="{FF2B5EF4-FFF2-40B4-BE49-F238E27FC236}">
                <a16:creationId xmlns:a16="http://schemas.microsoft.com/office/drawing/2014/main" id="{755AABCE-C4BE-557C-6F20-EF61896B5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6154" y="4015069"/>
            <a:ext cx="2018897" cy="1472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EB4D9D7-D83E-869C-AEFA-F054D4B5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133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Диаграмма прецедентов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C07A3C-6083-16DA-123A-B92DE2D43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6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8483374-72E9-8807-2056-B6E0D6D6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1" y="1152583"/>
            <a:ext cx="10736835" cy="52037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01787"/>
            <a:ext cx="10515600" cy="1325563"/>
          </a:xfrm>
        </p:spPr>
        <p:txBody>
          <a:bodyPr/>
          <a:lstStyle/>
          <a:p>
            <a:r>
              <a:rPr lang="en-US" b="1" dirty="0">
                <a:latin typeface="+mn-lt"/>
              </a:rPr>
              <a:t>ERD-</a:t>
            </a:r>
            <a:r>
              <a:rPr lang="ru-RU" b="1" dirty="0">
                <a:latin typeface="+mn-lt"/>
              </a:rPr>
              <a:t>диаграмма базы данных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CAAE307-F01B-B820-2B36-01BE70B7F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7</a:t>
            </a:fld>
            <a:endParaRPr lang="ru-RU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5B4FA6F5-B8C2-D56A-DA24-2D975D94E2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1817775"/>
            <a:ext cx="11315700" cy="424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18461-C61A-A580-567E-A18F9FE6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5F4C93-3B6A-3ABF-DE85-AAA0BE39B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1787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+mn-lt"/>
              </a:rPr>
              <a:t>UML</a:t>
            </a:r>
            <a:r>
              <a:rPr lang="ru-RU" b="1" dirty="0">
                <a:latin typeface="+mn-lt"/>
              </a:rPr>
              <a:t>-диаграмма последовательности для процесса клонирования базы данных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67DEC4D-1FE9-1EA8-0EC8-5107BD69B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8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0B294DD-26DA-F16D-6484-C07003AF0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781"/>
          <a:stretch>
            <a:fillRect/>
          </a:stretch>
        </p:blipFill>
        <p:spPr>
          <a:xfrm>
            <a:off x="557788" y="1828846"/>
            <a:ext cx="10796012" cy="416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160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2D2B7-CAC7-F644-91FE-4FF98FA99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88C7727B-2B50-E712-93FE-5AB120B13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052" y="2423904"/>
            <a:ext cx="6361296" cy="291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FEA16-26B9-9FBB-88AD-C63E7C24E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CE7BEB4-4E75-1AF9-9F73-91FCD254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6241999D-BF00-C0CC-A15F-AF0C89A13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1522" y="5710639"/>
            <a:ext cx="3128356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Окно входа в систему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AE910AD1-53BC-F506-BFB4-FEFDDCC6F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6852" y="1401669"/>
            <a:ext cx="7881498" cy="405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6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80C0C-3D0B-4798-D0F8-D8BC6E181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A5D6C6DE-E43A-F39F-75D2-1104F71AFE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920098" cy="4541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753F7E-A2DB-E46D-1FCB-FCA6AF55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660AD78-9BD8-56CD-7F5C-A32777234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90E6089E-48E2-B130-19F5-4D73C1489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образами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10E5EB1-FEDC-6225-86A9-B41F85CF4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084" y="1218853"/>
            <a:ext cx="10166465" cy="469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340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DCC2E-C094-6225-8A4C-3843085BF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E88D18-3A2A-0F72-E776-B12DD11F4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E84D0FD-854F-8EFB-F670-76F907CE2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11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BA899F52-370B-373B-EEE8-CA574ABF1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076" y="5955464"/>
            <a:ext cx="7367848" cy="558510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образами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r>
              <a:rPr lang="ru-RU" sz="2400" dirty="0">
                <a:cs typeface="Times New Roman" panose="02020603050405020304" pitchFamily="18" charset="0"/>
              </a:rPr>
              <a:t>, окно создания образа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561B3CD-EE5F-3D77-38C7-69AF94BE2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880" y="984795"/>
            <a:ext cx="10789920" cy="4970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2499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ADD676-E5FE-EB54-D2CE-4CB6EA578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218C07E-6DD1-E99D-626B-BFE4A55B5D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778" r="492"/>
          <a:stretch>
            <a:fillRect/>
          </a:stretch>
        </p:blipFill>
        <p:spPr bwMode="auto">
          <a:xfrm>
            <a:off x="838200" y="1325563"/>
            <a:ext cx="10063455" cy="455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6">
            <a:extLst>
              <a:ext uri="{FF2B5EF4-FFF2-40B4-BE49-F238E27FC236}">
                <a16:creationId xmlns:a16="http://schemas.microsoft.com/office/drawing/2014/main" id="{DF5BD25B-4FE4-2379-8B0B-F0542928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клонами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1FC456F-FB9C-0D4C-B758-6C576F8378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6"/>
          <a:stretch>
            <a:fillRect/>
          </a:stretch>
        </p:blipFill>
        <p:spPr bwMode="auto">
          <a:xfrm>
            <a:off x="838200" y="1166698"/>
            <a:ext cx="10381862" cy="472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8AFD2-BE57-51C5-78D2-F38CBF01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A6C04-60E0-8F1B-B2E2-BF543EAC0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91C5A47-5E91-A351-B430-CEC1DC470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13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2B1A34DB-2062-1014-1D0E-AFB8471D9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076" y="5955464"/>
            <a:ext cx="7367848" cy="5585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Управление клонами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r>
              <a:rPr lang="ru-RU" sz="2400" dirty="0">
                <a:cs typeface="Times New Roman" panose="02020603050405020304" pitchFamily="18" charset="0"/>
              </a:rPr>
              <a:t>, окно создания клона</a:t>
            </a: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3F535D4-7A74-2372-F1E8-BD8CAE26C5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377"/>
          <a:stretch>
            <a:fillRect/>
          </a:stretch>
        </p:blipFill>
        <p:spPr bwMode="auto">
          <a:xfrm>
            <a:off x="440575" y="1229505"/>
            <a:ext cx="10913225" cy="4518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8335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DDA3E-1196-0231-A35A-F9405FE01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7E9213FE-D586-4D83-B3BF-8993F7EFE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0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BB1FEA-758D-959A-35F0-627188B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D4C32D0-FD32-F810-B123-2B4A0015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E99DCA30-8A31-90B6-9ED7-5CD3425A8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Мониторинг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13CFA8C-CA6A-5E10-09E2-CE5F51D21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7"/>
          <a:stretch>
            <a:fillRect/>
          </a:stretch>
        </p:blipFill>
        <p:spPr bwMode="auto">
          <a:xfrm>
            <a:off x="562242" y="1102128"/>
            <a:ext cx="10392295" cy="479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5178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83B1-6845-5896-B989-92013FD8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1155A68F-C644-3524-AF93-9D42169CD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314335"/>
            <a:ext cx="9840380" cy="450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130AA8-0B48-FAEB-2D75-2601BA95D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Интерфейс продукта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337F5E4-A0AB-8A47-3CE7-A6FC80B98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15</a:t>
            </a:fld>
            <a:endParaRPr lang="ru-RU"/>
          </a:p>
        </p:txBody>
      </p:sp>
      <p:sp>
        <p:nvSpPr>
          <p:cNvPr id="4" name="Объект 6">
            <a:extLst>
              <a:ext uri="{FF2B5EF4-FFF2-40B4-BE49-F238E27FC236}">
                <a16:creationId xmlns:a16="http://schemas.microsoft.com/office/drawing/2014/main" id="{731C0555-1B39-619C-7FCE-6D52D67BC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022" y="5892166"/>
            <a:ext cx="4764578" cy="3914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dirty="0">
                <a:cs typeface="Times New Roman" panose="02020603050405020304" pitchFamily="18" charset="0"/>
              </a:rPr>
              <a:t>Страница </a:t>
            </a:r>
            <a:r>
              <a:rPr lang="en-US" sz="2400" dirty="0">
                <a:cs typeface="Times New Roman" panose="02020603050405020304" pitchFamily="18" charset="0"/>
              </a:rPr>
              <a:t>“</a:t>
            </a:r>
            <a:r>
              <a:rPr lang="ru-RU" sz="2400" dirty="0">
                <a:cs typeface="Times New Roman" panose="02020603050405020304" pitchFamily="18" charset="0"/>
              </a:rPr>
              <a:t>Мониторинг</a:t>
            </a:r>
            <a:r>
              <a:rPr lang="en-US" sz="2400" dirty="0">
                <a:cs typeface="Times New Roman" panose="02020603050405020304" pitchFamily="18" charset="0"/>
              </a:rPr>
              <a:t>”</a:t>
            </a:r>
            <a:endParaRPr lang="ru-RU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6285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01C50A-C6E6-44F5-AF9B-2730E5C20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b="1" dirty="0">
                <a:latin typeface="+mn-lt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D7845B-26BC-4B97-B7FD-7A4913143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8357"/>
            <a:ext cx="10515600" cy="4826187"/>
          </a:xfrm>
        </p:spPr>
        <p:txBody>
          <a:bodyPr>
            <a:no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В рамках разработки программного средства были выполнен следующие задачи: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Разработано техническое задание, согласно ключевым потребностям заказчика.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 клиентская часть продукта.</a:t>
            </a:r>
          </a:p>
          <a:p>
            <a:pPr algn="just">
              <a:lnSpc>
                <a:spcPct val="100000"/>
              </a:lnSpc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Разработана серверная часть продукта</a:t>
            </a:r>
            <a:r>
              <a:rPr lang="en-US" sz="2400" dirty="0">
                <a:solidFill>
                  <a:srgbClr val="000000"/>
                </a:solidFill>
                <a:ea typeface="Cambria" panose="02040503050406030204" pitchFamily="18" charset="0"/>
              </a:rPr>
              <a:t>.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ru-RU" sz="2400" dirty="0">
                <a:solidFill>
                  <a:srgbClr val="000000"/>
                </a:solidFill>
                <a:ea typeface="Cambria" panose="02040503050406030204" pitchFamily="18" charset="0"/>
              </a:rPr>
              <a:t>Разработанное программное средство принято заказчиком в полном объёме и находится в процессе тестирования на его стороне.</a:t>
            </a:r>
          </a:p>
          <a:p>
            <a:pPr algn="just">
              <a:lnSpc>
                <a:spcPct val="100000"/>
              </a:lnSpc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algn="just">
              <a:lnSpc>
                <a:spcPct val="100000"/>
              </a:lnSpc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endParaRPr lang="ru-RU" sz="2400" dirty="0">
              <a:solidFill>
                <a:srgbClr val="000000"/>
              </a:solidFill>
              <a:ea typeface="Cambria" panose="020405030504060302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25EEB23-ED4F-A95C-E704-2D1299DFF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422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918</TotalTime>
  <Words>277</Words>
  <Application>Microsoft Office PowerPoint</Application>
  <PresentationFormat>Широкоэкранный</PresentationFormat>
  <Paragraphs>69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Cambria</vt:lpstr>
      <vt:lpstr>Times New Roman</vt:lpstr>
      <vt:lpstr>Тема Office</vt:lpstr>
      <vt:lpstr>Разработка корпоративного веб-приложения для клонирования баз данных MS SQL</vt:lpstr>
      <vt:lpstr>Актуальность</vt:lpstr>
      <vt:lpstr>Цель и задачи</vt:lpstr>
      <vt:lpstr>Аналоги</vt:lpstr>
      <vt:lpstr>Программные средства разработки</vt:lpstr>
      <vt:lpstr>Диаграмма прецедентов </vt:lpstr>
      <vt:lpstr>ERD-диаграмма базы данных</vt:lpstr>
      <vt:lpstr>UML-диаграмма последовательности для процесса клонирования базы данных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Интерфейс продукта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maxsmg</dc:creator>
  <cp:lastModifiedBy>Анастасия Бородина</cp:lastModifiedBy>
  <cp:revision>74</cp:revision>
  <dcterms:created xsi:type="dcterms:W3CDTF">2025-12-16T11:40:20Z</dcterms:created>
  <dcterms:modified xsi:type="dcterms:W3CDTF">2026-05-18T16:40:02Z</dcterms:modified>
</cp:coreProperties>
</file>