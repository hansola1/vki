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61" r:id="rId4"/>
    <p:sldId id="260" r:id="rId5"/>
    <p:sldId id="262" r:id="rId6"/>
    <p:sldId id="265" r:id="rId7"/>
    <p:sldId id="264" r:id="rId8"/>
    <p:sldId id="269" r:id="rId9"/>
    <p:sldId id="266" r:id="rId10"/>
    <p:sldId id="271" r:id="rId11"/>
    <p:sldId id="263" r:id="rId12"/>
    <p:sldId id="270" r:id="rId13"/>
    <p:sldId id="267" r:id="rId14"/>
    <p:sldId id="268" r:id="rId15"/>
    <p:sldId id="25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1579"/>
    <a:srgbClr val="9A4A92"/>
    <a:srgbClr val="5C2D91"/>
    <a:srgbClr val="662E93"/>
    <a:srgbClr val="995B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4" autoAdjust="0"/>
  </p:normalViewPr>
  <p:slideViewPr>
    <p:cSldViewPr snapToGrid="0">
      <p:cViewPr varScale="1">
        <p:scale>
          <a:sx n="88" d="100"/>
          <a:sy n="88" d="100"/>
        </p:scale>
        <p:origin x="318" y="6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AF322-1614-4B94-B6A1-B76658E349DC}" type="datetimeFigureOut">
              <a:rPr lang="ru-RU" smtClean="0"/>
              <a:pPr/>
              <a:t>06.05.2026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FD236-6467-47CF-9CC9-221BD919C8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292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6E90A-740A-4036-B77E-D4A16F619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B4659-1E1C-40EB-81DA-554E1F862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9FEFE0-4738-4A9E-9F01-7117B8AA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2640-2EF4-4A43-9842-276C25197E25}" type="datetime1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37ACC0-6018-4137-AE99-81AC778F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5FE467-19C9-4A75-8577-29967111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33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3A844A-7364-47F6-A761-0D8F6E16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373E6D-2323-486B-BE09-2F8E60C89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605EB3-3C0D-4730-A334-3BAE921F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30A2B-E972-4650-9194-9F682251A062}" type="datetime1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00432-AAA1-474F-BC5C-AE99E740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9CE2DA-F8E5-42D7-B973-A9633560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01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D3BF8F-99D4-4D88-9ACD-D78411E8B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EEC6C7-A7F9-4EA0-8BFE-575CA83C8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1E3EF7-B249-493A-A023-45E60481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9D3F-9628-40A0-8CDF-BFC5BF8A512E}" type="datetime1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F9B23A-5C21-4F3A-99A7-52FF35FB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7C035E-D7A7-49D7-94A3-EFBCECC3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54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E7F3E-158F-44E1-AD1C-182B7B51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0217F2-7190-4A33-93C4-EAA2C5B10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1AE3EB-D975-416C-B543-A0579D15E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11C581-1BE3-4367-A765-029EA088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C618-F43D-4137-885A-9D660F20BABE}" type="datetime1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50909E-C4D7-49AF-9BFB-01E040F5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55C4F6-D9F8-4DC1-8F71-5C97FA91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87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65BAD2-9DDA-4C1B-9460-D5B9C3CC5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D12923-4545-4D9E-A2C7-96F3EA50E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D2AE5F-574A-4C26-BAED-6F5DD9338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E4313C-59A4-4A43-98F3-C1A35392D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D1C7F94-6A8F-4E96-B098-14DF75935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5F89490-43B3-47E0-945A-EDB58B9D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9E0F-81D3-46F2-A21F-80B324275C0B}" type="datetime1">
              <a:rPr lang="ru-RU" smtClean="0"/>
              <a:t>06.05.2026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3AD3602-85C0-4BDA-B84C-B972A7DA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25450D-B67A-4FEA-A9B4-36DBEC15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90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99A44-7B61-4A47-956D-1F014917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7D5DBF-656C-478F-B680-4AC3F54DC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851B-9994-4471-A95F-63C98C94C25C}" type="datetime1">
              <a:rPr lang="ru-RU" smtClean="0"/>
              <a:t>06.05.2026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AEFFB1D-F737-4C50-B3FF-B7038984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5B7082-AAE5-46D5-AF61-6F4C2814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89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0471FE-5864-489D-A592-5B97C6C0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C0E54-4CC8-47B6-A2ED-519E308C3D5C}" type="datetime1">
              <a:rPr lang="ru-RU" smtClean="0"/>
              <a:t>06.05.2026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1EF6CC-ACA4-4CBF-9575-19900942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D58BC9-BC32-44BC-B81A-6B3127F5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550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64CC7-139D-4F87-820F-A04EF281D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3AE14D-923A-4FED-A3C3-F6148F2D6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C88556-DC5D-4DB9-88BA-A4EF747EC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50DED5-48E9-47D0-81DB-725B4B11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578A-6CC4-494D-9939-AE0BC863DCC9}" type="datetime1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5D2FD8-CD8C-47A9-B4B1-A1AB7963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BECAD6-F06F-4ACA-AD76-73963B4D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617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5DCB24-E3EC-4295-BF95-351DB2FA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17C9491-2B1C-4CFA-A559-8E915849F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F49A99-254A-48D7-ADAE-8508C56F4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0C7DCB-6CA8-4FDB-BFE9-10872A26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0757-F38F-41AC-A030-FD2A4ED4502C}" type="datetime1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60CA91-BF09-41A3-A58F-824E8580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99730A-35D5-4E81-96C2-FA79CA74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6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CA712-21DC-4BD1-8249-A7BE4A76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0DE9C6-B3F3-43D6-A0F5-527BF53E6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25DC13-8A02-4368-B94C-820B45CEF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AEEE2-DC8F-4C66-9038-4CB95A7529D0}" type="datetime1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E279F1-2B33-4200-AEB7-A9B10670C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E51E21-A68C-4C07-8617-AE9DC2FB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35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F1B4797-34DD-4F49-AEF3-ECB7313C5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E3A757-69FE-4A83-847F-F4291BA9C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971DE9-B35B-4AB9-979C-280359E9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C36E5-C478-443C-BAEF-26B63FBE0A6B}" type="datetime1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88C09A-3295-4059-BFB9-970DA9F5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12CB15-6C40-42A9-8571-D1847B93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69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35CE17-72C1-4CE5-9A32-316036A69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2EC54C-2DB6-40DA-91A6-B0F20E9AF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BDA523-9CCA-4B64-8DC8-48D64ECE8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F9CD6-0EBB-4035-B231-EA9AEF8C103A}" type="datetime1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73392F-E304-4063-9604-B8D01B6B0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A73235-DA13-4CB4-AC81-3AA4E34B7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94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C4908-1E9F-E0B5-107C-C84FCD4D6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378" y="1814663"/>
            <a:ext cx="9743243" cy="1175713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+mn-lt"/>
                <a:cs typeface="Times New Roman" panose="02020603050405020304" pitchFamily="18" charset="0"/>
              </a:rPr>
              <a:t>Разработка корпоративного веб-приложения для клонирования баз данных 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MS SQL</a:t>
            </a:r>
            <a:r>
              <a:rPr lang="ru-RU" sz="3200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c</a:t>
            </a:r>
            <a:r>
              <a:rPr lang="ru-RU" sz="3200" b="1" dirty="0">
                <a:latin typeface="+mn-lt"/>
                <a:cs typeface="Times New Roman" panose="02020603050405020304" pitchFamily="18" charset="0"/>
              </a:rPr>
              <a:t> возможностью управления клонами и мониторингом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D52BBF-204D-0C99-2294-C290AEDB8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9468" y="379444"/>
            <a:ext cx="7833064" cy="996595"/>
          </a:xfrm>
        </p:spPr>
        <p:txBody>
          <a:bodyPr>
            <a:normAutofit/>
          </a:bodyPr>
          <a:lstStyle/>
          <a:p>
            <a:r>
              <a:rPr lang="ru-RU" b="1" dirty="0">
                <a:cs typeface="Times New Roman" panose="02020603050405020304" pitchFamily="18" charset="0"/>
              </a:rPr>
              <a:t>Высший колледж информатики Университета (ВКИ НГУ)</a:t>
            </a:r>
          </a:p>
          <a:p>
            <a:r>
              <a:rPr lang="ru-RU" b="1" dirty="0">
                <a:cs typeface="Times New Roman" panose="02020603050405020304" pitchFamily="18" charset="0"/>
              </a:rPr>
              <a:t>Кафедра информатики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80897C1-5711-BD90-FA6E-1F975E437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79177"/>
              </p:ext>
            </p:extLst>
          </p:nvPr>
        </p:nvGraphicFramePr>
        <p:xfrm>
          <a:off x="310718" y="3429001"/>
          <a:ext cx="11611993" cy="2228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51166">
                  <a:extLst>
                    <a:ext uri="{9D8B030D-6E8A-4147-A177-3AD203B41FA5}">
                      <a16:colId xmlns:a16="http://schemas.microsoft.com/office/drawing/2014/main" val="3662582577"/>
                    </a:ext>
                  </a:extLst>
                </a:gridCol>
                <a:gridCol w="5460827">
                  <a:extLst>
                    <a:ext uri="{9D8B030D-6E8A-4147-A177-3AD203B41FA5}">
                      <a16:colId xmlns:a16="http://schemas.microsoft.com/office/drawing/2014/main" val="1086863165"/>
                    </a:ext>
                  </a:extLst>
                </a:gridCol>
              </a:tblGrid>
              <a:tr h="1516897">
                <a:tc>
                  <a:txBody>
                    <a:bodyPr/>
                    <a:lstStyle/>
                    <a:p>
                      <a:pPr marR="125730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Руководитель </a:t>
                      </a:r>
                    </a:p>
                    <a:p>
                      <a:pPr marR="125730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инженер ВКИ НГУ</a:t>
                      </a:r>
                      <a:endParaRPr lang="ru-RU" sz="2200" b="1" i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25730" algn="r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Цимбалист Г.Н.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20685"/>
                  </a:ext>
                </a:extLst>
              </a:tr>
              <a:tr h="711953">
                <a:tc>
                  <a:txBody>
                    <a:bodyPr/>
                    <a:lstStyle/>
                    <a:p>
                      <a:pPr marR="125730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Студентка </a:t>
                      </a:r>
                      <a:r>
                        <a:rPr lang="en-US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 курса</a:t>
                      </a:r>
                    </a:p>
                    <a:p>
                      <a:pPr marR="125730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гр. 2207д2</a:t>
                      </a:r>
                      <a:endParaRPr lang="ru-RU" sz="2200" b="1" i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25730" algn="r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Бородина А.В.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6821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31673CA-AF50-77EF-E883-E71BB54FB373}"/>
              </a:ext>
            </a:extLst>
          </p:cNvPr>
          <p:cNvSpPr txBox="1"/>
          <p:nvPr/>
        </p:nvSpPr>
        <p:spPr>
          <a:xfrm>
            <a:off x="4292907" y="5866264"/>
            <a:ext cx="36061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25730" algn="ctr"/>
            <a:r>
              <a:rPr lang="ru-RU" sz="2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Новосибирск</a:t>
            </a:r>
          </a:p>
          <a:p>
            <a:pPr marR="125730" algn="ctr"/>
            <a:r>
              <a:rPr lang="ru-RU" sz="2000" dirty="0">
                <a:ea typeface="Calibri" panose="020F0502020204030204" pitchFamily="34" charset="0"/>
                <a:cs typeface="Times New Roman" panose="02020603050405020304" pitchFamily="18" charset="0"/>
              </a:rPr>
              <a:t>2026</a:t>
            </a:r>
            <a:endParaRPr lang="ru-RU" sz="20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16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26828D-7D8B-4737-89C7-236C42EAA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065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FFB2B26-12FC-4B11-83AD-B3F82D1AB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9325"/>
            <a:ext cx="10515600" cy="7920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cs typeface="Times New Roman" panose="02020603050405020304" pitchFamily="18" charset="0"/>
              </a:rPr>
              <a:t>Разработано по заказу компании ООО «БАЙТ» («Автотрейд»</a:t>
            </a:r>
            <a:r>
              <a:rPr lang="en-US" dirty="0">
                <a:cs typeface="Times New Roman" panose="02020603050405020304" pitchFamily="18" charset="0"/>
              </a:rPr>
              <a:t>) </a:t>
            </a:r>
            <a:r>
              <a:rPr lang="ru-RU" dirty="0">
                <a:cs typeface="Times New Roman" panose="02020603050405020304" pitchFamily="18" charset="0"/>
              </a:rPr>
              <a:t>для внутреннего использования.</a:t>
            </a:r>
          </a:p>
          <a:p>
            <a:pPr marL="0" indent="0">
              <a:buNone/>
            </a:pPr>
            <a:endParaRPr lang="ru-RU" dirty="0">
              <a:cs typeface="Times New Roman" panose="02020603050405020304" pitchFamily="18" charset="0"/>
            </a:endParaRPr>
          </a:p>
        </p:txBody>
      </p:sp>
      <p:pic>
        <p:nvPicPr>
          <p:cNvPr id="5" name="Picture 6" descr="Microsoft Sql Server Logo Png">
            <a:extLst>
              <a:ext uri="{FF2B5EF4-FFF2-40B4-BE49-F238E27FC236}">
                <a16:creationId xmlns:a16="http://schemas.microsoft.com/office/drawing/2014/main" id="{FD2A3D73-1BDB-492A-0A85-89E74B48B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320" y="2968818"/>
            <a:ext cx="3578494" cy="2892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02737B-4A0B-CCBE-B496-CC0E4711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399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CFF57-B02B-4ADB-B30E-322B0395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E749BE-F775-49AC-8E09-FEBAA2E48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53978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ru-RU" sz="2400" b="1" dirty="0">
                <a:cs typeface="Times New Roman" panose="02020603050405020304" pitchFamily="18" charset="0"/>
              </a:rPr>
              <a:t>Цель работы: </a:t>
            </a:r>
            <a:r>
              <a:rPr lang="ru-RU" sz="2400" dirty="0">
                <a:cs typeface="Times New Roman" panose="02020603050405020304" pitchFamily="18" charset="0"/>
              </a:rPr>
              <a:t>Разработка системы централизованного управления копиями баз данных MS SQL с возможностью создания образов и развёртывания клонов через веб-интерфейс на .NET Core и Blazor</a:t>
            </a:r>
            <a:r>
              <a:rPr lang="en-US" sz="2400" dirty="0">
                <a:cs typeface="Times New Roman" panose="02020603050405020304" pitchFamily="18" charset="0"/>
              </a:rPr>
              <a:t>.</a:t>
            </a:r>
            <a:endParaRPr lang="ru-RU" sz="2400" dirty="0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2400" b="1" dirty="0">
                <a:cs typeface="Times New Roman" panose="02020603050405020304" pitchFamily="18" charset="0"/>
              </a:rPr>
              <a:t>Задачи:</a:t>
            </a:r>
          </a:p>
          <a:p>
            <a:pPr marL="742950" lvl="1" indent="-285750">
              <a:lnSpc>
                <a:spcPct val="110000"/>
              </a:lnSpc>
              <a:tabLst>
                <a:tab pos="630555" algn="l"/>
              </a:tabLst>
            </a:pPr>
            <a:r>
              <a:rPr lang="ru-RU" dirty="0">
                <a:solidFill>
                  <a:srgbClr val="0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Разработка ТЗ</a:t>
            </a:r>
          </a:p>
          <a:p>
            <a:pPr marL="742950" lvl="1" indent="-285750">
              <a:lnSpc>
                <a:spcPct val="110000"/>
              </a:lnSpc>
              <a:tabLst>
                <a:tab pos="630555" algn="l"/>
              </a:tabLst>
            </a:pPr>
            <a:r>
              <a:rPr lang="ru-RU" dirty="0">
                <a:solidFill>
                  <a:srgbClr val="0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Разработка архитектуры согласно ТЗ</a:t>
            </a:r>
          </a:p>
          <a:p>
            <a:pPr marL="742950" lvl="1" indent="-285750">
              <a:lnSpc>
                <a:spcPct val="110000"/>
              </a:lnSpc>
              <a:tabLst>
                <a:tab pos="630555" algn="l"/>
              </a:tabLst>
            </a:pPr>
            <a:r>
              <a:rPr lang="ru-RU" dirty="0">
                <a:solidFill>
                  <a:srgbClr val="0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Реализация функционала службы-агента</a:t>
            </a:r>
          </a:p>
          <a:p>
            <a:pPr marL="742950" lvl="1" indent="-285750">
              <a:lnSpc>
                <a:spcPct val="110000"/>
              </a:lnSpc>
              <a:tabLst>
                <a:tab pos="630555" algn="l"/>
              </a:tabLst>
            </a:pPr>
            <a:r>
              <a:rPr lang="ru-RU" dirty="0">
                <a:solidFill>
                  <a:srgbClr val="0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Разработка клиентской (браузерной) части веб-приложения </a:t>
            </a:r>
          </a:p>
          <a:p>
            <a:pPr marL="742950" lvl="1" indent="-285750">
              <a:lnSpc>
                <a:spcPct val="110000"/>
              </a:lnSpc>
              <a:tabLst>
                <a:tab pos="630555" algn="l"/>
              </a:tabLst>
            </a:pPr>
            <a:r>
              <a:rPr lang="ru-RU" dirty="0">
                <a:solidFill>
                  <a:srgbClr val="0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Разработка серверной части веб-приложения </a:t>
            </a:r>
          </a:p>
          <a:p>
            <a:pPr marL="742950" lvl="1" indent="-285750">
              <a:lnSpc>
                <a:spcPct val="110000"/>
              </a:lnSpc>
              <a:tabLst>
                <a:tab pos="630555" algn="l"/>
              </a:tabLst>
            </a:pPr>
            <a:r>
              <a:rPr lang="ru-RU" dirty="0">
                <a:solidFill>
                  <a:srgbClr val="0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Тестирование и отладка веб-приложения</a:t>
            </a:r>
          </a:p>
          <a:p>
            <a:pPr marL="742950" lvl="1" indent="-285750">
              <a:lnSpc>
                <a:spcPct val="110000"/>
              </a:lnSpc>
              <a:tabLst>
                <a:tab pos="630555" algn="l"/>
              </a:tabLst>
            </a:pPr>
            <a:endParaRPr lang="ru-RU" dirty="0"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368E3C-D348-87CF-4E12-8755DECFC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655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zure SQL Database: Managed Relational Service - Pipeliner CRM">
            <a:extLst>
              <a:ext uri="{FF2B5EF4-FFF2-40B4-BE49-F238E27FC236}">
                <a16:creationId xmlns:a16="http://schemas.microsoft.com/office/drawing/2014/main" id="{2F230536-17E8-811A-9A03-F25AE27A8B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20" b="20467"/>
          <a:stretch>
            <a:fillRect/>
          </a:stretch>
        </p:blipFill>
        <p:spPr bwMode="auto">
          <a:xfrm>
            <a:off x="5445314" y="2958324"/>
            <a:ext cx="4895718" cy="309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26828D-7D8B-4737-89C7-236C42EAA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4307"/>
            <a:ext cx="10515600" cy="1541260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Аналоги</a:t>
            </a:r>
          </a:p>
        </p:txBody>
      </p:sp>
      <p:pic>
        <p:nvPicPr>
          <p:cNvPr id="3" name="Picture 2" descr="SQL Clone - Visual Studio Marketplace">
            <a:extLst>
              <a:ext uri="{FF2B5EF4-FFF2-40B4-BE49-F238E27FC236}">
                <a16:creationId xmlns:a16="http://schemas.microsoft.com/office/drawing/2014/main" id="{3ACD3316-3EC8-4C92-37AD-6A71F2DE3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845" y="2958324"/>
            <a:ext cx="2547178" cy="261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6F113C-5DF9-7056-03BA-AACE0A7DECDD}"/>
              </a:ext>
            </a:extLst>
          </p:cNvPr>
          <p:cNvSpPr txBox="1"/>
          <p:nvPr/>
        </p:nvSpPr>
        <p:spPr>
          <a:xfrm>
            <a:off x="1909845" y="5570536"/>
            <a:ext cx="3113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Redgate SQL clone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08B033-9138-7ABF-0D4C-74F7823A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A861A-E253-17E2-A091-84431EC03268}"/>
              </a:ext>
            </a:extLst>
          </p:cNvPr>
          <p:cNvSpPr txBox="1"/>
          <p:nvPr/>
        </p:nvSpPr>
        <p:spPr>
          <a:xfrm>
            <a:off x="838200" y="1187711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На рынке присутствуют аналоги разрабатываемого продукта. Однако было принято решение о собственной разработке ввиду высокой стоимости лицензий на готовые коммерческие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0928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0">
              <a:schemeClr val="bg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298B6-8ED4-473E-9D5D-3F277376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45" y="11301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662E93"/>
                </a:solidFill>
                <a:latin typeface="+mn-lt"/>
                <a:cs typeface="Times New Roman" panose="02020603050405020304" pitchFamily="18" charset="0"/>
              </a:rPr>
              <a:t>Программные средства разработки</a:t>
            </a:r>
          </a:p>
        </p:txBody>
      </p:sp>
      <p:pic>
        <p:nvPicPr>
          <p:cNvPr id="2052" name="Picture 4" descr="Microsoft Visual Studio 2019 Launch Date Announced | CSW Solutions">
            <a:extLst>
              <a:ext uri="{FF2B5EF4-FFF2-40B4-BE49-F238E27FC236}">
                <a16:creationId xmlns:a16="http://schemas.microsoft.com/office/drawing/2014/main" id="{96398E16-3B78-1ECE-5EEA-3B9E76672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615" y="1855640"/>
            <a:ext cx="1830976" cy="137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icrosoft Sql Server Logo Png">
            <a:extLst>
              <a:ext uri="{FF2B5EF4-FFF2-40B4-BE49-F238E27FC236}">
                <a16:creationId xmlns:a16="http://schemas.microsoft.com/office/drawing/2014/main" id="{ABD92126-4870-A97C-6540-EA8EE3C79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537" y="4177318"/>
            <a:ext cx="1745132" cy="141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90A7987-6BB9-4345-9C89-E8FFE1765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328" y="1855640"/>
            <a:ext cx="1290550" cy="129055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8B98B5E-7BA8-E32C-3C9C-4FE8CB923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091" y="1891050"/>
            <a:ext cx="1948522" cy="1219730"/>
          </a:xfrm>
          <a:prstGeom prst="rect">
            <a:avLst/>
          </a:prstGeom>
        </p:spPr>
      </p:pic>
      <p:sp>
        <p:nvSpPr>
          <p:cNvPr id="2048" name="TextBox 2047">
            <a:extLst>
              <a:ext uri="{FF2B5EF4-FFF2-40B4-BE49-F238E27FC236}">
                <a16:creationId xmlns:a16="http://schemas.microsoft.com/office/drawing/2014/main" id="{CF36CB90-3C93-5911-CCBE-41E2DA0AEB70}"/>
              </a:ext>
            </a:extLst>
          </p:cNvPr>
          <p:cNvSpPr txBox="1"/>
          <p:nvPr/>
        </p:nvSpPr>
        <p:spPr>
          <a:xfrm>
            <a:off x="1079091" y="5379952"/>
            <a:ext cx="230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5C2D91"/>
                </a:solidFill>
              </a:rPr>
              <a:t>.NET Core  (</a:t>
            </a:r>
            <a:r>
              <a:rPr lang="en-US" b="1" dirty="0">
                <a:solidFill>
                  <a:srgbClr val="5C2D91"/>
                </a:solidFill>
              </a:rPr>
              <a:t>ASP.NET</a:t>
            </a:r>
            <a:r>
              <a:rPr lang="ru-RU" b="1" dirty="0">
                <a:solidFill>
                  <a:srgbClr val="5C2D91"/>
                </a:solidFill>
              </a:rPr>
              <a:t>).</a:t>
            </a:r>
          </a:p>
        </p:txBody>
      </p:sp>
      <p:pic>
        <p:nvPicPr>
          <p:cNvPr id="2086" name="Picture 38" descr="C# developer | Backend">
            <a:extLst>
              <a:ext uri="{FF2B5EF4-FFF2-40B4-BE49-F238E27FC236}">
                <a16:creationId xmlns:a16="http://schemas.microsoft.com/office/drawing/2014/main" id="{24B3D150-9DC8-7FEF-4740-53FF71DAE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14" y="3932467"/>
            <a:ext cx="1421476" cy="142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8" name="Picture 40" descr="An In-depth Look: HTML5 and CSS3 | Global Wire Associates">
            <a:extLst>
              <a:ext uri="{FF2B5EF4-FFF2-40B4-BE49-F238E27FC236}">
                <a16:creationId xmlns:a16="http://schemas.microsoft.com/office/drawing/2014/main" id="{755AABCE-C4BE-557C-6F20-EF61896B5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154" y="4015069"/>
            <a:ext cx="2018897" cy="1472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EB4D9D7-D83E-869C-AEFA-F054D4B5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33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Диаграмма прецедентов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AC07A3C-6083-16DA-123A-B92DE2D43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BEEDCD-1219-B8E0-BA41-10DC8F952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73" y="1325563"/>
            <a:ext cx="10809263" cy="4919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01787"/>
            <a:ext cx="105156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UML</a:t>
            </a:r>
            <a:r>
              <a:rPr lang="ru-RU" b="1" dirty="0">
                <a:latin typeface="+mn-lt"/>
              </a:rPr>
              <a:t>-диаграмма последовательности для процесса клонирования базы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19B42E-70DE-7647-5BC8-A510B3C96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763" y="1675450"/>
            <a:ext cx="8911644" cy="4863462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CAAE307-F01B-B820-2B36-01BE70B7F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D2B7-CAC7-F644-91FE-4FF98FA9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88C7727B-2B50-E712-93FE-5AB120B13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052" y="2423904"/>
            <a:ext cx="6361296" cy="291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FEA16-26B9-9FBB-88AD-C63E7C24E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E7BEB4-4E75-1AF9-9F73-91FCD254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6241999D-BF00-C0CC-A15F-AF0C89A13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1522" y="5710639"/>
            <a:ext cx="3128356" cy="3914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Окно входа в систему</a:t>
            </a: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AE910AD1-53BC-F506-BFB4-FEFDDCC6F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852" y="1401669"/>
            <a:ext cx="7881498" cy="405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56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80C0C-3D0B-4798-D0F8-D8BC6E181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A5D6C6DE-E43A-F39F-75D2-1104F71AF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14335"/>
            <a:ext cx="9920098" cy="454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53F7E-A2DB-E46D-1FCB-FCA6AF556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660AD78-9BD8-56CD-7F5C-A3277723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90E6089E-48E2-B130-19F5-4D73C1489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022" y="5892166"/>
            <a:ext cx="4764578" cy="3914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Страница </a:t>
            </a:r>
            <a:r>
              <a:rPr lang="en-US" sz="2400" dirty="0">
                <a:cs typeface="Times New Roman" panose="02020603050405020304" pitchFamily="18" charset="0"/>
              </a:rPr>
              <a:t>“</a:t>
            </a:r>
            <a:r>
              <a:rPr lang="ru-RU" sz="2400" dirty="0">
                <a:cs typeface="Times New Roman" panose="02020603050405020304" pitchFamily="18" charset="0"/>
              </a:rPr>
              <a:t>Управление образами</a:t>
            </a:r>
            <a:r>
              <a:rPr lang="en-US" sz="2400" dirty="0">
                <a:cs typeface="Times New Roman" panose="02020603050405020304" pitchFamily="18" charset="0"/>
              </a:rPr>
              <a:t>”</a:t>
            </a:r>
            <a:endParaRPr lang="ru-RU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401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DCC2E-C094-6225-8A4C-3843085BF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B306B862-B540-2C59-EC13-31C1FCD8F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14335"/>
            <a:ext cx="9840380" cy="454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88D18-3A2A-0F72-E776-B12DD11F4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E84D0FD-854F-8EFB-F670-76F907CE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BA899F52-370B-373B-EEE8-CA574ABF1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2076" y="5955464"/>
            <a:ext cx="7367848" cy="55851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Страница </a:t>
            </a:r>
            <a:r>
              <a:rPr lang="en-US" sz="2400" dirty="0">
                <a:cs typeface="Times New Roman" panose="02020603050405020304" pitchFamily="18" charset="0"/>
              </a:rPr>
              <a:t>“</a:t>
            </a:r>
            <a:r>
              <a:rPr lang="ru-RU" sz="2400" dirty="0">
                <a:cs typeface="Times New Roman" panose="02020603050405020304" pitchFamily="18" charset="0"/>
              </a:rPr>
              <a:t>Управление образами</a:t>
            </a:r>
            <a:r>
              <a:rPr lang="en-US" sz="2400" dirty="0">
                <a:cs typeface="Times New Roman" panose="02020603050405020304" pitchFamily="18" charset="0"/>
              </a:rPr>
              <a:t>”</a:t>
            </a:r>
            <a:r>
              <a:rPr lang="ru-RU" sz="2400" dirty="0">
                <a:cs typeface="Times New Roman" panose="02020603050405020304" pitchFamily="18" charset="0"/>
              </a:rPr>
              <a:t>, окно создания образа</a:t>
            </a: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499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AADD676-E5FE-EB54-D2CE-4CB6EA57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18C07E-6DD1-E99D-626B-BFE4A55B5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778" r="492"/>
          <a:stretch>
            <a:fillRect/>
          </a:stretch>
        </p:blipFill>
        <p:spPr bwMode="auto">
          <a:xfrm>
            <a:off x="838200" y="1325563"/>
            <a:ext cx="10063455" cy="455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6">
            <a:extLst>
              <a:ext uri="{FF2B5EF4-FFF2-40B4-BE49-F238E27FC236}">
                <a16:creationId xmlns:a16="http://schemas.microsoft.com/office/drawing/2014/main" id="{DF5BD25B-4FE4-2379-8B0B-F0542928B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022" y="5892166"/>
            <a:ext cx="4764578" cy="3914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Страница </a:t>
            </a:r>
            <a:r>
              <a:rPr lang="en-US" sz="2400" dirty="0">
                <a:cs typeface="Times New Roman" panose="02020603050405020304" pitchFamily="18" charset="0"/>
              </a:rPr>
              <a:t>“</a:t>
            </a:r>
            <a:r>
              <a:rPr lang="ru-RU" sz="2400" dirty="0">
                <a:cs typeface="Times New Roman" panose="02020603050405020304" pitchFamily="18" charset="0"/>
              </a:rPr>
              <a:t>Управление клонами</a:t>
            </a:r>
            <a:r>
              <a:rPr lang="en-US" sz="2400" dirty="0">
                <a:cs typeface="Times New Roman" panose="02020603050405020304" pitchFamily="18" charset="0"/>
              </a:rPr>
              <a:t>”</a:t>
            </a:r>
            <a:endParaRPr lang="ru-RU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8AFD2-BE57-51C5-78D2-F38CBF014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8861A417-EDA8-CE6C-5501-C33C02909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14334"/>
            <a:ext cx="9812691" cy="454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A6C04-60E0-8F1B-B2E2-BF543EAC0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91C5A47-5E91-A351-B430-CEC1DC47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2B1A34DB-2062-1014-1D0E-AFB8471D9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2076" y="5955464"/>
            <a:ext cx="7367848" cy="5585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Страница </a:t>
            </a:r>
            <a:r>
              <a:rPr lang="en-US" sz="2400" dirty="0">
                <a:cs typeface="Times New Roman" panose="02020603050405020304" pitchFamily="18" charset="0"/>
              </a:rPr>
              <a:t>“</a:t>
            </a:r>
            <a:r>
              <a:rPr lang="ru-RU" sz="2400" dirty="0">
                <a:cs typeface="Times New Roman" panose="02020603050405020304" pitchFamily="18" charset="0"/>
              </a:rPr>
              <a:t>Управление клонами</a:t>
            </a:r>
            <a:r>
              <a:rPr lang="en-US" sz="2400" dirty="0">
                <a:cs typeface="Times New Roman" panose="02020603050405020304" pitchFamily="18" charset="0"/>
              </a:rPr>
              <a:t>”</a:t>
            </a:r>
            <a:r>
              <a:rPr lang="ru-RU" sz="2400" dirty="0">
                <a:cs typeface="Times New Roman" panose="02020603050405020304" pitchFamily="18" charset="0"/>
              </a:rPr>
              <a:t>, окно создания клона</a:t>
            </a: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335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483B1-6845-5896-B989-92013FD8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1155A68F-C644-3524-AF93-9D42169CD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14335"/>
            <a:ext cx="9840380" cy="450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130AA8-0B48-FAEB-2D75-2601BA95D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337F5E4-A0AB-8A47-3CE7-A6FC80B9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731C0555-1B39-619C-7FCE-6D52D67BC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022" y="5892166"/>
            <a:ext cx="4764578" cy="3914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Страница </a:t>
            </a:r>
            <a:r>
              <a:rPr lang="en-US" sz="2400" dirty="0">
                <a:cs typeface="Times New Roman" panose="02020603050405020304" pitchFamily="18" charset="0"/>
              </a:rPr>
              <a:t>“</a:t>
            </a:r>
            <a:r>
              <a:rPr lang="ru-RU" sz="2400" dirty="0">
                <a:cs typeface="Times New Roman" panose="02020603050405020304" pitchFamily="18" charset="0"/>
              </a:rPr>
              <a:t>Мониторинг</a:t>
            </a:r>
            <a:r>
              <a:rPr lang="en-US" sz="2400" dirty="0">
                <a:cs typeface="Times New Roman" panose="02020603050405020304" pitchFamily="18" charset="0"/>
              </a:rPr>
              <a:t>”</a:t>
            </a:r>
            <a:endParaRPr lang="ru-RU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628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DDA3E-1196-0231-A35A-F9405FE0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7E9213FE-D586-4D83-B3BF-8993F7EFE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14335"/>
            <a:ext cx="9840380" cy="450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BB1FEA-758D-959A-35F0-627188B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D4C32D0-FD32-F810-B123-2B4A0015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E99DCA30-8A31-90B6-9ED7-5CD3425A8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022" y="5892166"/>
            <a:ext cx="4764578" cy="3914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Страница </a:t>
            </a:r>
            <a:r>
              <a:rPr lang="en-US" sz="2400" dirty="0">
                <a:cs typeface="Times New Roman" panose="02020603050405020304" pitchFamily="18" charset="0"/>
              </a:rPr>
              <a:t>“</a:t>
            </a:r>
            <a:r>
              <a:rPr lang="ru-RU" sz="2400" dirty="0">
                <a:cs typeface="Times New Roman" panose="02020603050405020304" pitchFamily="18" charset="0"/>
              </a:rPr>
              <a:t>Мониторинг</a:t>
            </a:r>
            <a:r>
              <a:rPr lang="en-US" sz="2400" dirty="0">
                <a:cs typeface="Times New Roman" panose="02020603050405020304" pitchFamily="18" charset="0"/>
              </a:rPr>
              <a:t>”</a:t>
            </a:r>
            <a:endParaRPr lang="ru-RU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178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1C50A-C6E6-44F5-AF9B-2730E5C20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D7845B-26BC-4B97-B7FD-7A4913143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357"/>
            <a:ext cx="10515600" cy="482618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ea typeface="Cambria" panose="02040503050406030204" pitchFamily="18" charset="0"/>
              </a:rPr>
              <a:t>В ходе реализации поставленной цели были выполнены следующие задачи:</a:t>
            </a:r>
          </a:p>
          <a:p>
            <a:pPr algn="just">
              <a:lnSpc>
                <a:spcPct val="100000"/>
              </a:lnSpc>
            </a:pPr>
            <a:r>
              <a:rPr lang="ru-RU" sz="2400" dirty="0">
                <a:solidFill>
                  <a:srgbClr val="000000"/>
                </a:solidFill>
                <a:ea typeface="Cambria" panose="02040503050406030204" pitchFamily="18" charset="0"/>
              </a:rPr>
              <a:t>Выявлены ключевые потребности, которые должен покрывать продукт и разработано ТЗ.</a:t>
            </a:r>
          </a:p>
          <a:p>
            <a:pPr algn="just">
              <a:lnSpc>
                <a:spcPct val="100000"/>
              </a:lnSpc>
            </a:pPr>
            <a:r>
              <a:rPr lang="ru-RU" sz="2400" dirty="0">
                <a:solidFill>
                  <a:srgbClr val="000000"/>
                </a:solidFill>
                <a:ea typeface="Cambria" panose="02040503050406030204" pitchFamily="18" charset="0"/>
              </a:rPr>
              <a:t>Разработан интерфейса веб-клиента, согласно представленному макету.</a:t>
            </a:r>
          </a:p>
          <a:p>
            <a:pPr algn="just">
              <a:lnSpc>
                <a:spcPct val="100000"/>
              </a:lnSpc>
            </a:pPr>
            <a:r>
              <a:rPr lang="ru-RU" sz="2400" dirty="0">
                <a:solidFill>
                  <a:srgbClr val="000000"/>
                </a:solidFill>
                <a:ea typeface="Cambria" panose="02040503050406030204" pitchFamily="18" charset="0"/>
              </a:rPr>
              <a:t>Разработана серверная часть продукта</a:t>
            </a:r>
            <a:r>
              <a:rPr lang="en-US" sz="2400" dirty="0">
                <a:solidFill>
                  <a:srgbClr val="000000"/>
                </a:solidFill>
                <a:ea typeface="Cambria" panose="02040503050406030204" pitchFamily="18" charset="0"/>
              </a:rPr>
              <a:t>.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solidFill>
                <a:srgbClr val="000000"/>
              </a:solidFill>
              <a:ea typeface="Cambria" panose="020405030504060302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ea typeface="Cambria" panose="02040503050406030204" pitchFamily="18" charset="0"/>
              </a:rPr>
              <a:t>Разработанное решение находится в процессе тестирования на стороне заказчика.</a:t>
            </a:r>
          </a:p>
          <a:p>
            <a:pPr algn="just">
              <a:lnSpc>
                <a:spcPct val="100000"/>
              </a:lnSpc>
            </a:pPr>
            <a:endParaRPr lang="ru-RU" sz="2400" dirty="0">
              <a:solidFill>
                <a:srgbClr val="000000"/>
              </a:solidFill>
              <a:ea typeface="Cambria" panose="02040503050406030204" pitchFamily="18" charset="0"/>
            </a:endParaRPr>
          </a:p>
          <a:p>
            <a:pPr algn="just">
              <a:lnSpc>
                <a:spcPct val="100000"/>
              </a:lnSpc>
            </a:pPr>
            <a:endParaRPr lang="ru-RU" sz="2400" dirty="0">
              <a:solidFill>
                <a:srgbClr val="000000"/>
              </a:solidFill>
              <a:ea typeface="Cambria" panose="020405030504060302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ru-RU" sz="2400" dirty="0">
              <a:solidFill>
                <a:srgbClr val="000000"/>
              </a:solidFill>
              <a:ea typeface="Cambria" panose="020405030504060302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5EEB23-ED4F-A95C-E704-2D1299DF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422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445</TotalTime>
  <Words>283</Words>
  <Application>Microsoft Office PowerPoint</Application>
  <PresentationFormat>Широкоэкранный</PresentationFormat>
  <Paragraphs>65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Тема Office</vt:lpstr>
      <vt:lpstr>Разработка корпоративного веб-приложения для клонирования баз данных MS SQL c возможностью управления клонами и мониторингом</vt:lpstr>
      <vt:lpstr>Актуальность</vt:lpstr>
      <vt:lpstr>Цель и задачи</vt:lpstr>
      <vt:lpstr>Аналоги</vt:lpstr>
      <vt:lpstr>Программные средства разработки</vt:lpstr>
      <vt:lpstr>Диаграмма прецедентов</vt:lpstr>
      <vt:lpstr>UML-диаграмма последовательности для процесса клонирования базы данных</vt:lpstr>
      <vt:lpstr>Интерфейс продукта</vt:lpstr>
      <vt:lpstr>Интерфейс продукта</vt:lpstr>
      <vt:lpstr>Интерфейс продукта</vt:lpstr>
      <vt:lpstr>Интерфейс продукта</vt:lpstr>
      <vt:lpstr>Интерфейс продукта</vt:lpstr>
      <vt:lpstr>Интерфейс продукта</vt:lpstr>
      <vt:lpstr>Интерфейс продукта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maxsmg</dc:creator>
  <cp:lastModifiedBy>Анастасия Бородина</cp:lastModifiedBy>
  <cp:revision>62</cp:revision>
  <dcterms:created xsi:type="dcterms:W3CDTF">2025-12-16T11:40:20Z</dcterms:created>
  <dcterms:modified xsi:type="dcterms:W3CDTF">2026-05-06T10:05:55Z</dcterms:modified>
</cp:coreProperties>
</file>