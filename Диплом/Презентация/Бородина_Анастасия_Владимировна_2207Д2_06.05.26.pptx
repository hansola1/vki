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1" r:id="rId4"/>
    <p:sldId id="260" r:id="rId5"/>
    <p:sldId id="262" r:id="rId6"/>
    <p:sldId id="265" r:id="rId7"/>
    <p:sldId id="264" r:id="rId8"/>
    <p:sldId id="272" r:id="rId9"/>
    <p:sldId id="269" r:id="rId10"/>
    <p:sldId id="266" r:id="rId11"/>
    <p:sldId id="271" r:id="rId12"/>
    <p:sldId id="263" r:id="rId13"/>
    <p:sldId id="270" r:id="rId14"/>
    <p:sldId id="267" r:id="rId15"/>
    <p:sldId id="268" r:id="rId16"/>
    <p:sldId id="25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1579"/>
    <a:srgbClr val="9A4A92"/>
    <a:srgbClr val="5C2D91"/>
    <a:srgbClr val="662E93"/>
    <a:srgbClr val="995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513" autoAdjust="0"/>
    <p:restoredTop sz="94704" autoAdjust="0"/>
  </p:normalViewPr>
  <p:slideViewPr>
    <p:cSldViewPr snapToGrid="0">
      <p:cViewPr varScale="1">
        <p:scale>
          <a:sx n="69" d="100"/>
          <a:sy n="69" d="100"/>
        </p:scale>
        <p:origin x="65" y="4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08.05.2026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F2640-2EF4-4A43-9842-276C25197E25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30A2B-E972-4650-9194-9F682251A062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89D3F-9628-40A0-8CDF-BFC5BF8A512E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C618-F43D-4137-885A-9D660F20BABE}" type="datetime1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59E0F-81D3-46F2-A21F-80B324275C0B}" type="datetime1">
              <a:rPr lang="ru-RU" smtClean="0"/>
              <a:t>08.05.2026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F851B-9994-4471-A95F-63C98C94C25C}" type="datetime1">
              <a:rPr lang="ru-RU" smtClean="0"/>
              <a:t>08.05.2026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C0E54-4CC8-47B6-A2ED-519E308C3D5C}" type="datetime1">
              <a:rPr lang="ru-RU" smtClean="0"/>
              <a:t>08.05.2026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8578A-6CC4-494D-9939-AE0BC863DCC9}" type="datetime1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30757-F38F-41AC-A030-FD2A4ED4502C}" type="datetime1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AEEE2-DC8F-4C66-9038-4CB95A7529D0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C36E5-C478-443C-BAEF-26B63FBE0A6B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F9CD6-0EBB-4035-B231-EA9AEF8C103A}" type="datetime1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+mn-lt"/>
                <a:cs typeface="Times New Roman" panose="02020603050405020304" pitchFamily="18" charset="0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MS SQL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c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возможностью управления клонами и мониторингом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>
                <a:cs typeface="Times New Roman" panose="02020603050405020304" pitchFamily="18" charset="0"/>
              </a:rPr>
              <a:t>Высший колледж информатики Университета (ВКИ НГУ)</a:t>
            </a:r>
          </a:p>
          <a:p>
            <a:r>
              <a:rPr lang="ru-RU" b="1" dirty="0">
                <a:cs typeface="Times New Roman" panose="02020603050405020304" pitchFamily="18" charset="0"/>
              </a:rPr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79177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  <a:cs typeface="Times New Roman" panose="02020603050405020304" pitchFamily="18" charset="0"/>
              </a:rPr>
              <a:t>2026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065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6062"/>
            <a:ext cx="10515600" cy="82523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Программное средство разработано по заказу компании ООО «БАЙТ» («Автотрейд») для внутреннего использования. </a:t>
            </a:r>
            <a:br>
              <a:rPr lang="ru-RU" sz="2400" dirty="0"/>
            </a:b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5" name="Picture 6" descr="Microsoft Sql Server Logo Png">
            <a:extLst>
              <a:ext uri="{FF2B5EF4-FFF2-40B4-BE49-F238E27FC236}">
                <a16:creationId xmlns:a16="http://schemas.microsoft.com/office/drawing/2014/main" id="{FD2A3D73-1BDB-492A-0A85-89E74B48B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323" y="4219891"/>
            <a:ext cx="2083911" cy="168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702737B-4A0B-CCBE-B496-CC0E47113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88BA4AED-33AE-373C-168C-F46908453026}"/>
              </a:ext>
            </a:extLst>
          </p:cNvPr>
          <p:cNvSpPr txBox="1">
            <a:spLocks/>
          </p:cNvSpPr>
          <p:nvPr/>
        </p:nvSpPr>
        <p:spPr>
          <a:xfrm>
            <a:off x="838200" y="2011298"/>
            <a:ext cx="10515600" cy="23811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/>
              <a:t>На этапах разработки и тестирования возникает потребность в изолированных копиях рабочих баз. Ручное создание копий для больших объёмов данных может занимать несколько часов. </a:t>
            </a:r>
            <a:br>
              <a:rPr lang="ru-RU" sz="2400" dirty="0"/>
            </a:br>
            <a:r>
              <a:rPr lang="ru-RU" sz="2400" dirty="0"/>
              <a:t>Данное решение автоматизирует процесс клонирования, мгновенно разворачивая изолированные копии баз и предоставляя все инструменты управления в едином веб-интерфейсе.</a:t>
            </a: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F44A41A-CD71-77CE-DD77-0B03E093C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098" y="4359392"/>
            <a:ext cx="2068650" cy="1684597"/>
          </a:xfrm>
          <a:prstGeom prst="rect">
            <a:avLst/>
          </a:prstGeom>
        </p:spPr>
      </p:pic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48D415A-7FC9-D96C-5703-760180D352A9}"/>
              </a:ext>
            </a:extLst>
          </p:cNvPr>
          <p:cNvSpPr txBox="1">
            <a:spLocks/>
          </p:cNvSpPr>
          <p:nvPr/>
        </p:nvSpPr>
        <p:spPr>
          <a:xfrm>
            <a:off x="6974377" y="5997298"/>
            <a:ext cx="872838" cy="531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b="1" dirty="0">
                <a:latin typeface="+mn-lt"/>
                <a:cs typeface="Times New Roman" panose="02020603050405020304" pitchFamily="18" charset="0"/>
              </a:rPr>
              <a:t>СУБД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DD5EA1B7-E286-3293-4DE8-8552DEE21911}"/>
              </a:ext>
            </a:extLst>
          </p:cNvPr>
          <p:cNvSpPr txBox="1">
            <a:spLocks/>
          </p:cNvSpPr>
          <p:nvPr/>
        </p:nvSpPr>
        <p:spPr>
          <a:xfrm>
            <a:off x="3418004" y="5997298"/>
            <a:ext cx="872838" cy="531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b="1" dirty="0">
                <a:latin typeface="+mn-lt"/>
                <a:cs typeface="Times New Roman" panose="02020603050405020304" pitchFamily="18" charset="0"/>
              </a:rPr>
              <a:t>БД</a:t>
            </a:r>
          </a:p>
        </p:txBody>
      </p:sp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539783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Цель работы: </a:t>
            </a:r>
            <a:r>
              <a:rPr lang="ru-RU" sz="2400" dirty="0">
                <a:cs typeface="Times New Roman" panose="02020603050405020304" pitchFamily="18" charset="0"/>
              </a:rPr>
              <a:t>Разработка системы централизованного управления копиями баз данных MS SQL с возможностью создания образов и развёртывания клонов через веб-интерфейс на .NET Core и Blazor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  <a:endParaRPr lang="ru-RU" sz="2400" dirty="0"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Задачи: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архитектуры согласно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Реализация функционала службы-агента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клиентской (браузерной)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серверной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Тестирование и отладка веб-приложения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endParaRPr lang="ru-RU" dirty="0"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F368E3C-D348-87CF-4E12-8755DECFC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20" b="20467"/>
          <a:stretch>
            <a:fillRect/>
          </a:stretch>
        </p:blipFill>
        <p:spPr bwMode="auto">
          <a:xfrm>
            <a:off x="5445314" y="2958324"/>
            <a:ext cx="4895718" cy="3099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4307"/>
            <a:ext cx="10515600" cy="1541260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Аналоги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845" y="2958324"/>
            <a:ext cx="2547178" cy="261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1909845" y="5570536"/>
            <a:ext cx="31138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Redgate SQL clone</a:t>
            </a:r>
            <a:endParaRPr lang="ru-RU" sz="24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08B033-9138-7ABF-0D4C-74F7823A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A861A-E253-17E2-A091-84431EC03268}"/>
              </a:ext>
            </a:extLst>
          </p:cNvPr>
          <p:cNvSpPr txBox="1"/>
          <p:nvPr/>
        </p:nvSpPr>
        <p:spPr>
          <a:xfrm>
            <a:off x="838200" y="1187711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На рынке присутствуют аналоги разрабатываемого продукта. Однако было принято решение о собственной разработке ввиду высокой стоимости лицензий на готовые коммерческие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0">
              <a:schemeClr val="bg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45" y="11301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rgbClr val="662E93"/>
                </a:solidFill>
                <a:latin typeface="+mn-lt"/>
                <a:cs typeface="Times New Roman" panose="02020603050405020304" pitchFamily="18" charset="0"/>
              </a:rPr>
              <a:t>Программные средства разработки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615" y="1855640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537" y="4177318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328" y="1855640"/>
            <a:ext cx="1290550" cy="129055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091" y="1891050"/>
            <a:ext cx="1948522" cy="1219730"/>
          </a:xfrm>
          <a:prstGeom prst="rect">
            <a:avLst/>
          </a:prstGeom>
        </p:spPr>
      </p:pic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1079091" y="5379952"/>
            <a:ext cx="230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5C2D91"/>
                </a:solidFill>
              </a:rPr>
              <a:t>.NET Core  (</a:t>
            </a:r>
            <a:r>
              <a:rPr lang="en-US" b="1" dirty="0">
                <a:solidFill>
                  <a:srgbClr val="5C2D91"/>
                </a:solidFill>
              </a:rPr>
              <a:t>ASP.NET</a:t>
            </a:r>
            <a:r>
              <a:rPr lang="ru-RU" b="1" dirty="0">
                <a:solidFill>
                  <a:srgbClr val="5C2D91"/>
                </a:solidFill>
              </a:rPr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614" y="3932467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6154" y="4015069"/>
            <a:ext cx="2018897" cy="1472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B4D9D7-D83E-869C-AEFA-F054D4B5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Диаграмма прецедентов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C07A3C-6083-16DA-123A-B92DE2D43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BEEDCD-1219-B8E0-BA41-10DC8F952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3" y="1325563"/>
            <a:ext cx="10809263" cy="4919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ERD-</a:t>
            </a:r>
            <a:r>
              <a:rPr lang="ru-RU" b="1" dirty="0">
                <a:latin typeface="+mn-lt"/>
              </a:rPr>
              <a:t>диаграмма базы данных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CAAE307-F01B-B820-2B36-01BE70B7F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5B4FA6F5-B8C2-D56A-DA24-2D975D94E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1817775"/>
            <a:ext cx="11315700" cy="42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18461-C61A-A580-567E-A18F9FE6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5F4C93-3B6A-3ABF-DE85-AAA0BE39B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UML</a:t>
            </a:r>
            <a:r>
              <a:rPr lang="ru-RU" b="1" dirty="0">
                <a:latin typeface="+mn-lt"/>
              </a:rPr>
              <a:t>-диаграмма последовательности для процесса клонирования базы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F461BA-E3AD-7481-95A0-F812771A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763" y="1675450"/>
            <a:ext cx="8911644" cy="4863462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67DEC4D-1FE9-1EA8-0EC8-5107BD69B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160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2D2B7-CAC7-F644-91FE-4FF98FA9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88C7727B-2B50-E712-93FE-5AB120B13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052" y="2423904"/>
            <a:ext cx="6361296" cy="291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FEA16-26B9-9FBB-88AD-C63E7C24E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E7BEB4-4E75-1AF9-9F73-91FCD254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6241999D-BF00-C0CC-A15F-AF0C89A13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1522" y="5710639"/>
            <a:ext cx="3128356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Окно входа в систему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AE910AD1-53BC-F506-BFB4-FEFDDCC6F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6852" y="1401669"/>
            <a:ext cx="7881498" cy="405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0C0C-3D0B-4798-D0F8-D8BC6E181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A5D6C6DE-E43A-F39F-75D2-1104F71AF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920098" cy="454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53F7E-A2DB-E46D-1FCB-FCA6AF55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660AD78-9BD8-56CD-7F5C-A3277723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90E6089E-48E2-B130-19F5-4D73C1489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40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C2E-C094-6225-8A4C-3843085B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B306B862-B540-2C59-EC13-31C1FCD8F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40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E88D18-3A2A-0F72-E776-B12DD11F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E84D0FD-854F-8EFB-F670-76F907CE2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BA899F52-370B-373B-EEE8-CA574ABF1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образа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499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ADD676-E5FE-EB54-D2CE-4CB6EA578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18C07E-6DD1-E99D-626B-BFE4A55B5D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778" r="492"/>
          <a:stretch>
            <a:fillRect/>
          </a:stretch>
        </p:blipFill>
        <p:spPr bwMode="auto">
          <a:xfrm>
            <a:off x="838200" y="1325563"/>
            <a:ext cx="10063455" cy="455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6">
            <a:extLst>
              <a:ext uri="{FF2B5EF4-FFF2-40B4-BE49-F238E27FC236}">
                <a16:creationId xmlns:a16="http://schemas.microsoft.com/office/drawing/2014/main" id="{DF5BD25B-4FE4-2379-8B0B-F054292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AFD2-BE57-51C5-78D2-F38CBF01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8861A417-EDA8-CE6C-5501-C33C02909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4"/>
            <a:ext cx="9812691" cy="4540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A6C04-60E0-8F1B-B2E2-BF543EAC0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1C5A47-5E91-A351-B430-CEC1DC470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2B1A34DB-2062-1014-1D0E-AFB8471D9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клона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335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83B1-6845-5896-B989-92013FD8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1155A68F-C644-3524-AF93-9D42169CD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130AA8-0B48-FAEB-2D75-2601BA95D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337F5E4-A0AB-8A47-3CE7-A6FC80B98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731C0555-1B39-619C-7FCE-6D52D67BC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6285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DDA3E-1196-0231-A35A-F9405FE01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7E9213FE-D586-4D83-B3BF-8993F7EFE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BB1FEA-758D-959A-35F0-627188B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4C32D0-FD32-F810-B123-2B4A0015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E99DCA30-8A31-90B6-9ED7-5CD3425A8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178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357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 ходе реализации поставленной цели были выполнены следующие задачи: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Выявлены ключевые потребности, которые должен покрывать продукт и разработано ТЗ.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 интерфейса веб-клиента, согласно представленному макету.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Разработана серверная часть продукта</a:t>
            </a:r>
            <a:r>
              <a:rPr lang="en-US" sz="2400" dirty="0">
                <a:solidFill>
                  <a:srgbClr val="000000"/>
                </a:solidFill>
                <a:ea typeface="Cambria" panose="02040503050406030204" pitchFamily="18" charset="0"/>
              </a:rPr>
              <a:t>.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Разработанное решение находится в процессе тестирования на стороне заказчика.</a:t>
            </a: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25EEB23-ED4F-A95C-E704-2D1299DFF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514</TotalTime>
  <Words>338</Words>
  <Application>Microsoft Office PowerPoint</Application>
  <PresentationFormat>Широкоэкранный</PresentationFormat>
  <Paragraphs>70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Cambria</vt:lpstr>
      <vt:lpstr>Times New Roman</vt:lpstr>
      <vt:lpstr>Тема Office</vt:lpstr>
      <vt:lpstr>Разработка корпоративного веб-приложения для клонирования баз данных MS SQL c возможностью управления клонами и мониторингом</vt:lpstr>
      <vt:lpstr>Актуальность</vt:lpstr>
      <vt:lpstr>Цель и задачи</vt:lpstr>
      <vt:lpstr>Аналоги</vt:lpstr>
      <vt:lpstr>Программные средства разработки</vt:lpstr>
      <vt:lpstr>Диаграмма прецедентов</vt:lpstr>
      <vt:lpstr>ERD-диаграмма базы данных</vt:lpstr>
      <vt:lpstr>UML-диаграмма последовательности для процесса клонирования базы данных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64</cp:revision>
  <dcterms:created xsi:type="dcterms:W3CDTF">2025-12-16T11:40:20Z</dcterms:created>
  <dcterms:modified xsi:type="dcterms:W3CDTF">2026-05-08T10:27:42Z</dcterms:modified>
</cp:coreProperties>
</file>