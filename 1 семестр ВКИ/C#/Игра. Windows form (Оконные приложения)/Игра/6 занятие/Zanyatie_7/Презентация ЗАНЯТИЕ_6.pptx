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57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1" autoAdjust="0"/>
    <p:restoredTop sz="94660"/>
  </p:normalViewPr>
  <p:slideViewPr>
    <p:cSldViewPr snapToGrid="0">
      <p:cViewPr varScale="1">
        <p:scale>
          <a:sx n="51" d="100"/>
          <a:sy n="51" d="100"/>
        </p:scale>
        <p:origin x="67" y="7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BCBB5-119D-4519-ACC9-BB309BE2D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05C6C3-3B30-48B3-93E0-A05A6EA0D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C0352E-C52A-4DC1-B5C0-B87A473E3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C85FF7-9C4E-42F5-BFA2-DBA9D8A6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DC9543-8A8B-4D04-B4FE-5E5568629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36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EDAC0F-0328-496E-A747-B63D6645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CB8D51-7DA1-4B1A-BA80-E97FAF9F9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D01CC8-042F-4E4E-AA4A-F516D068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B62C7A-1224-4186-882A-349B84FFC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1E5FDEB-DEC4-4843-BCB5-1E5BEBA9A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72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8727B-EBF9-4E60-AB40-B75DC1307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0FD1FA5-968E-45BB-B59C-28FC17C0C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216CD0-5F78-4E23-BE92-2D8DC3C7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428672-74E7-49D8-BAE8-6D6AD4EE0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EA44DB-9C10-441F-A7C5-21000DB8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62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C892AD-D0C0-4EE4-A496-D15AF708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F1C720-9162-4EA1-8403-CC446DF84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37817F-F3B4-4A1D-A30B-D639ACF63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690640-1F41-4D04-AADC-06B0333EA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41B2F0-0E82-4025-ABB8-CD5DCA15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C56416-8B53-453C-B984-C31229348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8576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52B91-D405-47D9-91CC-368281CF3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3175C8-F981-48AA-B93A-5E159EE7A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636225-B5F2-4625-8DB7-FC56A003B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50B7FC6-3FE7-4420-8742-98C98CB9C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48F22C-3B49-4F46-8E3C-921D73C0BD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ECC4497-F8EC-4886-A0F7-74F99C149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7BF7D5A-F89A-44FC-A492-6EC57A5E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452D12F-AB5A-4E04-8772-9530F40D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34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013C6-D659-42B6-8272-21A31D98B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F72FE07-E794-4391-88AB-672C7A9C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62D0261-6EC7-47FE-8BCC-C14721C81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A1B85B-EB1E-4F2F-AAE4-F41716D5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56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6C1E95-1A70-4E78-9227-F4AF95688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B8895F4-3359-4728-8B9D-3B5AB715D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3001AF-8FFC-45CC-BFAB-E4D329E94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5387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2CB957-02D9-45BB-8AD9-07C17DDD8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674193-2181-4F5D-BA69-290DE5741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1F5FB2-2F48-4195-AD7B-390AB0848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1C6EFB-63DC-40E1-BA06-F5C76735F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BDBAB6-469C-49F5-A5F2-8EE92E4B1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4986D0-6B18-4411-B23D-E280529AE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76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1FFE0-8D9D-4D85-A4A2-6061F832C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9AD8A3D-B4D1-424E-B5F2-8387C5A601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44CE13-E267-45D6-B537-40B4B708F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D0249C-D85C-44BF-B1DA-F910F19A3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BD79C6-7B5B-43E0-8CA4-E62F4EE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BFAFBDF-3261-4534-B144-F12AC3327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392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5B2046-05B4-4669-B85D-FBCB0308C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91A1A1-72D7-4B2D-98B9-7E005B02D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860E57-33F9-450D-B0D6-1601F97DA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3085709-85DE-439B-A32A-CC8EF3CE3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DA3980-A92F-45ED-9F3D-AFD0238F5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2854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9EFCB04-E6CC-42FF-A5C2-189D33CEB2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4691C7-4835-48C0-AD32-B8D47671E2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967A1B-0A7B-4EC9-92B5-A67D54BBF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7871D-BCCC-4579-8DEC-9D7DAB38BCC9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13F4EF-9CDC-4D2F-ACB4-74A3CE8E2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A64410-1698-4E6A-87D7-D48BB9C5E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828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CCA15C-D18B-4D52-B29A-CCE1701E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6764AD9-25F3-471A-97C0-61E836F81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D83462-A60E-467C-ABDA-91B3157F0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7871D-BCCC-4579-8DEC-9D7DAB38BCC9}" type="datetimeFigureOut">
              <a:rPr lang="ru-RU" smtClean="0"/>
              <a:t>27.03.2022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17704F-5CC7-4C34-96E8-B5B7EC74D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3A5827-DEDC-4B5B-A1B3-86AA56DE5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29DA4-BE9A-4C3F-9713-9BE348CE62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58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58098-7601-497B-A4F4-DE66E7736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44" y="1012054"/>
            <a:ext cx="12129856" cy="4625266"/>
          </a:xfrm>
        </p:spPr>
        <p:txBody>
          <a:bodyPr>
            <a:noAutofit/>
          </a:bodyPr>
          <a:lstStyle/>
          <a:p>
            <a:pPr>
              <a:spcBef>
                <a:spcPts val="1000"/>
              </a:spcBef>
              <a:defRPr/>
            </a:pPr>
            <a:br>
              <a:rPr kumimoji="0" lang="ru-RU" sz="80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80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Главное меню.</a:t>
            </a:r>
            <a:br>
              <a:rPr lang="en-US" sz="8000" b="1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8000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Динамическое создание компонент. </a:t>
            </a:r>
            <a:br>
              <a:rPr lang="en-US" sz="8000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8000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Компонент </a:t>
            </a:r>
            <a:r>
              <a:rPr lang="en-US" sz="80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r>
              <a:rPr lang="ru-RU" sz="8000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8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00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BFB75-205D-4FD5-8729-211F7EAF0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14400"/>
          </a:xfrm>
        </p:spPr>
        <p:txBody>
          <a:bodyPr>
            <a:normAutofit/>
          </a:bodyPr>
          <a:lstStyle/>
          <a:p>
            <a:pPr algn="ctr"/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меню.  </a:t>
            </a:r>
            <a:r>
              <a:rPr lang="ru-RU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 </a:t>
            </a:r>
            <a:r>
              <a:rPr lang="en-US" b="1" i="1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MenuStrip</a:t>
            </a:r>
            <a:r>
              <a:rPr lang="ru-RU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8E2435-9C14-480D-94D6-4C44066ED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21" y="1049311"/>
            <a:ext cx="12120979" cy="5808688"/>
          </a:xfrm>
        </p:spPr>
        <p:txBody>
          <a:bodyPr/>
          <a:lstStyle/>
          <a:p>
            <a:pPr marL="0"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Для создания меню в Windows </a:t>
            </a:r>
            <a:r>
              <a:rPr lang="ru-RU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применяется элемент </a:t>
            </a:r>
            <a:r>
              <a:rPr lang="ru-RU" sz="2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MenuStrip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После создания проекта следует разместить его на форме.</a:t>
            </a:r>
          </a:p>
          <a:p>
            <a:pPr marL="0"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Для создания меню в визуальном режиме предназначен </a:t>
            </a:r>
            <a:r>
              <a:rPr lang="ru-RU" sz="2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конструктор меню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который активизируется при выделении компонента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menuStrip1.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версии 2019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поле ввода с текстом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 </a:t>
            </a:r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Here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появляется на месте будущего пункта меню. В него следует ввести имя создаваемого пункта меню. </a:t>
            </a:r>
          </a:p>
          <a:p>
            <a:pPr marL="0"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 ввода имени и нажатия клавиши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&lt;Enter&gt;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 меню будет создан новый пункт, а рядом и под ним будут выведены новые поля ввода с текстом </a:t>
            </a:r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TypeHere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позволяющие создать очередные пункты меню первого или второго уровня. </a:t>
            </a:r>
          </a:p>
          <a:p>
            <a:pPr marL="0"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выделении созданного пункта меню в окне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Properties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отображаются свойства данного пункта.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88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B1E16-EA78-4587-B70D-3093F207B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132" y="0"/>
            <a:ext cx="10515600" cy="879059"/>
          </a:xfrm>
        </p:spPr>
        <p:txBody>
          <a:bodyPr/>
          <a:lstStyle/>
          <a:p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Главное меню.  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Элемент </a:t>
            </a:r>
            <a:r>
              <a:rPr kumimoji="0" lang="en-US" sz="44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MenuStrip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5C22D3-E597-47D2-8789-0698C9492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61075"/>
            <a:ext cx="12067082" cy="564166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Имя пункта меню, в отличие от имен других компонентов, размещаемых в форме, получается не добавлением порядкового номера к имени типа (например, label1), а приписыванием имени команды меню слева к имени типа, например, </a:t>
            </a:r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fileToolStripMenuItem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(это правило действует даже для пунктов меню с русскими названиями, например, </a:t>
            </a:r>
            <a:r>
              <a:rPr lang="ru-RU" sz="2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файлToolStripMenuItem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).</a:t>
            </a:r>
          </a:p>
          <a:p>
            <a:pPr marL="0" indent="0" algn="just">
              <a:buNone/>
            </a:pPr>
            <a:endParaRPr lang="ru-RU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результате получаются очень длинные имена, поэтому сразу после создания пункта меню желательно изменить имя пункта, указав новое значение его свойства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Name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</a:p>
          <a:p>
            <a:pPr marL="0" indent="0" algn="just">
              <a:buNone/>
            </a:pPr>
            <a:endParaRPr lang="ru-RU" sz="2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Заметим, что свойство Name располагается в окне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Properties 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</a:t>
            </a:r>
            <a:r>
              <a:rPr lang="ru-RU" sz="2800" i="1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начале списка свойств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; причем подпись к нему заключается в скобки: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(Name).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057738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15F47-BEFD-4D76-BA5E-61AF2ED0F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6"/>
            <a:ext cx="10515600" cy="776224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Главное меню.  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Элемент </a:t>
            </a:r>
            <a:r>
              <a:rPr kumimoji="0" lang="en-US" sz="4400" b="1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MenuStrip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A0207FA-8A37-41C8-8D9B-F12E536F2A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23205" y="887722"/>
            <a:ext cx="4847797" cy="58562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B5E7A05-6326-4890-B1AE-EABB441C04F6}"/>
              </a:ext>
            </a:extLst>
          </p:cNvPr>
          <p:cNvSpPr txBox="1"/>
          <p:nvPr/>
        </p:nvSpPr>
        <p:spPr>
          <a:xfrm>
            <a:off x="269823" y="1307461"/>
            <a:ext cx="658175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450215"/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 событие 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Click 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элемента меню пишется программный код, который будет выполняться при нажатии на пункт меню.</a:t>
            </a:r>
          </a:p>
          <a:p>
            <a:pPr indent="450215"/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На рисунке представлена форма с пунктами меню, переключающими цвета 	</a:t>
            </a:r>
            <a:r>
              <a:rPr lang="en-US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Label</a:t>
            </a: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indent="450215"/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Программный код приведен в </a:t>
            </a:r>
            <a:r>
              <a:rPr lang="ru-RU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примере на следующем слайде.</a:t>
            </a:r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/>
            <a:endParaRPr lang="ru-RU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83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5ADF15-280E-44F6-9578-A1D376903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240" y="18255"/>
            <a:ext cx="11783519" cy="911135"/>
          </a:xfrm>
        </p:spPr>
        <p:txBody>
          <a:bodyPr/>
          <a:lstStyle/>
          <a:p>
            <a:pPr algn="ctr"/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программного кода главного меню.</a:t>
            </a:r>
            <a:endParaRPr lang="ru-RU" b="1" i="1" dirty="0">
              <a:solidFill>
                <a:srgbClr val="C00000"/>
              </a:solidFill>
            </a:endParaRP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BE3AED8A-46BC-4A0C-AC33-2BCD1CF8E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9390"/>
            <a:ext cx="12192000" cy="591035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//Обработчики пунктов меню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green_Click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{  label1.BackColor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Color.Green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  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blue_Click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{  label1.BackColor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Color.Blue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   } 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white_Click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{  label1.ForeColor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Color.White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  } 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yellow_Click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{  label1.ForeColor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Color.Yellow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  } 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magenta_Click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{ label1.ForeColor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Color.Magenta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  } 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exit_Click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r>
              <a:rPr lang="ru-R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//Закрываем проект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ru-RU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.Close</a:t>
            </a:r>
            <a:r>
              <a:rPr lang="ru-R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376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B365F-342C-485E-A163-91D6C749A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59369"/>
          </a:xfrm>
        </p:spPr>
        <p:txBody>
          <a:bodyPr/>
          <a:lstStyle/>
          <a:p>
            <a:pPr algn="ctr"/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Учебная викторина Миллионер</a:t>
            </a:r>
            <a:endParaRPr lang="ru-RU" b="1" i="1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0AFF7C-4BD3-468B-A8B7-1B52CCD33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1032"/>
            <a:ext cx="6096000" cy="4969240"/>
          </a:xfrm>
        </p:spPr>
        <p:txBody>
          <a:bodyPr/>
          <a:lstStyle/>
          <a:p>
            <a:pPr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Телевизионная игра «Кто хочет стать миллионером?» хорошо известна. Наша викторина создана на ее основе, поэтому пояснять ее правила мы не будем. Это упражнение направлено на развитие у учащихся навыков работы с рядом компонентов 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Windows Forms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начале на основном окне видны только пункты меню и приглашение начать игру 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A4AAB7-A764-4D10-A5B0-07099F46B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790" y="918119"/>
            <a:ext cx="5531108" cy="5655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57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9909E-93F6-4264-954F-92F91CAB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344"/>
            <a:ext cx="10515600" cy="687154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Учебная викторина Миллионер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232CA1DB-F69F-4D59-ADC3-9AA5AEBEB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713" y="2345406"/>
            <a:ext cx="4333407" cy="43627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5AFA8B-100A-455B-ABE1-870362515B4E}"/>
              </a:ext>
            </a:extLst>
          </p:cNvPr>
          <p:cNvSpPr txBox="1"/>
          <p:nvPr/>
        </p:nvSpPr>
        <p:spPr>
          <a:xfrm>
            <a:off x="-1" y="863973"/>
            <a:ext cx="5330121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Выбирая пункт меню «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Play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», мы начинаем игру. Появляется </a:t>
            </a:r>
            <a:r>
              <a:rPr lang="en-US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ListBox</a:t>
            </a:r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с вариантами ответа и сам вопрос в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Label </a:t>
            </a:r>
            <a:endParaRPr lang="ru-RU" sz="26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FB900C3-9F6E-4EBA-B8F6-45E36EAEA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692" y="2315426"/>
            <a:ext cx="5162863" cy="43928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F58411-692C-4975-9024-F31F02DE70FF}"/>
              </a:ext>
            </a:extLst>
          </p:cNvPr>
          <p:cNvSpPr txBox="1"/>
          <p:nvPr/>
        </p:nvSpPr>
        <p:spPr>
          <a:xfrm>
            <a:off x="6565692" y="908621"/>
            <a:ext cx="5545376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Пунктом меню «Правила» мы вызываем второе окно с текстом помощи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2525836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604B9-7FBF-4721-9FAA-AE79807E1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566361"/>
          </a:xfrm>
        </p:spPr>
        <p:txBody>
          <a:bodyPr>
            <a:normAutofit fontScale="90000"/>
          </a:bodyPr>
          <a:lstStyle/>
          <a:p>
            <a:pPr indent="450215"/>
            <a:r>
              <a:rPr lang="ru-RU" sz="4400" b="1" i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Код викторины миллионер с комментариями.</a:t>
            </a:r>
            <a:endParaRPr lang="ru-RU" b="1" i="1" dirty="0">
              <a:solidFill>
                <a:srgbClr val="C0000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6108CE-FF26-4CEA-8A10-D8F966B2D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500722"/>
            <a:ext cx="9428812" cy="63390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 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Form2 frm2;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List&lt;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 ask =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List&lt;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&gt;();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Объявление списка вопросов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otvet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  }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play_Click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  label1.Visible = </a:t>
            </a:r>
            <a:r>
              <a:rPr lang="ru-RU" sz="1400" b="1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//Управление игрой видимо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listBox1.Visible =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button1.Visible =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ask.AddRange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File.ReadAllLines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400" b="1" dirty="0">
                <a:solidFill>
                  <a:srgbClr val="8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@"D:\C#\My_Text\questions.txt"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));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label1.Text = ask[0];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Вопрос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5;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ответы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listBox1.Items.Add(ask[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]);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otvet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Convert.ToInt32(ask[5]);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Правильный ответ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правила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_Click(</a:t>
            </a:r>
            <a:r>
              <a:rPr lang="en-US" sz="14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  frm2 = </a:t>
            </a:r>
            <a:r>
              <a:rPr lang="ru-RU" sz="1400" b="1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Form2();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//Создаем указатель на форму 2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frm2.frm1 = </a:t>
            </a:r>
            <a:r>
              <a:rPr lang="ru-RU" sz="1400" b="1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//Передаем форме 2 указатель на форму 1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frm2.Show();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//Показываем форму 2</a:t>
            </a:r>
            <a:endParaRPr lang="ru-RU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1400" b="1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ru-RU" sz="14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.Hide</a:t>
            </a:r>
            <a:r>
              <a:rPr lang="ru-RU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ru-RU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форму 1</a:t>
            </a:r>
            <a:r>
              <a:rPr lang="en-US" sz="1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lang="en-US" sz="14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CB5DE-51F5-4A39-8A72-D072C65AACBB}"/>
              </a:ext>
            </a:extLst>
          </p:cNvPr>
          <p:cNvSpPr txBox="1"/>
          <p:nvPr/>
        </p:nvSpPr>
        <p:spPr>
          <a:xfrm>
            <a:off x="4714407" y="500722"/>
            <a:ext cx="4332157" cy="53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320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Код первой формы</a:t>
            </a:r>
            <a:r>
              <a:rPr kumimoji="0" lang="en-US" sz="320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: </a:t>
            </a:r>
            <a:endParaRPr kumimoji="0" lang="ru-RU" sz="3200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713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35369-C817-4D55-AE9C-EC0FBB2CB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05" y="18256"/>
            <a:ext cx="11742295" cy="662782"/>
          </a:xfrm>
        </p:spPr>
        <p:txBody>
          <a:bodyPr/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Код викторины миллионер с комментариями.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DF90A9-AE94-4CDA-94CA-CDF953D74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8"/>
            <a:ext cx="12191999" cy="615870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{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(listBox1.SelectedIndex==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otvet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 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b="1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"Ok"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ask.RemoveRange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6);</a:t>
            </a:r>
            <a:r>
              <a:rPr lang="en-US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Удаляем предыдущий набор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label1.Text = ask[0];</a:t>
            </a:r>
            <a:r>
              <a:rPr lang="en-US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Новый </a:t>
            </a:r>
            <a:r>
              <a:rPr lang="ru-RU" sz="2800" b="1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ворос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listBox1.Items.Clear();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5;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listBox1.Items.Add(ask[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otvet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Convert.ToInt32(ask[5]);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 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b="1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2800" b="1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Почитай Википедию</a:t>
            </a:r>
            <a:r>
              <a:rPr lang="en-US" sz="2800" b="1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label1.Visible =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Управление невидимо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listBox1.Visible =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button1.Visible =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 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051466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B4BD49-840C-42EC-AC75-286FD3A5C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29" y="-1"/>
            <a:ext cx="11977141" cy="681037"/>
          </a:xfrm>
        </p:spPr>
        <p:txBody>
          <a:bodyPr>
            <a:normAutofit/>
          </a:bodyPr>
          <a:lstStyle/>
          <a:p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Код викторины миллионер с комментариями.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6719FB-6F96-471A-8919-A84985516B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96" y="854439"/>
            <a:ext cx="11977141" cy="5831174"/>
          </a:xfrm>
        </p:spPr>
        <p:txBody>
          <a:bodyPr>
            <a:normAutofit fontScale="70000" lnSpcReduction="20000"/>
          </a:bodyPr>
          <a:lstStyle/>
          <a:p>
            <a:pPr indent="0" algn="just">
              <a:buNone/>
            </a:pPr>
            <a:r>
              <a:rPr lang="ru-RU" sz="4000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Код второй формы</a:t>
            </a:r>
            <a:r>
              <a:rPr lang="en-US" sz="4000" i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4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0" algn="just">
              <a:buNone/>
            </a:pPr>
            <a:endParaRPr lang="ru-RU" sz="4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Form2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 frm1;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Form2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//</a:t>
            </a:r>
            <a:r>
              <a:rPr lang="en-US" sz="29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frm1 = new Form1();</a:t>
            </a:r>
            <a:endParaRPr lang="ru-RU" sz="2900" b="1" dirty="0">
              <a:effectLst/>
              <a:latin typeface="Consolas" panose="020B0609020204030204" pitchFamily="49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Hide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ru-RU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форму 2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b="1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frm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1.</a:t>
            </a:r>
            <a:r>
              <a:rPr lang="en-US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Show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ru-RU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b="1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Показывем</a:t>
            </a:r>
            <a:r>
              <a:rPr lang="ru-RU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форму 1</a:t>
            </a: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3377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6C1B5-B9D9-41A2-B0ED-AE449CBF4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по программе Миллионер.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7917E5-9983-4F7D-9CE7-897B446D8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787" y="1843791"/>
            <a:ext cx="11542426" cy="38674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400" dirty="0"/>
              <a:t>Собрать программу на своем компьютере. Дополнить программу условием </a:t>
            </a:r>
            <a:r>
              <a:rPr lang="en-US" sz="4400" dirty="0"/>
              <a:t>“</a:t>
            </a:r>
            <a:r>
              <a:rPr lang="ru-RU" sz="4400" dirty="0"/>
              <a:t>окончания игры</a:t>
            </a:r>
            <a:r>
              <a:rPr lang="en-US" sz="4400" dirty="0"/>
              <a:t>”</a:t>
            </a:r>
            <a:r>
              <a:rPr lang="ru-RU" sz="4400" dirty="0"/>
              <a:t> (успешным или неуспешным) и выводом результата игры на экран в другой форме. Добавить в МЕНЮ кнопку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выхода из игры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  <a:r>
              <a:rPr lang="ru-RU" sz="4400" dirty="0">
                <a:solidFill>
                  <a:prstClr val="black"/>
                </a:solidFill>
                <a:latin typeface="Calibri" panose="020F0502020204030204"/>
              </a:rPr>
              <a:t>.</a:t>
            </a:r>
            <a:r>
              <a:rPr kumimoji="0" lang="ru-RU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1685547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86C1D-02DB-4C4C-AD5A-97C00BEE2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txBody>
          <a:bodyPr>
            <a:normAutofit fontScale="90000"/>
          </a:bodyPr>
          <a:lstStyle/>
          <a:p>
            <a:r>
              <a:rPr lang="ru-RU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компонент программным путём.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E0C033-72E9-4C85-B25B-D2C1FABB8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2" y="681037"/>
            <a:ext cx="6970426" cy="6034556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Мы уже обсуждали создание компонентов формы с помощью панели управления. Но зачастую есть необходимость создавать компоненты по ходу выполнения программы. Еще один случай: бывает необходимо создать массив компонентов и работать с ним с помощью цикла. Рассмотрим эти вопросы. Начнем с программного создания кнопки.</a:t>
            </a:r>
          </a:p>
          <a:p>
            <a:pPr marL="0" indent="0" algn="just">
              <a:buNone/>
            </a:pPr>
            <a:r>
              <a:rPr lang="ru-RU" dirty="0"/>
              <a:t>Кнопка будет создана при нажатии на заготовленную с помощью панели управления кнопку. Код этой программы представлен в примере. На рисунке представлено окно с программно-созданной кнопкой </a:t>
            </a:r>
            <a:r>
              <a:rPr lang="ru-RU" dirty="0" err="1"/>
              <a:t>Mb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2E17CAA-961C-4E7A-9D0D-6A6F3B3EA93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180290" y="818538"/>
            <a:ext cx="4906778" cy="577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41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A00D71-2069-42EC-93EA-9D27F6FE0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8256"/>
            <a:ext cx="12192001" cy="1016066"/>
          </a:xfrm>
        </p:spPr>
        <p:txBody>
          <a:bodyPr>
            <a:noAutofit/>
          </a:bodyPr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компонента </a:t>
            </a:r>
            <a:r>
              <a:rPr kumimoji="0" lang="en-US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Button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программным способом</a:t>
            </a:r>
            <a:endParaRPr lang="ru-RU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C88CA0-24F4-4CC8-A354-91B6F28DE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29192"/>
            <a:ext cx="12191999" cy="56105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{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Button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Button(); </a:t>
            </a:r>
            <a:r>
              <a:rPr lang="en-US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кнопку с именем</a:t>
            </a:r>
            <a:endParaRPr lang="en-US" dirty="0">
              <a:solidFill>
                <a:srgbClr val="008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           //   </a:t>
            </a:r>
            <a:r>
              <a:rPr lang="en-US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</a:t>
            </a:r>
            <a:r>
              <a:rPr lang="ru-RU" sz="2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Location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Point(65, 25);</a:t>
            </a:r>
            <a:r>
              <a:rPr lang="ru-RU" sz="2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//Задаем ее положение</a:t>
            </a:r>
            <a:endParaRPr lang="en-US" sz="2600" dirty="0">
              <a:solidFill>
                <a:srgbClr val="008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               //</a:t>
            </a:r>
            <a:r>
              <a:rPr lang="ru-RU" sz="2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на форме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MyButton.Text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ru-RU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2800" dirty="0" err="1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Mb</a:t>
            </a:r>
            <a:r>
              <a:rPr lang="ru-RU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Текст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MyButton.BackColor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Color.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Green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Цвет фона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MyButton.Size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Size(70, 40); 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Размер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кнопки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MyButton.Font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Font(</a:t>
            </a:r>
            <a:r>
              <a:rPr lang="en-US" sz="26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"Arial"</a:t>
            </a:r>
            <a:r>
              <a:rPr lang="en-US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10, </a:t>
            </a:r>
            <a:r>
              <a:rPr lang="en-US" sz="26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FontStyle.Regular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Шрифт</a:t>
            </a:r>
            <a:endParaRPr lang="ru-RU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MyButton.ForeColor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Color.Red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Цвет текста</a:t>
            </a:r>
          </a:p>
          <a:p>
            <a:pPr marL="0" indent="0">
              <a:buNone/>
            </a:pP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MyButton.Click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+= b1_Click;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//Создаем указатель на метод кнопки.</a:t>
            </a:r>
            <a:r>
              <a:rPr lang="en-US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endParaRPr 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Controls.Add</a:t>
            </a:r>
            <a:r>
              <a:rPr lang="ru-R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ru-RU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r>
              <a:rPr lang="ru-RU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lang="ru-RU" sz="2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//Добавляем кнопку в коллекцию элем-</a:t>
            </a:r>
            <a:r>
              <a:rPr lang="ru-RU" sz="2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ов</a:t>
            </a:r>
            <a:r>
              <a:rPr lang="ru-RU" sz="2600" b="1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формы</a:t>
            </a:r>
            <a:endParaRPr lang="ru-RU" sz="2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6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600" b="1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3693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27901-ADCD-4A99-AD46-F912AAAD3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067082" cy="836183"/>
          </a:xfrm>
        </p:spPr>
        <p:txBody>
          <a:bodyPr>
            <a:normAutofit/>
          </a:bodyPr>
          <a:lstStyle/>
          <a:p>
            <a:pPr algn="ctr"/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Создание </a:t>
            </a:r>
            <a:r>
              <a:rPr kumimoji="0" lang="en-US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Button</a:t>
            </a:r>
            <a:r>
              <a:rPr kumimoji="0" lang="ru-RU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программным способом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039C79-FF8A-4717-9216-85A3D619A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11" y="974361"/>
            <a:ext cx="11932171" cy="5726242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//Обработчик события кнопки </a:t>
            </a:r>
            <a:r>
              <a:rPr lang="ru-RU" sz="2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b1_Click(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sender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-объект, на котором произошло событие.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Преобразуем его в кнопку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Button Tb = sender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Button Tb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Button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sender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//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Можно преобразовать и так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Tb.Text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            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0" algn="just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1633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C5B107-B9CC-4787-AA01-76DED6AD5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082072" cy="821194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Создание </a:t>
            </a:r>
            <a:r>
              <a:rPr lang="ru-RU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массива кнопок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программным способом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A3A6EE-23C1-455A-8781-C83E5C239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29" y="839449"/>
            <a:ext cx="6560694" cy="600029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Теперь создадим массив кнопок. Конкретно: создадим четыре кнопки, пронумеруем их и дадим каждой имя. </a:t>
            </a:r>
            <a:endParaRPr lang="en-US" sz="3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Программа загадывает случайное число, а играющий должен угадать, какое это число. Для этого он мышью кликает по одной из кнопок. Данный проект – простейший пример динамического создания кнопок и их методов. Форма проекта после начала игры приведена на рисунке.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38E5BF-7875-49D4-BCBE-B985F82A57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189186" y="839449"/>
            <a:ext cx="4399916" cy="584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344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D43F1D-1860-4178-950F-033630460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80620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 создания массива кнопок программным способом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60D561-83BB-48EA-9E91-BD8FBE258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52" y="686283"/>
            <a:ext cx="10807907" cy="6153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Lohotron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Button[] b1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Button[4];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Массив кнопок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l;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//Случайное число</a:t>
            </a:r>
          </a:p>
          <a:p>
            <a:pPr marL="0" indent="0">
              <a:buNone/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8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849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A83114-A6EA-4CCF-940A-4BA826152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067082" cy="551370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36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Код создания массива кнопок программным способом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3D3B5B-BA95-4EAB-9EE0-4B978BF1A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52" y="674557"/>
            <a:ext cx="11842230" cy="616518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Формируем массив кнопок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Button();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].Left = 80;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].Text = 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"B"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+ 1).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].Top = 100 +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70;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].Size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Size(70, 40);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].Tag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].Click += b1_Click;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BackColor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Color.White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ForeColor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Color.Red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].Font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Font(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"Arial"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10,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FontStyle.Regular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b1[i].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Hide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 </a:t>
            </a:r>
            <a:r>
              <a:rPr lang="ru-RU" sz="28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кнопки массива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Controls.Add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(b1[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            }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1020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BA970B-B7DA-4F9C-AFB8-03361E2A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701273"/>
          </a:xfrm>
        </p:spPr>
        <p:txBody>
          <a:bodyPr/>
          <a:lstStyle/>
          <a:p>
            <a:pPr algn="ctr"/>
            <a:r>
              <a:rPr kumimoji="0" lang="ru-RU" sz="32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Код создания массива кнопок программным способом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63808B-F3CC-4067-A4F9-4F932979D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719528"/>
            <a:ext cx="11962151" cy="6145967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Form1_Load(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lvl="0" indent="0"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Вызываем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MYButton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4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lvl="0" indent="0"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b1_Click(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   Button Tb;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Tb = (Button)sender;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Преобразование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Tb.Tag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l)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Преобразуем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Tag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int</a:t>
            </a:r>
            <a:endParaRPr kumimoji="0" lang="ru-R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MessageBox.Show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Победа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b1[i].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Hide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все кнопки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Tb.Hide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//Прячем кнопку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185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1CCA8A-717C-40E9-8FD8-39491D308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1999" cy="1210937"/>
          </a:xfrm>
        </p:spPr>
        <p:txBody>
          <a:bodyPr>
            <a:noAutofit/>
          </a:bodyPr>
          <a:lstStyle/>
          <a:p>
            <a:r>
              <a:rPr kumimoji="0" lang="ru-RU" sz="36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Код</a:t>
            </a:r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создания массива кнопок программным способом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79114D-5FBE-4260-BB2E-ABF6B2B03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68838"/>
            <a:ext cx="12087069" cy="459020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Random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Random();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l =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rnd.Next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4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Загадали число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b1[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].Show();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Показали кнопки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5806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ECCDC6-9BB7-4AA0-813E-12A98048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11331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Учебная игра «Пятнадцать»</a:t>
            </a:r>
            <a:r>
              <a:rPr lang="ru-RU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Код программы.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0A872E-416E-4AFC-A2B6-568F470AA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921" y="734518"/>
            <a:ext cx="7045377" cy="6105225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В качестве примера динамического создания двумерного массива кнопок приведем разработку известной настольной игр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s 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«Пятнадцать». Ее игровое поле представлено на рисунке. 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Контрольный массив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[,] a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[4, 4];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h = 40;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//Размер кнопки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x0 = 30;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//Угол игрового поля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y0 = 20;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i0, k0;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Button[,]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Button[4,4];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Массив кнопок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D02040E-528E-428D-98AD-561DC157AC7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75161" y="1034322"/>
            <a:ext cx="4562005" cy="535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770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539443-F320-4E27-AFC9-A996BB92A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836184"/>
          </a:xfrm>
        </p:spPr>
        <p:txBody>
          <a:bodyPr/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Учебная игра «Пятнадцать».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FED95B-A721-418D-8294-3CD1F78FF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54440"/>
            <a:ext cx="6430781" cy="6003560"/>
          </a:xfrm>
          <a:ln w="19050"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B91A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}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Перестановка 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swap(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a,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r = b;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b = a;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a = r;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F8C0-9784-4DF4-9019-924324484E28}"/>
              </a:ext>
            </a:extLst>
          </p:cNvPr>
          <p:cNvSpPr txBox="1"/>
          <p:nvPr/>
        </p:nvSpPr>
        <p:spPr>
          <a:xfrm>
            <a:off x="6633655" y="854440"/>
            <a:ext cx="5355469" cy="410984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ru-RU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zapolnenie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j, k, m;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zap;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n = 4;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Random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Random();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(j = 0; j &lt; 4;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a[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= 0;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0562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A4E10D-2A7A-4990-BF82-E99EE9837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37667"/>
          </a:xfrm>
        </p:spPr>
        <p:txBody>
          <a:bodyPr>
            <a:normAutofit/>
          </a:bodyPr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Учебная игра «Пятнадцать».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D53BE8-2EA9-4FC7-9CFD-B6121AC2A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37666"/>
            <a:ext cx="4721902" cy="6120333"/>
          </a:xfrm>
          <a:ln w="1905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15;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{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zap =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(zap)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{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</a:t>
            </a:r>
            <a:r>
              <a:rPr kumimoji="0" lang="ru-RU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 =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rnd.Next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4);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m =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rnd.Next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4);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(a[k, m] == 0)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{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a[k, m] =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+ 1;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zap =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}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}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}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2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FCDE97-92CD-4A45-920F-16AE33A63451}"/>
              </a:ext>
            </a:extLst>
          </p:cNvPr>
          <p:cNvSpPr txBox="1"/>
          <p:nvPr/>
        </p:nvSpPr>
        <p:spPr>
          <a:xfrm>
            <a:off x="4841824" y="737666"/>
            <a:ext cx="7350176" cy="594726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Form1_Load(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sender,EventArgs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 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zapolnenie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=0;i&lt;4;i++)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(j=0; j&lt;4;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{  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= 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Button();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].Left = x0+j*h;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].Top = y0+i*h;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j].Width = h;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21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j].Height = h;</a:t>
            </a:r>
            <a:endParaRPr kumimoji="0" lang="ru-RU" sz="2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ru-RU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].Font= </a:t>
            </a:r>
            <a:r>
              <a:rPr lang="en-US" sz="21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Font(</a:t>
            </a:r>
            <a:r>
              <a:rPr lang="en-US" sz="21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"Arial"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10,</a:t>
            </a:r>
            <a:r>
              <a:rPr lang="ru-RU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ru-RU" sz="21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FontStyle.Bold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BackColor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Color.Green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ForeColor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1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Color.Red</a:t>
            </a:r>
            <a:r>
              <a:rPr lang="en-US" sz="21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1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3606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FF338-82F3-484C-AE6B-D2FD5FC15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881155"/>
          </a:xfrm>
        </p:spPr>
        <p:txBody>
          <a:bodyPr/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Учебная игра «Пятнадцать».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91BB3A-2E93-4600-9EC4-ABA4E1FB2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9410"/>
            <a:ext cx="12007121" cy="5696261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17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(a[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!= 0)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j].Text = a[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kumimoji="0" lang="ru-RU" sz="22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Пустое поле</a:t>
            </a:r>
            <a:endParaRPr kumimoji="0" lang="ru-RU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i0 =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k0 = j;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].Click +=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bt_Click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kumimoji="0" lang="ru-RU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//Создаем указатель на метод кнопки.</a:t>
            </a:r>
            <a:endParaRPr kumimoji="0" lang="ru-RU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Controls.Add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]);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//Добавляем кнопку в коллекцию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           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элементов </a:t>
            </a:r>
            <a:r>
              <a:rPr lang="ru-RU" sz="2400" b="1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формы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}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kumimoji="0" lang="ru-RU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r>
              <a:rPr lang="ru-RU" sz="22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8205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549FDC-15E8-461E-8252-BE1EDFF59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62781"/>
          </a:xfrm>
        </p:spPr>
        <p:txBody>
          <a:bodyPr/>
          <a:lstStyle/>
          <a:p>
            <a:pPr algn="ctr"/>
            <a:r>
              <a:rPr kumimoji="0" lang="ru-RU" sz="4000" b="1" i="1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Учебная игра «Пятнадцать».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CA9657-E716-42B1-93DF-B16E0ABCB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6"/>
            <a:ext cx="12052092" cy="6158707"/>
          </a:xfrm>
        </p:spPr>
        <p:txBody>
          <a:bodyPr>
            <a:normAutofit fontScale="70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bt_Click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  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i,k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Button Tb;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Tb = (Button)sender;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k = (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Tb.Left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x0)/h;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Tb</a:t>
            </a: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Top</a:t>
            </a: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y</a:t>
            </a: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0)/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</a:t>
            </a: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</a:t>
            </a: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//Проверка наличия рядом пустого поля</a:t>
            </a:r>
            <a:endParaRPr kumimoji="0" lang="ru-RU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(((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Math.Abs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(i-i0)==1)&amp;&amp;(k==k0))||((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Math.Abs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(k - k0)==1)&amp;&amp;(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==i0)))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  swap(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a[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i,k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],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ref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a[i0, k0]);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k].Text = 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""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bt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[i0, k0].Text = a[i0, k0].</a:t>
            </a:r>
            <a:r>
              <a:rPr kumimoji="0" lang="en-US" sz="3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ToString</a:t>
            </a: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</a:t>
            </a:r>
            <a:r>
              <a:rPr kumimoji="0" lang="ru-RU" sz="3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//Новое пустое поле</a:t>
            </a:r>
            <a:endParaRPr kumimoji="0" lang="ru-RU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i0 = i;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k0 = k;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}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3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}</a:t>
            </a:r>
            <a:endParaRPr kumimoji="0" lang="ru-RU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+mn-cs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8652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021E17-D6FA-4A7B-9196-08B230422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11" y="18256"/>
            <a:ext cx="11975977" cy="46113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400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Компонент </a:t>
            </a:r>
            <a:r>
              <a:rPr lang="en-US" sz="4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r>
              <a:rPr lang="ru-RU" sz="4400" b="1" i="1" dirty="0">
                <a:solidFill>
                  <a:srgbClr val="ED7D31">
                    <a:lumMod val="75000"/>
                  </a:srgb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19BBB0-7A80-49B5-A09A-3E587746F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11" y="559293"/>
            <a:ext cx="11975977" cy="6205491"/>
          </a:xfrm>
        </p:spPr>
        <p:txBody>
          <a:bodyPr/>
          <a:lstStyle/>
          <a:p>
            <a:pPr marL="0" indent="0"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Компонент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PictureBox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обеспечивает отображение иллюстрации (рисунка, фотографии и т. п.).    Свойства компонента</a:t>
            </a:r>
            <a:r>
              <a:rPr lang="ru-RU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2069989-A7CC-46B4-8D76-3420FC52A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23480"/>
              </p:ext>
            </p:extLst>
          </p:nvPr>
        </p:nvGraphicFramePr>
        <p:xfrm>
          <a:off x="26633" y="1296140"/>
          <a:ext cx="12165367" cy="55278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21416">
                  <a:extLst>
                    <a:ext uri="{9D8B030D-6E8A-4147-A177-3AD203B41FA5}">
                      <a16:colId xmlns:a16="http://schemas.microsoft.com/office/drawing/2014/main" val="1209331665"/>
                    </a:ext>
                  </a:extLst>
                </a:gridCol>
                <a:gridCol w="9643951">
                  <a:extLst>
                    <a:ext uri="{9D8B030D-6E8A-4147-A177-3AD203B41FA5}">
                      <a16:colId xmlns:a16="http://schemas.microsoft.com/office/drawing/2014/main" val="1735522216"/>
                    </a:ext>
                  </a:extLst>
                </a:gridCol>
              </a:tblGrid>
              <a:tr h="40655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Свойство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</a:rPr>
                        <a:t>Описание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extLst>
                  <a:ext uri="{0D108BD9-81ED-4DB2-BD59-A6C34878D82A}">
                    <a16:rowId xmlns:a16="http://schemas.microsoft.com/office/drawing/2014/main" val="398170787"/>
                  </a:ext>
                </a:extLst>
              </a:tr>
              <a:tr h="274185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Иллюстрация, которая отображается в поле компонента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extLst>
                  <a:ext uri="{0D108BD9-81ED-4DB2-BD59-A6C34878D82A}">
                    <a16:rowId xmlns:a16="http://schemas.microsoft.com/office/drawing/2014/main" val="956118900"/>
                  </a:ext>
                </a:extLst>
              </a:tr>
              <a:tr h="2045045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SizeMode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Режим отображения иллюстрации (способ масштабирования), если размер иллюстрации не соответствует размеру компонента:</a:t>
                      </a:r>
                    </a:p>
                    <a:p>
                      <a:r>
                        <a:rPr lang="ru-RU" sz="1400" dirty="0" err="1">
                          <a:effectLst/>
                        </a:rPr>
                        <a:t>Normal</a:t>
                      </a:r>
                      <a:r>
                        <a:rPr lang="ru-RU" sz="1400" dirty="0">
                          <a:effectLst/>
                        </a:rPr>
                        <a:t> — масштабирование не выполняется (если размер компонента меньше размера иллюстрации, то отображается только часть иллюстрации);</a:t>
                      </a:r>
                    </a:p>
                    <a:p>
                      <a:r>
                        <a:rPr lang="ru-RU" sz="1400" dirty="0" err="1">
                          <a:effectLst/>
                        </a:rPr>
                        <a:t>StretchImage</a:t>
                      </a:r>
                      <a:r>
                        <a:rPr lang="ru-RU" sz="1400" dirty="0">
                          <a:effectLst/>
                        </a:rPr>
                        <a:t> — выполняется масштабирование иллюстрации таким образом, что она занимает всю область отображения (если размер компонента не пропорционален размеру иллюстрации, она будет искажена);</a:t>
                      </a:r>
                    </a:p>
                    <a:p>
                      <a:r>
                        <a:rPr lang="ru-RU" sz="1400" dirty="0" err="1">
                          <a:effectLst/>
                        </a:rPr>
                        <a:t>AutoSize</a:t>
                      </a:r>
                      <a:r>
                        <a:rPr lang="ru-RU" sz="1400" dirty="0">
                          <a:effectLst/>
                        </a:rPr>
                        <a:t> — размер компонента автоматически изменяется и соответствует размеру иллюстрации;</a:t>
                      </a:r>
                    </a:p>
                    <a:p>
                      <a:r>
                        <a:rPr lang="ru-RU" sz="1400" dirty="0" err="1">
                          <a:effectLst/>
                        </a:rPr>
                        <a:t>CenterImage</a:t>
                      </a:r>
                      <a:r>
                        <a:rPr lang="ru-RU" sz="1400" dirty="0">
                          <a:effectLst/>
                        </a:rPr>
                        <a:t> — центрирование иллюстрации в поле компонента, если размер иллюстрации меньше размера области отображения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extLst>
                  <a:ext uri="{0D108BD9-81ED-4DB2-BD59-A6C34878D82A}">
                    <a16:rowId xmlns:a16="http://schemas.microsoft.com/office/drawing/2014/main" val="2330477418"/>
                  </a:ext>
                </a:extLst>
              </a:tr>
              <a:tr h="45445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Image.PhysicalDimension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Свойство содержит информацию о размере картинки (иллюстрации), загруженной в поле компонента</a:t>
                      </a:r>
                    </a:p>
                    <a:p>
                      <a:pPr algn="just"/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extLst>
                  <a:ext uri="{0D108BD9-81ED-4DB2-BD59-A6C34878D82A}">
                    <a16:rowId xmlns:a16="http://schemas.microsoft.com/office/drawing/2014/main" val="2496655510"/>
                  </a:ext>
                </a:extLst>
              </a:tr>
              <a:tr h="72454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Положение компонента (области отображения иллюстрации) на поверхности формы. Уточняющее свойство X определяет расстояние от левой границы области до левой границы формы, уточняющее свойство Y — от верхней границы области до верхней границы клиентской области формы (нижней границы заголовка)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extLst>
                  <a:ext uri="{0D108BD9-81ED-4DB2-BD59-A6C34878D82A}">
                    <a16:rowId xmlns:a16="http://schemas.microsoft.com/office/drawing/2014/main" val="1287684873"/>
                  </a:ext>
                </a:extLst>
              </a:tr>
              <a:tr h="25968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Размер компонента (области отображения иллюстрации). </a:t>
                      </a:r>
                      <a:r>
                        <a:rPr lang="ru-RU" sz="1400" dirty="0" err="1">
                          <a:effectLst/>
                        </a:rPr>
                        <a:t>Width</a:t>
                      </a:r>
                      <a:r>
                        <a:rPr lang="ru-RU" sz="1400" dirty="0">
                          <a:effectLst/>
                        </a:rPr>
                        <a:t> определяет ширину области, </a:t>
                      </a:r>
                      <a:r>
                        <a:rPr lang="ru-RU" sz="1400" dirty="0" err="1">
                          <a:effectLst/>
                        </a:rPr>
                        <a:t>Height</a:t>
                      </a:r>
                      <a:r>
                        <a:rPr lang="ru-RU" sz="1400" dirty="0">
                          <a:effectLst/>
                        </a:rPr>
                        <a:t> — высоту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extLst>
                  <a:ext uri="{0D108BD9-81ED-4DB2-BD59-A6C34878D82A}">
                    <a16:rowId xmlns:a16="http://schemas.microsoft.com/office/drawing/2014/main" val="1587282561"/>
                  </a:ext>
                </a:extLst>
              </a:tr>
              <a:tr h="908909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BorderStyle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Вид границы компонента:</a:t>
                      </a:r>
                    </a:p>
                    <a:p>
                      <a:r>
                        <a:rPr lang="ru-RU" sz="1400" dirty="0" err="1">
                          <a:effectLst/>
                        </a:rPr>
                        <a:t>None</a:t>
                      </a:r>
                      <a:r>
                        <a:rPr lang="ru-RU" sz="1400" dirty="0">
                          <a:effectLst/>
                        </a:rPr>
                        <a:t> — граница не отображается;</a:t>
                      </a:r>
                    </a:p>
                    <a:p>
                      <a:r>
                        <a:rPr lang="ru-RU" sz="1400" dirty="0" err="1">
                          <a:effectLst/>
                        </a:rPr>
                        <a:t>FixedSingle</a:t>
                      </a:r>
                      <a:r>
                        <a:rPr lang="ru-RU" sz="1400" dirty="0">
                          <a:effectLst/>
                        </a:rPr>
                        <a:t> — тонкая;</a:t>
                      </a:r>
                    </a:p>
                    <a:p>
                      <a:r>
                        <a:rPr lang="ru-RU" sz="1400" dirty="0">
                          <a:effectLst/>
                        </a:rPr>
                        <a:t>Fixed3D — объемная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extLst>
                  <a:ext uri="{0D108BD9-81ED-4DB2-BD59-A6C34878D82A}">
                    <a16:rowId xmlns:a16="http://schemas.microsoft.com/office/drawing/2014/main" val="2918611129"/>
                  </a:ext>
                </a:extLst>
              </a:tr>
              <a:tr h="45445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Graphics</a:t>
                      </a:r>
                      <a:endParaRPr lang="ru-RU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effectLst/>
                        </a:rPr>
                        <a:t>Поверхность, на которую можно выводить графику (доступ к графической поверхности компонента есть у процедуры обработки события Paint)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9075" marR="49075" marT="0" marB="0"/>
                </a:tc>
                <a:extLst>
                  <a:ext uri="{0D108BD9-81ED-4DB2-BD59-A6C34878D82A}">
                    <a16:rowId xmlns:a16="http://schemas.microsoft.com/office/drawing/2014/main" val="2019902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9681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54172-C12B-4D74-A67F-DE9CCD4D0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5069" y="299803"/>
            <a:ext cx="4676931" cy="842598"/>
          </a:xfrm>
        </p:spPr>
        <p:txBody>
          <a:bodyPr>
            <a:normAutofit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Puzzle</a:t>
            </a:r>
            <a:endParaRPr lang="ru-RU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52062E-43F4-4BAE-B8A2-D15A4869A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663" y="149902"/>
            <a:ext cx="7016645" cy="6520721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качестве примера использования компонента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PictureBox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создадим известную настольную игру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Puzzle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– сборку картинки из ее фрагментов. Выведем на форму рисунок. Затем создадим двумерный массив компонентов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PictureBox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С помощью свойства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Clone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Rectangle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k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h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),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PixelFormat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), копирующего фрагменты рисунка разместим эти фрагменты в элементах массива. С помощью датчика случайных чисел перемешаем фрагменты. Обработчик события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OnClick</a:t>
            </a:r>
            <a:r>
              <a:rPr lang="en-US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будет осуществлять перестановку фрагментов изображения. В качестве «переменной» для перестановки используем невидимый </a:t>
            </a:r>
            <a:r>
              <a:rPr lang="en-US" sz="2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PictureBox</a:t>
            </a:r>
            <a:r>
              <a:rPr lang="ru-RU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Игровое поле с перемешанной картинкой приведено на рис</a:t>
            </a:r>
            <a:r>
              <a:rPr lang="ru-RU" sz="28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унке: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2DACB0-7A7F-49C9-A4BB-3679251026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05208" y="1988973"/>
            <a:ext cx="4753129" cy="396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214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24A4A5-18C3-4F9C-8C76-A8847EFDE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4126"/>
          </a:xfrm>
        </p:spPr>
        <p:txBody>
          <a:bodyPr>
            <a:normAutofit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Puzzle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13C387-12C0-4C7D-9E30-75BE362BE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74126"/>
            <a:ext cx="12192000" cy="608387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namespace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Puzzle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partial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: Form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Bitmap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//Переменная для рисунка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Graphics g;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//Графическая поверхность для рисунка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[,] Pb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[4, 4];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Массив</a:t>
            </a:r>
            <a:r>
              <a:rPr lang="en-US" sz="28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h, w,i0,j0;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Счет кликов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2B91A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Form1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InitializeComponent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g = </a:t>
            </a:r>
            <a:r>
              <a:rPr lang="en-US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.CreateGraphics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Создаем поверхность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07069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AE3380-00A6-433C-A54A-EB2C758D9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776223"/>
          </a:xfrm>
        </p:spPr>
        <p:txBody>
          <a:bodyPr>
            <a:normAutofit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Puzzle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B2EE6E-7DCE-4ED1-8435-A265F2C38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11" y="1019331"/>
            <a:ext cx="11707319" cy="5666282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button1_Click(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{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Обработчик кнопки 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Start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j, k, m;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bool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zap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[,] a =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[4, 4];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//Массив используется для</a:t>
            </a:r>
            <a:endParaRPr lang="en-US" sz="2800" dirty="0">
              <a:solidFill>
                <a:srgbClr val="008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  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перемешивания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Image bb;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x0 = 400;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y0 = 20;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Random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Random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80159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039DE6-6179-4AE7-A0AB-1B27FAB38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082072" cy="869429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Puzzle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508A2C-2154-439D-8B35-D99BC844B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28" y="1199214"/>
            <a:ext cx="11972144" cy="5036695"/>
          </a:xfrm>
        </p:spPr>
        <p:txBody>
          <a:bodyPr/>
          <a:lstStyle/>
          <a:p>
            <a:pPr marL="0" indent="0">
              <a:buNone/>
            </a:pPr>
            <a:r>
              <a:rPr lang="ru-RU" sz="2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Если </a:t>
            </a:r>
            <a:r>
              <a:rPr lang="en-US" sz="2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Pb</a:t>
            </a:r>
            <a:r>
              <a:rPr lang="ru-RU" sz="2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[</a:t>
            </a:r>
            <a:r>
              <a:rPr lang="en-US" sz="2800" dirty="0" err="1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ru-RU" sz="2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ru-RU" sz="2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 есть на форме, мы его удаляем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0980" indent="0">
              <a:buNone/>
            </a:pPr>
            <a:r>
              <a:rPr lang="ru-RU" sz="2800" dirty="0"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(j = 0; j &lt; 4;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.Controls.Contains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j]))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this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.Controls.Remove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(j = 0; j &lt; 4;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j++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a[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= 0;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Заполняем нулями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50745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8F9039-8119-4BC0-AFA5-1AF0FE93D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9410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Puzzle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37B364-05B8-4792-B19D-B01AE36D2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1" y="899410"/>
            <a:ext cx="12087069" cy="5846163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for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for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0;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 4;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j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++)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{</a:t>
            </a:r>
            <a:r>
              <a:rPr lang="ru-RU" sz="2800" dirty="0">
                <a:solidFill>
                  <a:srgbClr val="53813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//Создаем массив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j].Left = x0 + j * w;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j].Top = y0 +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* h;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j].Width = w;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j].Height = h;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Граница должна быть видна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BorderStyle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BorderStyle.Fixed3D;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j].Click +=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Pb_Click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Controls.Add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(Pb[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45948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4F9E71-C46F-4AA3-BA0B-3599A1F37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082072" cy="866165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Puzzle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E3727F-68AE-4447-8BCB-B450D261D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928" y="884420"/>
            <a:ext cx="11972144" cy="5846164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zap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true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(zap)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{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k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rnd.Next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4);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m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rnd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Next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(0, 4);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(a[k, m] == 0)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//Если в элементе</a:t>
            </a:r>
            <a:endParaRPr lang="en-US" sz="2800" dirty="0">
              <a:solidFill>
                <a:srgbClr val="008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массива Pb нет рисунка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a[k, m] = 1;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zap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890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E82F5-B81A-4F86-8225-5A15960B4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51175"/>
          </a:xfrm>
        </p:spPr>
        <p:txBody>
          <a:bodyPr/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Puzzle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D223FF-A2CE-4A53-B899-4C3175A24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31" y="869430"/>
            <a:ext cx="11902190" cy="5801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lang="ru-RU" sz="2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//Здесь мы копируем из рисунка фрагмент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</a:t>
            </a:r>
            <a:r>
              <a:rPr lang="ru-RU" sz="2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/Копирование идет не с рисунка на форме,</a:t>
            </a:r>
            <a:endParaRPr lang="en-US" sz="2400" dirty="0">
              <a:solidFill>
                <a:srgbClr val="008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//</a:t>
            </a:r>
            <a:r>
              <a:rPr lang="ru-RU" sz="2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а из рисунка в памяти.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2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//Поэтому координаты левого верхнего угла - 0,0.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bb = 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Pict.Clone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Rectangle(m * w, k * h, w, h),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                          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Pict.PixelFormat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Pb[</a:t>
            </a:r>
            <a:r>
              <a:rPr lang="en-US" sz="2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j].Image = bb;</a:t>
            </a:r>
            <a:r>
              <a:rPr lang="ru-RU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</a:t>
            </a:r>
            <a:r>
              <a:rPr lang="en-US" sz="2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Вставляем фрагмент и</a:t>
            </a:r>
            <a:r>
              <a:rPr lang="en-US" sz="2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Pb[</a:t>
            </a:r>
            <a:r>
              <a:rPr lang="en-US" sz="24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lang="en-US" sz="2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    }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    }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}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Закрыли Обработчик кнопки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Start</a:t>
            </a:r>
            <a:endParaRPr 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5565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66FDE-0081-4832-8C91-E8E575487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0289" y="0"/>
            <a:ext cx="5011710" cy="1229193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Puzzle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  <a:b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E2837D-C166-413A-8317-B86EB73E3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79881"/>
            <a:ext cx="10777928" cy="66598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3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Pb_Click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3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EventArgs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r>
              <a:rPr lang="ru-RU" sz="3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//Обработчик щелчка по Pb[</a:t>
            </a:r>
            <a:r>
              <a:rPr lang="ru-RU" sz="34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i,j</a:t>
            </a:r>
            <a:r>
              <a:rPr lang="ru-RU" sz="3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]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3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x0 = 400;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3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y0 = 20;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(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)sender;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en-US" sz="3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== 1)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</a:t>
            </a: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   j0 = (</a:t>
            </a:r>
            <a:r>
              <a:rPr lang="ru-RU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Pib.Left</a:t>
            </a: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x0) / w; </a:t>
            </a:r>
            <a:r>
              <a:rPr lang="ru-RU" sz="3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//Номер столбца и строки элемента,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i0 = (</a:t>
            </a:r>
            <a:r>
              <a:rPr lang="ru-RU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Pib.Top</a:t>
            </a: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- y0) / h; </a:t>
            </a:r>
            <a:r>
              <a:rPr lang="ru-RU" sz="3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//по которому кликнули - запомнили.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pictureBox1.Image = </a:t>
            </a:r>
            <a:r>
              <a:rPr lang="ru-RU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Pib.Image</a:t>
            </a: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r>
              <a:rPr lang="ru-RU" sz="3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//Изображение сохранили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2;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}</a:t>
            </a:r>
            <a:endParaRPr lang="ru-RU" sz="3400" dirty="0">
              <a:solidFill>
                <a:srgbClr val="000000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3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34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else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{</a:t>
            </a:r>
            <a:r>
              <a:rPr lang="en-US" sz="3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3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Перестановка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Pb[i0, j0].Image =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Pib.Image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Pib.Image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pictureBox1.Image;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    </a:t>
            </a:r>
            <a:r>
              <a:rPr lang="en-US" sz="34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clik</a:t>
            </a: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= 1;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}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3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749894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AEF2CF-9B8A-471A-A38A-63327B253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656301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Игра 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Puzzle</a:t>
            </a:r>
            <a:r>
              <a:rPr kumimoji="0" lang="ru-RU" sz="4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Код программы.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CCC289-76F7-4EF3-9A19-22287D6D4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4459"/>
            <a:ext cx="12192000" cy="601528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Form1_Paint(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object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sender,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PaintEventArgs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e)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{</a:t>
            </a:r>
            <a:r>
              <a:rPr lang="en-US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Рисуем картинку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Pict = </a:t>
            </a:r>
            <a:r>
              <a:rPr lang="en-US" sz="2800" dirty="0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Bitmap(</a:t>
            </a:r>
            <a:r>
              <a:rPr lang="en-US" sz="2800" dirty="0">
                <a:solidFill>
                  <a:srgbClr val="A31515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"D:/C#/My_Text/puzzle.bmp"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g.DrawImage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(Pict, 20, 20,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Pict.Width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</a:t>
            </a:r>
            <a:r>
              <a:rPr lang="en-US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Pict.Height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//Размеры фрагмента рисунка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w = 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Pict.Width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 4;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h = </a:t>
            </a:r>
            <a:r>
              <a:rPr lang="ru-RU" sz="2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Pict.Height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/ 4;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28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//Невидимый pictureBox1 для перестановки фрагментов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pictureBox1.Width = w;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pictureBox1.Height = h;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    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pictureBox1.Visible = </a:t>
            </a:r>
            <a:r>
              <a:rPr lang="ru-RU" sz="280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false</a:t>
            </a: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}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8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9622797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</TotalTime>
  <Words>3761</Words>
  <Application>Microsoft Office PowerPoint</Application>
  <PresentationFormat>Широкоэкранный</PresentationFormat>
  <Paragraphs>414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Consolas</vt:lpstr>
      <vt:lpstr>Times New Roman</vt:lpstr>
      <vt:lpstr>Тема Office</vt:lpstr>
      <vt:lpstr> Главное меню. Динамическое создание компонент.  Компонент PictureBox.</vt:lpstr>
      <vt:lpstr>Главное меню.  Элемент MenuStrip.</vt:lpstr>
      <vt:lpstr>Главное меню.  Элемент MenuStrip.</vt:lpstr>
      <vt:lpstr>Главное меню.  Элемент MenuStrip.</vt:lpstr>
      <vt:lpstr>Пример программного кода главного меню.</vt:lpstr>
      <vt:lpstr>Учебная викторина Миллионер</vt:lpstr>
      <vt:lpstr>Учебная викторина Миллионер</vt:lpstr>
      <vt:lpstr>Код викторины миллионер с комментариями.</vt:lpstr>
      <vt:lpstr>Код викторины миллионер с комментариями.</vt:lpstr>
      <vt:lpstr>Код викторины миллионер с комментариями.</vt:lpstr>
      <vt:lpstr>Задание по программе Миллионер.</vt:lpstr>
      <vt:lpstr>Создание компонент программным путём.</vt:lpstr>
      <vt:lpstr>Создание компонента Button программным способом</vt:lpstr>
      <vt:lpstr>Создание Button программным способом</vt:lpstr>
      <vt:lpstr>Создание массива кнопок программным способом</vt:lpstr>
      <vt:lpstr>Код создания массива кнопок программным способом</vt:lpstr>
      <vt:lpstr>Код создания массива кнопок программным способом</vt:lpstr>
      <vt:lpstr>Код создания массива кнопок программным способом</vt:lpstr>
      <vt:lpstr>Код создания массива кнопок программным способом</vt:lpstr>
      <vt:lpstr>Учебная игра «Пятнадцать». Код программы.</vt:lpstr>
      <vt:lpstr>Учебная игра «Пятнадцать». Код программы.</vt:lpstr>
      <vt:lpstr>Учебная игра «Пятнадцать». Код программы.</vt:lpstr>
      <vt:lpstr>Учебная игра «Пятнадцать». Код программы.</vt:lpstr>
      <vt:lpstr>Учебная игра «Пятнадцать». Код программы.</vt:lpstr>
      <vt:lpstr>Компонент PictureBox.</vt:lpstr>
      <vt:lpstr>Игра Puzzle</vt:lpstr>
      <vt:lpstr>Игра Puzzle. Код программы.</vt:lpstr>
      <vt:lpstr>Игра Puzzle. Код программы.</vt:lpstr>
      <vt:lpstr>Игра Puzzle. Код программы.</vt:lpstr>
      <vt:lpstr>Игра Puzzle. Код программы.</vt:lpstr>
      <vt:lpstr>Игра Puzzle. Код программы.</vt:lpstr>
      <vt:lpstr>Игра Puzzle. Код программы.</vt:lpstr>
      <vt:lpstr>Игра Puzzle.  Код программы.</vt:lpstr>
      <vt:lpstr>Игра Puzzle. Код программы.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Белякова</dc:creator>
  <cp:lastModifiedBy>Мария Белякова</cp:lastModifiedBy>
  <cp:revision>78</cp:revision>
  <dcterms:created xsi:type="dcterms:W3CDTF">2022-03-19T12:00:09Z</dcterms:created>
  <dcterms:modified xsi:type="dcterms:W3CDTF">2022-03-27T15:16:33Z</dcterms:modified>
</cp:coreProperties>
</file>