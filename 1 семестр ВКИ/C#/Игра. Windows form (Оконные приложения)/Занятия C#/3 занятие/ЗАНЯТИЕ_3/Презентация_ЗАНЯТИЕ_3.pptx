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9" autoAdjust="0"/>
    <p:restoredTop sz="94660"/>
  </p:normalViewPr>
  <p:slideViewPr>
    <p:cSldViewPr snapToGrid="0">
      <p:cViewPr varScale="1">
        <p:scale>
          <a:sx n="49" d="100"/>
          <a:sy n="49" d="100"/>
        </p:scale>
        <p:origin x="67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44AAA-1F19-44DC-A05E-DAE3F7B78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F1D8DE2-729C-4727-8849-0E16ACBA7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438726-7A51-4B53-81FB-1699C6F12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9724D7-01D9-4C19-B758-EB506242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811815-4C49-4ADA-B712-8E3DD6B6D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1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A1482-5691-4C67-84F6-3DACA61A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725CA8-566B-4953-9347-973EAA8AD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7D5920-E823-494F-89C4-9EBABC0BB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2ADE7F-2012-4C17-AE5A-2098D79D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B0793A-3250-4FCF-9800-116F07E70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86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17A3B-1C3C-49C4-94BE-C40DE78A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7ABE95-BA86-404F-8CB2-C05960C31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06F678-7631-4A48-9771-CD9B0D7B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3931B5-1F33-4A13-B424-664EE2B8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11D7B6-FD08-4ACF-893C-A1DBB3E0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929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C425D-A484-46A4-A204-30AC7225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172F71-AB9C-4E0E-A519-7A44408BE4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E81D1A-047F-491E-BA42-856B8AB5F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3E5E6F-88C2-42CC-9DC8-EC738C3AD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D71185-CDEB-4BC0-AF6F-12361341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2BD572-3419-4725-A0CC-BF341966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53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481451-E1F6-4648-AE79-60CC67E8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556A63-A17D-4A86-BB77-CB6575B3E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6432C88-964C-42B3-BB85-611C6DD90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B9CEA8-F97E-47C3-B3E8-1276EED5F3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C4C548-B5AF-43DB-A7E6-82EF73C93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BFDE11C-34BC-4A00-9D99-5A13EA6DC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5D102B8-D430-4046-9F23-72437591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B19DAF2-8396-4388-A95B-4EF179C4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684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A8398-2158-47EE-B661-38FAECB22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248330B-A1B2-4A61-AC3F-BD9920C1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4BE09AF-3530-42BB-A57B-C4D27FF0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7900817-BFF9-40B8-B0D5-8E290F62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81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20C5554-863D-4B72-B703-76BFFC26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32A56BD-B219-416E-A9C2-3755AD3D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7B8291-296C-4D30-9BC2-218D21692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7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C1C68-E95D-4BC1-B3E2-6E0F75DE9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1AC624-4F4F-4D67-AAA5-A0309DDF2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7391CA-1BC7-4DDD-B81F-D9D8AE15F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8CB55B-F3C3-410E-BC42-E4385465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882EF5-1259-47F8-930C-6171E83A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246AF7-B463-4B59-9794-78D9009D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3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5A4F0-0565-4ECE-AB00-E649B2D4D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1D17C0-B998-4370-8E67-CF9E58D7E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68B369-CACC-4DB9-BE5C-78B4FCCA8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EB6732-06B7-428F-A026-4B39DCB5C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095E10-3D61-4621-A2BC-6AA77B59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9E00AA-C5CE-498A-81DE-D1B6EC14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75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D0707-5EC6-4DD8-87C1-FB1B2AC4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9A6F799-95C9-4671-B434-41C8B724D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792AAB-EE39-4E7D-8150-B0958440F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238C2E-FC56-4923-924B-D38A220AB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A36962-6EE6-49B9-89C2-0D19F7B0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26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FBEFB93-3CDC-4D7B-828D-1A5827A3E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F06375A-2B49-4ACB-A4EE-C5D7310FD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646138-E5C9-43BD-B28B-952C0278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B11C04-142B-4EF4-BE61-B4FFE86A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805093-E68F-49EE-86FC-BE30CEA1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77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67003-FD33-4E65-80AE-D8D89B8C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D688EC-E021-4B19-80F7-86265BFEE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AB4A8C-9466-4072-9D2C-138DA11C04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162E8-DB30-43D0-8C6B-E87FFC9B2FBC}" type="datetimeFigureOut">
              <a:rPr lang="ru-RU" smtClean="0"/>
              <a:t>19.02.2022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1518E2-DED9-4BC3-93EF-EC627E3CE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A854E0-3A6D-411C-8717-2113C4D51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65B08-79E7-4EA0-A303-A91CEC9617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634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C51C5C-B3BC-4FDE-B12C-FC00E98D6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5930"/>
            <a:ext cx="12192000" cy="4966139"/>
          </a:xfrm>
        </p:spPr>
        <p:txBody>
          <a:bodyPr>
            <a:normAutofit/>
          </a:bodyPr>
          <a:lstStyle/>
          <a:p>
            <a:pPr lvl="0"/>
            <a:r>
              <a:rPr kumimoji="0" lang="ru-RU" sz="5400" b="1" i="1" u="none" strike="noStrike" kern="1200" cap="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ЗАНЯТИЕ 3</a:t>
            </a:r>
            <a:br>
              <a:rPr kumimoji="0" lang="ru-RU" sz="5400" b="1" i="1" u="none" strike="noStrike" kern="1200" cap="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</a:br>
            <a:b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ЦВЕТОВАЯ МОДЕЛЬ</a:t>
            </a:r>
            <a:r>
              <a:rPr lang="en-US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RGB</a:t>
            </a: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b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СЛУЧАЙНЫЕ ЧИСЛА. </a:t>
            </a:r>
            <a:b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ЦИКЛ </a:t>
            </a:r>
            <a:r>
              <a:rPr lang="en-US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</a:t>
            </a:r>
            <a:r>
              <a:rPr lang="ru-RU" b="1" i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 СЧЕТЧИКОМ.</a:t>
            </a:r>
            <a:br>
              <a:rPr kumimoji="0" lang="ru-RU" b="1" i="1" u="none" strike="noStrike" kern="1200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</a:br>
            <a:r>
              <a:rPr kumimoji="0" lang="ru-RU" sz="3600" b="1" i="1" u="none" strike="noStrike" kern="1200" cap="all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4194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9E8387-48AF-4D8B-B884-FF7A2336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918730" cy="911882"/>
          </a:xfrm>
        </p:spPr>
        <p:txBody>
          <a:bodyPr>
            <a:noAutofit/>
          </a:bodyPr>
          <a:lstStyle/>
          <a:p>
            <a:pPr indent="252095" algn="ctr"/>
            <a:r>
              <a:rPr lang="ru-RU" sz="5400" b="1" i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Случайное число. Класс </a:t>
            </a:r>
            <a:r>
              <a:rPr lang="ru-RU" sz="5400" b="1" i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Random</a:t>
            </a:r>
            <a:r>
              <a:rPr lang="ru-RU" sz="5400" b="1" i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endParaRPr lang="ru-RU" sz="5400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232CC8-DF2B-4579-A04C-E068E2D2F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90" y="1024759"/>
            <a:ext cx="11918730" cy="5722882"/>
          </a:xfrm>
        </p:spPr>
        <p:txBody>
          <a:bodyPr/>
          <a:lstStyle/>
          <a:p>
            <a:pPr indent="0" algn="just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Для генерации случайных чисел в программе используется класс </a:t>
            </a:r>
            <a:r>
              <a:rPr lang="ru-RU" sz="36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Random</a:t>
            </a:r>
            <a:r>
              <a:rPr lang="ru-RU" sz="36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В таблице приведены конструкторы класса </a:t>
            </a:r>
            <a:r>
              <a:rPr lang="ru-RU" sz="36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Random</a:t>
            </a:r>
            <a:r>
              <a:rPr lang="ru-RU" sz="36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:</a:t>
            </a:r>
            <a:endParaRPr lang="ru-RU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330B7F9-4D8A-41DB-8A60-493A74C1B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290832"/>
              </p:ext>
            </p:extLst>
          </p:nvPr>
        </p:nvGraphicFramePr>
        <p:xfrm>
          <a:off x="1308537" y="3090041"/>
          <a:ext cx="9254359" cy="29997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0235">
                  <a:extLst>
                    <a:ext uri="{9D8B030D-6E8A-4147-A177-3AD203B41FA5}">
                      <a16:colId xmlns:a16="http://schemas.microsoft.com/office/drawing/2014/main" val="1092563474"/>
                    </a:ext>
                  </a:extLst>
                </a:gridCol>
                <a:gridCol w="6984124">
                  <a:extLst>
                    <a:ext uri="{9D8B030D-6E8A-4147-A177-3AD203B41FA5}">
                      <a16:colId xmlns:a16="http://schemas.microsoft.com/office/drawing/2014/main" val="4150174876"/>
                    </a:ext>
                  </a:extLst>
                </a:gridCol>
              </a:tblGrid>
              <a:tr h="630621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i="1" dirty="0">
                          <a:effectLst/>
                        </a:rPr>
                        <a:t>Название</a:t>
                      </a:r>
                      <a:endParaRPr lang="ru-RU" sz="2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i="1" dirty="0">
                          <a:effectLst/>
                        </a:rPr>
                        <a:t>Описание</a:t>
                      </a:r>
                      <a:endParaRPr lang="ru-RU" sz="28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7514938"/>
                  </a:ext>
                </a:extLst>
              </a:tr>
              <a:tr h="1084140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 err="1">
                          <a:effectLst/>
                        </a:rPr>
                        <a:t>Random</a:t>
                      </a:r>
                      <a:r>
                        <a:rPr lang="ru-RU" sz="2800" dirty="0">
                          <a:effectLst/>
                        </a:rPr>
                        <a:t> ( ) 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Создает экземпляр класса, основываясь на значении текущего времени.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9046378"/>
                  </a:ext>
                </a:extLst>
              </a:tr>
              <a:tr h="1285014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 err="1">
                          <a:effectLst/>
                        </a:rPr>
                        <a:t>Random</a:t>
                      </a:r>
                      <a:r>
                        <a:rPr lang="ru-RU" sz="2800" dirty="0">
                          <a:effectLst/>
                        </a:rPr>
                        <a:t> (Int32) 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Создает экземпляр класса, основываясь на начальном значении, заданном в качестве входного параметра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6554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528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43F918-615A-4605-B9FF-C9C07CE1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1966028" cy="848847"/>
          </a:xfrm>
        </p:spPr>
        <p:txBody>
          <a:bodyPr>
            <a:noAutofit/>
          </a:bodyPr>
          <a:lstStyle/>
          <a:p>
            <a:pPr algn="ctr"/>
            <a:r>
              <a:rPr lang="ru-RU" sz="5400" b="1" i="1" dirty="0">
                <a:effectLst/>
                <a:latin typeface="Times New Roman" panose="02020603050405020304" pitchFamily="18" charset="0"/>
                <a:ea typeface="TimesNewRomanPSMT"/>
              </a:rPr>
              <a:t>Некоторые методы класса </a:t>
            </a:r>
            <a:r>
              <a:rPr lang="ru-RU" sz="5400" b="1" i="1" dirty="0" err="1">
                <a:effectLst/>
                <a:latin typeface="Times New Roman" panose="02020603050405020304" pitchFamily="18" charset="0"/>
                <a:ea typeface="TimesNewRomanPSMT"/>
              </a:rPr>
              <a:t>Random</a:t>
            </a:r>
            <a:endParaRPr lang="ru-RU" sz="5400" b="1" i="1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42B3BBE-B1A8-498C-B18F-0FF9E366B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665175"/>
              </p:ext>
            </p:extLst>
          </p:nvPr>
        </p:nvGraphicFramePr>
        <p:xfrm>
          <a:off x="378372" y="867103"/>
          <a:ext cx="11303876" cy="57155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68414">
                  <a:extLst>
                    <a:ext uri="{9D8B030D-6E8A-4147-A177-3AD203B41FA5}">
                      <a16:colId xmlns:a16="http://schemas.microsoft.com/office/drawing/2014/main" val="698392710"/>
                    </a:ext>
                  </a:extLst>
                </a:gridCol>
                <a:gridCol w="7835462">
                  <a:extLst>
                    <a:ext uri="{9D8B030D-6E8A-4147-A177-3AD203B41FA5}">
                      <a16:colId xmlns:a16="http://schemas.microsoft.com/office/drawing/2014/main" val="2161756987"/>
                    </a:ext>
                  </a:extLst>
                </a:gridCol>
              </a:tblGrid>
              <a:tr h="733097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>
                          <a:effectLst/>
                        </a:rPr>
                        <a:t>Метод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>
                          <a:effectLst/>
                        </a:rPr>
                        <a:t>Описание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8322505"/>
                  </a:ext>
                </a:extLst>
              </a:tr>
              <a:tr h="930574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>
                          <a:effectLst/>
                        </a:rPr>
                        <a:t>Next ()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Возвращает случайное не отрицательное целое число от 0 до </a:t>
                      </a:r>
                      <a:r>
                        <a:rPr lang="ru-RU" sz="2800" dirty="0" err="1">
                          <a:effectLst/>
                        </a:rPr>
                        <a:t>int</a:t>
                      </a:r>
                      <a:r>
                        <a:rPr lang="ru-RU" sz="2800" dirty="0">
                          <a:effectLst/>
                        </a:rPr>
                        <a:t>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0678927"/>
                  </a:ext>
                </a:extLst>
              </a:tr>
              <a:tr h="930574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 err="1">
                          <a:effectLst/>
                        </a:rPr>
                        <a:t>MaxValue</a:t>
                      </a:r>
                      <a:r>
                        <a:rPr lang="ru-RU" sz="2800" dirty="0">
                          <a:effectLst/>
                        </a:rPr>
                        <a:t>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Инициализация датчика случайных чисел основывается на системном времени.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7346083"/>
                  </a:ext>
                </a:extLst>
              </a:tr>
              <a:tr h="1063355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>
                          <a:effectLst/>
                        </a:rPr>
                        <a:t>Next (Int32)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Возвращает случайное неотрицательное целое число, не превышающее значение аргумента.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3657677"/>
                  </a:ext>
                </a:extLst>
              </a:tr>
              <a:tr h="1391278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>
                          <a:effectLst/>
                        </a:rPr>
                        <a:t>Next (Int32,  Int32)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Возвращает целое число, равномерно распределенное в интервале от 1-го параметра до 2-го параметра.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2085737"/>
                  </a:ext>
                </a:extLst>
              </a:tr>
              <a:tr h="666676">
                <a:tc>
                  <a:txBody>
                    <a:bodyPr/>
                    <a:lstStyle/>
                    <a:p>
                      <a:pPr indent="252095" algn="ctr"/>
                      <a:r>
                        <a:rPr lang="ru-RU" sz="2800" dirty="0" err="1">
                          <a:effectLst/>
                        </a:rPr>
                        <a:t>NextDouble</a:t>
                      </a:r>
                      <a:r>
                        <a:rPr lang="ru-RU" sz="2800" dirty="0">
                          <a:effectLst/>
                        </a:rPr>
                        <a:t>()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52095" algn="just"/>
                      <a:r>
                        <a:rPr lang="ru-RU" sz="2800" dirty="0">
                          <a:effectLst/>
                        </a:rPr>
                        <a:t>Возвращает дробное число от 0.0 до 1.0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5934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559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D6E29A-9AA6-43B0-8B68-91A785238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211455"/>
          </a:xfrm>
        </p:spPr>
        <p:txBody>
          <a:bodyPr>
            <a:normAutofit/>
          </a:bodyPr>
          <a:lstStyle/>
          <a:p>
            <a:pPr algn="ctr"/>
            <a:r>
              <a:rPr lang="ru-RU" sz="5400" b="1" i="1" dirty="0">
                <a:effectLst/>
                <a:latin typeface="Times New Roman" panose="02020603050405020304" pitchFamily="18" charset="0"/>
                <a:ea typeface="TimesNewRomanPSMT"/>
              </a:rPr>
              <a:t>Пример  «Случайный кружок». </a:t>
            </a:r>
            <a:endParaRPr lang="ru-RU" sz="5400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E64B41-065F-48B6-AAD4-F59ABF5F9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524" y="2052007"/>
            <a:ext cx="11634952" cy="2144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/>
              <a:t>Программа, рисует круг случайным радиусом из интервала (20; 100), в случайном месте и любым цветом. </a:t>
            </a:r>
          </a:p>
          <a:p>
            <a:pPr marL="0" indent="0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658723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FCDD4-6370-45C9-8C04-1FE97D063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6"/>
            <a:ext cx="5901557" cy="517773"/>
          </a:xfrm>
        </p:spPr>
        <p:txBody>
          <a:bodyPr>
            <a:noAutofit/>
          </a:bodyPr>
          <a:lstStyle/>
          <a:p>
            <a:r>
              <a:rPr kumimoji="0" lang="ru-RU" sz="3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+mj-cs"/>
              </a:rPr>
              <a:t>Пример  «Случайный кружок». 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6B2E68-8E72-488E-9B0E-839C26569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3683"/>
            <a:ext cx="5901558" cy="6146061"/>
          </a:xfrm>
          <a:ln w="1905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namespace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Случайный_кружок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Form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{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r, x, y;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fw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fh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Ширина и высота формы</a:t>
            </a: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Random();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создается объект класса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Pen pen1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Pen(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Color.Blue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Graphics gr;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krug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r)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{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pen1.Color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Color.Blue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gr.DrawEllipse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(pen1, x, y, 2 * r, 2 * r);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} 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1A17DF-3CE1-43B5-8533-2890CB1E35EF}"/>
              </a:ext>
            </a:extLst>
          </p:cNvPr>
          <p:cNvSpPr txBox="1"/>
          <p:nvPr/>
        </p:nvSpPr>
        <p:spPr>
          <a:xfrm>
            <a:off x="6096000" y="468769"/>
            <a:ext cx="5901558" cy="63709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button1_Click(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sender,</a:t>
            </a: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EventArgs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e)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r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Next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(20, 100);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x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Next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fw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- 2 *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Следим,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538135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//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чтобы кружок не выходил за форму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y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rnd.Next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- 2 * r);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krug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(x, y, r);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{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InitializeComponent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gr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.CreateGraphics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.BackColor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Color.Aquamarine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fw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Width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Текущая ширина формы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fh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Height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538135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Текущая высота формы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}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25209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7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1BCA1-989E-4838-B879-88AB20966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8276"/>
          </a:xfrm>
        </p:spPr>
        <p:txBody>
          <a:bodyPr>
            <a:normAutofit/>
          </a:bodyPr>
          <a:lstStyle/>
          <a:p>
            <a:pPr indent="252095"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Цикл со счетчиком </a:t>
            </a:r>
            <a:r>
              <a:rPr lang="ru-RU" sz="4400" b="1" i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for</a:t>
            </a:r>
            <a:r>
              <a:rPr lang="ru-RU" b="1" i="1" dirty="0"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48E8BE-0EAF-4276-8825-876EE3C55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59" y="788276"/>
            <a:ext cx="11950262" cy="6069724"/>
          </a:xfrm>
        </p:spPr>
        <p:txBody>
          <a:bodyPr>
            <a:normAutofit fontScale="85000" lnSpcReduction="20000"/>
          </a:bodyPr>
          <a:lstStyle/>
          <a:p>
            <a:pPr indent="0" algn="just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Цикл </a:t>
            </a:r>
            <a:r>
              <a:rPr lang="ru-RU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for</a:t>
            </a:r>
            <a:r>
              <a:rPr lang="ru-RU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</a:rPr>
              <a:t> 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</a:rPr>
              <a:t>используется, как правило, если известно число повторов  цикла: </a:t>
            </a:r>
          </a:p>
          <a:p>
            <a:pPr lvl="2" indent="0" algn="just">
              <a:buNone/>
            </a:pPr>
            <a:r>
              <a:rPr lang="ru-RU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for</a:t>
            </a:r>
            <a:r>
              <a:rPr lang="ru-RU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 (&lt;начальные значения&gt;; &lt;условия работы цикла&gt;; &lt;инкремент&gt;)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indent="0" algn="just">
              <a:buNone/>
            </a:pPr>
            <a:r>
              <a:rPr lang="ru-RU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{   &lt;тело цикла&gt; }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Цикл </a:t>
            </a:r>
            <a:r>
              <a:rPr lang="ru-RU" sz="2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for</a:t>
            </a:r>
            <a:r>
              <a:rPr lang="ru-RU" sz="2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выполняет </a:t>
            </a:r>
            <a:r>
              <a:rPr kumimoji="0" lang="ru-RU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&lt;тело цикла&gt;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до тех пор, пока условие работы цикла не станет равным </a:t>
            </a:r>
            <a:r>
              <a:rPr lang="ru-RU" sz="28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false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  В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случае зависания программы (зацикливания) нажмите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Shift+F5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  </a:t>
            </a:r>
            <a:r>
              <a:rPr lang="ru-RU" sz="2800" i="1" u="sng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Пример использования оператора </a:t>
            </a:r>
            <a:r>
              <a:rPr lang="ru-RU" sz="2800" b="1" i="1" u="sng" dirty="0" err="1"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for</a:t>
            </a:r>
            <a:r>
              <a:rPr lang="ru-RU" sz="2800" i="1" u="sng" dirty="0"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 :</a:t>
            </a:r>
            <a:endParaRPr lang="ru-RU" sz="2800" i="1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i="1" u="sng" dirty="0">
                <a:effectLst/>
                <a:latin typeface="Times New Roman" panose="02020603050405020304" pitchFamily="18" charset="0"/>
                <a:ea typeface="TimesNewRomanPSMT"/>
              </a:rPr>
              <a:t>Ряд кружков. </a:t>
            </a:r>
            <a:r>
              <a:rPr lang="ru-RU" sz="2800" i="1" u="sng" dirty="0">
                <a:effectLst/>
                <a:latin typeface="Times New Roman" panose="02020603050405020304" pitchFamily="18" charset="0"/>
                <a:ea typeface="TimesNewRomanPSMT"/>
              </a:rPr>
              <a:t>Нарисуйте ряд кружочков (например 10 штук) с радиусом 40: </a:t>
            </a:r>
          </a:p>
          <a:p>
            <a:pPr indent="0" algn="just"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void Form1_Paint(object sender,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PaintEventArgs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myBrush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new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Color.Red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b="1" dirty="0"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   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myBrush.Color</a:t>
            </a:r>
            <a:r>
              <a:rPr lang="en-US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=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Color.Red</a:t>
            </a:r>
            <a:r>
              <a:rPr lang="en-US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= 50;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US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= 0;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for (int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=1;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&lt;=10;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++)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{</a:t>
            </a: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g.FillEllipse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myBrushred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x, y, 2*r, 2*r);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0" algn="just">
              <a:buNone/>
            </a:pP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    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+= 2 * r;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   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ru-RU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5028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BE45A-9264-417F-8B82-BA32CEEEB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59661"/>
          </a:xfrm>
        </p:spPr>
        <p:txBody>
          <a:bodyPr>
            <a:normAutofit fontScale="90000"/>
          </a:bodyPr>
          <a:lstStyle/>
          <a:p>
            <a:pPr indent="252095" algn="ctr"/>
            <a:r>
              <a:rPr lang="ru-RU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Использование цвета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44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Цветовая модель 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RGB.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5F6763-B301-4AD7-A058-894FA9349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77917"/>
            <a:ext cx="12192000" cy="6161827"/>
          </a:xfrm>
        </p:spPr>
        <p:txBody>
          <a:bodyPr>
            <a:normAutofit fontScale="47500" lnSpcReduction="20000"/>
          </a:bodyPr>
          <a:lstStyle/>
          <a:p>
            <a:pPr indent="0" algn="just">
              <a:buNone/>
            </a:pPr>
            <a:r>
              <a:rPr lang="ru-RU" sz="46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Существует набор системных цветов, которые берутся из структуры </a:t>
            </a:r>
            <a:r>
              <a:rPr lang="ru-RU" sz="4600" i="1" dirty="0">
                <a:effectLst/>
                <a:latin typeface="Times New Roman" panose="02020603050405020304" pitchFamily="18" charset="0"/>
                <a:ea typeface="TimesNewRomanPS-ItalicMT"/>
                <a:cs typeface="Times New Roman" panose="02020603050405020304" pitchFamily="18" charset="0"/>
              </a:rPr>
              <a:t>Color</a:t>
            </a:r>
            <a:r>
              <a:rPr lang="ru-RU" sz="46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endParaRPr lang="ru-RU" sz="4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4600" b="1" i="1" u="sng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Пример</a:t>
            </a:r>
            <a:r>
              <a:rPr lang="ru-RU" sz="4600" b="1" i="1" u="sng" dirty="0"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ы</a:t>
            </a:r>
            <a:r>
              <a:rPr lang="en-US" sz="4600" b="1" i="1" u="sng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:</a:t>
            </a:r>
            <a:endParaRPr lang="ru-RU" sz="4600" b="1" i="1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 col;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 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Color.Red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4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красный</a:t>
            </a: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 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Color.Aquamarine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  //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46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аквамарин</a:t>
            </a: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 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Color.LightGoldenrodYellow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  //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46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светлый золотисто-желтый  </a:t>
            </a: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 </a:t>
            </a:r>
            <a:r>
              <a:rPr lang="en-US" sz="46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Color.Tomato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  //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46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томатный</a:t>
            </a:r>
          </a:p>
          <a:p>
            <a:pPr indent="0" algn="just">
              <a:buNone/>
            </a:pPr>
            <a:r>
              <a:rPr lang="ru-RU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Иногда в процессе работы программы форма должна перекрашиваться.</a:t>
            </a:r>
            <a:endParaRPr lang="ru-RU" sz="4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Перекрашивание формы </a:t>
            </a:r>
            <a:r>
              <a:rPr lang="ru-RU" sz="4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программно</a:t>
            </a:r>
            <a:r>
              <a:rPr lang="ru-RU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например, в зеленый цвет:</a:t>
            </a:r>
            <a:endParaRPr lang="ru-RU" sz="4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Form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1()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this.BackColor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Color.Green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ru-RU" sz="4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indent="0" algn="just">
              <a:buNone/>
            </a:pPr>
            <a:r>
              <a:rPr lang="ru-RU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понадобится изменить цвет, например, кнопки Button1 на тёмно-бордовый, код будет таким: </a:t>
            </a:r>
            <a:endParaRPr lang="ru-RU" sz="4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4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button1.BackColor = </a:t>
            </a:r>
            <a:r>
              <a:rPr lang="en-US" sz="4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Color.Maroon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46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 </a:t>
            </a:r>
            <a:endParaRPr lang="ru-RU" sz="4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4576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A1826-E639-49DB-B106-2CE9EB92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9807"/>
          </a:xfrm>
        </p:spPr>
        <p:txBody>
          <a:bodyPr/>
          <a:lstStyle/>
          <a:p>
            <a:pPr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Цветовая модель </a:t>
            </a:r>
            <a:r>
              <a:rPr lang="en-US" sz="4400" b="1" i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RGB.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BBADA2-A016-4E73-B7E4-DD034DEE3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9807"/>
            <a:ext cx="6227380" cy="5912069"/>
          </a:xfrm>
        </p:spPr>
        <p:txBody>
          <a:bodyPr>
            <a:normAutofit fontScale="92500"/>
          </a:bodyPr>
          <a:lstStyle/>
          <a:p>
            <a:pPr indent="0" algn="just">
              <a:buNone/>
            </a:pPr>
            <a:r>
              <a:rPr lang="ru-RU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ru-RU" sz="32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ru-RU" sz="32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это аддитивная цветовая модель, которая синтезирует цвета, используя смешивание трёх основных цветов (Красного – </a:t>
            </a:r>
            <a:r>
              <a:rPr lang="ru-RU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Зеленого – </a:t>
            </a:r>
            <a:r>
              <a:rPr lang="ru-RU" sz="32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Green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Синего – </a:t>
            </a:r>
            <a:r>
              <a:rPr lang="ru-RU" sz="32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Blue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с чёрным, вследствие чего получаются новые цвета и оттенки. Зависит получаемый цвет от интенсивности этих трёх основных цветов. Если смешать Красный, Зеленый и Синий в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максимальной насыщенности, получится белый цвет. Если не смешивать их, то остаётся чёрный.</a:t>
            </a:r>
            <a:endParaRPr lang="ru-RU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 descr="Как поменять цвет фона элементов в Windows Forms">
            <a:extLst>
              <a:ext uri="{FF2B5EF4-FFF2-40B4-BE49-F238E27FC236}">
                <a16:creationId xmlns:a16="http://schemas.microsoft.com/office/drawing/2014/main" id="{A5B41230-A2E5-41A4-AFA5-EE89F2AB86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457" y="1032674"/>
            <a:ext cx="5507420" cy="55074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3079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29C34F-C61D-4D0D-9C57-307EBA4BD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029090" cy="706959"/>
          </a:xfrm>
        </p:spPr>
        <p:txBody>
          <a:bodyPr>
            <a:normAutofit/>
          </a:bodyPr>
          <a:lstStyle/>
          <a:p>
            <a:pPr indent="252095" algn="ctr"/>
            <a:r>
              <a:rPr lang="ru-RU" sz="44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Создание цвета. Метод  </a:t>
            </a:r>
            <a:r>
              <a:rPr lang="ru-RU" sz="4400" b="1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Color.Argb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2D55F5-F34F-44B1-AE2B-7A5BEF0BA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3" y="690200"/>
            <a:ext cx="5990893" cy="6167799"/>
          </a:xfrm>
          <a:ln w="19050"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/>
          <a:p>
            <a:pPr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</a:rPr>
              <a:t>Можно создавать свои цвета, задавая интенсивность каждого цвета с помощью метода </a:t>
            </a:r>
            <a:r>
              <a:rPr lang="ru-RU" sz="2800" b="1" i="1" dirty="0" err="1">
                <a:effectLst/>
                <a:latin typeface="Times New Roman" panose="02020603050405020304" pitchFamily="18" charset="0"/>
                <a:ea typeface="TimesNewRomanPS-ItalicMT"/>
              </a:rPr>
              <a:t>Color.FromArgb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</a:rPr>
              <a:t>. </a:t>
            </a:r>
            <a:r>
              <a:rPr lang="ru-RU" sz="2800" u="sng" dirty="0">
                <a:effectLst/>
                <a:latin typeface="Times New Roman" panose="02020603050405020304" pitchFamily="18" charset="0"/>
                <a:ea typeface="TimesNewRomanPSMT"/>
              </a:rPr>
              <a:t>Первый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</a:rPr>
              <a:t> аргумент этого метода задает интенсивность красного, </a:t>
            </a:r>
            <a:r>
              <a:rPr lang="ru-RU" sz="2800" u="sng" dirty="0">
                <a:effectLst/>
                <a:latin typeface="Times New Roman" panose="02020603050405020304" pitchFamily="18" charset="0"/>
                <a:ea typeface="TimesNewRomanPSMT"/>
              </a:rPr>
              <a:t>второй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</a:rPr>
              <a:t> – интенсивность зеленого, и </a:t>
            </a:r>
            <a:r>
              <a:rPr lang="ru-RU" sz="2800" u="sng" dirty="0">
                <a:effectLst/>
                <a:latin typeface="Times New Roman" panose="02020603050405020304" pitchFamily="18" charset="0"/>
                <a:ea typeface="TimesNewRomanPSMT"/>
              </a:rPr>
              <a:t>последний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</a:rPr>
              <a:t>– интенсивность голубого цвета.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Интенсивность в числовой форме для удобства применения задается числами от 0 (минимальная интенсивность) до 255 (максимальная интенсивность).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Чтобы закрасить фон формы в чёрный цвет, используя данный метод, надо написать вот такую строку: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Form1()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InitializeComponent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this.BackColor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Color.FromArgb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(0, 0, 0);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D9A932-9D3E-4A01-A34C-602EC4E46AAF}"/>
              </a:ext>
            </a:extLst>
          </p:cNvPr>
          <p:cNvSpPr txBox="1"/>
          <p:nvPr/>
        </p:nvSpPr>
        <p:spPr>
          <a:xfrm>
            <a:off x="6095999" y="737498"/>
            <a:ext cx="6043447" cy="59523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Примеры</a:t>
            </a:r>
            <a:endParaRPr kumimoji="0" lang="ru-RU" sz="2400" b="0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 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(23, 56, 78);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Или  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(0, 0, 0);  //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черный 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(0, 255, 0);  //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зеленый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(255, 0, 0);  //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красный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(0, 0, 255);  //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синий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(255, 255, 0); //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желтый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(255, 0, 255);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//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фиолетовый 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magenta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(0, 255, 255);  //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циан</a:t>
            </a:r>
          </a:p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FromRgb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(255, 255, 255); 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0000"/>
                </a:highlight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белый</a:t>
            </a:r>
          </a:p>
        </p:txBody>
      </p:sp>
    </p:spTree>
    <p:extLst>
      <p:ext uri="{BB962C8B-B14F-4D97-AF65-F5344CB8AC3E}">
        <p14:creationId xmlns:p14="http://schemas.microsoft.com/office/powerpoint/2010/main" val="233010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1557B-19A3-4A02-9CDF-D70D3FD3B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64614"/>
          </a:xfrm>
        </p:spPr>
        <p:txBody>
          <a:bodyPr>
            <a:normAutofit/>
          </a:bodyPr>
          <a:lstStyle/>
          <a:p>
            <a:pPr indent="180340" algn="ctr"/>
            <a:r>
              <a:rPr lang="ru-RU" sz="4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Модель </a:t>
            </a:r>
            <a:r>
              <a:rPr lang="en-US" sz="4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RGB </a:t>
            </a:r>
            <a:r>
              <a:rPr lang="ru-RU" sz="4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виде трехмерного куба.</a:t>
            </a:r>
            <a:endParaRPr lang="ru-RU" b="1" i="1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B171E30-B0BE-4E1E-BB15-A78419983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6053" y="1747484"/>
            <a:ext cx="6469219" cy="4051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497C9E-F483-4D44-B888-E6504A05AACA}"/>
              </a:ext>
            </a:extLst>
          </p:cNvPr>
          <p:cNvSpPr txBox="1"/>
          <p:nvPr/>
        </p:nvSpPr>
        <p:spPr>
          <a:xfrm>
            <a:off x="0" y="882870"/>
            <a:ext cx="5636053" cy="58631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Цветовым пространством модели RGB является единичный куб в трехмерной системе координат. На рисунке изображен куб и трехмерная система координат. На главной диагонали куба получаются серые цвета от черного до белого. Главная диагональ идет из точки с координатами (0,0,0) в точку с координатами (1, 1, 1). Начало координат на рисунке (0, 0, 0) – черный цвет, точка с координатами (1, 1, 1) имеет белый цвет. Главная диагональ куба характеризуется равным вкладом трех базовых цветов: r – красный, g – зеленый и b – синий. </a:t>
            </a:r>
          </a:p>
        </p:txBody>
      </p:sp>
    </p:spTree>
    <p:extLst>
      <p:ext uri="{BB962C8B-B14F-4D97-AF65-F5344CB8AC3E}">
        <p14:creationId xmlns:p14="http://schemas.microsoft.com/office/powerpoint/2010/main" val="181403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4CB1C-0FFF-4074-B82C-EBD8CCEE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044855" cy="722724"/>
          </a:xfrm>
        </p:spPr>
        <p:txBody>
          <a:bodyPr/>
          <a:lstStyle/>
          <a:p>
            <a:pPr algn="ctr"/>
            <a:r>
              <a:rPr lang="ru-RU" sz="44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Задание цвета случайным образом </a:t>
            </a:r>
            <a:endParaRPr lang="ru-RU" b="1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71B8C5-91A4-4C4C-BA74-896500C1A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40980"/>
            <a:ext cx="12044855" cy="6098765"/>
          </a:xfrm>
        </p:spPr>
        <p:txBody>
          <a:bodyPr>
            <a:normAutofit fontScale="92500"/>
          </a:bodyPr>
          <a:lstStyle/>
          <a:p>
            <a:pPr indent="0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byte r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indent="0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. . . </a:t>
            </a:r>
          </a:p>
          <a:p>
            <a:pPr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Random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rnd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=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new Random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();</a:t>
            </a:r>
            <a:endParaRPr lang="ru-RU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Brush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br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1=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 Brush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Black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 </a:t>
            </a:r>
            <a:r>
              <a:rPr lang="ru-RU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При создании кисти </a:t>
            </a:r>
            <a:endParaRPr lang="en-US" sz="32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// </a:t>
            </a:r>
            <a:r>
              <a:rPr lang="ru-RU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используем любой цвет</a:t>
            </a:r>
          </a:p>
          <a:p>
            <a:pPr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=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rnd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.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Next</a:t>
            </a:r>
            <a:r>
              <a:rPr lang="ru-RU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(15;256);  </a:t>
            </a:r>
            <a:r>
              <a:rPr lang="ru-RU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// Отступили от нуля на 15, </a:t>
            </a:r>
          </a:p>
          <a:p>
            <a:pPr indent="0" algn="just">
              <a:buNone/>
            </a:pPr>
            <a:r>
              <a:rPr lang="ru-RU" sz="3200" b="1" dirty="0">
                <a:solidFill>
                  <a:srgbClr val="00B050"/>
                </a:solidFill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// </a:t>
            </a:r>
            <a:r>
              <a:rPr lang="ru-RU" sz="32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чтобы избежать темных оттенков</a:t>
            </a:r>
            <a:endParaRPr lang="ru-RU" sz="3200" b="1" dirty="0">
              <a:solidFill>
                <a:srgbClr val="00B05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g=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rnd.Next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(15;256);</a:t>
            </a:r>
            <a:endParaRPr lang="ru-RU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b=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rnd.Next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(15;256);</a:t>
            </a:r>
            <a:endParaRPr lang="ru-RU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br1.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Color=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Color.FromArgb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r,g,b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. 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165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6D0FDE-91E2-466F-9B4A-D84D1122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60174"/>
            <a:ext cx="11887200" cy="1826282"/>
          </a:xfrm>
        </p:spPr>
        <p:txBody>
          <a:bodyPr>
            <a:normAutofit fontScale="90000"/>
          </a:bodyPr>
          <a:lstStyle/>
          <a:p>
            <a:r>
              <a:rPr lang="ru-RU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Пример.</a:t>
            </a:r>
            <a:r>
              <a:rPr lang="ru-RU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Нарисуем длинную полоску, закрашенную градиентным образом от темно-зеленого до светло-зеленого</a:t>
            </a:r>
            <a: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024C3B-D4D2-4DA4-85A9-E6E1D0FFA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856" y="1952367"/>
            <a:ext cx="4566744" cy="46836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2D5319-4E61-4B89-997B-56EE8659DBBD}"/>
              </a:ext>
            </a:extLst>
          </p:cNvPr>
          <p:cNvSpPr txBox="1"/>
          <p:nvPr/>
        </p:nvSpPr>
        <p:spPr>
          <a:xfrm>
            <a:off x="0" y="2032013"/>
            <a:ext cx="73204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52095"/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namespace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Градиент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partial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Form1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Form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{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y, a,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r,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g,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b;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 = 0;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br1 =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SolidBrush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Color.Black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button1_Click(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sender,</a:t>
            </a:r>
          </a:p>
          <a:p>
            <a:pPr indent="252095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EventArgs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e)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{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drawpole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252095"/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}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718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844567-AD08-4368-B756-8424FFEDB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48" y="-2042"/>
            <a:ext cx="10628586" cy="662782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Пример.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 </a:t>
            </a: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j-cs"/>
              </a:rPr>
              <a:t> Продолжение.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87BC4E-0BEE-4B6C-B8A5-1B4FEF647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615" y="790188"/>
            <a:ext cx="5533697" cy="4554169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indent="0">
              <a:buNone/>
            </a:pP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int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 = 50, h = 50;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50 полосок</a:t>
            </a:r>
          </a:p>
          <a:p>
            <a:pPr indent="0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Graphics gr;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drawpole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{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5;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Шаг или ширина одного</a:t>
            </a:r>
          </a:p>
          <a:p>
            <a:pPr indent="0">
              <a:buNone/>
            </a:pPr>
            <a:r>
              <a:rPr lang="ru-RU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r>
              <a:rPr lang="ru-RU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lang="ru-RU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прямоугольника</a:t>
            </a:r>
          </a:p>
          <a:p>
            <a:pPr indent="0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0;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Оттенки красного цвета</a:t>
            </a:r>
          </a:p>
          <a:p>
            <a:pPr indent="0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0; </a:t>
            </a:r>
            <a:r>
              <a:rPr lang="ru-RU" sz="2400" b="1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Оттенки синего цвета</a:t>
            </a:r>
          </a:p>
          <a:p>
            <a:pPr indent="0"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= 100;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buNone/>
            </a:pP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B3DB7-66D8-4DEF-A0AE-D3AA81D99D99}"/>
              </a:ext>
            </a:extLst>
          </p:cNvPr>
          <p:cNvSpPr txBox="1"/>
          <p:nvPr/>
        </p:nvSpPr>
        <p:spPr>
          <a:xfrm>
            <a:off x="5785944" y="787570"/>
            <a:ext cx="6290441" cy="60077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scadia Mono"/>
                <a:ea typeface="Calibri" panose="020F0502020204030204" pitchFamily="34" charset="0"/>
                <a:cs typeface="Cascadia Mono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=1;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&lt;=n;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++)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// Оттенки зеленого цвета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+=a;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br1.Color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Color.FromArgb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(r, g, b);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gr.FillRectangle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(br1, x, y, a, h); 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{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InitializeComponent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gr =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.CreateGraphics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}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136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DCFF5-15C8-4D42-B86A-797241A9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338" y="236483"/>
            <a:ext cx="10515600" cy="675399"/>
          </a:xfrm>
        </p:spPr>
        <p:txBody>
          <a:bodyPr>
            <a:noAutofit/>
          </a:bodyPr>
          <a:lstStyle/>
          <a:p>
            <a:pPr indent="252095" algn="ctr"/>
            <a:r>
              <a:rPr lang="ru-RU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Прозрачность</a:t>
            </a:r>
            <a:r>
              <a:rPr lang="en-US" sz="4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4800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0A6EF9-9F88-4199-A23D-A3799E8B5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5" y="1135117"/>
            <a:ext cx="11902966" cy="54864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одном из так называемых перегруженных вариантов метода </a:t>
            </a:r>
            <a:r>
              <a:rPr lang="ru-RU" b="1" dirty="0" err="1"/>
              <a:t>FromArgb</a:t>
            </a:r>
            <a:r>
              <a:rPr lang="ru-RU" dirty="0"/>
              <a:t> (то есть с четырьмя входными параметрами) первый параметр задает прозрачность объекта. Прозрачность задается от 0 до 255. Совсем прозрачный соответствует числу 255. Например: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b="1" dirty="0"/>
              <a:t>Color </a:t>
            </a:r>
            <a:r>
              <a:rPr lang="ru-RU" b="1" dirty="0" err="1"/>
              <a:t>col</a:t>
            </a:r>
            <a:r>
              <a:rPr lang="ru-RU" b="1" dirty="0"/>
              <a:t>;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ru-RU" b="1" dirty="0" err="1"/>
              <a:t>col</a:t>
            </a:r>
            <a:r>
              <a:rPr lang="ru-RU" b="1" dirty="0"/>
              <a:t> = </a:t>
            </a:r>
            <a:r>
              <a:rPr lang="ru-RU" b="1" dirty="0" err="1"/>
              <a:t>Color.FromArgb</a:t>
            </a:r>
            <a:r>
              <a:rPr lang="ru-RU" b="1" dirty="0"/>
              <a:t>(127, 23, 56, 78);</a:t>
            </a:r>
          </a:p>
          <a:p>
            <a:pPr marL="0" indent="0">
              <a:buNone/>
            </a:pPr>
            <a:r>
              <a:rPr lang="ru-RU" dirty="0"/>
              <a:t>В этом примере создается голубовато-серый цвет с примерно 50% прозрачностью.</a:t>
            </a:r>
          </a:p>
          <a:p>
            <a:pPr marL="0" indent="0">
              <a:buNone/>
            </a:pPr>
            <a:r>
              <a:rPr lang="ru-RU" dirty="0"/>
              <a:t>Можно создать также цвет с прозрачностью на основе цвета, имеющегося в структуре </a:t>
            </a:r>
            <a:r>
              <a:rPr lang="ru-RU" b="1" dirty="0"/>
              <a:t>Color</a:t>
            </a:r>
            <a:r>
              <a:rPr lang="ru-RU" dirty="0"/>
              <a:t>, например: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b="1" dirty="0"/>
              <a:t>Color </a:t>
            </a:r>
            <a:r>
              <a:rPr lang="ru-RU" b="1" dirty="0" err="1"/>
              <a:t>col</a:t>
            </a:r>
            <a:r>
              <a:rPr lang="ru-RU" b="1" dirty="0"/>
              <a:t>;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ru-RU" b="1" dirty="0" err="1"/>
              <a:t>col</a:t>
            </a:r>
            <a:r>
              <a:rPr lang="ru-RU" b="1" dirty="0"/>
              <a:t> = </a:t>
            </a:r>
            <a:r>
              <a:rPr lang="ru-RU" b="1" dirty="0" err="1"/>
              <a:t>Color.FromArgb</a:t>
            </a:r>
            <a:r>
              <a:rPr lang="ru-RU" b="1" dirty="0"/>
              <a:t>(128, </a:t>
            </a:r>
            <a:r>
              <a:rPr lang="ru-RU" b="1" dirty="0" err="1"/>
              <a:t>Color.Tomato</a:t>
            </a:r>
            <a:r>
              <a:rPr lang="ru-RU" b="1" dirty="0"/>
              <a:t>);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6440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8DF69-0DC2-48D0-B757-E00700B53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11910"/>
          </a:xfrm>
        </p:spPr>
        <p:txBody>
          <a:bodyPr>
            <a:normAutofit/>
          </a:bodyPr>
          <a:lstStyle/>
          <a:p>
            <a:pPr algn="ctr"/>
            <a:r>
              <a:rPr lang="ru-RU" sz="4800" b="1" i="1" dirty="0"/>
              <a:t>Задания.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322E49-D5D3-4762-AC51-6470A989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56" y="930166"/>
            <a:ext cx="11876690" cy="5782825"/>
          </a:xfrm>
        </p:spPr>
        <p:txBody>
          <a:bodyPr>
            <a:normAutofit lnSpcReduction="10000"/>
          </a:bodyPr>
          <a:lstStyle/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2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«Градиент с прозрачностью».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Измените пример 2. Нарисуйте ниже еще одну градиентную полосу, задавая в ней прозрачность.</a:t>
            </a: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3.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«Ряд разноцветных кружков».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Измените задачу «Ряд кружочков» так, чтобы все кружочки имели случайный цвет.</a:t>
            </a: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Задание 4. «Мыльные пузыри».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Напишите программу, рисующую случайное количество окружностей (не больше 20), в случайном месте, случайным радиусом (не больше 100) и случайным цветом (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r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,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g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,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b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).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5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«Воздушные шары».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Измените проект «Мыльные пузыри» так, чтобы окружности стали закрашенными, и шары не должны выходить за границы формы.</a:t>
            </a: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Задание 6. «Поле».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Нарисуйте сетку поля для различных игр, состоящее из 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незакрашенных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 клеточек размерностью 5 х 5 (как шахматная доска, но все клеточки одинаковые).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Задание 7. «Шахматная доска».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NewRomanPSMT"/>
                <a:cs typeface="Times New Roman" panose="02020603050405020304" pitchFamily="18" charset="0"/>
              </a:rPr>
              <a:t>Нарисуйте шахматную доску.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01771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1722</Words>
  <Application>Microsoft Office PowerPoint</Application>
  <PresentationFormat>Широкоэкранный</PresentationFormat>
  <Paragraphs>178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Cascadia Mono</vt:lpstr>
      <vt:lpstr>Times New Roman</vt:lpstr>
      <vt:lpstr>Тема Office</vt:lpstr>
      <vt:lpstr>ЗАНЯТИЕ 3  ЦВЕТОВАЯ МОДЕЛЬ RGB. СЛУЧАЙНЫЕ ЧИСЛА.  ЦИКЛ FOR СО СЧЕТЧИКОМ.  </vt:lpstr>
      <vt:lpstr>Случайное число. Класс Random.</vt:lpstr>
      <vt:lpstr>Некоторые методы класса Random</vt:lpstr>
      <vt:lpstr>Пример  «Случайный кружок». </vt:lpstr>
      <vt:lpstr>Пример  «Случайный кружок». </vt:lpstr>
      <vt:lpstr>Цикл со счетчиком for.</vt:lpstr>
      <vt:lpstr>Использование цвета. Цветовая модель RGB.</vt:lpstr>
      <vt:lpstr>Цветовая модель RGB.</vt:lpstr>
      <vt:lpstr>Создание цвета. Метод  Color.Argb</vt:lpstr>
      <vt:lpstr>Модель RGB в виде трехмерного куба.</vt:lpstr>
      <vt:lpstr>Задание цвета случайным образом </vt:lpstr>
      <vt:lpstr>Пример. Нарисуем длинную полоску, закрашенную градиентным образом от темно-зеленого до светло-зеленого.</vt:lpstr>
      <vt:lpstr>Пример.  Продолжение.</vt:lpstr>
      <vt:lpstr>Прозрачность.</vt:lpstr>
      <vt:lpstr>Задания.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Белякова</dc:creator>
  <cp:lastModifiedBy>Мария Белякова</cp:lastModifiedBy>
  <cp:revision>18</cp:revision>
  <dcterms:created xsi:type="dcterms:W3CDTF">2022-02-17T12:15:49Z</dcterms:created>
  <dcterms:modified xsi:type="dcterms:W3CDTF">2022-02-18T17:54:57Z</dcterms:modified>
</cp:coreProperties>
</file>