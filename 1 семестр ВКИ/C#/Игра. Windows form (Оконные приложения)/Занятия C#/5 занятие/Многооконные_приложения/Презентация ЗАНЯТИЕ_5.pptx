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7" r:id="rId10"/>
    <p:sldId id="268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301" r:id="rId26"/>
    <p:sldId id="281" r:id="rId27"/>
    <p:sldId id="282" r:id="rId28"/>
    <p:sldId id="283" r:id="rId29"/>
    <p:sldId id="284" r:id="rId30"/>
    <p:sldId id="285" r:id="rId31"/>
    <p:sldId id="287" r:id="rId32"/>
    <p:sldId id="286" r:id="rId33"/>
    <p:sldId id="288" r:id="rId34"/>
    <p:sldId id="289" r:id="rId35"/>
    <p:sldId id="300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2" r:id="rId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51" d="100"/>
          <a:sy n="51" d="100"/>
        </p:scale>
        <p:origin x="38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BCBB5-119D-4519-ACC9-BB309BE2D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05C6C3-3B30-48B3-93E0-A05A6EA0D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C0352E-C52A-4DC1-B5C0-B87A473E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85FF7-9C4E-42F5-BFA2-DBA9D8A6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DC9543-8A8B-4D04-B4FE-5E556862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6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EDAC0F-0328-496E-A747-B63D6645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CB8D51-7DA1-4B1A-BA80-E97FAF9F9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D01CC8-042F-4E4E-AA4A-F516D068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B62C7A-1224-4186-882A-349B84FF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E5FDEB-DEC4-4843-BCB5-1E5BEBA9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2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8727B-EBF9-4E60-AB40-B75DC130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FD1FA5-968E-45BB-B59C-28FC17C0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216CD0-5F78-4E23-BE92-2D8DC3C7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428672-74E7-49D8-BAE8-6D6AD4EE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EA44DB-9C10-441F-A7C5-21000DB8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62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892AD-D0C0-4EE4-A496-D15AF708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F1C720-9162-4EA1-8403-CC446DF84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37817F-F3B4-4A1D-A30B-D639ACF63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690640-1F41-4D04-AADC-06B0333E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41B2F0-0E82-4025-ABB8-CD5DCA15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C56416-8B53-453C-B984-C3122934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57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52B91-D405-47D9-91CC-368281CF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3175C8-F981-48AA-B93A-5E159EE7A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636225-B5F2-4625-8DB7-FC56A003B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0B7FC6-3FE7-4420-8742-98C98CB9C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48F22C-3B49-4F46-8E3C-921D73C0B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CC4497-F8EC-4886-A0F7-74F99C14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7BF7D5A-F89A-44FC-A492-6EC57A5E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52D12F-AB5A-4E04-8772-9530F40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4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013C6-D659-42B6-8272-21A31D98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F72FE07-E794-4391-88AB-672C7A9C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2D0261-6EC7-47FE-8BCC-C14721C8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A1B85B-EB1E-4F2F-AAE4-F41716D5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56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6C1E95-1A70-4E78-9227-F4AF9568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8895F4-3359-4728-8B9D-3B5AB715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3001AF-8FFC-45CC-BFAB-E4D329E9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38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2CB957-02D9-45BB-8AD9-07C17DDD8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674193-2181-4F5D-BA69-290DE5741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1F5FB2-2F48-4195-AD7B-390AB0848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1C6EFB-63DC-40E1-BA06-F5C76735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BDBAB6-469C-49F5-A5F2-8EE92E4B1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4986D0-6B18-4411-B23D-E280529A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76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1FFE0-8D9D-4D85-A4A2-6061F832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9AD8A3D-B4D1-424E-B5F2-8387C5A60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44CE13-E267-45D6-B537-40B4B708F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D0249C-D85C-44BF-B1DA-F910F19A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BD79C6-7B5B-43E0-8CA4-E62F4EE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FAFBDF-3261-4534-B144-F12AC332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39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B2046-05B4-4669-B85D-FBCB0308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91A1A1-72D7-4B2D-98B9-7E005B02D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860E57-33F9-450D-B0D6-1601F97D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085709-85DE-439B-A32A-CC8EF3CE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A3980-A92F-45ED-9F3D-AFD0238F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85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EFCB04-E6CC-42FF-A5C2-189D33CEB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4691C7-4835-48C0-AD32-B8D47671E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967A1B-0A7B-4EC9-92B5-A67D54BB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13F4EF-9CDC-4D2F-ACB4-74A3CE8E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A64410-1698-4E6A-87D7-D48BB9C5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82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CA15C-D18B-4D52-B29A-CCE1701E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764AD9-25F3-471A-97C0-61E836F81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83462-A60E-467C-ABDA-91B3157F0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7871D-BCCC-4579-8DEC-9D7DAB38BCC9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17704F-5CC7-4C34-96E8-B5B7EC74D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3A5827-DEDC-4B5B-A1B3-86AA56DE5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58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58098-7601-497B-A4F4-DE66E7736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282" y="1304144"/>
            <a:ext cx="11527436" cy="2773180"/>
          </a:xfrm>
        </p:spPr>
        <p:txBody>
          <a:bodyPr>
            <a:noAutofit/>
          </a:bodyPr>
          <a:lstStyle/>
          <a:p>
            <a:pPr lvl="0">
              <a:spcBef>
                <a:spcPts val="1000"/>
              </a:spcBef>
              <a:defRPr/>
            </a:pPr>
            <a:b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приложения.</a:t>
            </a:r>
            <a:b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Компоненты формы.</a:t>
            </a:r>
            <a:endParaRPr lang="ru-RU" sz="8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00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7F95F-98D5-48CA-8421-29A7A4A6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2" y="18255"/>
            <a:ext cx="11857220" cy="1195948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Многооконные приложения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633B4-5C30-4183-91B0-E5BDDC3D1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90" y="1349115"/>
            <a:ext cx="11857220" cy="5231567"/>
          </a:xfrm>
        </p:spPr>
        <p:txBody>
          <a:bodyPr/>
          <a:lstStyle/>
          <a:p>
            <a:pPr indent="0" algn="just"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 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приложения, как правило, состоят из нескольких взаимодействующих между собой окон. В этом разделе мы познакомимся с техникой создания многооконных приложений в 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 Forms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indent="0" algn="just">
              <a:buNone/>
            </a:pPr>
            <a:endParaRPr lang="ru-RU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того, чтобы добавить в проект форму, нужно войти в меню Проект и выбрать пункт Добавить форму. В выпадающем списке выбрать пункт Форма. После этого в проекте появляется новая форма.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389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CAECB-DF1B-42B2-A94D-92645DED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031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Многооконные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0EADA6-0BAE-4DA9-B1B0-1D6884F7B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9091"/>
            <a:ext cx="12191999" cy="6120655"/>
          </a:xfrm>
        </p:spPr>
        <p:txBody>
          <a:bodyPr>
            <a:normAutofit/>
          </a:bodyPr>
          <a:lstStyle/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Предположим, теперь у нас две формы. Но пока они никак не взаимодействуют и ничего друг про друга не знают. Объявим в коде первой формы вторую форму и дадим ей имя:</a:t>
            </a: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 frm2;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//Объявляем Form2 и даем ей имя frm2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</a:p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Так же поступаем со второй формой:</a:t>
            </a: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3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 frm1;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//Объявляем Form1 и даем ей имя frm1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204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EC20D-E3AE-4965-AB86-7F01E9D8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2" y="0"/>
            <a:ext cx="11872210" cy="61459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Многооконные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1B1668-4D77-419D-BD0E-498FAA6C2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4597"/>
            <a:ext cx="4207240" cy="6243403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Положим на обе формы кнопку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button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) и метку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label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). </a:t>
            </a:r>
          </a:p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По нашему замыслу мы нажатием кнопки в первой форме будем менять текст в метке второй формы и наоборот. Чтобы это стало возможным, мы должны у обеих меток установить свойство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Modifiers public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(по умолчанию –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private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).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Дальнейшие действия представлены в обработчиках кнопок первой и второй формы и комментариях к ним.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050D0-F563-4B49-B5F2-ACC7024E0F21}"/>
              </a:ext>
            </a:extLst>
          </p:cNvPr>
          <p:cNvSpPr txBox="1"/>
          <p:nvPr/>
        </p:nvSpPr>
        <p:spPr>
          <a:xfrm>
            <a:off x="4377128" y="563123"/>
            <a:ext cx="7814872" cy="37394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//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Первая форма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:  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frm2 = 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Form2();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форму2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frm2.frm1 = 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//Передаем форме2 указатель на форму1</a:t>
            </a:r>
          </a:p>
          <a:p>
            <a:pPr marR="0" lvl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frm2.BackColor = 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Color.Cyan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//Меняем цвет формы2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frm2.Show();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//Показываем форму2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frm2.label1.Text =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"Привет"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//Меняем текст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.Hide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форму1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1593A-13D8-4E6E-9778-E74FBC556809}"/>
              </a:ext>
            </a:extLst>
          </p:cNvPr>
          <p:cNvSpPr txBox="1"/>
          <p:nvPr/>
        </p:nvSpPr>
        <p:spPr>
          <a:xfrm>
            <a:off x="4377128" y="4251133"/>
            <a:ext cx="7814872" cy="26068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//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Вторая форма: 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  frm1 = new Form1();      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frm1.label1.Text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Ответ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.Hide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Прячем форму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frm1.Show();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Показывем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форму1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403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64D0E-5020-491A-8C91-0785ACAB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06204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Многооконные приложения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291283-8044-4826-875D-5873D1571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54492"/>
            <a:ext cx="12192000" cy="132941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Важно: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в определении функций и переменных, к которым мы хотим получить доступ, должен присутствовать модификатор доступа </a:t>
            </a:r>
            <a:r>
              <a:rPr kumimoji="0" lang="ru-RU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public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а для элементов управления свойство </a:t>
            </a:r>
            <a:r>
              <a:rPr kumimoji="0" lang="ru-RU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Modifiers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должно быть установлено в 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Public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09CA3-B056-4FC2-8748-25BD83C9D9F9}"/>
              </a:ext>
            </a:extLst>
          </p:cNvPr>
          <p:cNvSpPr txBox="1"/>
          <p:nvPr/>
        </p:nvSpPr>
        <p:spPr>
          <a:xfrm>
            <a:off x="0" y="824460"/>
            <a:ext cx="12007121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 рисунке показаны первая форма, вторая форма и первая форма после взаимодействия со второй.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74D8B8-445B-47BB-B0C2-F0D79EF4EA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2659" y="1936570"/>
            <a:ext cx="2422983" cy="31750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E0212B-D174-43ED-81F6-21CA139F064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01980" y="1936570"/>
            <a:ext cx="2773181" cy="31600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B32A513-6DDE-4710-B7E5-00C1FD8158C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504267" y="1936570"/>
            <a:ext cx="2305850" cy="316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25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0368E-2610-43F3-A161-F1E76FFD4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54" y="18255"/>
            <a:ext cx="10515600" cy="107602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Контейнеры в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Windows Forms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b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Контейнер </a:t>
            </a:r>
            <a:r>
              <a:rPr kumimoji="0" lang="ru-RU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GroupBox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BD734BB-38D8-4D22-9B4D-BD8830988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92" y="1094283"/>
            <a:ext cx="11887200" cy="2334718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Назначение контейнера понятно из его названия – хранение и группировка компонентов формы.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GroupBox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представляет собой специальный контейнер, который ограничен от остальной формы границей. </a:t>
            </a: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 имеет заголовок, который устанавливается через свойство </a:t>
            </a: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kumimoji="0" lang="en-US" alt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Нередко этот элемент используется для группирования переключателей - элементов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RadioButton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так как позволяет разграничить их группы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D5858E2-2F85-40E2-A678-D921B7E3C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833411"/>
              </p:ext>
            </p:extLst>
          </p:nvPr>
        </p:nvGraphicFramePr>
        <p:xfrm>
          <a:off x="359764" y="3211264"/>
          <a:ext cx="11667344" cy="36729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3279">
                  <a:extLst>
                    <a:ext uri="{9D8B030D-6E8A-4147-A177-3AD203B41FA5}">
                      <a16:colId xmlns:a16="http://schemas.microsoft.com/office/drawing/2014/main" val="4119720125"/>
                    </a:ext>
                  </a:extLst>
                </a:gridCol>
                <a:gridCol w="9044065">
                  <a:extLst>
                    <a:ext uri="{9D8B030D-6E8A-4147-A177-3AD203B41FA5}">
                      <a16:colId xmlns:a16="http://schemas.microsoft.com/office/drawing/2014/main" val="1878040660"/>
                    </a:ext>
                  </a:extLst>
                </a:gridCol>
              </a:tblGrid>
              <a:tr h="528707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4776271"/>
                  </a:ext>
                </a:extLst>
              </a:tr>
              <a:tr h="7810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 — текст, поясняющий назначение компонентов, которые находятся в поле компонента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GroupBox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2064300"/>
                  </a:ext>
                </a:extLst>
              </a:tr>
              <a:tr h="120081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Enabled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Позволяет управлять доступом к компонентам, находящимся в поле (на поверхности) компонента </a:t>
                      </a:r>
                      <a:r>
                        <a:rPr lang="ru-RU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GroupBox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Если значение свойства равно </a:t>
                      </a:r>
                      <a:r>
                        <a:rPr lang="ru-RU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то все находящиеся в поле </a:t>
                      </a:r>
                      <a:r>
                        <a:rPr lang="ru-RU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GroupBox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компоненты недоступны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99312"/>
                  </a:ext>
                </a:extLst>
              </a:tr>
              <a:tr h="9001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Visible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Позволяет скрыть (сделать невидимым) компонент </a:t>
                      </a:r>
                      <a:r>
                        <a:rPr lang="ru-RU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GroupBox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все компоненты, которые находятся на его поверхности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2360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9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1A57D-FC7D-49FF-BFFC-B3CF020B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5"/>
            <a:ext cx="12192000" cy="109101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Контейнеры в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Windows Forms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Контейнер </a:t>
            </a:r>
            <a:r>
              <a:rPr lang="en-US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endParaRPr lang="ru-RU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0BE1A5-1700-407C-9386-BBE751442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1109272"/>
            <a:ext cx="11917181" cy="1933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Panel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представляет собой контейнер для других компонентов и позволяет легко управлять компонентами, которые находятся на панели. Свойства компонента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Panel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приведены в таблице: </a:t>
            </a:r>
            <a:endParaRPr lang="ru-RU" dirty="0"/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435F96ED-5361-40ED-B5C6-D3A271C97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35705"/>
              </p:ext>
            </p:extLst>
          </p:nvPr>
        </p:nvGraphicFramePr>
        <p:xfrm>
          <a:off x="154898" y="2548328"/>
          <a:ext cx="11882203" cy="420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469">
                  <a:extLst>
                    <a:ext uri="{9D8B030D-6E8A-4147-A177-3AD203B41FA5}">
                      <a16:colId xmlns:a16="http://schemas.microsoft.com/office/drawing/2014/main" val="4272266264"/>
                    </a:ext>
                  </a:extLst>
                </a:gridCol>
                <a:gridCol w="9548734">
                  <a:extLst>
                    <a:ext uri="{9D8B030D-6E8A-4147-A177-3AD203B41FA5}">
                      <a16:colId xmlns:a16="http://schemas.microsoft.com/office/drawing/2014/main" val="3418701746"/>
                    </a:ext>
                  </a:extLst>
                </a:gridCol>
              </a:tblGrid>
              <a:tr h="44924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77553"/>
                  </a:ext>
                </a:extLst>
              </a:tr>
              <a:tr h="1326059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Определяет границу формы, к которой привязана (прикреплена) панель. Панель может быть прикреплена к левой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правой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верхней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(Top)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или нижней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Bottom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границе формы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635822"/>
                  </a:ext>
                </a:extLst>
              </a:tr>
              <a:tr h="91804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BorderStyle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Вид границы панели: 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FixedSingle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— рамка;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Fixed3D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— объемная граница; 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— граница не отображается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043078"/>
                  </a:ext>
                </a:extLst>
              </a:tr>
              <a:tr h="91804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Enabled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Свойство позволяет сделать недоступными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все компоненты, которые находятся на панели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199827"/>
                  </a:ext>
                </a:extLst>
              </a:tr>
              <a:tr h="58144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Visible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Позволяет скрыть 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панель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30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23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2142E3-85B4-4981-9E56-45EF88E2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06204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Переключатель </a:t>
            </a:r>
            <a:r>
              <a:rPr kumimoji="0" lang="en-US" sz="48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8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heck</a:t>
            </a:r>
            <a:r>
              <a:rPr kumimoji="0" lang="en-US" sz="48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7A98B6-DB89-47B6-A040-036EC17EE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2" y="1123358"/>
            <a:ext cx="7210268" cy="556134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Переключатели в некотором смысле являются визуальными аналогами операторов </a:t>
            </a:r>
            <a:r>
              <a:rPr lang="ru-RU" b="1" dirty="0" err="1"/>
              <a:t>if</a:t>
            </a:r>
            <a:r>
              <a:rPr lang="ru-RU" dirty="0"/>
              <a:t> и </a:t>
            </a:r>
            <a:r>
              <a:rPr lang="ru-RU" b="1" dirty="0" err="1"/>
              <a:t>switch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Компонент </a:t>
            </a:r>
            <a:r>
              <a:rPr lang="ru-RU" b="1" dirty="0" err="1"/>
              <a:t>CheckBox</a:t>
            </a:r>
            <a:r>
              <a:rPr lang="ru-RU" dirty="0"/>
              <a:t> представляет собой переключатель, который может находиться в одном из двух состояний: выбранном или невыбранном. </a:t>
            </a:r>
          </a:p>
          <a:p>
            <a:pPr marL="0" indent="0">
              <a:buNone/>
            </a:pPr>
            <a:r>
              <a:rPr lang="ru-RU" i="1" u="sng" dirty="0"/>
              <a:t>Приведем пример. </a:t>
            </a:r>
            <a:r>
              <a:rPr lang="ru-RU" dirty="0"/>
              <a:t>В представленном на рисунке окне вы видите два переключателя, один из которых выбран. Кнопка меняет выбор переключателя и отображает текст выбранного переключателя в </a:t>
            </a:r>
            <a:r>
              <a:rPr lang="ru-RU" b="1" dirty="0"/>
              <a:t>Label</a:t>
            </a:r>
            <a:r>
              <a:rPr lang="ru-RU" dirty="0"/>
              <a:t>. Флажки помещены в контейнер </a:t>
            </a:r>
            <a:r>
              <a:rPr lang="ru-RU" b="1" dirty="0" err="1"/>
              <a:t>GroupBox</a:t>
            </a:r>
            <a:r>
              <a:rPr lang="ru-RU" b="1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14A5B2-F576-4928-AAD4-9745124D12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99817" y="1272806"/>
            <a:ext cx="3762531" cy="526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2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5EE63-6093-4EB3-A6DC-9821B226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67082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Свойства компонента </a:t>
            </a:r>
            <a:r>
              <a:rPr lang="en-US" sz="4800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CheckBox</a:t>
            </a:r>
            <a:r>
              <a:rPr lang="ru-RU" sz="48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4800" b="1" i="1" dirty="0">
              <a:solidFill>
                <a:srgbClr val="C00000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0E13623-E0E6-485E-8A78-435E7BA53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407504"/>
              </p:ext>
            </p:extLst>
          </p:nvPr>
        </p:nvGraphicFramePr>
        <p:xfrm>
          <a:off x="0" y="681038"/>
          <a:ext cx="12187002" cy="4745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8820">
                  <a:extLst>
                    <a:ext uri="{9D8B030D-6E8A-4147-A177-3AD203B41FA5}">
                      <a16:colId xmlns:a16="http://schemas.microsoft.com/office/drawing/2014/main" val="1966767539"/>
                    </a:ext>
                  </a:extLst>
                </a:gridCol>
                <a:gridCol w="10388182">
                  <a:extLst>
                    <a:ext uri="{9D8B030D-6E8A-4147-A177-3AD203B41FA5}">
                      <a16:colId xmlns:a16="http://schemas.microsoft.com/office/drawing/2014/main" val="3994681166"/>
                    </a:ext>
                  </a:extLst>
                </a:gridCol>
              </a:tblGrid>
              <a:tr h="49527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7490796"/>
                  </a:ext>
                </a:extLst>
              </a:tr>
              <a:tr h="42724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Текст, отображаемый справа от кнопки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5913765"/>
                  </a:ext>
                </a:extLst>
              </a:tr>
              <a:tr h="106297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Состояние переключателя. Если переключатель выбран (в поле компонента отображается галочка), то значение свойства равно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Если переключатель сброшен (галочка не отображается), то значение свойства равно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585869"/>
                  </a:ext>
                </a:extLst>
              </a:tr>
              <a:tr h="134267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TextAllign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Положение текста в поле отображения текста. Текст может располагаться в центре поля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MiddleCenter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быть прижат к левой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MiddleLeft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или правой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MiddleRight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границе. Можно задать и другие способы размещения текста надписи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TopLeft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TopCenter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TopRight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BottomLeft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BottomCenter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BottomRight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165137"/>
                  </a:ext>
                </a:extLst>
              </a:tr>
              <a:tr h="141723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CheckAllign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Положение кнопки в поле компонента. Кнопка может быть прижата к левой верхней границе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TopLeft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прижата к левой границе и находиться на равном расстоянии от верхней и нижней границ поля компонента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MiddleLeft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и другие варианты размещения кнопки в поле компонента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9108719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824AD70-9629-4010-9AC5-665A9C2F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774619"/>
              </p:ext>
            </p:extLst>
          </p:nvPr>
        </p:nvGraphicFramePr>
        <p:xfrm>
          <a:off x="1" y="5426439"/>
          <a:ext cx="12187002" cy="14111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3809">
                  <a:extLst>
                    <a:ext uri="{9D8B030D-6E8A-4147-A177-3AD203B41FA5}">
                      <a16:colId xmlns:a16="http://schemas.microsoft.com/office/drawing/2014/main" val="3186967419"/>
                    </a:ext>
                  </a:extLst>
                </a:gridCol>
                <a:gridCol w="10373193">
                  <a:extLst>
                    <a:ext uri="{9D8B030D-6E8A-4147-A177-3AD203B41FA5}">
                      <a16:colId xmlns:a16="http://schemas.microsoft.com/office/drawing/2014/main" val="480037831"/>
                    </a:ext>
                  </a:extLst>
                </a:gridCol>
              </a:tblGrid>
              <a:tr h="70453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Enabled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Управляет доступностью компонента. Позволяет сделать переключатель недоступным </a:t>
                      </a: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194759"/>
                  </a:ext>
                </a:extLst>
              </a:tr>
              <a:tr h="70665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Visible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Управляет видимостью компонента. Позволяет скрыть, сделать невидимым 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переключатель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90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090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513FE-2AB8-4064-BEDB-51013907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404734"/>
          </a:xfrm>
        </p:spPr>
        <p:txBody>
          <a:bodyPr>
            <a:normAutofit fontScale="90000"/>
          </a:bodyPr>
          <a:lstStyle/>
          <a:p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Свойства компонента </a:t>
            </a:r>
            <a:r>
              <a:rPr lang="en-US" sz="4400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CheckBox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Продолжение.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A20FE33-A198-4143-93CC-CBC887FE7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987265"/>
              </p:ext>
            </p:extLst>
          </p:nvPr>
        </p:nvGraphicFramePr>
        <p:xfrm>
          <a:off x="1" y="568072"/>
          <a:ext cx="12191999" cy="6289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8937">
                  <a:extLst>
                    <a:ext uri="{9D8B030D-6E8A-4147-A177-3AD203B41FA5}">
                      <a16:colId xmlns:a16="http://schemas.microsoft.com/office/drawing/2014/main" val="1005368829"/>
                    </a:ext>
                  </a:extLst>
                </a:gridCol>
                <a:gridCol w="10573062">
                  <a:extLst>
                    <a:ext uri="{9D8B030D-6E8A-4147-A177-3AD203B41FA5}">
                      <a16:colId xmlns:a16="http://schemas.microsoft.com/office/drawing/2014/main" val="1938650852"/>
                    </a:ext>
                  </a:extLst>
                </a:gridCol>
              </a:tblGrid>
              <a:tr h="37475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Свойство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Значение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:a16="http://schemas.microsoft.com/office/drawing/2014/main" val="4288792512"/>
                  </a:ext>
                </a:extLst>
              </a:tr>
              <a:tr h="67066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AutoCheck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Определяет, должно ли автоматически изменяться состояние переключателя в результате щелчка на его изображении. По умолчанию значение равно </a:t>
                      </a:r>
                      <a:r>
                        <a:rPr lang="ru-RU" sz="2000" b="1" dirty="0" err="1">
                          <a:effectLst/>
                        </a:rPr>
                        <a:t>true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:a16="http://schemas.microsoft.com/office/drawing/2014/main" val="866505793"/>
                  </a:ext>
                </a:extLst>
              </a:tr>
              <a:tr h="83833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FlatStyle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Стиль (вид) переключателя. Переключатель может быть обычным </a:t>
                      </a:r>
                      <a:r>
                        <a:rPr lang="ru-RU" sz="2000" b="1" dirty="0">
                          <a:effectLst/>
                        </a:rPr>
                        <a:t>(Standard), </a:t>
                      </a:r>
                      <a:r>
                        <a:rPr lang="ru-RU" sz="2000" dirty="0">
                          <a:effectLst/>
                        </a:rPr>
                        <a:t>плоским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Flat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или "всплывающим"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Popup</a:t>
                      </a:r>
                      <a:r>
                        <a:rPr lang="ru-RU" sz="2000" b="1" dirty="0">
                          <a:effectLst/>
                        </a:rPr>
                        <a:t>). </a:t>
                      </a:r>
                      <a:r>
                        <a:rPr lang="ru-RU" sz="2000" dirty="0">
                          <a:effectLst/>
                        </a:rPr>
                        <a:t>Стиль определяет поведение переключателя при позиционировании указателя мыши на его изображении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:a16="http://schemas.microsoft.com/office/drawing/2014/main" val="4151692476"/>
                  </a:ext>
                </a:extLst>
              </a:tr>
              <a:tr h="50300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Appearance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Определяет вид переключателя. Переключатель может выглядеть обычным образом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Normal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или как кнопка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Button</a:t>
                      </a:r>
                      <a:r>
                        <a:rPr lang="ru-RU" sz="2000" b="1" dirty="0">
                          <a:effectLst/>
                        </a:rPr>
                        <a:t>)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:a16="http://schemas.microsoft.com/office/drawing/2014/main" val="3789331647"/>
                  </a:ext>
                </a:extLst>
              </a:tr>
              <a:tr h="866103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Image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Картинка, которая отображается в поле компонента Положение картинки в поле компонента. Картинка может располагаться в центре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MiddleCenter</a:t>
                      </a:r>
                      <a:r>
                        <a:rPr lang="ru-RU" sz="2000" b="1" dirty="0">
                          <a:effectLst/>
                        </a:rPr>
                        <a:t>), </a:t>
                      </a:r>
                      <a:r>
                        <a:rPr lang="ru-RU" sz="2000" dirty="0">
                          <a:effectLst/>
                        </a:rPr>
                        <a:t>быть прижата к левой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MiddleLeft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или правой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MiddleRight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границе. Можно задать и другие способы размещения картинки на кнопке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TopLeft</a:t>
                      </a:r>
                      <a:r>
                        <a:rPr lang="ru-RU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TopCenter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TopRight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BottomLeft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BottomCenter</a:t>
                      </a:r>
                      <a:r>
                        <a:rPr lang="en-US" sz="2000" b="1" dirty="0">
                          <a:effectLst/>
                        </a:rPr>
                        <a:t>,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en-US" sz="2000" b="1" dirty="0" err="1">
                          <a:effectLst/>
                        </a:rPr>
                        <a:t>BottomRight</a:t>
                      </a:r>
                      <a:r>
                        <a:rPr lang="en-US" sz="2000" b="1" dirty="0">
                          <a:effectLst/>
                        </a:rPr>
                        <a:t>)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:a16="http://schemas.microsoft.com/office/drawing/2014/main" val="1060076213"/>
                  </a:ext>
                </a:extLst>
              </a:tr>
              <a:tr h="125157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ImageAlign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Положение картинки в поле компонента. Картинка может располагаться в центре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MiddleCenter</a:t>
                      </a:r>
                      <a:r>
                        <a:rPr lang="ru-RU" sz="2000" b="1" dirty="0">
                          <a:effectLst/>
                        </a:rPr>
                        <a:t>), </a:t>
                      </a:r>
                      <a:r>
                        <a:rPr lang="ru-RU" sz="2000" dirty="0">
                          <a:effectLst/>
                        </a:rPr>
                        <a:t>быть прижата к левой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MiddleLeft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или правой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MiddleRight</a:t>
                      </a:r>
                      <a:r>
                        <a:rPr lang="ru-RU" sz="2000" b="1" dirty="0">
                          <a:effectLst/>
                        </a:rPr>
                        <a:t>) </a:t>
                      </a:r>
                      <a:r>
                        <a:rPr lang="ru-RU" sz="2000" dirty="0">
                          <a:effectLst/>
                        </a:rPr>
                        <a:t>границе. Можно задать и другие способы размещения картинки на кнопке </a:t>
                      </a:r>
                      <a:r>
                        <a:rPr lang="ru-RU" sz="2000" b="1" dirty="0">
                          <a:effectLst/>
                        </a:rPr>
                        <a:t>(</a:t>
                      </a:r>
                      <a:r>
                        <a:rPr lang="ru-RU" sz="2000" b="1" dirty="0" err="1">
                          <a:effectLst/>
                        </a:rPr>
                        <a:t>TopLeft</a:t>
                      </a:r>
                      <a:r>
                        <a:rPr lang="ru-RU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TopCenter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TopRight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BottomLeft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BottomCenter</a:t>
                      </a:r>
                      <a:r>
                        <a:rPr lang="en-US" sz="2000" b="1" dirty="0">
                          <a:effectLst/>
                        </a:rPr>
                        <a:t>,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en-US" sz="2000" b="1" dirty="0" err="1">
                          <a:effectLst/>
                        </a:rPr>
                        <a:t>BottomRight</a:t>
                      </a:r>
                      <a:r>
                        <a:rPr lang="en-US" sz="2000" b="1" dirty="0">
                          <a:effectLst/>
                        </a:rPr>
                        <a:t>) 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:a16="http://schemas.microsoft.com/office/drawing/2014/main" val="899295631"/>
                  </a:ext>
                </a:extLst>
              </a:tr>
              <a:tr h="83833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ImageList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Набор картинок, используемых для обозначения различных состояний кнопки. Представляет собой объект типа </a:t>
                      </a:r>
                      <a:r>
                        <a:rPr lang="ru-RU" sz="2000" b="1" dirty="0" err="1">
                          <a:effectLst/>
                        </a:rPr>
                        <a:t>ImageList</a:t>
                      </a:r>
                      <a:r>
                        <a:rPr lang="ru-RU" sz="2000" dirty="0">
                          <a:effectLst/>
                        </a:rPr>
                        <a:t>. Чтобы задать значение свойства, в форму приложения следует добавить компонент </a:t>
                      </a:r>
                      <a:r>
                        <a:rPr lang="ru-RU" sz="2000" b="1" dirty="0" err="1">
                          <a:effectLst/>
                        </a:rPr>
                        <a:t>ImageList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:a16="http://schemas.microsoft.com/office/drawing/2014/main" val="3240083129"/>
                  </a:ext>
                </a:extLst>
              </a:tr>
              <a:tr h="33533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ImageIndex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Номер (индекс) картинки из набора </a:t>
                      </a:r>
                      <a:r>
                        <a:rPr lang="ru-RU" sz="2000" dirty="0" err="1">
                          <a:effectLst/>
                        </a:rPr>
                        <a:t>ImageList</a:t>
                      </a:r>
                      <a:r>
                        <a:rPr lang="ru-RU" sz="2000" dirty="0">
                          <a:effectLst/>
                        </a:rPr>
                        <a:t>, которая отображается в поле компонента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1995" marR="31995" marT="0" marB="0"/>
                </a:tc>
                <a:extLst>
                  <a:ext uri="{0D108BD9-81ED-4DB2-BD59-A6C34878D82A}">
                    <a16:rowId xmlns:a16="http://schemas.microsoft.com/office/drawing/2014/main" val="2423406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045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30262-D698-4D44-8A15-E65A05B2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724" y="18256"/>
            <a:ext cx="8995348" cy="776223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Переключатель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heck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4BD34C-A884-4FEC-A523-731C1B681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434715"/>
            <a:ext cx="11947161" cy="64050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(checkBox1.Checked)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label1.Text = checkBox1.Text;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checkBox1.Checked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checkBox2.Checked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label1.Text = checkBox2.Text;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checkBox2.Checked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checkBox1.Checked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4253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09CA2-7CC1-4F2A-B9B1-ABA727116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4438"/>
          </a:xfrm>
        </p:spPr>
        <p:txBody>
          <a:bodyPr>
            <a:normAutofit/>
          </a:bodyPr>
          <a:lstStyle/>
          <a:p>
            <a:pPr algn="ctr"/>
            <a:r>
              <a:rPr lang="ru-RU" sz="48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Переключатель </a:t>
            </a:r>
            <a:r>
              <a:rPr lang="en-US" sz="4800" b="1" i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RadioButton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A0907C-3335-4441-8E10-159520FB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2" y="854438"/>
            <a:ext cx="7884826" cy="5876145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Радиокнопка это зависимый переключатель, это означает, что из нескольких радиокнопок во включенном состоянии может находиться только одна кнопка.  Радиокнопки, помещенные в контейнер работают, как группа зависимых переключателей, т.е. во включенном состоянии может находиться только одна кнопка. Контейнером для радиокнопок может служить форма, элементы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GroupBox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Panel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Основные свойства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RadioButton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идентичны свойствам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CheckBox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и вы можете видеть их в табл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ице свойств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CheckBox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рисунке представлена форма с тремя переключателями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RadioButton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зависимости от их выбора, кнопка переключает цвет метки.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0FA6BF-3DF2-42D1-88F4-DA740EB9E9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62058" y="1106633"/>
            <a:ext cx="3310152" cy="56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85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D1F0D-40C0-4D01-AE0A-49412212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Переключатель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RadioButton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0FA5A0-C21E-49BF-8BC8-C00E22866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839449"/>
            <a:ext cx="11962151" cy="587614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</a:t>
            </a:r>
            <a:r>
              <a:rPr lang="ru-RU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(radioButton1.Checked) label1.BackColor =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(radioButton2.Checked) label1.BackColor =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Color.Blue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(radioButton3.Checked) label1.BackColor =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89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FC4A1-2451-4ABA-986E-F7BEE15C2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65" y="18256"/>
            <a:ext cx="11782269" cy="1106006"/>
          </a:xfrm>
        </p:spPr>
        <p:txBody>
          <a:bodyPr>
            <a:normAutofit/>
          </a:bodyPr>
          <a:lstStyle/>
          <a:p>
            <a:pPr algn="ctr"/>
            <a:r>
              <a:rPr lang="ru-RU" sz="48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Окно сообщений </a:t>
            </a:r>
            <a:r>
              <a:rPr lang="en-US" sz="4800" b="1" i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102255-67BC-475D-8593-38D2A087C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4262"/>
            <a:ext cx="11987134" cy="5715482"/>
          </a:xfrm>
        </p:spPr>
        <p:txBody>
          <a:bodyPr>
            <a:normAutofit/>
          </a:bodyPr>
          <a:lstStyle/>
          <a:p>
            <a:pPr indent="0" algn="just">
              <a:lnSpc>
                <a:spcPct val="100000"/>
              </a:lnSpc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правило, для вывода сообщений применяется элемент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Однако кроме вывода строки сообщения данный элемент может устанавливать ряд настроек, которые определяют его поведение. Для вывода сообщения в классе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предусмотрен метод Show, который имеет различные версии и может принимать ряд параметров. Упрощенный синтаксис этого метода приведен ниже: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(&lt;текст в окне&gt;[,&lt;заголовок окна&gt;,&lt;набор кнопок&gt;,&lt;иконка&gt;,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&lt;выбранная по умолчанию  кнопка &gt;])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lnSpc>
                <a:spcPct val="110000"/>
              </a:lnSpc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более подробно параметры метода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Все параметры, кроме первого, являются необязательными. Первый и второй параметры метода строкового типа. Остальные параметры с помощью набора констант задают кнопки, иконки в окне и кнопку по умолчанию. 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325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A58F6-8A4D-49C9-AE00-8CA98F84A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926125"/>
          </a:xfrm>
        </p:spPr>
        <p:txBody>
          <a:bodyPr/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Окно сообщений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MessageBox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0A57E9-30BA-4EBB-8577-F3EBDBA58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9488"/>
            <a:ext cx="12192000" cy="1124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MessageBoxButtons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задает набор кнопок в окне. </a:t>
            </a:r>
          </a:p>
          <a:p>
            <a:pPr marL="0" indent="0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Набор констант типа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MessageBoxButtons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приведен в таблице:</a:t>
            </a:r>
            <a:endParaRPr lang="ru-RU" sz="32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1FB0D1E-B26A-4B9A-B5A3-04F5AD55E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482332"/>
              </p:ext>
            </p:extLst>
          </p:nvPr>
        </p:nvGraphicFramePr>
        <p:xfrm>
          <a:off x="549639" y="2023672"/>
          <a:ext cx="11092721" cy="46469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1155">
                  <a:extLst>
                    <a:ext uri="{9D8B030D-6E8A-4147-A177-3AD203B41FA5}">
                      <a16:colId xmlns:a16="http://schemas.microsoft.com/office/drawing/2014/main" val="2307910496"/>
                    </a:ext>
                  </a:extLst>
                </a:gridCol>
                <a:gridCol w="7851566">
                  <a:extLst>
                    <a:ext uri="{9D8B030D-6E8A-4147-A177-3AD203B41FA5}">
                      <a16:colId xmlns:a16="http://schemas.microsoft.com/office/drawing/2014/main" val="3204635593"/>
                    </a:ext>
                  </a:extLst>
                </a:gridCol>
              </a:tblGrid>
              <a:tr h="596447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effectLst/>
                        </a:rPr>
                        <a:t>Значение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>
                          <a:effectLst/>
                        </a:rPr>
                        <a:t>Описание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535191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AbortRetryIgnore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effectLst/>
                        </a:rPr>
                        <a:t>Окно содержит кнопки </a:t>
                      </a:r>
                      <a:r>
                        <a:rPr lang="en-US" sz="2800">
                          <a:effectLst/>
                        </a:rPr>
                        <a:t>Abort</a:t>
                      </a:r>
                      <a:r>
                        <a:rPr lang="ru-RU" sz="2800">
                          <a:effectLst/>
                        </a:rPr>
                        <a:t>, </a:t>
                      </a:r>
                      <a:r>
                        <a:rPr lang="en-US" sz="2800">
                          <a:effectLst/>
                        </a:rPr>
                        <a:t>Retry </a:t>
                      </a:r>
                      <a:r>
                        <a:rPr lang="ru-RU" sz="2800">
                          <a:effectLst/>
                        </a:rPr>
                        <a:t>и </a:t>
                      </a:r>
                      <a:r>
                        <a:rPr lang="en-US" sz="2800">
                          <a:effectLst/>
                        </a:rPr>
                        <a:t>Ignore</a:t>
                      </a:r>
                      <a:r>
                        <a:rPr lang="ru-RU" sz="2800">
                          <a:effectLst/>
                        </a:rPr>
                        <a:t>.</a:t>
                      </a:r>
                      <a:r>
                        <a:rPr lang="en-US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5638153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effectLst/>
                        </a:rPr>
                        <a:t>OK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effectLst/>
                        </a:rPr>
                        <a:t>Окно содержит кнопку </a:t>
                      </a:r>
                      <a:r>
                        <a:rPr lang="en-US" sz="2800">
                          <a:effectLst/>
                        </a:rPr>
                        <a:t>OK</a:t>
                      </a:r>
                      <a:r>
                        <a:rPr lang="ru-RU" sz="2800">
                          <a:effectLst/>
                        </a:rPr>
                        <a:t>.</a:t>
                      </a:r>
                      <a:r>
                        <a:rPr lang="en-US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0883152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OKCancel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effectLst/>
                        </a:rPr>
                        <a:t>Окно содержит кнопки </a:t>
                      </a:r>
                      <a:r>
                        <a:rPr lang="en-US" sz="2800">
                          <a:effectLst/>
                        </a:rPr>
                        <a:t>OK</a:t>
                      </a:r>
                      <a:r>
                        <a:rPr lang="ru-RU" sz="2800">
                          <a:effectLst/>
                        </a:rPr>
                        <a:t> и </a:t>
                      </a:r>
                      <a:r>
                        <a:rPr lang="en-US" sz="2800">
                          <a:effectLst/>
                        </a:rPr>
                        <a:t>Cancel</a:t>
                      </a:r>
                      <a:r>
                        <a:rPr lang="ru-RU" sz="2800">
                          <a:effectLst/>
                        </a:rPr>
                        <a:t>.</a:t>
                      </a:r>
                      <a:r>
                        <a:rPr lang="en-US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7813133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RetryCancel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effectLst/>
                        </a:rPr>
                        <a:t>Окно содержит кнопки </a:t>
                      </a:r>
                      <a:r>
                        <a:rPr lang="en-US" sz="2800">
                          <a:effectLst/>
                        </a:rPr>
                        <a:t>Retry </a:t>
                      </a:r>
                      <a:r>
                        <a:rPr lang="ru-RU" sz="2800">
                          <a:effectLst/>
                        </a:rPr>
                        <a:t>и </a:t>
                      </a:r>
                      <a:r>
                        <a:rPr lang="en-US" sz="2800">
                          <a:effectLst/>
                        </a:rPr>
                        <a:t>Cancel</a:t>
                      </a:r>
                      <a:r>
                        <a:rPr lang="ru-RU" sz="2800">
                          <a:effectLst/>
                        </a:rPr>
                        <a:t>.</a:t>
                      </a:r>
                      <a:r>
                        <a:rPr lang="en-US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857862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YesNo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>
                          <a:effectLst/>
                        </a:rPr>
                        <a:t>Окно содержит кнопки </a:t>
                      </a:r>
                      <a:r>
                        <a:rPr lang="en-US" sz="2800" dirty="0">
                          <a:effectLst/>
                        </a:rPr>
                        <a:t>Yes</a:t>
                      </a:r>
                      <a:r>
                        <a:rPr lang="ru-RU" sz="2800" dirty="0">
                          <a:effectLst/>
                        </a:rPr>
                        <a:t> и </a:t>
                      </a:r>
                      <a:r>
                        <a:rPr lang="en-US" sz="2800" dirty="0">
                          <a:effectLst/>
                        </a:rPr>
                        <a:t>No</a:t>
                      </a:r>
                      <a:r>
                        <a:rPr lang="ru-RU" sz="2800" dirty="0">
                          <a:effectLst/>
                        </a:rPr>
                        <a:t>.</a:t>
                      </a:r>
                      <a:r>
                        <a:rPr lang="en-US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8058660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YesNoCancel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>
                          <a:effectLst/>
                        </a:rPr>
                        <a:t>Окно содержит кнопки </a:t>
                      </a:r>
                      <a:r>
                        <a:rPr lang="en-US" sz="2800" dirty="0">
                          <a:effectLst/>
                        </a:rPr>
                        <a:t>Yes</a:t>
                      </a:r>
                      <a:r>
                        <a:rPr lang="ru-RU" sz="2800" dirty="0">
                          <a:effectLst/>
                        </a:rPr>
                        <a:t>, </a:t>
                      </a:r>
                      <a:r>
                        <a:rPr lang="en-US" sz="2800" dirty="0">
                          <a:effectLst/>
                        </a:rPr>
                        <a:t>No</a:t>
                      </a:r>
                      <a:r>
                        <a:rPr lang="ru-RU" sz="2800" dirty="0">
                          <a:effectLst/>
                        </a:rPr>
                        <a:t>, и </a:t>
                      </a:r>
                      <a:r>
                        <a:rPr lang="en-US" sz="2800" dirty="0">
                          <a:effectLst/>
                        </a:rPr>
                        <a:t>Cancel</a:t>
                      </a:r>
                      <a:r>
                        <a:rPr lang="ru-RU" sz="2800" dirty="0">
                          <a:effectLst/>
                        </a:rPr>
                        <a:t>.</a:t>
                      </a:r>
                      <a:r>
                        <a:rPr lang="en-US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952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177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273B3-E18C-432E-9D88-B2390CF7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80"/>
            <a:ext cx="12192000" cy="63809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Окно сообщений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MessageBox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194A86-84BE-446A-9AAC-2975C14A9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4577"/>
            <a:ext cx="12082072" cy="1004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MessageBoxIcon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задает иконку в окне. Набор констант типа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MessageBoxIcon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приведен в таблице:</a:t>
            </a:r>
            <a:endParaRPr lang="ru-RU" sz="32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C3C7B82-18CF-44AF-942C-110BDE43F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627860"/>
              </p:ext>
            </p:extLst>
          </p:nvPr>
        </p:nvGraphicFramePr>
        <p:xfrm>
          <a:off x="54964" y="1648920"/>
          <a:ext cx="12082072" cy="5202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8682">
                  <a:extLst>
                    <a:ext uri="{9D8B030D-6E8A-4147-A177-3AD203B41FA5}">
                      <a16:colId xmlns:a16="http://schemas.microsoft.com/office/drawing/2014/main" val="3916995262"/>
                    </a:ext>
                  </a:extLst>
                </a:gridCol>
                <a:gridCol w="10073390">
                  <a:extLst>
                    <a:ext uri="{9D8B030D-6E8A-4147-A177-3AD203B41FA5}">
                      <a16:colId xmlns:a16="http://schemas.microsoft.com/office/drawing/2014/main" val="449588358"/>
                    </a:ext>
                  </a:extLst>
                </a:gridCol>
              </a:tblGrid>
              <a:tr h="521584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Значение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Описание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7926219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Asterisk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Сообщение содержит символ, состоящий из маленькой буквы </a:t>
                      </a:r>
                      <a:r>
                        <a:rPr lang="en-US" sz="2400" dirty="0">
                          <a:effectLst/>
                        </a:rPr>
                        <a:t>I</a:t>
                      </a:r>
                      <a:r>
                        <a:rPr lang="ru-RU" sz="2400" dirty="0">
                          <a:effectLst/>
                        </a:rPr>
                        <a:t> в кружке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601026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Error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ошибочного сообщения</a:t>
                      </a:r>
                      <a:r>
                        <a:rPr lang="en-US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9121197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Exclamation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восклицательный знак</a:t>
                      </a:r>
                      <a:r>
                        <a:rPr lang="en-US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8314218"/>
                  </a:ext>
                </a:extLst>
              </a:tr>
              <a:tr h="755087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Hand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 символ, состоящий из белого крестика в кружке на красном фоне.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32482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Information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Информационная пиктограмма</a:t>
                      </a:r>
                      <a:r>
                        <a:rPr lang="en-US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4313810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None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Ничего не содержит</a:t>
                      </a:r>
                      <a:r>
                        <a:rPr lang="en-US" sz="2400" dirty="0">
                          <a:effectLst/>
                        </a:rPr>
                        <a:t>.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9682984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Question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 вопросительный знак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2073097"/>
                  </a:ext>
                </a:extLst>
              </a:tr>
              <a:tr h="755087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Stop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 символ, состоящий из белого крестика в кружке на красном фоне.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7570201"/>
                  </a:ext>
                </a:extLst>
              </a:tr>
              <a:tr h="79271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Warning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Пиктограмма содержит  символ, состоящий  восклицательного знака в треугольнике на желтом фоне.</a:t>
                      </a:r>
                      <a:r>
                        <a:rPr lang="en-US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4733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020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92803-F30C-4AAD-9604-CABDF6C3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44576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Окно сообщений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MessageBox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552BFC-731D-437A-AC7C-A3D905BE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4577"/>
            <a:ext cx="12192000" cy="6213422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Перечисление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MessageBoxDefaultButton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определяет  кнопку, выбранную по умолчанию. В таблице  приведены члены перечисления: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243FCBB-9209-4B33-9B4D-96D67BC17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433071"/>
              </p:ext>
            </p:extLst>
          </p:nvPr>
        </p:nvGraphicFramePr>
        <p:xfrm>
          <a:off x="134911" y="1607884"/>
          <a:ext cx="11587398" cy="14006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3627">
                  <a:extLst>
                    <a:ext uri="{9D8B030D-6E8A-4147-A177-3AD203B41FA5}">
                      <a16:colId xmlns:a16="http://schemas.microsoft.com/office/drawing/2014/main" val="1635514835"/>
                    </a:ext>
                  </a:extLst>
                </a:gridCol>
                <a:gridCol w="10053771">
                  <a:extLst>
                    <a:ext uri="{9D8B030D-6E8A-4147-A177-3AD203B41FA5}">
                      <a16:colId xmlns:a16="http://schemas.microsoft.com/office/drawing/2014/main" val="845216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6625381"/>
                  </a:ext>
                </a:extLst>
              </a:tr>
              <a:tr h="365279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Первая кнопка в окне сообщения является кнопкой по умолчанию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8135135"/>
                  </a:ext>
                </a:extLst>
              </a:tr>
              <a:tr h="365279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Вторая кнопка в окне сообщения является кнопкой по умолчанию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7286487"/>
                  </a:ext>
                </a:extLst>
              </a:tr>
              <a:tr h="36527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Button3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Третья кнопка в окне сообщения является кнопкой по умолчанию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22233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54D7EC-39D0-47F9-922E-6E5B97C00B29}"/>
              </a:ext>
            </a:extLst>
          </p:cNvPr>
          <p:cNvSpPr txBox="1"/>
          <p:nvPr/>
        </p:nvSpPr>
        <p:spPr>
          <a:xfrm>
            <a:off x="0" y="3751288"/>
            <a:ext cx="6280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 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возвращает значение типа </a:t>
            </a:r>
            <a:r>
              <a:rPr lang="ru-R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DialogResult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предоставляет набор констант, сигнализирующих какая из кнопок выбрана пользователем: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04656D1B-EF80-496A-88F3-0792331D6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487610"/>
              </p:ext>
            </p:extLst>
          </p:nvPr>
        </p:nvGraphicFramePr>
        <p:xfrm>
          <a:off x="6455763" y="3818554"/>
          <a:ext cx="5561352" cy="28631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7956">
                  <a:extLst>
                    <a:ext uri="{9D8B030D-6E8A-4147-A177-3AD203B41FA5}">
                      <a16:colId xmlns:a16="http://schemas.microsoft.com/office/drawing/2014/main" val="674059388"/>
                    </a:ext>
                  </a:extLst>
                </a:gridCol>
                <a:gridCol w="4323396">
                  <a:extLst>
                    <a:ext uri="{9D8B030D-6E8A-4147-A177-3AD203B41FA5}">
                      <a16:colId xmlns:a16="http://schemas.microsoft.com/office/drawing/2014/main" val="521848942"/>
                    </a:ext>
                  </a:extLst>
                </a:gridCol>
              </a:tblGrid>
              <a:tr h="38789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8881211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Abort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Abort.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9319646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Cancel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Cancel.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4860989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Ignore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Ignore.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2431449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No. 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3116837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Ничего не нажато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5422510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OK.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2033736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Retry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Retry.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706376"/>
                  </a:ext>
                </a:extLst>
              </a:tr>
              <a:tr h="3094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Нажата кнопка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Yes .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6844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524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40646-4BF2-4754-9E0B-160BF766A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16261"/>
          </a:xfrm>
        </p:spPr>
        <p:txBody>
          <a:bodyPr>
            <a:noAutofit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Примеры использования класса </a:t>
            </a:r>
            <a:r>
              <a:rPr lang="en-US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51F57E-FA39-45C8-B3F8-3EDD130E5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4518"/>
            <a:ext cx="12192000" cy="6105227"/>
          </a:xfrm>
        </p:spPr>
        <p:txBody>
          <a:bodyPr/>
          <a:lstStyle/>
          <a:p>
            <a:pPr indent="0">
              <a:buNone/>
            </a:pPr>
            <a:r>
              <a:rPr lang="ru-RU" sz="2800" b="1" i="1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 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Выдача сообщения в окне.</a:t>
            </a:r>
            <a:endParaRPr lang="ru-RU" sz="2800" b="1" i="1" dirty="0">
              <a:solidFill>
                <a:srgbClr val="C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indent="0">
              <a:buNone/>
            </a:pPr>
            <a:r>
              <a:rPr lang="ru-RU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</a:t>
            </a:r>
            <a:r>
              <a:rPr lang="ru-RU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.Show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"Текст"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ru-RU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"Заголовок окна"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</a:p>
          <a:p>
            <a:pPr indent="0">
              <a:buNone/>
            </a:pP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/>
              <a:t>   </a:t>
            </a:r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Использование иконки в окне:</a:t>
            </a:r>
            <a:endParaRPr lang="ru-RU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 err="1"/>
              <a:t>MessageBox.Show</a:t>
            </a:r>
            <a:r>
              <a:rPr lang="en-US" dirty="0"/>
              <a:t>("Hello!", "</a:t>
            </a:r>
            <a:r>
              <a:rPr lang="ru-RU" dirty="0"/>
              <a:t>Окно ввода",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MessageBoxButtons</a:t>
            </a:r>
            <a:r>
              <a:rPr lang="en-US" dirty="0" err="1"/>
              <a:t>.OK</a:t>
            </a:r>
            <a:r>
              <a:rPr lang="en-US" dirty="0"/>
              <a:t>, 								</a:t>
            </a:r>
            <a:r>
              <a:rPr lang="ru-RU" dirty="0"/>
              <a:t>                               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MessageBoxIcon</a:t>
            </a:r>
            <a:r>
              <a:rPr lang="en-US" dirty="0" err="1"/>
              <a:t>.Exclamation</a:t>
            </a:r>
            <a:r>
              <a:rPr lang="en-US" dirty="0"/>
              <a:t>);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F5D082-AC44-4827-AB80-587223170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240" y="734517"/>
            <a:ext cx="2541147" cy="2368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A4FB76-2D88-46CA-811C-9CE753BB0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455" y="4168452"/>
            <a:ext cx="2588402" cy="25171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5031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29829-50F9-4B19-BC84-8524888A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66165"/>
          </a:xfrm>
        </p:spPr>
        <p:txBody>
          <a:bodyPr/>
          <a:lstStyle/>
          <a:p>
            <a:pPr algn="ctr"/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Примеры использования класса </a:t>
            </a:r>
            <a:r>
              <a:rPr lang="en-US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4309A8-198B-4617-AC98-1DCE4AF34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421"/>
            <a:ext cx="12192000" cy="2743200"/>
          </a:xfrm>
        </p:spPr>
        <p:txBody>
          <a:bodyPr/>
          <a:lstStyle/>
          <a:p>
            <a:pPr marL="0" indent="0">
              <a:buNone/>
            </a:pPr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 нескольких кнопок </a:t>
            </a:r>
            <a:r>
              <a:rPr lang="ru-RU" sz="2800" b="1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// удалить текущий элемент</a:t>
            </a:r>
          </a:p>
          <a:p>
            <a:pPr marL="0" indent="0">
              <a:buNone/>
            </a:pPr>
            <a:endParaRPr lang="ru-RU" sz="1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800" dirty="0"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"Вы уверены?"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800" dirty="0"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"Вопрос"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MessageBoxButtons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OKCancel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MessageBoxIcon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Question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=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DialogResult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OK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	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RemoveAt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SelectedItem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8A6C45-8E89-4F3E-A23F-6E192C827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181" y="3868863"/>
            <a:ext cx="4027357" cy="26906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277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6181BD-49FC-450B-8CFB-F880200BD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9" y="18255"/>
            <a:ext cx="11947161" cy="791213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Примеры использования класса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MessageBox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8237BE-03AD-4351-BB30-C6234755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19" y="1004341"/>
            <a:ext cx="11947161" cy="3672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Кнопка «Отмена», выбранная по умолчанию:</a:t>
            </a:r>
          </a:p>
          <a:p>
            <a:pPr marL="0" indent="0">
              <a:buNone/>
            </a:pP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MessageBox.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Show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Вы уверены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?"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Вопрос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ru-RU" sz="2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MessageBoxButtons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.OKCancel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MessageBoxIcon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.Question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ru-RU" sz="28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MessageBoxDefaultButton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.Button2) 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ru-RU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DialogResult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.OK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{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</a:t>
            </a:r>
            <a:r>
              <a:rPr lang="ru-RU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MessageBox</a:t>
            </a:r>
            <a:r>
              <a:rPr lang="en-US" sz="2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.Show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"ok"</a:t>
            </a: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i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C5DA0C-7899-4D31-9A56-D18F72048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121" y="3818744"/>
            <a:ext cx="4440289" cy="28081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8397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82EC1-1D6D-4C8E-AB2D-2114757A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82071" cy="569626"/>
          </a:xfrm>
        </p:spPr>
        <p:txBody>
          <a:bodyPr>
            <a:noAutofit/>
          </a:bodyPr>
          <a:lstStyle/>
          <a:p>
            <a:pPr algn="ctr"/>
            <a:r>
              <a:rPr lang="ru-RU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Диалоги открытия и сохранения файлов</a:t>
            </a:r>
            <a:endParaRPr lang="ru-RU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40DE40-3E14-430D-AF50-4573A05FB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9626"/>
            <a:ext cx="12192000" cy="1618937"/>
          </a:xfrm>
        </p:spPr>
        <p:txBody>
          <a:bodyPr>
            <a:normAutofit lnSpcReduction="10000"/>
          </a:bodyPr>
          <a:lstStyle/>
          <a:p>
            <a:pPr indent="0">
              <a:buNone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Окна открытия и сохранения файла представлены классами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OpenFileDialog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и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SaveFileDialog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Элемент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OpenFileDialog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находится на вкладке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«Диалоговые окна»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панели инструментов и позволяет для выбора использовать стандартный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Windows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-диалог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 Этот компонент является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«невидимым».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Его вызов осуществляется программным путем.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8DFDEA4-EF24-4363-9DAD-8A055D37D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762426"/>
              </p:ext>
            </p:extLst>
          </p:nvPr>
        </p:nvGraphicFramePr>
        <p:xfrm>
          <a:off x="0" y="2171075"/>
          <a:ext cx="12192000" cy="4686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8623">
                  <a:extLst>
                    <a:ext uri="{9D8B030D-6E8A-4147-A177-3AD203B41FA5}">
                      <a16:colId xmlns:a16="http://schemas.microsoft.com/office/drawing/2014/main" val="1172343880"/>
                    </a:ext>
                  </a:extLst>
                </a:gridCol>
                <a:gridCol w="10093377">
                  <a:extLst>
                    <a:ext uri="{9D8B030D-6E8A-4147-A177-3AD203B41FA5}">
                      <a16:colId xmlns:a16="http://schemas.microsoft.com/office/drawing/2014/main" val="3162901435"/>
                    </a:ext>
                  </a:extLst>
                </a:gridCol>
              </a:tblGrid>
              <a:tr h="419725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Свойство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Описание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1434999"/>
                  </a:ext>
                </a:extLst>
              </a:tr>
              <a:tr h="5438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Title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Текст в заголовке окна. Если значение свойства не указано, то в заголовке отображается текст </a:t>
                      </a:r>
                      <a:r>
                        <a:rPr lang="ru-RU" sz="2000" b="1" dirty="0">
                          <a:effectLst/>
                        </a:rPr>
                        <a:t>Открыть 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754286"/>
                  </a:ext>
                </a:extLst>
              </a:tr>
              <a:tr h="108766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Filter </a:t>
                      </a:r>
                    </a:p>
                    <a:p>
                      <a:pPr algn="ctr"/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Свойство задает описание и фильтр </a:t>
                      </a:r>
                      <a:r>
                        <a:rPr lang="ru-RU" sz="2000" b="1" dirty="0">
                          <a:effectLst/>
                        </a:rPr>
                        <a:t>(маску) </a:t>
                      </a:r>
                      <a:r>
                        <a:rPr lang="ru-RU" sz="2000" dirty="0">
                          <a:effectLst/>
                        </a:rPr>
                        <a:t>имени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файла. В списке файлов отображаются только те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файлы, имена которых соответствуют указанной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маске. Описание отображается в поле </a:t>
                      </a:r>
                      <a:r>
                        <a:rPr lang="ru-RU" sz="2000" b="1" dirty="0">
                          <a:effectLst/>
                        </a:rPr>
                        <a:t>Тип файла</a:t>
                      </a:r>
                      <a:r>
                        <a:rPr lang="ru-RU" sz="2000" dirty="0">
                          <a:effectLst/>
                        </a:rPr>
                        <a:t>.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Например, значение </a:t>
                      </a:r>
                      <a:r>
                        <a:rPr lang="ru-RU" sz="2000" b="1" dirty="0">
                          <a:effectLst/>
                        </a:rPr>
                        <a:t>Текст|*.</a:t>
                      </a:r>
                      <a:r>
                        <a:rPr lang="ru-RU" sz="2000" b="1" dirty="0" err="1">
                          <a:effectLst/>
                        </a:rPr>
                        <a:t>txt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указывает, что в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списке файлов надо отобразить только те файлы,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расширение которых </a:t>
                      </a:r>
                      <a:r>
                        <a:rPr lang="ru-RU" sz="2000" dirty="0" err="1">
                          <a:effectLst/>
                        </a:rPr>
                        <a:t>txt</a:t>
                      </a: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8058473"/>
                  </a:ext>
                </a:extLst>
              </a:tr>
              <a:tr h="89598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FilterIndex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Фильтр состоит из нескольких элементов (например, </a:t>
                      </a:r>
                      <a:r>
                        <a:rPr lang="ru-RU" sz="2000" b="1" dirty="0">
                          <a:effectLst/>
                        </a:rPr>
                        <a:t>Текст|*.</a:t>
                      </a:r>
                      <a:r>
                        <a:rPr lang="ru-RU" sz="2000" b="1" dirty="0" err="1">
                          <a:effectLst/>
                        </a:rPr>
                        <a:t>txt|Все</a:t>
                      </a:r>
                      <a:r>
                        <a:rPr lang="ru-RU" sz="2000" b="1" dirty="0">
                          <a:effectLst/>
                        </a:rPr>
                        <a:t> файлы|*.*)</a:t>
                      </a:r>
                      <a:r>
                        <a:rPr lang="ru-RU" sz="2000" dirty="0">
                          <a:effectLst/>
                        </a:rPr>
                        <a:t>, то значение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свойства задает фильтр, который используется в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момент появления диалога на экране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5673778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FileNa</a:t>
                      </a:r>
                      <a:r>
                        <a:rPr lang="en-US" sz="2000" dirty="0">
                          <a:effectLst/>
                        </a:rPr>
                        <a:t>m</a:t>
                      </a:r>
                      <a:r>
                        <a:rPr lang="ru-RU" sz="2000" dirty="0">
                          <a:effectLst/>
                        </a:rPr>
                        <a:t>e 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Имя выбранного пользователем файла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4679460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InitialDirectory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Каталог, содержимое которого отображается при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появлении диалога на экране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9330022"/>
                  </a:ext>
                </a:extLst>
              </a:tr>
              <a:tr h="81575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</a:rPr>
                        <a:t>RestoreDirectory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</a:p>
                    <a:p>
                      <a:pPr algn="ctr"/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Признак необходимости отображать содержимое каталога, указанного в свойстве </a:t>
                      </a:r>
                      <a:r>
                        <a:rPr lang="ru-RU" sz="2000" b="1" dirty="0" err="1">
                          <a:effectLst/>
                        </a:rPr>
                        <a:t>InitialDirectory</a:t>
                      </a:r>
                      <a:r>
                        <a:rPr lang="ru-RU" sz="2000" b="1" dirty="0">
                          <a:effectLst/>
                        </a:rPr>
                        <a:t>,</a:t>
                      </a:r>
                      <a:r>
                        <a:rPr lang="en-US" sz="2000" b="1" dirty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при каждом появлении окна. Если значение свойства равно </a:t>
                      </a:r>
                      <a:r>
                        <a:rPr lang="ru-RU" sz="2000" b="1" dirty="0" err="1">
                          <a:effectLst/>
                        </a:rPr>
                        <a:t>False</a:t>
                      </a:r>
                      <a:r>
                        <a:rPr lang="ru-RU" sz="2000" dirty="0">
                          <a:effectLst/>
                        </a:rPr>
                        <a:t>, то при следующем появлении окна отображается содержимое каталога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8573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966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129BC-1990-4D12-87C9-28A048E9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2" y="18256"/>
            <a:ext cx="11752288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Диалоги открытия и сохранения файлов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F2C377-8A85-434E-A20E-D844CFFE1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8"/>
            <a:ext cx="12067082" cy="1972221"/>
          </a:xfrm>
        </p:spPr>
        <p:txBody>
          <a:bodyPr/>
          <a:lstStyle/>
          <a:p>
            <a:pPr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найти на вкладке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«Диалоговые окна».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OpenFileDialog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имеют ряд общих свойств. Они приведены в таблице на предыдущем  слайде.  В следующей табл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ице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приведены свойства, специфические для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12EBCB-EAAD-4E57-9CAF-AECB3FAE5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46523"/>
              </p:ext>
            </p:extLst>
          </p:nvPr>
        </p:nvGraphicFramePr>
        <p:xfrm>
          <a:off x="424721" y="2470097"/>
          <a:ext cx="11342557" cy="42305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2020">
                  <a:extLst>
                    <a:ext uri="{9D8B030D-6E8A-4147-A177-3AD203B41FA5}">
                      <a16:colId xmlns:a16="http://schemas.microsoft.com/office/drawing/2014/main" val="2792575303"/>
                    </a:ext>
                  </a:extLst>
                </a:gridCol>
                <a:gridCol w="8800537">
                  <a:extLst>
                    <a:ext uri="{9D8B030D-6E8A-4147-A177-3AD203B41FA5}">
                      <a16:colId xmlns:a16="http://schemas.microsoft.com/office/drawing/2014/main" val="1794568345"/>
                    </a:ext>
                  </a:extLst>
                </a:gridCol>
              </a:tblGrid>
              <a:tr h="57290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80532"/>
                  </a:ext>
                </a:extLst>
              </a:tr>
              <a:tr h="108385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CheckPathExists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 необходимости проверки существования каталога, в котором следует сохранить файл. Если указанного каталога нет, то выводится информационное сообщение</a:t>
                      </a:r>
                    </a:p>
                    <a:p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4353907"/>
                  </a:ext>
                </a:extLst>
              </a:tr>
              <a:tr h="1553278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CheckFileExists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 необходимости проверки существования файла с заданным именем. Если значение свойства равно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файл с указанным именем уже существует, то появляется окно запроса, в котором пользователь может подтвердить необходимость замены (перезаписи) существующего файла</a:t>
                      </a:r>
                    </a:p>
                    <a:p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0811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466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DC52B-C22B-4712-A8F9-96E0BEF46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65" y="18256"/>
            <a:ext cx="12087069" cy="1165968"/>
          </a:xfrm>
        </p:spPr>
        <p:txBody>
          <a:bodyPr>
            <a:normAutofit fontScale="90000"/>
          </a:bodyPr>
          <a:lstStyle/>
          <a:p>
            <a:pPr indent="450215"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чтения из файла в </a:t>
            </a:r>
            <a:r>
              <a:rPr lang="en-US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Textbox 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использованием </a:t>
            </a:r>
            <a:r>
              <a:rPr lang="ru-RU" sz="4400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OpenFileDialog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F00E2D-29C5-4258-A685-67A4E8F1E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" y="1693889"/>
            <a:ext cx="12087069" cy="4991726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Чтение из файла в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TextBox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(openFileDialog1.ShowDialog() ==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DialogResult.OK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filename = openFileDialog1.FileName;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string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fileText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File.ReadAllText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(filename);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textBox1.Text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fileText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7386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4EBCE-7C17-413F-BC1A-66B119D4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Пример записи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TextBox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файл с использованием </a:t>
            </a:r>
            <a:r>
              <a:rPr kumimoji="0" lang="ru-RU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SaveFileDialog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5280DD-ACF0-4663-91EC-8440EF5BF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3543"/>
            <a:ext cx="12192000" cy="48771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button2_Click(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Запись из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TextBox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файл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saveFileDialog1.Filter = 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"Text files(*.txt)|*.</a:t>
            </a:r>
            <a:r>
              <a:rPr lang="en-US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txt|All</a:t>
            </a:r>
            <a:endParaRPr lang="ru-RU" sz="2800" dirty="0">
              <a:solidFill>
                <a:srgbClr val="A31515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files(*.*)|*.*"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(saveFileDialog1.ShowDialog() ==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DialogResult.Cancel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filename = saveFileDialog1.FileName;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File.WriteAllText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(filename, textBox1.Text);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0264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CE1BE-C36E-452B-B23D-2FF3FF67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195947"/>
          </a:xfrm>
        </p:spPr>
        <p:txBody>
          <a:bodyPr>
            <a:normAutofit/>
          </a:bodyPr>
          <a:lstStyle/>
          <a:p>
            <a:pPr algn="ctr"/>
            <a:r>
              <a:rPr lang="ru-RU" sz="4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следующее задание</a:t>
            </a:r>
            <a:r>
              <a:rPr lang="en-US" sz="4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818D68-BB77-495C-B22E-76B8D0924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882" y="1469036"/>
            <a:ext cx="11872210" cy="52315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4000" b="1" i="1" dirty="0"/>
              <a:t>Работа с файлами. </a:t>
            </a:r>
            <a:r>
              <a:rPr lang="ru-RU" sz="4000" dirty="0"/>
              <a:t>Создать текстовый файл и записать в него информацию (например, описание правил некоторой игры). Составить программу, которая при нажатии на кнопку </a:t>
            </a:r>
            <a:r>
              <a:rPr lang="en-US" sz="4000" dirty="0"/>
              <a:t>“</a:t>
            </a:r>
            <a:r>
              <a:rPr lang="ru-RU" sz="4000" dirty="0"/>
              <a:t>Читать</a:t>
            </a:r>
            <a:r>
              <a:rPr lang="en-US" sz="4000" dirty="0"/>
              <a:t>” (</a:t>
            </a:r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Button1</a:t>
            </a:r>
            <a:r>
              <a:rPr lang="en-US" sz="4000" dirty="0"/>
              <a:t>)</a:t>
            </a:r>
            <a:r>
              <a:rPr lang="ru-RU" sz="4000" dirty="0"/>
              <a:t> читает информацию из этого файла и выводит её на экран в поле </a:t>
            </a:r>
            <a:r>
              <a:rPr lang="en-US" sz="40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TextBox</a:t>
            </a:r>
            <a:r>
              <a:rPr lang="ru-RU" sz="4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sz="4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4000" dirty="0"/>
              <a:t>и затем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при нажатии на кнопку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lang="ru-RU" sz="4000" dirty="0">
                <a:solidFill>
                  <a:prstClr val="black"/>
                </a:solidFill>
                <a:latin typeface="Calibri" panose="020F0502020204030204"/>
              </a:rPr>
              <a:t>Сохранит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ь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(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Button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lang="ru-RU" sz="4000" dirty="0"/>
              <a:t> записывает (копирует) эту информацию в другой текстовый файл. </a:t>
            </a:r>
          </a:p>
        </p:txBody>
      </p:sp>
    </p:spTree>
    <p:extLst>
      <p:ext uri="{BB962C8B-B14F-4D97-AF65-F5344CB8AC3E}">
        <p14:creationId xmlns:p14="http://schemas.microsoft.com/office/powerpoint/2010/main" val="264018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D976C-3103-4A4F-BEFC-D12590687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461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</a:t>
            </a:r>
            <a:r>
              <a:rPr lang="en-US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ListBox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28898B-D7A9-4942-BB30-BC3A7DC2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4617"/>
            <a:ext cx="12192000" cy="1678898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Компонент </a:t>
            </a:r>
            <a:r>
              <a:rPr lang="ru-RU" sz="2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ListBox</a:t>
            </a:r>
            <a:r>
              <a:rPr lang="ru-RU" sz="2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представляет собой список, в котором можно выбрать нужный элемент.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Ключевым свойством этого элемента является свойство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которое как раз и хранит набор всех элементов списка</a:t>
            </a:r>
            <a:r>
              <a:rPr lang="ru-RU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Основные свойства компонента приведены в таблице:</a:t>
            </a:r>
            <a:r>
              <a:rPr lang="ru-RU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8FC3C75-0ABC-4E16-B84C-B86DED9C1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806922"/>
              </p:ext>
            </p:extLst>
          </p:nvPr>
        </p:nvGraphicFramePr>
        <p:xfrm>
          <a:off x="62459" y="2263515"/>
          <a:ext cx="12067082" cy="45555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8722">
                  <a:extLst>
                    <a:ext uri="{9D8B030D-6E8A-4147-A177-3AD203B41FA5}">
                      <a16:colId xmlns:a16="http://schemas.microsoft.com/office/drawing/2014/main" val="2130066199"/>
                    </a:ext>
                  </a:extLst>
                </a:gridCol>
                <a:gridCol w="9818360">
                  <a:extLst>
                    <a:ext uri="{9D8B030D-6E8A-4147-A177-3AD203B41FA5}">
                      <a16:colId xmlns:a16="http://schemas.microsoft.com/office/drawing/2014/main" val="2125244708"/>
                    </a:ext>
                  </a:extLst>
                </a:gridCol>
              </a:tblGrid>
              <a:tr h="432227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6856604"/>
                  </a:ext>
                </a:extLst>
              </a:tr>
              <a:tr h="29478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Элементы списка — коллекция строк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4163281"/>
                  </a:ext>
                </a:extLst>
              </a:tr>
              <a:tr h="471171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Items.Count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элементов списка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3232980"/>
                  </a:ext>
                </a:extLst>
              </a:tr>
              <a:tr h="77272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SelectedIndex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элемента, выбранного в списке. Если ни один из элементов списка не выбран, то значение свойства равно 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1557621"/>
                  </a:ext>
                </a:extLst>
              </a:tr>
              <a:tr h="64852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Sorted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 необходимости автоматической сортировки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списка после добавления очередного элемента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0909220"/>
                  </a:ext>
                </a:extLst>
              </a:tr>
              <a:tr h="1621313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SelectionMode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Определяет режим выбора элементов списка: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только один элемент;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MultiSimple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 можно выбрать несколько элементов, сделав щелчок на нужных элементах списка; </a:t>
                      </a:r>
                      <a:r>
                        <a:rPr lang="ru-RU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MultiExtended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 можно выбрать несколько элементов, сделав щелчок на нужных элементах списка при нажатой клавише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&lt;Ctrl&gt;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или выделить диапазон, щелкнув при нажатой клавише </a:t>
                      </a: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&lt;Shift&gt;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первом и последнем элементе диапазона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348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633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CCEB96-3228-4498-81CA-C54EA23C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44"/>
            <a:ext cx="7450111" cy="926124"/>
          </a:xfrm>
        </p:spPr>
        <p:txBody>
          <a:bodyPr>
            <a:normAutofit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</a:t>
            </a:r>
            <a:r>
              <a:rPr lang="en-US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72FDB3-FD1C-483C-8C90-9364B188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376" y="872969"/>
            <a:ext cx="7067863" cy="3489170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Элементы в список могут добавляться как во время разработки, так и программным способом. В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 Studio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окне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Properties (Свойства)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элемента </a:t>
            </a:r>
            <a:r>
              <a:rPr lang="ru-RU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мы можем найти свойство </a:t>
            </a:r>
            <a:r>
              <a:rPr lang="ru-RU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двойного щелчка на свойство нам отобразится окно для добавления элементов в список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EFC6F4-68FE-4196-BEA5-8E6D78F6E9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43604" y="276482"/>
            <a:ext cx="3340309" cy="2966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BBEA99-9D88-4E88-AB4E-33FFC97B1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586" y="3685662"/>
            <a:ext cx="2490866" cy="28112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94DF16-2D49-4686-BA47-766E5DCD1526}"/>
              </a:ext>
            </a:extLst>
          </p:cNvPr>
          <p:cNvSpPr txBox="1"/>
          <p:nvPr/>
        </p:nvSpPr>
        <p:spPr>
          <a:xfrm>
            <a:off x="8079698" y="3171492"/>
            <a:ext cx="2868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Окно добавления элементов</a:t>
            </a:r>
            <a:endParaRPr lang="ru-RU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789B2-ABF8-4890-94DA-DE50AD72823E}"/>
              </a:ext>
            </a:extLst>
          </p:cNvPr>
          <p:cNvSpPr txBox="1"/>
          <p:nvPr/>
        </p:nvSpPr>
        <p:spPr>
          <a:xfrm>
            <a:off x="8837323" y="6485271"/>
            <a:ext cx="33546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en-US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введенными элементами</a:t>
            </a:r>
            <a:endParaRPr lang="ru-RU" sz="1600" b="1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08F878-6ECE-4FB9-A793-91AD178BE2AF}"/>
              </a:ext>
            </a:extLst>
          </p:cNvPr>
          <p:cNvSpPr txBox="1"/>
          <p:nvPr/>
        </p:nvSpPr>
        <p:spPr>
          <a:xfrm>
            <a:off x="328537" y="4493773"/>
            <a:ext cx="89066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В пустое поле мы вводим по одному элементу списка - по одному на каждой строке. После этого все добавленные нами элементы окажутся в списке, и мы см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ожем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ими управлять: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693191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99C44-FC70-44EC-B14F-FDF1C141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06204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Компонент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ListBox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86A770-482D-4026-A707-5E250BDA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9" y="824460"/>
            <a:ext cx="12037102" cy="6015284"/>
          </a:xfrm>
        </p:spPr>
        <p:txBody>
          <a:bodyPr>
            <a:normAutofit fontScale="92500" lnSpcReduction="10000"/>
          </a:bodyPr>
          <a:lstStyle/>
          <a:p>
            <a:pPr indent="0" algn="just">
              <a:lnSpc>
                <a:spcPct val="100000"/>
              </a:lnSpc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 элементы списка входят в свойство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которое представляет собой коллекцию. Для добавления нового элемента в эту коллекцию, а значит и в список, надо использовать метод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например: </a:t>
            </a:r>
            <a:r>
              <a:rPr lang="ru-RU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listBox1.Items.Add("Новый элемент");.</a:t>
            </a:r>
            <a:r>
              <a:rPr lang="ru-RU" sz="2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использовании этого метода каждый добавляемый элемент добавляется в конец списка.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добавить сразу несколько элементов, например, массив. Для этого используется метод </a:t>
            </a:r>
            <a:r>
              <a:rPr lang="ru-RU" sz="28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AddRange</a:t>
            </a:r>
            <a:r>
              <a:rPr lang="ru-RU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8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{ </a:t>
            </a:r>
            <a:r>
              <a:rPr lang="ru-RU" sz="2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2800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Бразилия","Аргентина","Чили</a:t>
            </a:r>
            <a:r>
              <a:rPr lang="ru-RU" sz="2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", "Уругвай", "Колумбия"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listBox1.Items.AddRange(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отличие от простого добавления вставка производится по определенному индексу списка с помощью метода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данном случае вставляем элемент на вторую позицию в списке, так как отсчет позиций начинается с нуля.</a:t>
            </a:r>
            <a:endParaRPr kumimoji="0" lang="en-US" altLang="ru-RU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listBox1.Items.Insert(1, </a:t>
            </a:r>
            <a:r>
              <a:rPr lang="ru-RU" sz="2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"Парагвай"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25031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A1705-D8DD-4058-882D-355F068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71094"/>
          </a:xfrm>
        </p:spPr>
        <p:txBody>
          <a:bodyPr>
            <a:normAutofit/>
          </a:bodyPr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Компонент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CA8C88-2775-435B-8062-5F6F039F3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989350"/>
            <a:ext cx="12072079" cy="5850395"/>
          </a:xfrm>
        </p:spPr>
        <p:txBody>
          <a:bodyPr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удаления элемента по его тексту используется метод </a:t>
            </a: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ru-RU" alt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listBox1.Items.Remove(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"Чили"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kumimoji="0" lang="ru-RU" alt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Чтобы удалить элемент по его индексу в списке, используется метод </a:t>
            </a: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RemoveAt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listBox1.Items.RemoveAt(1);</a:t>
            </a:r>
            <a:endParaRPr kumimoji="0" lang="en-US" altLang="ru-RU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Кроме того, можно очистить сразу весь список, применив метод 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Clear:</a:t>
            </a:r>
            <a:endParaRPr kumimoji="0" lang="en-US" altLang="ru-RU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listBox1.Items.Clear();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Используя 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индекс элемента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можно найти сам элемент в списке. Например, получим первый элемент списка: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firstElement</a:t>
            </a:r>
            <a:r>
              <a:rPr kumimoji="0" lang="ru-RU" alt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listBox1.Items[0];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ru-RU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kumimoji="0" lang="ru-RU" alt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kumimoji="0" lang="ru-RU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позволяет определить количество элементов в списке</a:t>
            </a:r>
            <a:r>
              <a:rPr kumimoji="0" lang="en-US" alt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2818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F90EE-4C09-42E5-883A-FF0192E5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16066"/>
          </a:xfrm>
        </p:spPr>
        <p:txBody>
          <a:bodyPr/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Компонент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0762D-4FBE-4F3F-AC40-DA56E2706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" y="1034321"/>
            <a:ext cx="11842229" cy="5823679"/>
          </a:xfrm>
        </p:spPr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При выделении элементов списка мы можем ими управлять как через индекс, так и через сам выделенный элемент. Получить выделенные элементы можно с помощью следующих свойств элемента 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ListBox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SelectedIndex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возвращает или устанавливает номер выделенного элемента списка. Если выделенные элементы отсутствуют, тогда свойство имеет значение 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-1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SelectedIndices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возвращает или устанавливает коллекцию выделенных элементов в виде набора их индексов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SelectedItem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возвращает или устанавливает текст выделенного элемента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SelectedItems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возвращает или устанавливает выделенные элементы в виде коллекции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0329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5FA97-9D62-4EBE-B918-3D6954DF2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44380"/>
          </a:xfrm>
        </p:spPr>
        <p:txBody>
          <a:bodyPr/>
          <a:lstStyle/>
          <a:p>
            <a:pPr algn="ctr"/>
            <a:r>
              <a:rPr kumimoji="0" lang="ru-RU" sz="4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Компонент </a:t>
            </a:r>
            <a:r>
              <a:rPr kumimoji="0" lang="en-US" sz="4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69D84E-6E98-4B81-94E5-28A493E84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4381"/>
            <a:ext cx="11813498" cy="59136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i="1" u="sng" dirty="0"/>
              <a:t>По умолчанию список поддерживает выделение одного элемента. </a:t>
            </a:r>
          </a:p>
          <a:p>
            <a:pPr marL="0" indent="0">
              <a:buNone/>
            </a:pPr>
            <a:endParaRPr lang="ru-RU" i="1" u="sng" dirty="0"/>
          </a:p>
          <a:p>
            <a:pPr marL="0" indent="0">
              <a:buNone/>
            </a:pPr>
            <a:r>
              <a:rPr lang="ru-RU" dirty="0"/>
              <a:t>Чтобы добавить возможность выделения нескольких элементов, надо установить у его свойства </a:t>
            </a:r>
            <a:r>
              <a:rPr lang="ru-RU" b="1" dirty="0" err="1"/>
              <a:t>SelectionMode</a:t>
            </a:r>
            <a:r>
              <a:rPr lang="ru-RU" dirty="0"/>
              <a:t> значение </a:t>
            </a:r>
            <a:r>
              <a:rPr lang="ru-RU" b="1" dirty="0" err="1"/>
              <a:t>MultiSimple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Чтобы </a:t>
            </a:r>
            <a:r>
              <a:rPr lang="ru-RU" u="sng" dirty="0"/>
              <a:t>выделить элемент </a:t>
            </a:r>
            <a:r>
              <a:rPr lang="ru-RU" u="sng" dirty="0" err="1"/>
              <a:t>програмно</a:t>
            </a:r>
            <a:r>
              <a:rPr lang="ru-RU" dirty="0"/>
              <a:t>, надо применить метод </a:t>
            </a:r>
          </a:p>
          <a:p>
            <a:pPr marL="0" indent="0">
              <a:buNone/>
            </a:pPr>
            <a:r>
              <a:rPr lang="ru-RU" b="1" dirty="0" err="1"/>
              <a:t>SetSelected</a:t>
            </a:r>
            <a:r>
              <a:rPr lang="ru-RU" b="1" dirty="0"/>
              <a:t>(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index</a:t>
            </a:r>
            <a:r>
              <a:rPr lang="ru-RU" b="1" dirty="0"/>
              <a:t>, </a:t>
            </a:r>
            <a:r>
              <a:rPr lang="ru-RU" b="1" dirty="0" err="1"/>
              <a:t>bool</a:t>
            </a:r>
            <a:r>
              <a:rPr lang="ru-RU" b="1" dirty="0"/>
              <a:t> </a:t>
            </a:r>
            <a:r>
              <a:rPr lang="ru-RU" b="1" dirty="0" err="1"/>
              <a:t>value</a:t>
            </a:r>
            <a:r>
              <a:rPr lang="ru-RU" b="1" dirty="0"/>
              <a:t>),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где </a:t>
            </a:r>
            <a:r>
              <a:rPr lang="ru-RU" b="1" dirty="0" err="1"/>
              <a:t>index</a:t>
            </a:r>
            <a:r>
              <a:rPr lang="ru-RU" b="1" dirty="0"/>
              <a:t> </a:t>
            </a:r>
            <a:r>
              <a:rPr lang="ru-RU" dirty="0"/>
              <a:t>- номер выделенного элемента. </a:t>
            </a:r>
          </a:p>
          <a:p>
            <a:pPr marL="0" indent="0">
              <a:buNone/>
            </a:pPr>
            <a:r>
              <a:rPr lang="ru-RU" dirty="0"/>
              <a:t>Если второй параметр - </a:t>
            </a:r>
            <a:r>
              <a:rPr lang="ru-RU" b="1" dirty="0" err="1"/>
              <a:t>value</a:t>
            </a:r>
            <a:r>
              <a:rPr lang="ru-RU" dirty="0"/>
              <a:t> имеет </a:t>
            </a:r>
            <a:r>
              <a:rPr lang="ru-RU" dirty="0" err="1"/>
              <a:t>значени</a:t>
            </a:r>
            <a:r>
              <a:rPr lang="ru-RU" dirty="0"/>
              <a:t> </a:t>
            </a:r>
            <a:r>
              <a:rPr lang="ru-RU" b="1" dirty="0" err="1"/>
              <a:t>true</a:t>
            </a:r>
            <a:r>
              <a:rPr lang="ru-RU" dirty="0"/>
              <a:t>, то элемент по указанному индексу выделяется, если </a:t>
            </a:r>
            <a:r>
              <a:rPr lang="ru-RU" b="1" dirty="0" err="1"/>
              <a:t>false</a:t>
            </a:r>
            <a:r>
              <a:rPr lang="ru-RU" dirty="0"/>
              <a:t>, то выделение, наоборот, скрывается:</a:t>
            </a:r>
          </a:p>
          <a:p>
            <a:pPr marL="0" indent="0">
              <a:buNone/>
            </a:pPr>
            <a:r>
              <a:rPr lang="ru-RU" b="1" dirty="0"/>
              <a:t>listBox1.SetSelected(2, </a:t>
            </a:r>
            <a:r>
              <a:rPr lang="ru-RU" b="1" dirty="0" err="1"/>
              <a:t>true</a:t>
            </a:r>
            <a:r>
              <a:rPr lang="ru-RU" b="1" dirty="0"/>
              <a:t>); </a:t>
            </a:r>
            <a:r>
              <a:rPr lang="ru-RU" b="1" dirty="0">
                <a:solidFill>
                  <a:srgbClr val="00B050"/>
                </a:solidFill>
              </a:rPr>
              <a:t>// будет выделен третий элемент</a:t>
            </a:r>
          </a:p>
          <a:p>
            <a:pPr marL="0" indent="0">
              <a:buNone/>
            </a:pPr>
            <a:endParaRPr lang="ru-RU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dirty="0"/>
              <a:t>Чтобы снять выделение со всех выделенных элементов, используется метод </a:t>
            </a:r>
            <a:r>
              <a:rPr lang="ru-RU" b="1" dirty="0" err="1"/>
              <a:t>ClearSelected</a:t>
            </a:r>
            <a:r>
              <a:rPr lang="ru-RU" b="1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2864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080BF-CEED-4A24-89C3-5D8F8C24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10" y="18256"/>
            <a:ext cx="11917180" cy="971096"/>
          </a:xfrm>
        </p:spPr>
        <p:txBody>
          <a:bodyPr/>
          <a:lstStyle/>
          <a:p>
            <a:pPr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использования к</a:t>
            </a:r>
            <a:r>
              <a:rPr kumimoji="0" lang="ru-RU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омпонента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ListBox</a:t>
            </a:r>
            <a:endParaRPr lang="ru-RU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0578B5-E71B-4402-A70E-07EEC9799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44" y="813217"/>
            <a:ext cx="11917180" cy="5681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рисунке представлена форма со списком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текстовый файл, в котором он сохранен: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22C579-4914-4870-B7D8-0C32FF6189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72717" y="2272104"/>
            <a:ext cx="2349972" cy="377267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C30614-39A3-4105-BB0E-4607F7318B8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30387" y="2272104"/>
            <a:ext cx="2974643" cy="38530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3FB1A6-8681-4E45-B47D-92E312625A60}"/>
              </a:ext>
            </a:extLst>
          </p:cNvPr>
          <p:cNvSpPr txBox="1"/>
          <p:nvPr/>
        </p:nvSpPr>
        <p:spPr>
          <a:xfrm>
            <a:off x="1839911" y="6125156"/>
            <a:ext cx="1015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endParaRPr lang="ru-RU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B5007-ACA6-47C5-AFE4-1D201A15B90B}"/>
              </a:ext>
            </a:extLst>
          </p:cNvPr>
          <p:cNvSpPr txBox="1"/>
          <p:nvPr/>
        </p:nvSpPr>
        <p:spPr>
          <a:xfrm>
            <a:off x="6350842" y="6125156"/>
            <a:ext cx="1933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текстовый файл</a:t>
            </a: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6249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F8CD9-3353-4720-8EEC-15594349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8115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программы работы со списком </a:t>
            </a:r>
            <a:r>
              <a:rPr lang="en-US" sz="4400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этого примера. 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3C38F-E732-4B14-9740-21440379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4341"/>
            <a:ext cx="12192000" cy="583540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button4_Click(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Сохранение в файле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saveFileDialog1.Filter = 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"Text files(*.txt)|*.</a:t>
            </a:r>
            <a:r>
              <a:rPr lang="en-US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txt|All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files(*.*)|*.*"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(saveFileDialog1.ShowDialog() ==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DialogResult.Cancel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filename = saveFileDialog1.FileName;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WriteToFile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(filename, listBox1);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WriteToFile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path,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StreamWriter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FileStream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(path,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FileMode.Create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foreach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(var item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listBox.Items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таком же порядке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sw.WriteLine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item.ToString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003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1C7E4-5436-4F16-9179-4280105C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1" y="18255"/>
            <a:ext cx="12087069" cy="1165968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Код программы работы со списком </a:t>
            </a:r>
            <a:r>
              <a:rPr kumimoji="0" lang="en-US" sz="40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ListBox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b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</a:b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для этого примера. Продолжение.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BD9E7B-077C-4978-AF78-A4FBDE821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1319134"/>
            <a:ext cx="11982138" cy="55388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Добаляем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элемент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listBox1.Items.Add(textBox1.Text);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button2_Click(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Удаляем элемент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listBox1.Items.Remove(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Горох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button3_Click(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Очищаем список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listBox1.Items.Clear();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65124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BBB19-D02F-4A0A-97CC-A0EA145F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455"/>
            <a:ext cx="10515600" cy="779489"/>
          </a:xfrm>
        </p:spPr>
        <p:txBody>
          <a:bodyPr/>
          <a:lstStyle/>
          <a:p>
            <a:r>
              <a:rPr lang="ru-RU" sz="4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для самостоятельной работы</a:t>
            </a:r>
            <a:endParaRPr lang="ru-RU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12EDAD-03C4-4CCC-B152-C14DA8C35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816" y="1154243"/>
            <a:ext cx="11632367" cy="52465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4000" dirty="0"/>
              <a:t>Напишите программу, состоящую из двух списков </a:t>
            </a:r>
            <a:r>
              <a:rPr lang="ru-RU" sz="4000" b="1" i="1" dirty="0" err="1"/>
              <a:t>Listbox</a:t>
            </a:r>
            <a:r>
              <a:rPr lang="ru-RU" sz="4000" b="1" dirty="0"/>
              <a:t>.</a:t>
            </a:r>
            <a:r>
              <a:rPr lang="ru-RU" sz="4000" dirty="0"/>
              <a:t> В первом будет, например, перечень товаров, заданный </a:t>
            </a:r>
            <a:r>
              <a:rPr lang="ru-RU" sz="4000" dirty="0" err="1"/>
              <a:t>программно</a:t>
            </a:r>
            <a:r>
              <a:rPr lang="ru-RU" sz="4000" dirty="0"/>
              <a:t>. Второй изначально пуст, пусть это будет перечень покупок. При клике на одну кнопку товар должен помещаться из списка товаров в список 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покупок</a:t>
            </a:r>
            <a:r>
              <a:rPr lang="ru-RU" sz="4000" dirty="0"/>
              <a:t>. При клике на вторую кнопку – удаляться из списка 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покупок</a:t>
            </a:r>
            <a:r>
              <a:rPr lang="ru-RU" sz="4000" dirty="0"/>
              <a:t> (человек передумал покупать). Список товаров не должен изменяться. </a:t>
            </a:r>
          </a:p>
          <a:p>
            <a:pPr marL="0" indent="0">
              <a:buNone/>
            </a:pPr>
            <a:r>
              <a:rPr lang="ru-RU" sz="4000" dirty="0"/>
              <a:t>(Дополнительно: предусмотрите возможность множественного выбора элементов списка и их перемещения.)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558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81239-7362-4CA9-B916-D38CA964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407371"/>
          </a:xfrm>
        </p:spPr>
        <p:txBody>
          <a:bodyPr>
            <a:normAutofit fontScale="90000"/>
          </a:bodyPr>
          <a:lstStyle/>
          <a:p>
            <a:pPr algn="ctr">
              <a:spcBef>
                <a:spcPts val="200"/>
              </a:spcBef>
            </a:pPr>
            <a:r>
              <a:rPr lang="ru-RU" sz="4400" b="1" i="1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Список </a:t>
            </a:r>
            <a:r>
              <a:rPr lang="en-US" sz="4400" b="1" i="1" dirty="0" err="1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ComboBox</a:t>
            </a:r>
            <a:r>
              <a:rPr lang="ru-RU" sz="4400" b="1" i="1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4A647B-49D2-4D9F-BEA7-97ED3979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0" y="3429000"/>
            <a:ext cx="6412916" cy="3157891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хранения элементов списка в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также предназначено свойство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Подобным образом, как и с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мы можем в окне свойств выбрать свойство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нам отобразится окно для добавления элементов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528E6B-D19D-479F-9E03-58A0335AE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553" y="3241783"/>
            <a:ext cx="4983171" cy="3190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66EA5E-7E45-4616-977A-9E827B6811AA}"/>
              </a:ext>
            </a:extLst>
          </p:cNvPr>
          <p:cNvSpPr txBox="1"/>
          <p:nvPr/>
        </p:nvSpPr>
        <p:spPr>
          <a:xfrm>
            <a:off x="7907650" y="6441607"/>
            <a:ext cx="3082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Редактор строк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2703AE-3D3F-4AF4-884B-F4B162C2B5B9}"/>
              </a:ext>
            </a:extLst>
          </p:cNvPr>
          <p:cNvSpPr txBox="1"/>
          <p:nvPr/>
        </p:nvSpPr>
        <p:spPr>
          <a:xfrm>
            <a:off x="0" y="425627"/>
            <a:ext cx="12192000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Компонент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ComboBox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совмещает в себе список и текстовое поле. По этой причине у него есть свойство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Text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– текст, находящийся в поле ввода/редактирования. Отметим также свойство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DropDownStyle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– вид компонента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DropDown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  <a:sym typeface="Symbol" panose="05050102010706020507" pitchFamily="18" charset="2"/>
              </a:rPr>
              <a:t>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поле ввода и раскрывающийся список;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Simple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  <a:sym typeface="Symbol" panose="05050102010706020507" pitchFamily="18" charset="2"/>
              </a:rPr>
              <a:t>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поле ввода со списком;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DropDownList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  <a:sym typeface="Symbol" panose="05050102010706020507" pitchFamily="18" charset="2"/>
              </a:rPr>
              <a:t>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раскрывающийся список. Ниже мы поясним действие этого свойства на примерах. Остальные его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свойства аналогичны свойствам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ListBox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(см. таблицу свойств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ListBox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292299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12FD4-679C-4F93-9CF6-DA90DCB0A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034322"/>
          </a:xfrm>
        </p:spPr>
        <p:txBody>
          <a:bodyPr>
            <a:norm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Список </a:t>
            </a:r>
            <a:r>
              <a:rPr kumimoji="0" lang="en-US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ComboBox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734EE6-F3D8-4926-BCB1-5138F6253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839448"/>
            <a:ext cx="11917181" cy="589113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И, как и с компонентом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здесь мы также можем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программно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управлять элементами.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4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Добавление элементов:</a:t>
            </a: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comboBox1.Items.Add(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"Парагвай"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добавляем один элемент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Items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AddRange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{ 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"Уругвай", "Эквадор"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             </a:t>
            </a:r>
            <a:r>
              <a:rPr lang="ru-RU" sz="2400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//добавляем набор элементов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comboBox1.Items.Insert(1, 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"Боливия"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добавляем один элемент</a:t>
            </a:r>
          </a:p>
          <a:p>
            <a:pPr indent="0">
              <a:lnSpc>
                <a:spcPts val="1465"/>
              </a:lnSpc>
              <a:buNone/>
            </a:pP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             //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на определенную позицию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4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элементов: </a:t>
            </a: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comboBox1.Items.Remove(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"Аргентина"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удаляем один элемент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comboBox1.Items.RemoveAt(1);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// удаляем элемент по индексу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comboBox1.Items.Clear();</a:t>
            </a:r>
            <a:r>
              <a:rPr lang="ru-RU" sz="2400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удаляем все элементы</a:t>
            </a:r>
            <a:endParaRPr lang="ru-RU" sz="2400" b="1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можем получить элемент по индексу и производить с ним разные действия. Например, изменить его</a:t>
            </a:r>
          </a:p>
          <a:p>
            <a:pPr indent="450215">
              <a:lnSpc>
                <a:spcPts val="1465"/>
              </a:lnSpc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comboBox1.Items[0] =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"Парагвай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12440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CB496-CA16-4890-BE1A-4F257374A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4439"/>
          </a:xfrm>
        </p:spPr>
        <p:txBody>
          <a:bodyPr/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войства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ComboBox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AE3DE5-C823-4381-B0E1-918C1CB92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9508"/>
            <a:ext cx="12192000" cy="6108492"/>
          </a:xfrm>
        </p:spPr>
        <p:txBody>
          <a:bodyPr>
            <a:normAutofit fontScale="92500"/>
          </a:bodyPr>
          <a:lstStyle/>
          <a:p>
            <a:pPr indent="0" algn="just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помощью ряда свойств можно настроить стиль оформления компонента:</a:t>
            </a:r>
          </a:p>
          <a:p>
            <a:pPr marL="5715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Свойство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DropDownWidth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DropDownHeight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задает ширину и высоту выпадающего списка.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Свойство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MaxDropDownItems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позволяет задать число видимых элементов списка –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от 1 до 100. (По умолчанию это число равно 8.)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Свойство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DropDownStyle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задает стиль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Оно может принимать три возможных значения: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Dropdown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используется по умолчанию. Мы можем открыть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выпадающий список вариантов при вводе значения в текстовое поле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или нажав на кнопку со стрелкой в правой части элемента,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и нам отобразится собственно выпадающий список, в котором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можно выбрать возможный вариант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DropdownList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чтобы открыть выпадающий список,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надо нажать на кнопку со стрелкой в правой стороне элемента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Simple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ComboBox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представляет простое текстовое поле,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в котором для перехода между элементами мы можем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использовать клавиши клавиатуры вверх/вниз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2AA9B5-4D54-404B-BC56-97F4F3AB31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29798" y="3129197"/>
            <a:ext cx="4152276" cy="357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46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9F955D-6C87-4295-BB44-08880608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94281"/>
          </a:xfrm>
        </p:spPr>
        <p:txBody>
          <a:bodyPr/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Учебная программа «Угадай число»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1B2640-2378-4865-895F-8DF54738D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4282"/>
            <a:ext cx="11902190" cy="5756223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Суть игры проста: игрок загадывает и вводит цифру, а программа генерирует случайное число. Если эти числа совпали, игрок получает бонусы. Код программы с комментариями приведен ниже.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15A5FF-CFEF-425A-BA8D-9CF32FC41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55" y="2873753"/>
            <a:ext cx="2620729" cy="302923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3FC89D-3582-471B-A0BF-987F6DAAA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287" y="2873753"/>
            <a:ext cx="2187200" cy="310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55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87D15-649F-4C42-84ED-552CB2597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25"/>
            <a:ext cx="10515600" cy="701273"/>
          </a:xfrm>
        </p:spPr>
        <p:txBody>
          <a:bodyPr>
            <a:normAutofit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kumimoji="0" lang="ru-RU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рограмма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EB9946-6056-483B-AC60-CAEFA7B71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92" y="929390"/>
            <a:ext cx="11842229" cy="578620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namespace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Ugadai_chislo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partial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Form1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: Form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Form2 frm2;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Form1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InitializeComponent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private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button1_Click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object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sender,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EventArgs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.Close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Конец игры</a:t>
            </a: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945348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96667F-EE2D-490E-9437-00F895C8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9409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876F1-4A40-436F-AFE6-50F790F0D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64498"/>
            <a:ext cx="12192001" cy="5981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 = </a:t>
            </a:r>
            <a:r>
              <a:rPr lang="ru-RU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Form2();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</a:rPr>
              <a:t>//Создаем указатель на форму2</a:t>
            </a: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frm2.frm1 = </a:t>
            </a:r>
            <a:r>
              <a:rPr lang="ru-RU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</a:rPr>
              <a:t>//Передаем форме2 указатель на форму1</a:t>
            </a: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frm2.BackColor =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Color.Cyan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</a:rPr>
              <a:t>Меняем цвет формы2</a:t>
            </a: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frm2.Show();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</a:rPr>
              <a:t>//Показываем форму2</a:t>
            </a: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frm2.label1.Text = textBox1.Text + 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+ textBox2.Text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+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     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"! </a:t>
            </a:r>
            <a:r>
              <a:rPr lang="ru-RU" sz="2600" dirty="0">
                <a:solidFill>
                  <a:srgbClr val="A31515"/>
                </a:solidFill>
                <a:latin typeface="Consolas" panose="020B0609020204030204" pitchFamily="49" charset="0"/>
              </a:rPr>
              <a:t>Поиграем?"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ru-R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0643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5698B-41EC-453B-B7A3-C3FD11F8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9448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B8687E-E874-40FB-88FD-CFDAF5D1C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2" y="1019332"/>
            <a:ext cx="12042098" cy="57037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Ugadai_chislo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Form2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Form1 frm1;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 = 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k = 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Random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Random();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Form2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32013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FE592-A6EC-460F-8E47-61A62A3AE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4458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25D22F-E6ED-4ECB-B553-94F5D3FD5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9213"/>
            <a:ext cx="12082072" cy="56587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b, d=0;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f =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ru-RU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s = textBox1.Text;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 считываем число игрока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//Проверка: вдруг не число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d = Convert.ToInt32(s);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c++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счет ходов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textBox1.Text = 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f =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                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2796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D4AE2-FECB-474F-ADE1-46A79352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56105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C6B10A-80D5-43F3-8A5A-AE220B7D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1894"/>
            <a:ext cx="12192000" cy="58653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(f)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//Если число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b =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(1,6);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(d==b)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k++;  </a:t>
            </a: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Счет совпадений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}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s = s + 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 - "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b.ToString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listBox1.Items.Add(s);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ru-RU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(c==5)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//Всего пять ходов</a:t>
            </a:r>
            <a:endParaRPr lang="ru-RU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textBox1.Enabled =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button1.Enabled =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250703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377D2-83A8-4A72-900D-9B76C97D1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06204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Программа «Угадай число»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E3A79-BED9-48FD-9259-9CE2AEF4D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959370"/>
            <a:ext cx="11917181" cy="5880374"/>
          </a:xfrm>
        </p:spPr>
        <p:txBody>
          <a:bodyPr/>
          <a:lstStyle/>
          <a:p>
            <a:pPr marL="0" indent="0">
              <a:buNone/>
            </a:pPr>
            <a:r>
              <a:rPr 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2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ru-RU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.Hide</a:t>
            </a: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//Прячем форму2</a:t>
            </a:r>
            <a:endParaRPr lang="ru-RU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frm1.Show();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6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Показывем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 форму1</a:t>
            </a:r>
            <a:endParaRPr lang="ru-RU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frm1.label4.Text += </a:t>
            </a:r>
            <a:r>
              <a:rPr lang="en-US" sz="2600" b="1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k.ToString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(); 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Передаем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                           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 очки на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Form1</a:t>
            </a:r>
            <a:endParaRPr lang="en-US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35948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82F79-567E-4FF8-B91D-31E87FB9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21194"/>
          </a:xfrm>
        </p:spPr>
        <p:txBody>
          <a:bodyPr/>
          <a:lstStyle/>
          <a:p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для самостоятельной работы.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6EC1AB-931E-4B37-8B6C-C68C36FFD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2" y="1079292"/>
            <a:ext cx="12087068" cy="5576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i="1" dirty="0"/>
              <a:t>Задача магазин. </a:t>
            </a:r>
            <a:r>
              <a:rPr lang="ru-RU" sz="3600" dirty="0"/>
              <a:t>Есть список из 10 товаров, например, канцелярских, и соответствующий им список цен. Надо в третьем списке указать количество каждого товара, которые необходимо купить, например, для класса или группы в детском саду. При этом нельзя задавать одинаковое количество для всех наименований. Например, надо купить простых карандашей 40 штук, фломастеров - 6 коробок, альбомов - 20, ластиков - 15 и т. п. Цены разумные! Программа должна подсчитать, сколько рублей потребуется. Подсчет должен идти в цикле.</a:t>
            </a:r>
          </a:p>
        </p:txBody>
      </p:sp>
    </p:spTree>
    <p:extLst>
      <p:ext uri="{BB962C8B-B14F-4D97-AF65-F5344CB8AC3E}">
        <p14:creationId xmlns:p14="http://schemas.microsoft.com/office/powerpoint/2010/main" val="15556799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4517</Words>
  <Application>Microsoft Office PowerPoint</Application>
  <PresentationFormat>Широкоэкранный</PresentationFormat>
  <Paragraphs>502</Paragraphs>
  <Slides>46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55" baseType="lpstr">
      <vt:lpstr>Arial</vt:lpstr>
      <vt:lpstr>Calibri</vt:lpstr>
      <vt:lpstr>Calibri Light</vt:lpstr>
      <vt:lpstr>Consolas</vt:lpstr>
      <vt:lpstr>Courier New</vt:lpstr>
      <vt:lpstr>Times New Roman</vt:lpstr>
      <vt:lpstr>Verdana</vt:lpstr>
      <vt:lpstr>Wingdings</vt:lpstr>
      <vt:lpstr>Тема Office</vt:lpstr>
      <vt:lpstr> Windows приложения. Компоненты формы.</vt:lpstr>
      <vt:lpstr>Многооконные приложения</vt:lpstr>
      <vt:lpstr>Многооконные приложения</vt:lpstr>
      <vt:lpstr>Многооконные приложения</vt:lpstr>
      <vt:lpstr>Многооконные приложения</vt:lpstr>
      <vt:lpstr>Контейнеры в Windows Forms.  Контейнер GroupBox</vt:lpstr>
      <vt:lpstr>Контейнеры в Windows Forms.  Контейнер Panel</vt:lpstr>
      <vt:lpstr>Переключатель CheckBox</vt:lpstr>
      <vt:lpstr>Свойства компонента CheckBox.</vt:lpstr>
      <vt:lpstr>Свойства компонента CheckBox. Продолжение.</vt:lpstr>
      <vt:lpstr>Переключатель CheckBox</vt:lpstr>
      <vt:lpstr>Переключатель RadioButton</vt:lpstr>
      <vt:lpstr>Переключатель RadioButton</vt:lpstr>
      <vt:lpstr>Окно сообщений MessageBox</vt:lpstr>
      <vt:lpstr>Окно сообщений MessageBox</vt:lpstr>
      <vt:lpstr>Окно сообщений MessageBox</vt:lpstr>
      <vt:lpstr>Окно сообщений MessageBox</vt:lpstr>
      <vt:lpstr>Примеры использования класса MessageBox.</vt:lpstr>
      <vt:lpstr>Примеры использования класса MessageBox.</vt:lpstr>
      <vt:lpstr>Примеры использования класса MessageBox.</vt:lpstr>
      <vt:lpstr>Диалоги открытия и сохранения файлов</vt:lpstr>
      <vt:lpstr>Диалоги открытия и сохранения файлов</vt:lpstr>
      <vt:lpstr>Пример чтения из файла в Textbox с использованием OpenFileDialog.</vt:lpstr>
      <vt:lpstr>Пример записи из TextBox в файл с использованием SaveFileDialog.</vt:lpstr>
      <vt:lpstr>Выполнить следующее задание </vt:lpstr>
      <vt:lpstr>Компонент ListBox</vt:lpstr>
      <vt:lpstr>Компонент ListBox</vt:lpstr>
      <vt:lpstr>Компонент ListBox</vt:lpstr>
      <vt:lpstr>Компонент ListBox</vt:lpstr>
      <vt:lpstr>Компонент ListBox</vt:lpstr>
      <vt:lpstr>Компонент ListBox</vt:lpstr>
      <vt:lpstr>Пример использования компонента ListBox</vt:lpstr>
      <vt:lpstr>Код программы работы со списком ListBox  для этого примера. </vt:lpstr>
      <vt:lpstr>Код программы работы со списком ListBox  для этого примера. Продолжение.</vt:lpstr>
      <vt:lpstr>Задание для самостоятельной работы</vt:lpstr>
      <vt:lpstr>Список ComboBox.</vt:lpstr>
      <vt:lpstr>Список ComboBox.</vt:lpstr>
      <vt:lpstr>Свойства ComboBox.</vt:lpstr>
      <vt:lpstr>Учебная программа «Угадай число»</vt:lpstr>
      <vt:lpstr>Программа «Угадай число»</vt:lpstr>
      <vt:lpstr>Программа «Угадай число»</vt:lpstr>
      <vt:lpstr>Программа «Угадай число»</vt:lpstr>
      <vt:lpstr>Программа «Угадай число»</vt:lpstr>
      <vt:lpstr>Программа «Угадай число»</vt:lpstr>
      <vt:lpstr>Программа «Угадай число»</vt:lpstr>
      <vt:lpstr>Задание для самостоятельной работы.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Белякова</dc:creator>
  <cp:lastModifiedBy>Мария Белякова</cp:lastModifiedBy>
  <cp:revision>49</cp:revision>
  <dcterms:created xsi:type="dcterms:W3CDTF">2022-03-19T12:00:09Z</dcterms:created>
  <dcterms:modified xsi:type="dcterms:W3CDTF">2022-03-21T17:16:54Z</dcterms:modified>
</cp:coreProperties>
</file>