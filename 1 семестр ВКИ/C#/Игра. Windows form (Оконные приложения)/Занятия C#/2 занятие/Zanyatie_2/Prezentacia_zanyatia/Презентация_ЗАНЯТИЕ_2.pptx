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0" r:id="rId14"/>
    <p:sldId id="261" r:id="rId15"/>
    <p:sldId id="278" r:id="rId16"/>
    <p:sldId id="275" r:id="rId17"/>
    <p:sldId id="271" r:id="rId18"/>
    <p:sldId id="272" r:id="rId19"/>
    <p:sldId id="263" r:id="rId20"/>
    <p:sldId id="274" r:id="rId21"/>
    <p:sldId id="276" r:id="rId22"/>
    <p:sldId id="279" r:id="rId23"/>
    <p:sldId id="277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48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73816-346A-47B9-9A4A-AB925AFAF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8C82A5-BB17-4BE7-B0D8-5BC69AF00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7651B5-5255-4894-9635-15A3A75F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31570E-778E-4BB9-84E9-0022B785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EDC43A-6095-45EE-ABDC-03DF6F79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49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CE8AD-6099-440E-B657-C3AF5D78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711BB-B414-4869-9A93-89B602E1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3AEB3-25AA-4C39-B675-648B5829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8072A-D613-4D89-85B6-6F8DFC48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286782-3299-4590-8E59-229B5055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19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2F67C-A1CF-4F6E-A41C-704AC5BE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CB806D-A388-44F6-9F71-8A77D89CA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758221-1C66-4FAF-BB6F-987BEF29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C0048F-3391-48B2-A2D6-64650885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20092F-C32F-4E29-AC71-0E9757AB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48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8F839-D7CA-4CD2-939F-844587E1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26E564-B288-4185-BEDE-74B3EA543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DE613F-DA8E-4C10-9884-6669CE211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010743-C2D4-440A-BE39-F0ACEBDD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AB71CA-D512-4D14-9BEC-50E4CA754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4E0DD-AFAC-4F6E-8118-87887FC0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8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E604A-4105-4B76-A51D-5135C4431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E4D6C8-BFEF-47D0-BF57-5EEB0E04B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41C53F-3FE5-4AA0-B515-93552B0EB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99C21B2-372F-4CA6-A0CD-9A26EB810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348A1D-E5D3-4B1A-AFA5-C8ADF0B39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7A1F44-1779-43CE-8FF9-C59797AB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7DCA25F-25B7-4D5C-BBDA-07DE23E2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0F657A-4CA3-4106-973B-7C4B8341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31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08243-930B-4352-AF9E-98F530F4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AFF4CA2-E1FE-4FFD-9A03-0EAA97F2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790AAA-81E0-4CA7-8D86-503E6806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7CF024-BD32-4FBD-AEC8-9F265F41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69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46A7A8-8176-499D-A734-82925FFB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B31264-299E-41D1-A276-72684D15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A7E83F-0353-4A5E-8A4F-63F25BC0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39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0459C-A6DF-4D4A-8057-FCC9855C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F09346-5A5B-44BD-8CDD-363BF332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39BCAF-5C40-405D-A678-417A983E2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F3A15D-54BB-470A-B995-ADA71F29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615AE6-4477-46E1-922C-3C793025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4E91DD-40B4-4F5B-B32E-8328E86B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92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7770D9-595C-4D8E-A060-FC8C62A5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1F7D89-F0FE-4BFD-8309-2E643B4D6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C5545D-3967-4A8B-9EDB-3D9EE76CE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6CA6E0-A36C-4611-AEC8-B4B5B06D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D3EC65-7CAC-491D-99F0-0E6A9512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5893ED-0384-46AB-AFE2-80597C68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344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AF945-E16E-4879-B5B2-F77A9573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797E73-A10A-4339-B964-8799D5AAC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CCA1F8-B644-4B5B-9F53-82C414F2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1B6AE9-1C98-46B7-A452-C5E704DD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60E84C-081A-4F33-A9FC-A2A538A8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74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2E8304-267B-4509-8B80-B5F0B47B8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DDF647-7E2A-4DCB-BF7C-0D9B4937F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19EDBE-5D15-4FBF-BF90-1A4CCDDA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654852-DEBF-4DB1-91F3-9F22D220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E469EC-A05F-4F11-8841-779B8DC6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96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6502A1-E5B9-45C6-91FE-23D2D25D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6AD137-F035-44D9-BC5F-FF4D1989C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86C7-5BAD-4791-BC39-433A1D0BD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2A9BE-0FE0-4F48-9322-102401C38AC5}" type="datetimeFigureOut">
              <a:rPr lang="ru-RU" smtClean="0"/>
              <a:t>14.02.2022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BD5BC8-6AFA-4BBF-A1DA-DD4BFED48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AE2AF2-CF2E-4A3F-9B0E-C0DB85BC1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1ADD-7456-4AFC-AB96-368FF1BE69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25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s-help://MS.VSCC.v80/MS.MSDN.v80/MS.NETDEVFX.v20.en/cpref8/html/T_System_Drawing_Drawing2D_LinearGradientBrush.htm" TargetMode="External"/><Relationship Id="rId2" Type="http://schemas.openxmlformats.org/officeDocument/2006/relationships/hyperlink" Target="ms-help://MS.VSCC.v80/MS.MSDN.v80/MS.NETDEVFX.v20.en/cpref8/html/T_System_Drawing_TextureBrush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4F12E-AD4A-43F1-8540-37FE41DE0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145" y="1523999"/>
            <a:ext cx="11457709" cy="303414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8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 и Т</a:t>
            </a:r>
            <a:r>
              <a:rPr lang="ru-RU" sz="8000" b="1" i="1" kern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аймер</a:t>
            </a:r>
            <a:br>
              <a:rPr lang="ru-RU" sz="8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8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Window Forms.</a:t>
            </a:r>
            <a:endParaRPr lang="ru-RU" sz="8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75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27FC6-6930-4457-AD97-8AEFC55B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6550"/>
          </a:xfrm>
        </p:spPr>
        <p:txBody>
          <a:bodyPr>
            <a:normAutofit/>
          </a:bodyPr>
          <a:lstStyle/>
          <a:p>
            <a:pPr algn="ctr"/>
            <a:r>
              <a:rPr lang="ru-RU" sz="3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занести рисунок из файла на элемент из панели элементов.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9D414-FE90-4382-BA4B-27D65DB77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98" y="684806"/>
            <a:ext cx="12019783" cy="16566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600" b="1" i="1" u="sng" dirty="0"/>
              <a:t>Установим на кнопке изображение. </a:t>
            </a:r>
            <a:r>
              <a:rPr lang="ru-RU" sz="2600" dirty="0"/>
              <a:t>Для этого выберем кнопку и в окне </a:t>
            </a:r>
            <a:r>
              <a:rPr lang="ru-RU" sz="2600" b="1" dirty="0"/>
              <a:t>Свойств</a:t>
            </a:r>
            <a:r>
              <a:rPr lang="ru-RU" sz="2600" dirty="0"/>
              <a:t> нажмем на поле </a:t>
            </a:r>
            <a:r>
              <a:rPr lang="ru-RU" sz="2600" b="1" dirty="0"/>
              <a:t>Image.</a:t>
            </a:r>
            <a:r>
              <a:rPr lang="ru-RU" sz="2600" dirty="0"/>
              <a:t> Нам откроется диалоговое окно установки изображения</a:t>
            </a:r>
            <a:r>
              <a:rPr lang="en-US" sz="2600" dirty="0"/>
              <a:t> </a:t>
            </a:r>
            <a:r>
              <a:rPr lang="ru-RU" sz="2600" dirty="0"/>
              <a:t>(рис.2.9). В этом окне выберем опцию </a:t>
            </a:r>
            <a:r>
              <a:rPr lang="ru-RU" sz="2600" b="1" dirty="0"/>
              <a:t>Local Resource </a:t>
            </a:r>
            <a:r>
              <a:rPr lang="ru-RU" sz="2600" dirty="0"/>
              <a:t>и нажмем на кнопку </a:t>
            </a:r>
            <a:r>
              <a:rPr lang="ru-RU" sz="2600" b="1" dirty="0" err="1"/>
              <a:t>Import</a:t>
            </a:r>
            <a:r>
              <a:rPr lang="ru-RU" sz="2600" dirty="0"/>
              <a:t>, после чего нам откроется диалоговое окно для выбора файла изображения.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E3B462-8AFA-44B3-9212-C186FCA9E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870" y="2439091"/>
            <a:ext cx="4658531" cy="36852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D832A1-C8A8-47B9-89D0-906EE3093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052" y="6173194"/>
            <a:ext cx="4412166" cy="652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83937-146C-46EA-9C2E-D7AFB552EC04}"/>
              </a:ext>
            </a:extLst>
          </p:cNvPr>
          <p:cNvSpPr txBox="1"/>
          <p:nvPr/>
        </p:nvSpPr>
        <p:spPr>
          <a:xfrm>
            <a:off x="0" y="2069759"/>
            <a:ext cx="74522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/>
              <a:t>После выбора изображения мы можем установить свойство </a:t>
            </a:r>
            <a:r>
              <a:rPr lang="ru-RU" sz="2600" b="1" dirty="0" err="1"/>
              <a:t>ImageAlign</a:t>
            </a:r>
            <a:r>
              <a:rPr lang="ru-RU" sz="2600" dirty="0"/>
              <a:t>, которое управляет позиционированием изображения на кнопке. Нам доступны 9 вариантов, с помощью которых мы можем прикрепить изображение к определенной стороне кнопки. Оставим здесь значение по умолчанию - </a:t>
            </a:r>
            <a:r>
              <a:rPr lang="ru-RU" sz="2600" b="1" dirty="0" err="1"/>
              <a:t>MiddleCenter</a:t>
            </a:r>
            <a:r>
              <a:rPr lang="ru-RU" sz="2600" dirty="0"/>
              <a:t>, то есть позиционирование по </a:t>
            </a:r>
            <a:r>
              <a:rPr lang="ru-RU" sz="2600" dirty="0" err="1"/>
              <a:t>центру.Затем</a:t>
            </a:r>
            <a:r>
              <a:rPr lang="ru-RU" sz="2600" dirty="0"/>
              <a:t> перейдем к свойству </a:t>
            </a:r>
            <a:r>
              <a:rPr lang="ru-RU" sz="2600" b="1" dirty="0" err="1"/>
              <a:t>TextImageRelation</a:t>
            </a:r>
            <a:r>
              <a:rPr lang="ru-RU" sz="2600" dirty="0"/>
              <a:t> и установим для него значение </a:t>
            </a:r>
            <a:r>
              <a:rPr lang="ru-RU" sz="2600" b="1" dirty="0" err="1"/>
              <a:t>ImageBeforeText</a:t>
            </a:r>
            <a:r>
              <a:rPr lang="ru-RU" sz="2600" b="1" dirty="0"/>
              <a:t>.</a:t>
            </a:r>
            <a:r>
              <a:rPr lang="ru-RU" sz="2600" dirty="0"/>
              <a:t> В итоге мы получим кнопку, где сразу после изображения идет надпись на кнопке.</a:t>
            </a:r>
          </a:p>
        </p:txBody>
      </p:sp>
    </p:spTree>
    <p:extLst>
      <p:ext uri="{BB962C8B-B14F-4D97-AF65-F5344CB8AC3E}">
        <p14:creationId xmlns:p14="http://schemas.microsoft.com/office/powerpoint/2010/main" val="31563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F0033-4749-4B56-B48A-3F5F2443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06981"/>
          </a:xfrm>
        </p:spPr>
        <p:txBody>
          <a:bodyPr>
            <a:normAutofit/>
          </a:bodyPr>
          <a:lstStyle/>
          <a:p>
            <a:pPr algn="ctr"/>
            <a:r>
              <a:rPr lang="ru-RU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поверхности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F2701B-AAE4-4F7B-B792-47BDAA6DC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863" y="1219200"/>
            <a:ext cx="11880273" cy="545869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3500" dirty="0"/>
              <a:t>Перед тем как начать рисовать линии, фигуры, выводить текст и манипулировать другими графическими объектами, необходимо создать графическую поверхность. Это правило действует во всех языках программирования. В библиотеке </a:t>
            </a:r>
            <a:r>
              <a:rPr lang="ru-RU" sz="3500" dirty="0" err="1"/>
              <a:t>pygame</a:t>
            </a:r>
            <a:r>
              <a:rPr lang="ru-RU" sz="3500" dirty="0"/>
              <a:t> языка Python – это </a:t>
            </a:r>
            <a:r>
              <a:rPr lang="ru-RU" sz="3500" b="1" dirty="0"/>
              <a:t>Surface</a:t>
            </a:r>
            <a:r>
              <a:rPr lang="ru-RU" sz="3500" dirty="0"/>
              <a:t>, в библиотеке того же языка </a:t>
            </a:r>
            <a:r>
              <a:rPr lang="ru-RU" sz="3500" dirty="0" err="1"/>
              <a:t>tkinter</a:t>
            </a:r>
            <a:r>
              <a:rPr lang="ru-RU" sz="3500" dirty="0"/>
              <a:t> – </a:t>
            </a:r>
            <a:r>
              <a:rPr lang="ru-RU" sz="3500" b="1" dirty="0" err="1"/>
              <a:t>Canvas</a:t>
            </a:r>
            <a:r>
              <a:rPr lang="ru-RU" sz="3500" dirty="0"/>
              <a:t> (холст), в среде Delphi – </a:t>
            </a:r>
            <a:r>
              <a:rPr lang="ru-RU" sz="3500" b="1" dirty="0" err="1"/>
              <a:t>Canvas</a:t>
            </a:r>
            <a:r>
              <a:rPr lang="ru-RU" sz="3500" dirty="0"/>
              <a:t> и т. д.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3500" b="1" dirty="0"/>
              <a:t>В С# эта поверхность называется </a:t>
            </a:r>
            <a:r>
              <a:rPr lang="ru-RU" sz="3500" b="1" dirty="0">
                <a:solidFill>
                  <a:srgbClr val="0070C0"/>
                </a:solidFill>
              </a:rPr>
              <a:t>Graphics.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3500" b="1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3500" dirty="0"/>
              <a:t>Создать ее можно следующими тремя способами. </a:t>
            </a:r>
          </a:p>
        </p:txBody>
      </p:sp>
    </p:spTree>
    <p:extLst>
      <p:ext uri="{BB962C8B-B14F-4D97-AF65-F5344CB8AC3E}">
        <p14:creationId xmlns:p14="http://schemas.microsoft.com/office/powerpoint/2010/main" val="302281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71B09-23BB-4B17-8C24-563D82B6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5"/>
            <a:ext cx="12192000" cy="1519600"/>
          </a:xfrm>
        </p:spPr>
        <p:txBody>
          <a:bodyPr>
            <a:noAutofit/>
          </a:bodyPr>
          <a:lstStyle/>
          <a:p>
            <a:pPr algn="ctr"/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5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пособы</a:t>
            </a:r>
            <a:r>
              <a:rPr lang="ru-RU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создания графической поверхности.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F9B9A6-38A2-4742-8B2F-E73547B73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" y="1440872"/>
            <a:ext cx="11928764" cy="53988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500" b="1" i="1" u="sng" dirty="0"/>
              <a:t>Способ 1.</a:t>
            </a:r>
            <a:r>
              <a:rPr lang="ru-RU" sz="3500" dirty="0"/>
              <a:t> Обработчик события </a:t>
            </a:r>
            <a:r>
              <a:rPr lang="en-US" sz="3500" b="1" dirty="0"/>
              <a:t>Paint</a:t>
            </a:r>
            <a:r>
              <a:rPr lang="en-US" sz="3500" dirty="0"/>
              <a:t> </a:t>
            </a:r>
            <a:r>
              <a:rPr lang="ru-RU" sz="3500" dirty="0"/>
              <a:t>формы в качестве параметра передает объект </a:t>
            </a:r>
            <a:r>
              <a:rPr lang="en-US" sz="3500" dirty="0"/>
              <a:t>e </a:t>
            </a:r>
            <a:r>
              <a:rPr lang="ru-RU" sz="3500" dirty="0"/>
              <a:t>типа </a:t>
            </a:r>
            <a:r>
              <a:rPr lang="en-US" sz="3500" b="1" dirty="0" err="1"/>
              <a:t>PaintEventArgs</a:t>
            </a:r>
            <a:r>
              <a:rPr lang="en-US" sz="3500" dirty="0"/>
              <a:t>. </a:t>
            </a:r>
            <a:r>
              <a:rPr lang="ru-RU" sz="3500" dirty="0"/>
              <a:t>Приведем пример обработчика:</a:t>
            </a:r>
            <a:endParaRPr lang="en-US" sz="3500" dirty="0"/>
          </a:p>
          <a:p>
            <a:pPr marL="914400" lvl="2" indent="0">
              <a:buNone/>
            </a:pPr>
            <a:r>
              <a:rPr lang="en-US" sz="2800" b="1" dirty="0"/>
              <a:t>private void Form1_Paint(object sender, </a:t>
            </a:r>
            <a:r>
              <a:rPr lang="en-US" sz="2800" b="1" dirty="0" err="1"/>
              <a:t>PaintEventArgs</a:t>
            </a:r>
            <a:r>
              <a:rPr lang="en-US" sz="2800" b="1" dirty="0"/>
              <a:t> e)</a:t>
            </a:r>
          </a:p>
          <a:p>
            <a:pPr marL="914400" lvl="2" indent="0">
              <a:buNone/>
            </a:pPr>
            <a:r>
              <a:rPr lang="en-US" sz="2800" b="1" dirty="0"/>
              <a:t> { </a:t>
            </a:r>
            <a:endParaRPr lang="ru-RU" sz="2800" b="1" dirty="0"/>
          </a:p>
          <a:p>
            <a:pPr marL="914400" lvl="2" indent="0">
              <a:buNone/>
            </a:pPr>
            <a:r>
              <a:rPr lang="ru-RU" sz="2800" b="1" dirty="0"/>
              <a:t> </a:t>
            </a:r>
            <a:r>
              <a:rPr lang="en-US" sz="2800" b="1" dirty="0"/>
              <a:t>	Graphics g = </a:t>
            </a:r>
            <a:r>
              <a:rPr lang="en-US" sz="2800" b="1" dirty="0" err="1"/>
              <a:t>e.Graphics</a:t>
            </a:r>
            <a:r>
              <a:rPr lang="en-US" sz="2800" b="1" dirty="0"/>
              <a:t>;</a:t>
            </a:r>
            <a:r>
              <a:rPr lang="ru-RU" sz="2800" b="1" dirty="0"/>
              <a:t> 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B050"/>
                </a:solidFill>
              </a:rPr>
              <a:t>// </a:t>
            </a:r>
            <a:r>
              <a:rPr lang="ru-RU" sz="2800" b="1" dirty="0">
                <a:solidFill>
                  <a:srgbClr val="00B050"/>
                </a:solidFill>
              </a:rPr>
              <a:t>Создание графической поверхности</a:t>
            </a:r>
            <a:endParaRPr lang="en-US" sz="2800" b="1" dirty="0">
              <a:solidFill>
                <a:srgbClr val="00B050"/>
              </a:solidFill>
            </a:endParaRPr>
          </a:p>
          <a:p>
            <a:pPr marL="914400" lvl="2" indent="0">
              <a:buNone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00B050"/>
                </a:solidFill>
              </a:rPr>
              <a:t>// </a:t>
            </a:r>
            <a:r>
              <a:rPr lang="ru-RU" sz="2800" b="1" dirty="0">
                <a:solidFill>
                  <a:srgbClr val="00B050"/>
                </a:solidFill>
              </a:rPr>
              <a:t>Код для рисования вставляется сюда</a:t>
            </a:r>
          </a:p>
          <a:p>
            <a:pPr marL="914400" lvl="2" indent="0">
              <a:buNone/>
            </a:pPr>
            <a:r>
              <a:rPr lang="en-US" sz="2800" b="1" dirty="0"/>
              <a:t>}</a:t>
            </a:r>
          </a:p>
          <a:p>
            <a:pPr marL="0" indent="0">
              <a:buNone/>
            </a:pPr>
            <a:r>
              <a:rPr lang="ru-RU" sz="3500" b="1" i="1" u="sng" dirty="0"/>
              <a:t>Способ 2.</a:t>
            </a:r>
            <a:r>
              <a:rPr lang="ru-RU" sz="3500" dirty="0"/>
              <a:t> С помощью класса </a:t>
            </a:r>
            <a:r>
              <a:rPr lang="en-US" sz="3500" b="1" dirty="0"/>
              <a:t>Image</a:t>
            </a:r>
            <a:r>
              <a:rPr lang="en-US" sz="3500" dirty="0"/>
              <a:t>. </a:t>
            </a:r>
            <a:r>
              <a:rPr lang="ru-RU" sz="3500" dirty="0"/>
              <a:t>Для создания графической поверхности из объекта типа </a:t>
            </a:r>
            <a:r>
              <a:rPr lang="en-US" sz="3500" b="1" dirty="0"/>
              <a:t>Image</a:t>
            </a:r>
            <a:r>
              <a:rPr lang="en-US" sz="3500" dirty="0"/>
              <a:t> </a:t>
            </a:r>
            <a:r>
              <a:rPr lang="ru-RU" sz="3500" dirty="0"/>
              <a:t>вызывается метод </a:t>
            </a:r>
            <a:r>
              <a:rPr lang="en-US" sz="3500" b="1" dirty="0" err="1"/>
              <a:t>Graphics.FromImage</a:t>
            </a:r>
            <a:r>
              <a:rPr lang="en-US" sz="3500" b="1" dirty="0"/>
              <a:t>. </a:t>
            </a:r>
          </a:p>
          <a:p>
            <a:pPr marL="914400" lvl="2" indent="0">
              <a:buNone/>
            </a:pPr>
            <a:r>
              <a:rPr lang="ru-RU" sz="2800" b="1" dirty="0">
                <a:solidFill>
                  <a:srgbClr val="00B050"/>
                </a:solidFill>
              </a:rPr>
              <a:t>                    </a:t>
            </a:r>
            <a:r>
              <a:rPr lang="en-US" sz="2800" b="1" dirty="0">
                <a:solidFill>
                  <a:srgbClr val="00B050"/>
                </a:solidFill>
              </a:rPr>
              <a:t>// </a:t>
            </a:r>
            <a:r>
              <a:rPr lang="ru-RU" sz="2800" b="1" dirty="0">
                <a:solidFill>
                  <a:srgbClr val="00B050"/>
                </a:solidFill>
              </a:rPr>
              <a:t>создается объект типа </a:t>
            </a:r>
            <a:r>
              <a:rPr lang="en-US" sz="2800" b="1" dirty="0">
                <a:solidFill>
                  <a:srgbClr val="00B050"/>
                </a:solidFill>
              </a:rPr>
              <a:t>Bitmap</a:t>
            </a:r>
          </a:p>
          <a:p>
            <a:pPr marL="914400" lvl="2" indent="0">
              <a:buNone/>
            </a:pPr>
            <a:r>
              <a:rPr lang="en-US" sz="2800" b="1" dirty="0"/>
              <a:t> Bitmap </a:t>
            </a:r>
            <a:r>
              <a:rPr lang="en-US" sz="2800" b="1" dirty="0" err="1"/>
              <a:t>myBitmap</a:t>
            </a:r>
            <a:r>
              <a:rPr lang="en-US" sz="2800" b="1" dirty="0"/>
              <a:t> = new Bitmap("C:\temp\myPic.bmp");</a:t>
            </a:r>
          </a:p>
          <a:p>
            <a:pPr marL="914400" lvl="2" indent="0">
              <a:buNone/>
            </a:pPr>
            <a:r>
              <a:rPr lang="en-US" sz="2800" b="1" dirty="0"/>
              <a:t> Graphics g = </a:t>
            </a:r>
            <a:r>
              <a:rPr lang="en-US" sz="2800" b="1" dirty="0" err="1"/>
              <a:t>Graphics.FromImage</a:t>
            </a:r>
            <a:r>
              <a:rPr lang="en-US" sz="2800" b="1" dirty="0"/>
              <a:t>(</a:t>
            </a:r>
            <a:r>
              <a:rPr lang="en-US" sz="2800" b="1" dirty="0" err="1"/>
              <a:t>myBitmap</a:t>
            </a:r>
            <a:r>
              <a:rPr lang="en-US" sz="28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1860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5FDC1-209F-4A6F-A900-5D0965FA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0"/>
            <a:ext cx="11970327" cy="132556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sz="5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kumimoji="0" lang="ru-RU" sz="5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пособы</a:t>
            </a:r>
            <a:r>
              <a:rPr kumimoji="0" lang="ru-RU" sz="5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создания графической поверхности.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0CD8EC-1063-46D6-860D-5B9B60B51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4" y="1745673"/>
            <a:ext cx="11970327" cy="4830763"/>
          </a:xfrm>
        </p:spPr>
        <p:txBody>
          <a:bodyPr/>
          <a:lstStyle/>
          <a:p>
            <a:pPr marL="0" indent="0">
              <a:buNone/>
            </a:pPr>
            <a:r>
              <a:rPr lang="ru-RU" sz="3200" b="1" i="1" u="sng" dirty="0"/>
              <a:t>Способ 3.</a:t>
            </a:r>
            <a:r>
              <a:rPr lang="ru-RU" b="1" dirty="0"/>
              <a:t> </a:t>
            </a:r>
            <a:r>
              <a:rPr lang="ru-RU" sz="3200" dirty="0"/>
              <a:t>Используется метод </a:t>
            </a:r>
            <a:r>
              <a:rPr lang="ru-RU" sz="3200" b="1" dirty="0" err="1"/>
              <a:t>CreateGraphics</a:t>
            </a:r>
            <a:r>
              <a:rPr lang="ru-RU" sz="3200" dirty="0"/>
              <a:t> элемента управления или формы для получения ссылки на графический объект, который позволяет рисовать в форме или по элементу управления.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b="1" dirty="0"/>
              <a:t>               g = </a:t>
            </a:r>
            <a:r>
              <a:rPr lang="ru-RU" b="1" dirty="0" err="1"/>
              <a:t>this.CreateGraphics</a:t>
            </a:r>
            <a:r>
              <a:rPr lang="ru-RU" b="1" dirty="0"/>
              <a:t>();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dirty="0"/>
              <a:t>где </a:t>
            </a:r>
            <a:r>
              <a:rPr lang="ru-RU" b="1" dirty="0" err="1"/>
              <a:t>this</a:t>
            </a:r>
            <a:r>
              <a:rPr lang="ru-RU" dirty="0"/>
              <a:t> – это ссылка на форму.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ближайшем будущем мы будем использовать третий способ. </a:t>
            </a:r>
          </a:p>
        </p:txBody>
      </p:sp>
    </p:spTree>
    <p:extLst>
      <p:ext uri="{BB962C8B-B14F-4D97-AF65-F5344CB8AC3E}">
        <p14:creationId xmlns:p14="http://schemas.microsoft.com/office/powerpoint/2010/main" val="19416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94486-CDF4-4475-9181-E797ED1FC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методы класса </a:t>
            </a:r>
            <a:r>
              <a:rPr lang="en-US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Graphics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55660-04C6-4A80-83E8-D707E86CC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1" y="1163782"/>
            <a:ext cx="12067309" cy="551410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У класса Graphics много различных методов. В следующей таблице приведены три из них: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C497C50-0D41-49CE-AAAC-5651C431B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85219"/>
              </p:ext>
            </p:extLst>
          </p:nvPr>
        </p:nvGraphicFramePr>
        <p:xfrm>
          <a:off x="1447799" y="2221937"/>
          <a:ext cx="9421092" cy="4092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73583">
                  <a:extLst>
                    <a:ext uri="{9D8B030D-6E8A-4147-A177-3AD203B41FA5}">
                      <a16:colId xmlns:a16="http://schemas.microsoft.com/office/drawing/2014/main" val="4065636237"/>
                    </a:ext>
                  </a:extLst>
                </a:gridCol>
                <a:gridCol w="6047509">
                  <a:extLst>
                    <a:ext uri="{9D8B030D-6E8A-4147-A177-3AD203B41FA5}">
                      <a16:colId xmlns:a16="http://schemas.microsoft.com/office/drawing/2014/main" val="466023889"/>
                    </a:ext>
                  </a:extLst>
                </a:gridCol>
              </a:tblGrid>
              <a:tr h="10687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Clear(Color)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Очищает всю поверхность рисования и выполняет заливку поверхности указанным цветом фона.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3119834014"/>
                  </a:ext>
                </a:extLst>
              </a:tr>
              <a:tr h="1691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CopyFromScreen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(Point, Point, </a:t>
                      </a: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Выполняет передачу данных о цвете, соответствующих прямоугольной области пикселей, блоками битов с экрана на поверхность рисования объекта Graphics.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1329182641"/>
                  </a:ext>
                </a:extLst>
              </a:tr>
              <a:tr h="1100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Dispose</a:t>
                      </a: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Освобождает все ресурсы, используемые данным объектом Graphics.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941356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77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A645A-803D-4C91-B147-06E6A409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99163"/>
          </a:xfrm>
        </p:spPr>
        <p:txBody>
          <a:bodyPr/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Инструменты рисования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DA011C-4E8E-4630-A854-C637CFA00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" y="817418"/>
            <a:ext cx="11928763" cy="6022327"/>
          </a:xfrm>
        </p:spPr>
        <p:txBody>
          <a:bodyPr/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создания графической поверхности можно рисовать линии, фигуры, поверхности. Для этого используются следующие классы:</a:t>
            </a:r>
          </a:p>
          <a:p>
            <a:pPr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ct val="8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Класс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- используется для рисования линий, поверхностей или других геометрических представлений.</a:t>
            </a:r>
          </a:p>
          <a:p>
            <a:pPr lvl="0" algn="just">
              <a:buSzPct val="8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Класс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Brush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используется для заполнения фигур и изображений цветом.</a:t>
            </a:r>
          </a:p>
          <a:p>
            <a:pPr lvl="0" algn="just">
              <a:buSzPct val="8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Класс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обеспечивает текст нужным шрифтом, при этом задается тип шрифта, размер шрифта и т.д.</a:t>
            </a:r>
          </a:p>
          <a:p>
            <a:pPr lvl="0" algn="just">
              <a:buSzPct val="80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Структура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Color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-представляет различные цвета.</a:t>
            </a:r>
          </a:p>
          <a:p>
            <a:pPr marL="0" lvl="0" indent="0" algn="just">
              <a:buSzPct val="80000"/>
              <a:buNone/>
              <a:tabLst>
                <a:tab pos="457200" algn="l"/>
              </a:tabLst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 рисованием фигур и линий необходимо задать карандаш и кисть. Карандаш задает цвет и толщину линии, кисть задает цвет и тип закраски.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993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37B45-2927-4697-A31F-419DD219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34690"/>
          </a:xfrm>
        </p:spPr>
        <p:txBody>
          <a:bodyPr>
            <a:normAutofit/>
          </a:bodyPr>
          <a:lstStyle/>
          <a:p>
            <a:pPr algn="ctr"/>
            <a:r>
              <a:rPr lang="ru-RU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</a:t>
            </a:r>
            <a:r>
              <a:rPr lang="en-US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 – </a:t>
            </a:r>
            <a:r>
              <a:rPr lang="ru-RU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карандаш.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7AC6B5-B2A8-40EA-BACE-AC8E10A66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52946"/>
            <a:ext cx="12067309" cy="578679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Объект карандаш можно создать следующим образом: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		</a:t>
            </a:r>
            <a:r>
              <a:rPr lang="ru-RU" b="1" dirty="0" err="1"/>
              <a:t>Pen</a:t>
            </a:r>
            <a:r>
              <a:rPr lang="ru-RU" b="1" dirty="0"/>
              <a:t> </a:t>
            </a:r>
            <a:r>
              <a:rPr lang="ru-RU" b="1" dirty="0" err="1"/>
              <a:t>myPenRed</a:t>
            </a:r>
            <a:r>
              <a:rPr lang="ru-RU" b="1" dirty="0"/>
              <a:t> = </a:t>
            </a:r>
            <a:r>
              <a:rPr lang="ru-RU" b="1" dirty="0" err="1"/>
              <a:t>new</a:t>
            </a:r>
            <a:r>
              <a:rPr lang="ru-RU" b="1" dirty="0"/>
              <a:t> </a:t>
            </a:r>
            <a:r>
              <a:rPr lang="ru-RU" b="1" dirty="0" err="1"/>
              <a:t>Pen</a:t>
            </a:r>
            <a:r>
              <a:rPr lang="ru-RU" b="1" dirty="0"/>
              <a:t>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Карандаш имеет следующие основные свойства: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Color</a:t>
            </a:r>
            <a:r>
              <a:rPr lang="ru-RU" dirty="0"/>
              <a:t>  –  задает цвет карандаша. Например: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 err="1"/>
              <a:t>Color.Red</a:t>
            </a:r>
            <a:r>
              <a:rPr lang="ru-RU" b="1" dirty="0"/>
              <a:t>   </a:t>
            </a:r>
            <a:r>
              <a:rPr lang="ru-RU" b="1" dirty="0">
                <a:solidFill>
                  <a:srgbClr val="00B050"/>
                </a:solidFill>
              </a:rPr>
              <a:t>// задается красный цвет</a:t>
            </a:r>
            <a:r>
              <a:rPr lang="ru-RU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 err="1"/>
              <a:t>Width</a:t>
            </a:r>
            <a:r>
              <a:rPr lang="ru-RU" dirty="0"/>
              <a:t>  –  задает толщину карандаша.  Например:	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	</a:t>
            </a:r>
            <a:r>
              <a:rPr lang="ru-RU" b="1" dirty="0" err="1"/>
              <a:t>myPenRed.Width</a:t>
            </a:r>
            <a:r>
              <a:rPr lang="ru-RU" b="1" dirty="0"/>
              <a:t> = 3;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Можно создать карандаш следующим образом: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задавая два параметра, первый – цвет,  второй – толщина: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b="1" dirty="0"/>
              <a:t>		</a:t>
            </a:r>
            <a:r>
              <a:rPr lang="ru-RU" b="1" dirty="0" err="1"/>
              <a:t>Pen</a:t>
            </a:r>
            <a:r>
              <a:rPr lang="ru-RU" b="1" dirty="0"/>
              <a:t> </a:t>
            </a:r>
            <a:r>
              <a:rPr lang="ru-RU" b="1" dirty="0" err="1"/>
              <a:t>myPenRed</a:t>
            </a:r>
            <a:r>
              <a:rPr lang="ru-RU" b="1" dirty="0"/>
              <a:t> = </a:t>
            </a:r>
            <a:r>
              <a:rPr lang="ru-RU" b="1" dirty="0" err="1"/>
              <a:t>new</a:t>
            </a:r>
            <a:r>
              <a:rPr lang="ru-RU" b="1" dirty="0"/>
              <a:t> </a:t>
            </a:r>
            <a:r>
              <a:rPr lang="ru-RU" b="1" dirty="0" err="1"/>
              <a:t>Pen</a:t>
            </a:r>
            <a:r>
              <a:rPr lang="ru-RU" b="1" dirty="0"/>
              <a:t>(Color.Red,3); </a:t>
            </a:r>
          </a:p>
        </p:txBody>
      </p:sp>
    </p:spTree>
    <p:extLst>
      <p:ext uri="{BB962C8B-B14F-4D97-AF65-F5344CB8AC3E}">
        <p14:creationId xmlns:p14="http://schemas.microsoft.com/office/powerpoint/2010/main" val="457967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1C240-C4EF-437F-B619-752C3676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36" y="18256"/>
            <a:ext cx="10515600" cy="674471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Кисть – класс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Brush.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9476F1-CE1F-416E-BCE5-5AB8EF9E9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2728"/>
            <a:ext cx="12157363" cy="61470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200" i="1" u="sng" dirty="0"/>
              <a:t>Пример:</a:t>
            </a:r>
          </a:p>
          <a:p>
            <a:pPr marL="0" indent="0">
              <a:buNone/>
            </a:pPr>
            <a:r>
              <a:rPr lang="ru-RU" sz="3200" b="1" dirty="0" err="1"/>
              <a:t>SolidBrush</a:t>
            </a:r>
            <a:r>
              <a:rPr lang="ru-RU" sz="3200" b="1" dirty="0"/>
              <a:t> myBrush1 = </a:t>
            </a:r>
            <a:r>
              <a:rPr lang="ru-RU" sz="3200" b="1" dirty="0" err="1"/>
              <a:t>new</a:t>
            </a:r>
            <a:r>
              <a:rPr lang="ru-RU" sz="3200" b="1" dirty="0"/>
              <a:t> </a:t>
            </a:r>
            <a:r>
              <a:rPr lang="ru-RU" sz="3200" b="1" dirty="0" err="1"/>
              <a:t>SolidBrush</a:t>
            </a:r>
            <a:r>
              <a:rPr lang="ru-RU" sz="3200" b="1" dirty="0"/>
              <a:t>(</a:t>
            </a:r>
            <a:r>
              <a:rPr lang="ru-RU" sz="3200" b="1" dirty="0" err="1"/>
              <a:t>Color.White</a:t>
            </a:r>
            <a:r>
              <a:rPr lang="ru-RU" sz="3200" b="1" dirty="0"/>
              <a:t>);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sz="3200" dirty="0"/>
              <a:t>В дальнейшем мы в основном будем использовать класс </a:t>
            </a:r>
            <a:r>
              <a:rPr lang="ru-RU" sz="3200" b="1" dirty="0" err="1"/>
              <a:t>SolidBrush</a:t>
            </a:r>
            <a:r>
              <a:rPr lang="ru-RU" sz="3200" dirty="0"/>
              <a:t>. </a:t>
            </a:r>
          </a:p>
          <a:p>
            <a:pPr marL="0" indent="0">
              <a:buNone/>
            </a:pPr>
            <a:r>
              <a:rPr lang="ru-RU" sz="3200" dirty="0"/>
              <a:t>Порядок работы с двумя другими классами можно найти в [].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4432F81-B9BB-4CF6-9EE9-6A46215DB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852507"/>
              </p:ext>
            </p:extLst>
          </p:nvPr>
        </p:nvGraphicFramePr>
        <p:xfrm>
          <a:off x="1136073" y="1769188"/>
          <a:ext cx="8603673" cy="3622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8255">
                  <a:extLst>
                    <a:ext uri="{9D8B030D-6E8A-4147-A177-3AD203B41FA5}">
                      <a16:colId xmlns:a16="http://schemas.microsoft.com/office/drawing/2014/main" val="8553183"/>
                    </a:ext>
                  </a:extLst>
                </a:gridCol>
                <a:gridCol w="5785418">
                  <a:extLst>
                    <a:ext uri="{9D8B030D-6E8A-4147-A177-3AD203B41FA5}">
                      <a16:colId xmlns:a16="http://schemas.microsoft.com/office/drawing/2014/main" val="4099980063"/>
                    </a:ext>
                  </a:extLst>
                </a:gridCol>
              </a:tblGrid>
              <a:tr h="4592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</a:rPr>
                        <a:t>Класс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2400">
                          <a:effectLst/>
                        </a:rPr>
                        <a:t>Тип  кисти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1663338"/>
                  </a:ext>
                </a:extLst>
              </a:tr>
              <a:tr h="6394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en-US" sz="2400" dirty="0" err="1">
                          <a:effectLst/>
                        </a:rPr>
                        <a:t>SolidBrush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2400">
                          <a:effectLst/>
                        </a:rPr>
                        <a:t>задает кисть сплошной заливки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0779067"/>
                  </a:ext>
                </a:extLst>
              </a:tr>
              <a:tr h="101138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2400" u="none" strike="noStrike" dirty="0" err="1">
                          <a:solidFill>
                            <a:schemeClr val="bg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TextureBrush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</a:rPr>
                        <a:t>задает текстурную кисть, закрашивает область растровым изображением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735051"/>
                  </a:ext>
                </a:extLst>
              </a:tr>
              <a:tr h="15127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2400" u="none" strike="noStrike" dirty="0" err="1">
                          <a:solidFill>
                            <a:schemeClr val="bg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LinearGradientBrush</a:t>
                      </a:r>
                      <a:endParaRPr lang="ru-RU" sz="2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2400" dirty="0">
                          <a:effectLst/>
                        </a:rPr>
                        <a:t>задает градиентную кисть, обеспечивает плавное смешение двух цветов для получения градиентного перехода.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8582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039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F478D-4EC3-408C-8B1D-007C3CB2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256"/>
            <a:ext cx="11734800" cy="65073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примитивы.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F2D3024-B5F0-4808-BB51-E1FC8CA10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51463"/>
              </p:ext>
            </p:extLst>
          </p:nvPr>
        </p:nvGraphicFramePr>
        <p:xfrm>
          <a:off x="193964" y="668991"/>
          <a:ext cx="11769436" cy="60837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02526">
                  <a:extLst>
                    <a:ext uri="{9D8B030D-6E8A-4147-A177-3AD203B41FA5}">
                      <a16:colId xmlns:a16="http://schemas.microsoft.com/office/drawing/2014/main" val="4074546010"/>
                    </a:ext>
                  </a:extLst>
                </a:gridCol>
                <a:gridCol w="5354783">
                  <a:extLst>
                    <a:ext uri="{9D8B030D-6E8A-4147-A177-3AD203B41FA5}">
                      <a16:colId xmlns:a16="http://schemas.microsoft.com/office/drawing/2014/main" val="1421060179"/>
                    </a:ext>
                  </a:extLst>
                </a:gridCol>
                <a:gridCol w="3512127">
                  <a:extLst>
                    <a:ext uri="{9D8B030D-6E8A-4147-A177-3AD203B41FA5}">
                      <a16:colId xmlns:a16="http://schemas.microsoft.com/office/drawing/2014/main" val="216350080"/>
                    </a:ext>
                  </a:extLst>
                </a:gridCol>
              </a:tblGrid>
              <a:tr h="383954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Метод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Действие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</a:rPr>
                        <a:t>Пример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extLst>
                  <a:ext uri="{0D108BD9-81ED-4DB2-BD59-A6C34878D82A}">
                    <a16:rowId xmlns:a16="http://schemas.microsoft.com/office/drawing/2014/main" val="3472494412"/>
                  </a:ext>
                </a:extLst>
              </a:tr>
              <a:tr h="646824">
                <a:tc>
                  <a:txBody>
                    <a:bodyPr/>
                    <a:lstStyle/>
                    <a:p>
                      <a:r>
                        <a:rPr lang="en-US" sz="2200" dirty="0" err="1">
                          <a:effectLst/>
                        </a:rPr>
                        <a:t>DrawLine</a:t>
                      </a:r>
                      <a:r>
                        <a:rPr lang="en-US" sz="2200" dirty="0">
                          <a:effectLst/>
                        </a:rPr>
                        <a:t>(Pen, x1, y1,x2, y2)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Рисует линию. Параметр </a:t>
                      </a:r>
                      <a:r>
                        <a:rPr lang="ru-RU" sz="2200" dirty="0" err="1">
                          <a:effectLst/>
                        </a:rPr>
                        <a:t>Pen</a:t>
                      </a:r>
                      <a:r>
                        <a:rPr lang="ru-RU" sz="2200" dirty="0">
                          <a:effectLst/>
                        </a:rPr>
                        <a:t> определяет цвет, толщину и стиль линии; параметры x1, y1, x2, y2 — координаты точек начала и конца линии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Pen </a:t>
                      </a:r>
                      <a:r>
                        <a:rPr lang="en-US" sz="2200" dirty="0" err="1">
                          <a:effectLst/>
                        </a:rPr>
                        <a:t>myPenGreen</a:t>
                      </a:r>
                      <a:r>
                        <a:rPr lang="en-US" sz="2200" dirty="0">
                          <a:effectLst/>
                        </a:rPr>
                        <a:t> = new Pen(</a:t>
                      </a:r>
                      <a:r>
                        <a:rPr lang="en-US" sz="2200" dirty="0" err="1">
                          <a:effectLst/>
                        </a:rPr>
                        <a:t>Color.Green</a:t>
                      </a:r>
                      <a:r>
                        <a:rPr lang="en-US" sz="2200" dirty="0">
                          <a:effectLst/>
                        </a:rPr>
                        <a:t>, 3);</a:t>
                      </a:r>
                      <a:endParaRPr lang="ru-RU" sz="2200" dirty="0">
                        <a:effectLst/>
                      </a:endParaRPr>
                    </a:p>
                    <a:p>
                      <a:r>
                        <a:rPr lang="en-US" sz="2200" dirty="0" err="1">
                          <a:effectLst/>
                        </a:rPr>
                        <a:t>g.DrawLine</a:t>
                      </a:r>
                      <a:r>
                        <a:rPr lang="en-US" sz="2200" dirty="0">
                          <a:effectLst/>
                        </a:rPr>
                        <a:t>(</a:t>
                      </a:r>
                      <a:r>
                        <a:rPr lang="en-US" sz="2200" dirty="0" err="1">
                          <a:effectLst/>
                        </a:rPr>
                        <a:t>myPenGreen</a:t>
                      </a:r>
                      <a:r>
                        <a:rPr lang="en-US" sz="2200" dirty="0">
                          <a:effectLst/>
                        </a:rPr>
                        <a:t>, 10, 10, 350, 350);</a:t>
                      </a:r>
                      <a:endParaRPr lang="ru-RU" sz="2200" dirty="0">
                        <a:effectLst/>
                      </a:endParaRPr>
                    </a:p>
                    <a:p>
                      <a:r>
                        <a:rPr lang="ru-RU" sz="2200" dirty="0">
                          <a:effectLst/>
                        </a:rPr>
                        <a:t> 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extLst>
                  <a:ext uri="{0D108BD9-81ED-4DB2-BD59-A6C34878D82A}">
                    <a16:rowId xmlns:a16="http://schemas.microsoft.com/office/drawing/2014/main" val="775400340"/>
                  </a:ext>
                </a:extLst>
              </a:tr>
              <a:tr h="736108"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DrawRectangle(Pen, x, y,w, h)</a:t>
                      </a:r>
                      <a:endParaRPr lang="ru-RU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Рисует контур прямоугольника. Параметр </a:t>
                      </a:r>
                      <a:r>
                        <a:rPr lang="ru-RU" sz="2200" dirty="0" err="1">
                          <a:effectLst/>
                        </a:rPr>
                        <a:t>Pen</a:t>
                      </a:r>
                      <a:r>
                        <a:rPr lang="ru-RU" sz="2200" dirty="0">
                          <a:effectLst/>
                        </a:rPr>
                        <a:t> определяет цвет, толщину и стиль границы прямоугольника: параметры </a:t>
                      </a:r>
                      <a:r>
                        <a:rPr lang="ru-RU" sz="2200" dirty="0" err="1">
                          <a:effectLst/>
                        </a:rPr>
                        <a:t>x,y</a:t>
                      </a:r>
                      <a:r>
                        <a:rPr lang="ru-RU" sz="2200" dirty="0">
                          <a:effectLst/>
                        </a:rPr>
                        <a:t> — координаты левого верхнего угла; параметры w и h задают размер прямоугольника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effectLst/>
                        </a:rPr>
                        <a:t>Pen </a:t>
                      </a:r>
                      <a:r>
                        <a:rPr lang="en-US" sz="2200" dirty="0" err="1">
                          <a:effectLst/>
                        </a:rPr>
                        <a:t>myPenRed</a:t>
                      </a:r>
                      <a:r>
                        <a:rPr lang="en-US" sz="2200" dirty="0">
                          <a:effectLst/>
                        </a:rPr>
                        <a:t> = new Pen(Color.Red,3);</a:t>
                      </a:r>
                      <a:endParaRPr lang="ru-RU" sz="2200" dirty="0">
                        <a:effectLst/>
                      </a:endParaRPr>
                    </a:p>
                    <a:p>
                      <a:r>
                        <a:rPr lang="en-US" sz="2200" dirty="0" err="1">
                          <a:effectLst/>
                        </a:rPr>
                        <a:t>g.DrawRectangle</a:t>
                      </a:r>
                      <a:r>
                        <a:rPr lang="en-US" sz="2200" dirty="0">
                          <a:effectLst/>
                        </a:rPr>
                        <a:t>(</a:t>
                      </a:r>
                      <a:r>
                        <a:rPr lang="en-US" sz="2200" dirty="0" err="1">
                          <a:effectLst/>
                        </a:rPr>
                        <a:t>myPenRed</a:t>
                      </a:r>
                      <a:r>
                        <a:rPr lang="en-US" sz="2200" dirty="0">
                          <a:effectLst/>
                        </a:rPr>
                        <a:t>, 15, 15, 250, 250);</a:t>
                      </a:r>
                      <a:endParaRPr lang="ru-RU" sz="2200" dirty="0">
                        <a:effectLst/>
                      </a:endParaRPr>
                    </a:p>
                    <a:p>
                      <a:r>
                        <a:rPr lang="en-US" sz="2200" dirty="0">
                          <a:effectLst/>
                        </a:rPr>
                        <a:t> 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extLst>
                  <a:ext uri="{0D108BD9-81ED-4DB2-BD59-A6C34878D82A}">
                    <a16:rowId xmlns:a16="http://schemas.microsoft.com/office/drawing/2014/main" val="2464563317"/>
                  </a:ext>
                </a:extLst>
              </a:tr>
              <a:tr h="734291">
                <a:tc>
                  <a:txBody>
                    <a:bodyPr/>
                    <a:lstStyle/>
                    <a:p>
                      <a:r>
                        <a:rPr lang="en-US" sz="2200">
                          <a:effectLst/>
                        </a:rPr>
                        <a:t>FillRectangle(Brush, x, y, w, h)</a:t>
                      </a:r>
                      <a:endParaRPr lang="ru-RU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effectLst/>
                        </a:rPr>
                        <a:t>Рисует закрашенный прямоугольник. Параметр </a:t>
                      </a:r>
                      <a:r>
                        <a:rPr lang="ru-RU" sz="2200" dirty="0" err="1">
                          <a:effectLst/>
                        </a:rPr>
                        <a:t>Brush</a:t>
                      </a:r>
                      <a:r>
                        <a:rPr lang="ru-RU" sz="2200" dirty="0">
                          <a:effectLst/>
                        </a:rPr>
                        <a:t> определяет цвет и стиль закраски прямоугольника; параметры x, y — координаты левого верхнего угла; параметры w и h задают размер прямоугольника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tc>
                  <a:txBody>
                    <a:bodyPr/>
                    <a:lstStyle/>
                    <a:p>
                      <a:r>
                        <a:rPr lang="en-US" sz="2200" dirty="0" err="1">
                          <a:effectLst/>
                        </a:rPr>
                        <a:t>SolidBrush</a:t>
                      </a:r>
                      <a:r>
                        <a:rPr lang="en-US" sz="2200" dirty="0">
                          <a:effectLst/>
                        </a:rPr>
                        <a:t> myBrush1 = new </a:t>
                      </a:r>
                      <a:r>
                        <a:rPr lang="en-US" sz="2200" dirty="0" err="1">
                          <a:effectLst/>
                        </a:rPr>
                        <a:t>SolidBrush</a:t>
                      </a:r>
                      <a:r>
                        <a:rPr lang="en-US" sz="2200" dirty="0">
                          <a:effectLst/>
                        </a:rPr>
                        <a:t>(</a:t>
                      </a:r>
                      <a:r>
                        <a:rPr lang="en-US" sz="2200" dirty="0" err="1">
                          <a:effectLst/>
                        </a:rPr>
                        <a:t>Color.White</a:t>
                      </a:r>
                      <a:r>
                        <a:rPr lang="en-US" sz="2200" dirty="0">
                          <a:effectLst/>
                        </a:rPr>
                        <a:t>);</a:t>
                      </a:r>
                      <a:endParaRPr lang="ru-RU" sz="2200" dirty="0">
                        <a:effectLst/>
                      </a:endParaRPr>
                    </a:p>
                    <a:p>
                      <a:r>
                        <a:rPr lang="en-US" sz="2200" dirty="0" err="1">
                          <a:effectLst/>
                        </a:rPr>
                        <a:t>g.FillRectangle</a:t>
                      </a:r>
                      <a:r>
                        <a:rPr lang="en-US" sz="2200" dirty="0">
                          <a:effectLst/>
                        </a:rPr>
                        <a:t>(myBrush1, 10, 10,100, 40);</a:t>
                      </a:r>
                      <a:endParaRPr lang="ru-RU" sz="2200" dirty="0">
                        <a:effectLst/>
                      </a:endParaRPr>
                    </a:p>
                    <a:p>
                      <a:pPr algn="just"/>
                      <a:r>
                        <a:rPr lang="en-US" sz="2200" dirty="0">
                          <a:effectLst/>
                        </a:rPr>
                        <a:t> </a:t>
                      </a:r>
                      <a:endParaRPr lang="ru-RU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8711" marR="48711" marT="0" marB="0"/>
                </a:tc>
                <a:extLst>
                  <a:ext uri="{0D108BD9-81ED-4DB2-BD59-A6C34878D82A}">
                    <a16:rowId xmlns:a16="http://schemas.microsoft.com/office/drawing/2014/main" val="928320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14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6506C-59B3-42E6-B5A9-0C8D8B56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примитивы (продолжение)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E45F384-72D9-4F93-9CE5-EB1FCA2AEE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976956"/>
              </p:ext>
            </p:extLst>
          </p:nvPr>
        </p:nvGraphicFramePr>
        <p:xfrm>
          <a:off x="193964" y="681039"/>
          <a:ext cx="11804072" cy="60047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3866682908"/>
                    </a:ext>
                  </a:extLst>
                </a:gridCol>
                <a:gridCol w="4807527">
                  <a:extLst>
                    <a:ext uri="{9D8B030D-6E8A-4147-A177-3AD203B41FA5}">
                      <a16:colId xmlns:a16="http://schemas.microsoft.com/office/drawing/2014/main" val="3811216440"/>
                    </a:ext>
                  </a:extLst>
                </a:gridCol>
                <a:gridCol w="4100945">
                  <a:extLst>
                    <a:ext uri="{9D8B030D-6E8A-4147-A177-3AD203B41FA5}">
                      <a16:colId xmlns:a16="http://schemas.microsoft.com/office/drawing/2014/main" val="295692735"/>
                    </a:ext>
                  </a:extLst>
                </a:gridCol>
              </a:tblGrid>
              <a:tr h="58693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Метод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Действие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Пример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extLst>
                  <a:ext uri="{0D108BD9-81ED-4DB2-BD59-A6C34878D82A}">
                    <a16:rowId xmlns:a16="http://schemas.microsoft.com/office/drawing/2014/main" val="3051310596"/>
                  </a:ext>
                </a:extLst>
              </a:tr>
              <a:tr h="1911926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effectLst/>
                        </a:rPr>
                        <a:t>DrawEllipse</a:t>
                      </a:r>
                      <a:r>
                        <a:rPr lang="en-US" sz="2000" dirty="0">
                          <a:effectLst/>
                        </a:rPr>
                        <a:t>(Pen, x, </a:t>
                      </a:r>
                      <a:r>
                        <a:rPr lang="en-US" sz="2000" dirty="0" err="1">
                          <a:effectLst/>
                        </a:rPr>
                        <a:t>y,w</a:t>
                      </a:r>
                      <a:r>
                        <a:rPr lang="en-US" sz="2000" dirty="0">
                          <a:effectLst/>
                        </a:rPr>
                        <a:t>, h)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Рисует эллипс (контур). Параметр </a:t>
                      </a:r>
                      <a:r>
                        <a:rPr lang="ru-RU" sz="2000" dirty="0" err="1">
                          <a:effectLst/>
                        </a:rPr>
                        <a:t>Pen</a:t>
                      </a:r>
                      <a:r>
                        <a:rPr lang="ru-RU" sz="2000" dirty="0">
                          <a:effectLst/>
                        </a:rPr>
                        <a:t> определяет цвет, толщину и стиль линии эллипса; параметры x, y, w, h — координаты левого верхнего угла и размер прямоугольника, внутри которого вычерчивается эллипс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Pen </a:t>
                      </a:r>
                      <a:r>
                        <a:rPr lang="en-US" sz="2000" dirty="0" err="1">
                          <a:effectLst/>
                        </a:rPr>
                        <a:t>blackPen</a:t>
                      </a:r>
                      <a:r>
                        <a:rPr lang="en-US" sz="2000" dirty="0">
                          <a:effectLst/>
                        </a:rPr>
                        <a:t> = new Pen(</a:t>
                      </a:r>
                      <a:r>
                        <a:rPr lang="en-US" sz="2000" dirty="0" err="1">
                          <a:effectLst/>
                        </a:rPr>
                        <a:t>Color.Black</a:t>
                      </a:r>
                      <a:r>
                        <a:rPr lang="en-US" sz="2000" dirty="0">
                          <a:effectLst/>
                        </a:rPr>
                        <a:t>);  </a:t>
                      </a:r>
                      <a:endParaRPr lang="ru-RU" sz="2000" dirty="0">
                        <a:effectLst/>
                      </a:endParaRPr>
                    </a:p>
                    <a:p>
                      <a:pPr algn="just"/>
                      <a:r>
                        <a:rPr lang="en-US" sz="2000" dirty="0" err="1">
                          <a:effectLst/>
                        </a:rPr>
                        <a:t>g.DrawEllipse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blackPen</a:t>
                      </a:r>
                      <a:r>
                        <a:rPr lang="en-US" sz="2000" dirty="0">
                          <a:effectLst/>
                        </a:rPr>
                        <a:t>, 10,10,100,100);</a:t>
                      </a:r>
                      <a:endParaRPr lang="ru-RU" sz="2000" dirty="0">
                        <a:effectLst/>
                      </a:endParaRPr>
                    </a:p>
                    <a:p>
                      <a:pPr algn="just"/>
                      <a:r>
                        <a:rPr lang="en-US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extLst>
                  <a:ext uri="{0D108BD9-81ED-4DB2-BD59-A6C34878D82A}">
                    <a16:rowId xmlns:a16="http://schemas.microsoft.com/office/drawing/2014/main" val="238375355"/>
                  </a:ext>
                </a:extLst>
              </a:tr>
              <a:tr h="1912594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FillEllipse(Brush, x, y,w, h)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Рисует закрашенный эллипс. Параметр </a:t>
                      </a:r>
                      <a:r>
                        <a:rPr lang="ru-RU" sz="2000" dirty="0" err="1">
                          <a:effectLst/>
                        </a:rPr>
                        <a:t>Brush</a:t>
                      </a:r>
                      <a:r>
                        <a:rPr lang="ru-RU" sz="2000" dirty="0">
                          <a:effectLst/>
                        </a:rPr>
                        <a:t> определяет цвет и стиль закраски внутренней области эллипса; параметры x, y, w, h — координаты левого верхнего угла и размер прямоугольника, внутри которого вычерчивается эллипс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</a:rPr>
                        <a:t>SolidBrush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RedBr</a:t>
                      </a:r>
                      <a:r>
                        <a:rPr lang="en-US" sz="2000" dirty="0">
                          <a:effectLst/>
                        </a:rPr>
                        <a:t> = new </a:t>
                      </a:r>
                      <a:r>
                        <a:rPr lang="en-US" sz="2000" dirty="0" err="1">
                          <a:effectLst/>
                        </a:rPr>
                        <a:t>SolidBrush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Color.Red</a:t>
                      </a:r>
                      <a:r>
                        <a:rPr lang="en-US" sz="2000" dirty="0">
                          <a:effectLst/>
                        </a:rPr>
                        <a:t>);</a:t>
                      </a:r>
                      <a:endParaRPr lang="ru-RU" sz="2000" dirty="0">
                        <a:effectLst/>
                      </a:endParaRPr>
                    </a:p>
                    <a:p>
                      <a:pPr algn="just"/>
                      <a:r>
                        <a:rPr lang="en-US" sz="2000" dirty="0" err="1">
                          <a:effectLst/>
                        </a:rPr>
                        <a:t>g.FillEllipse</a:t>
                      </a:r>
                      <a:r>
                        <a:rPr lang="en-US" sz="2000" dirty="0">
                          <a:effectLst/>
                        </a:rPr>
                        <a:t>(RedBr,10,10,100,100);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extLst>
                  <a:ext uri="{0D108BD9-81ED-4DB2-BD59-A6C34878D82A}">
                    <a16:rowId xmlns:a16="http://schemas.microsoft.com/office/drawing/2014/main" val="476001158"/>
                  </a:ext>
                </a:extLst>
              </a:tr>
              <a:tr h="1593272">
                <a:tc>
                  <a:txBody>
                    <a:bodyPr/>
                    <a:lstStyle/>
                    <a:p>
                      <a:pPr algn="just"/>
                      <a:r>
                        <a:rPr lang="ru-RU" sz="2000">
                          <a:effectLst/>
                        </a:rPr>
                        <a:t>DrawPolygon(Pen, P)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Рисует контур многоугольника. Параметр </a:t>
                      </a:r>
                      <a:r>
                        <a:rPr lang="ru-RU" sz="2000" dirty="0" err="1">
                          <a:effectLst/>
                        </a:rPr>
                        <a:t>Pen</a:t>
                      </a:r>
                      <a:r>
                        <a:rPr lang="ru-RU" sz="2000" dirty="0">
                          <a:effectLst/>
                        </a:rPr>
                        <a:t> определяет цвет, толщину и стиль линии границы многоугольника; параметр</a:t>
                      </a:r>
                    </a:p>
                    <a:p>
                      <a:r>
                        <a:rPr lang="ru-RU" sz="2000" dirty="0">
                          <a:effectLst/>
                        </a:rPr>
                        <a:t>P (массив типа Point) — координаты углов многоугольника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</a:rPr>
                        <a:t>g.DrawPolygon</a:t>
                      </a:r>
                      <a:r>
                        <a:rPr lang="en-US" sz="2000" dirty="0">
                          <a:effectLst/>
                        </a:rPr>
                        <a:t>(</a:t>
                      </a:r>
                      <a:r>
                        <a:rPr lang="en-US" sz="2000" dirty="0" err="1">
                          <a:effectLst/>
                        </a:rPr>
                        <a:t>myPen</a:t>
                      </a:r>
                      <a:r>
                        <a:rPr lang="en-US" sz="2000" dirty="0">
                          <a:effectLst/>
                        </a:rPr>
                        <a:t>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[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] {new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(1, 1),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 (20, 10),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(100, 2),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(200, 50)});</a:t>
                      </a:r>
                      <a:endParaRPr lang="ru-RU" sz="2000" dirty="0">
                        <a:effectLst/>
                      </a:endParaRPr>
                    </a:p>
                    <a:p>
                      <a:pPr algn="just"/>
                      <a:r>
                        <a:rPr lang="en-US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0794" marR="50794" marT="0" marB="0"/>
                </a:tc>
                <a:extLst>
                  <a:ext uri="{0D108BD9-81ED-4DB2-BD59-A6C34878D82A}">
                    <a16:rowId xmlns:a16="http://schemas.microsoft.com/office/drawing/2014/main" val="208366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245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53878-6535-412D-A184-9EAE9B4FC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Графические примитивы (продолжение)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BFFFFCB-5E45-4404-9FA2-38E1387BC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390752"/>
              </p:ext>
            </p:extLst>
          </p:nvPr>
        </p:nvGraphicFramePr>
        <p:xfrm>
          <a:off x="277091" y="681037"/>
          <a:ext cx="11665527" cy="59968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1773">
                  <a:extLst>
                    <a:ext uri="{9D8B030D-6E8A-4147-A177-3AD203B41FA5}">
                      <a16:colId xmlns:a16="http://schemas.microsoft.com/office/drawing/2014/main" val="4292331119"/>
                    </a:ext>
                  </a:extLst>
                </a:gridCol>
                <a:gridCol w="4832809">
                  <a:extLst>
                    <a:ext uri="{9D8B030D-6E8A-4147-A177-3AD203B41FA5}">
                      <a16:colId xmlns:a16="http://schemas.microsoft.com/office/drawing/2014/main" val="4280523379"/>
                    </a:ext>
                  </a:extLst>
                </a:gridCol>
                <a:gridCol w="4100945">
                  <a:extLst>
                    <a:ext uri="{9D8B030D-6E8A-4147-A177-3AD203B41FA5}">
                      <a16:colId xmlns:a16="http://schemas.microsoft.com/office/drawing/2014/main" val="3719458301"/>
                    </a:ext>
                  </a:extLst>
                </a:gridCol>
              </a:tblGrid>
              <a:tr h="47809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Метод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Действие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Пример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extLst>
                  <a:ext uri="{0D108BD9-81ED-4DB2-BD59-A6C34878D82A}">
                    <a16:rowId xmlns:a16="http://schemas.microsoft.com/office/drawing/2014/main" val="4235623340"/>
                  </a:ext>
                </a:extLst>
              </a:tr>
              <a:tr h="1789445"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 err="1">
                          <a:effectLst/>
                        </a:rPr>
                        <a:t>FillPolygon</a:t>
                      </a:r>
                      <a:r>
                        <a:rPr lang="ru-RU" sz="2000" dirty="0">
                          <a:effectLst/>
                        </a:rPr>
                        <a:t>(</a:t>
                      </a:r>
                      <a:r>
                        <a:rPr lang="ru-RU" sz="2000" dirty="0" err="1">
                          <a:effectLst/>
                        </a:rPr>
                        <a:t>Brush</a:t>
                      </a:r>
                      <a:r>
                        <a:rPr lang="ru-RU" sz="2000" dirty="0">
                          <a:effectLst/>
                        </a:rPr>
                        <a:t>, P)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r>
                        <a:rPr lang="ru-RU" sz="2000">
                          <a:effectLst/>
                        </a:rPr>
                        <a:t>Рисует закрашенный многоугольник. Параметр Brush определяет цвет и стиль закраски внутренней области многоугольника; параметр P (массив типа Point) — координаты углов многоугольника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effectLst/>
                        </a:rPr>
                        <a:t>g.FillPolygon</a:t>
                      </a:r>
                      <a:r>
                        <a:rPr lang="en-US" sz="2000" dirty="0">
                          <a:effectLst/>
                        </a:rPr>
                        <a:t>(myBrush2,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[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] {new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(220, 20),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(100, 100), new </a:t>
                      </a:r>
                      <a:r>
                        <a:rPr lang="en-US" sz="2000" dirty="0" err="1">
                          <a:effectLst/>
                        </a:rPr>
                        <a:t>PointF</a:t>
                      </a:r>
                      <a:r>
                        <a:rPr lang="en-US" sz="2000" dirty="0">
                          <a:effectLst/>
                        </a:rPr>
                        <a:t>(280, 100) });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extLst>
                  <a:ext uri="{0D108BD9-81ED-4DB2-BD59-A6C34878D82A}">
                    <a16:rowId xmlns:a16="http://schemas.microsoft.com/office/drawing/2014/main" val="479392316"/>
                  </a:ext>
                </a:extLst>
              </a:tr>
              <a:tr h="1864687"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</a:rPr>
                        <a:t>DrawString</a:t>
                      </a:r>
                      <a:r>
                        <a:rPr lang="en-US" sz="2000" dirty="0">
                          <a:effectLst/>
                        </a:rPr>
                        <a:t>(str, Font,</a:t>
                      </a:r>
                      <a:endParaRPr lang="ru-RU" sz="2000" dirty="0">
                        <a:effectLst/>
                      </a:endParaRPr>
                    </a:p>
                    <a:p>
                      <a:pPr algn="just"/>
                      <a:r>
                        <a:rPr lang="en-US" sz="2000" dirty="0">
                          <a:effectLst/>
                        </a:rPr>
                        <a:t>Brush, x, y)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Выводит на графическую поверхность строку текста. Параметр </a:t>
                      </a:r>
                      <a:r>
                        <a:rPr lang="ru-RU" sz="2000" dirty="0" err="1">
                          <a:effectLst/>
                        </a:rPr>
                        <a:t>Font</a:t>
                      </a:r>
                      <a:r>
                        <a:rPr lang="ru-RU" sz="2000" dirty="0">
                          <a:effectLst/>
                        </a:rPr>
                        <a:t> определяет шрифт; </a:t>
                      </a:r>
                      <a:r>
                        <a:rPr lang="ru-RU" sz="2000" dirty="0" err="1">
                          <a:effectLst/>
                        </a:rPr>
                        <a:t>Brush</a:t>
                      </a:r>
                      <a:r>
                        <a:rPr lang="ru-RU" sz="2000" dirty="0">
                          <a:effectLst/>
                        </a:rPr>
                        <a:t> — цвет символов; x и y — точку, от которой будет выведен</a:t>
                      </a:r>
                    </a:p>
                    <a:p>
                      <a:pPr algn="just"/>
                      <a:r>
                        <a:rPr lang="ru-RU" sz="2000" dirty="0">
                          <a:effectLst/>
                        </a:rPr>
                        <a:t>текст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Font currFont = new Font("Times New Roman", 24);</a:t>
                      </a:r>
                      <a:endParaRPr lang="ru-RU" sz="2000">
                        <a:effectLst/>
                      </a:endParaRPr>
                    </a:p>
                    <a:p>
                      <a:r>
                        <a:rPr lang="en-US" sz="2000">
                          <a:effectLst/>
                        </a:rPr>
                        <a:t>g.DrawString("</a:t>
                      </a:r>
                      <a:r>
                        <a:rPr lang="ru-RU" sz="2000">
                          <a:effectLst/>
                        </a:rPr>
                        <a:t>Тестирование шрифта</a:t>
                      </a:r>
                      <a:r>
                        <a:rPr lang="en-US" sz="2000">
                          <a:effectLst/>
                        </a:rPr>
                        <a:t>... ", currFont, new SolidBrush(Color.BlueViolet), 0, 0);</a:t>
                      </a:r>
                      <a:endParaRPr lang="ru-RU" sz="2000">
                        <a:effectLst/>
                      </a:endParaRPr>
                    </a:p>
                    <a:p>
                      <a:pPr algn="just"/>
                      <a:r>
                        <a:rPr lang="en-US" sz="2000">
                          <a:effectLst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extLst>
                  <a:ext uri="{0D108BD9-81ED-4DB2-BD59-A6C34878D82A}">
                    <a16:rowId xmlns:a16="http://schemas.microsoft.com/office/drawing/2014/main" val="1035357822"/>
                  </a:ext>
                </a:extLst>
              </a:tr>
              <a:tr h="1864631">
                <a:tc>
                  <a:txBody>
                    <a:bodyPr/>
                    <a:lstStyle/>
                    <a:p>
                      <a:pPr algn="just"/>
                      <a:r>
                        <a:rPr lang="ru-RU" sz="2000">
                          <a:effectLst/>
                        </a:rPr>
                        <a:t>DrawImage(Image, x, y)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</a:rPr>
                        <a:t>Выводит на графическую поверхность иллюстрацию. Параметр Image определяет иллюстрацию; x и y — координату левого верхнего угла области вывода иллюстрации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Image Bit1;</a:t>
                      </a:r>
                      <a:endParaRPr lang="ru-RU" sz="2000" dirty="0">
                        <a:effectLst/>
                      </a:endParaRPr>
                    </a:p>
                    <a:p>
                      <a:r>
                        <a:rPr lang="en-US" sz="2000" dirty="0">
                          <a:effectLst/>
                        </a:rPr>
                        <a:t>Bit1 = new Bitmap("C:/C#/Image1/f1.bmp");</a:t>
                      </a:r>
                      <a:endParaRPr lang="ru-RU" sz="2000" dirty="0">
                        <a:effectLst/>
                      </a:endParaRPr>
                    </a:p>
                    <a:p>
                      <a:r>
                        <a:rPr lang="en-US" sz="2000" dirty="0">
                          <a:effectLst/>
                        </a:rPr>
                        <a:t>g</a:t>
                      </a:r>
                      <a:r>
                        <a:rPr lang="ru-RU" sz="2000" dirty="0">
                          <a:effectLst/>
                        </a:rPr>
                        <a:t>.</a:t>
                      </a:r>
                      <a:r>
                        <a:rPr lang="ru-RU" sz="2000" dirty="0" err="1">
                          <a:effectLst/>
                        </a:rPr>
                        <a:t>DrawImage</a:t>
                      </a:r>
                      <a:r>
                        <a:rPr lang="ru-RU" sz="2000" dirty="0">
                          <a:effectLst/>
                        </a:rPr>
                        <a:t>(Bit1, 10, 10, 100, 100);</a:t>
                      </a:r>
                    </a:p>
                    <a:p>
                      <a:pPr algn="just"/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809" marR="51809" marT="0" marB="0"/>
                </a:tc>
                <a:extLst>
                  <a:ext uri="{0D108BD9-81ED-4DB2-BD59-A6C34878D82A}">
                    <a16:rowId xmlns:a16="http://schemas.microsoft.com/office/drawing/2014/main" val="1411680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367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CF658-3DAD-46ED-8DC1-0D1BC393C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2" y="0"/>
            <a:ext cx="12095018" cy="10251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создания поверхности и отрисовки на  ней линии и прямоугольника.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5AAFD3-AD54-49AC-82AA-B826F198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2" y="1146244"/>
            <a:ext cx="4890654" cy="5632311"/>
          </a:xfrm>
          <a:ln w="19050"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using System;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System.Collections.Generic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System.ComponentModel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System.Data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System.Drawing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System.Linq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System.Text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System.Threading.Tasks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System.Windows.Forms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b="1" dirty="0"/>
              <a:t>namespace </a:t>
            </a:r>
            <a:r>
              <a:rPr lang="en-US" b="1" dirty="0" err="1"/>
              <a:t>My_Line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 public partial class Form1 : Form</a:t>
            </a:r>
            <a:endParaRPr lang="ru-RU" b="1" dirty="0"/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b="1" dirty="0"/>
              <a:t>public static int y = 10;</a:t>
            </a:r>
          </a:p>
          <a:p>
            <a:pPr marL="0" indent="0">
              <a:buNone/>
            </a:pPr>
            <a:r>
              <a:rPr lang="en-US" b="1" dirty="0"/>
              <a:t>    Graphics g;  </a:t>
            </a:r>
            <a:r>
              <a:rPr lang="en-US" b="1" dirty="0">
                <a:solidFill>
                  <a:srgbClr val="00B050"/>
                </a:solidFill>
              </a:rPr>
              <a:t>//</a:t>
            </a:r>
            <a:r>
              <a:rPr lang="ru-RU" b="1" dirty="0">
                <a:solidFill>
                  <a:srgbClr val="00B050"/>
                </a:solidFill>
              </a:rPr>
              <a:t>Объявляем 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                     //</a:t>
            </a:r>
            <a:r>
              <a:rPr lang="ru-RU" b="1" dirty="0">
                <a:solidFill>
                  <a:srgbClr val="00B050"/>
                </a:solidFill>
              </a:rPr>
              <a:t>переменную </a:t>
            </a:r>
            <a:r>
              <a:rPr lang="en-US" b="1" dirty="0">
                <a:solidFill>
                  <a:srgbClr val="00B050"/>
                </a:solidFill>
              </a:rPr>
              <a:t>g </a:t>
            </a:r>
            <a:r>
              <a:rPr lang="ru-RU" b="1" dirty="0">
                <a:solidFill>
                  <a:srgbClr val="00B050"/>
                </a:solidFill>
              </a:rPr>
              <a:t>типа </a:t>
            </a:r>
            <a:r>
              <a:rPr lang="en-US" b="1" dirty="0">
                <a:solidFill>
                  <a:srgbClr val="00B050"/>
                </a:solidFill>
              </a:rPr>
              <a:t>Graphics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58A4C-2EAB-41CC-939D-F738857CF78D}"/>
              </a:ext>
            </a:extLst>
          </p:cNvPr>
          <p:cNvSpPr txBox="1"/>
          <p:nvPr/>
        </p:nvSpPr>
        <p:spPr>
          <a:xfrm>
            <a:off x="5472545" y="1146244"/>
            <a:ext cx="6622473" cy="56323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public Form1()</a:t>
            </a:r>
          </a:p>
          <a:p>
            <a:r>
              <a:rPr lang="en-US" sz="2000" b="1" dirty="0"/>
              <a:t>     {</a:t>
            </a:r>
          </a:p>
          <a:p>
            <a:r>
              <a:rPr lang="en-US" sz="2000" b="1" dirty="0"/>
              <a:t>          </a:t>
            </a:r>
            <a:r>
              <a:rPr lang="en-US" sz="2000" b="1" dirty="0" err="1"/>
              <a:t>InitializeComponent</a:t>
            </a:r>
            <a:r>
              <a:rPr lang="en-US" sz="2000" b="1" dirty="0"/>
              <a:t>();</a:t>
            </a:r>
          </a:p>
          <a:p>
            <a:r>
              <a:rPr lang="en-US" sz="2000" b="1" dirty="0"/>
              <a:t>          g = </a:t>
            </a:r>
            <a:r>
              <a:rPr lang="en-US" sz="2000" b="1" dirty="0" err="1"/>
              <a:t>this.CreateGraphics</a:t>
            </a:r>
            <a:r>
              <a:rPr lang="en-US" sz="2000" b="1" dirty="0"/>
              <a:t>();    </a:t>
            </a:r>
            <a:r>
              <a:rPr lang="en-US" sz="2000" b="1" dirty="0">
                <a:solidFill>
                  <a:srgbClr val="00B050"/>
                </a:solidFill>
              </a:rPr>
              <a:t>//</a:t>
            </a:r>
            <a:r>
              <a:rPr lang="ru-RU" sz="2000" b="1" dirty="0">
                <a:solidFill>
                  <a:srgbClr val="00B050"/>
                </a:solidFill>
              </a:rPr>
              <a:t>Создаем поверхность на форме</a:t>
            </a:r>
          </a:p>
          <a:p>
            <a:r>
              <a:rPr lang="en-US" sz="2000" b="1" dirty="0"/>
              <a:t>    </a:t>
            </a:r>
            <a:r>
              <a:rPr lang="ru-RU" sz="2000" b="1" dirty="0"/>
              <a:t> }</a:t>
            </a:r>
          </a:p>
          <a:p>
            <a:r>
              <a:rPr lang="ru-RU" sz="2000" b="1" dirty="0"/>
              <a:t> </a:t>
            </a:r>
            <a:r>
              <a:rPr lang="en-US" sz="2000" b="1" dirty="0"/>
              <a:t>   private void Form1_Paint(object sender, </a:t>
            </a:r>
            <a:r>
              <a:rPr lang="en-US" sz="2000" b="1" dirty="0" err="1"/>
              <a:t>PaintEventArgs</a:t>
            </a:r>
            <a:r>
              <a:rPr lang="en-US" sz="2000" b="1" dirty="0"/>
              <a:t> e)</a:t>
            </a:r>
          </a:p>
          <a:p>
            <a:r>
              <a:rPr lang="en-US" sz="2000" b="1" dirty="0"/>
              <a:t>    {         </a:t>
            </a:r>
            <a:r>
              <a:rPr lang="en-US" sz="2000" b="1" dirty="0">
                <a:solidFill>
                  <a:srgbClr val="00B050"/>
                </a:solidFill>
              </a:rPr>
              <a:t>//</a:t>
            </a:r>
            <a:r>
              <a:rPr lang="ru-RU" sz="2000" b="1" dirty="0">
                <a:solidFill>
                  <a:srgbClr val="00B050"/>
                </a:solidFill>
              </a:rPr>
              <a:t>Рисуем линию с помощью </a:t>
            </a:r>
            <a:r>
              <a:rPr lang="en-US" sz="2000" b="1" dirty="0">
                <a:solidFill>
                  <a:srgbClr val="00B050"/>
                </a:solidFill>
              </a:rPr>
              <a:t>Form1_Paint</a:t>
            </a:r>
          </a:p>
          <a:p>
            <a:r>
              <a:rPr lang="en-US" sz="2000" b="1" dirty="0"/>
              <a:t>         Pen </a:t>
            </a:r>
            <a:r>
              <a:rPr lang="en-US" sz="2000" b="1" dirty="0" err="1"/>
              <a:t>myPenGreen</a:t>
            </a:r>
            <a:r>
              <a:rPr lang="en-US" sz="2000" b="1" dirty="0"/>
              <a:t> = new Pen(</a:t>
            </a:r>
            <a:r>
              <a:rPr lang="en-US" sz="2000" b="1" dirty="0" err="1"/>
              <a:t>Color.Green</a:t>
            </a:r>
            <a:r>
              <a:rPr lang="en-US" sz="2000" b="1" dirty="0"/>
              <a:t>, 3);</a:t>
            </a:r>
          </a:p>
          <a:p>
            <a:r>
              <a:rPr lang="en-US" sz="2000" b="1" dirty="0"/>
              <a:t>         </a:t>
            </a:r>
            <a:r>
              <a:rPr lang="en-US" sz="2000" b="1" dirty="0" err="1"/>
              <a:t>g.DrawLine</a:t>
            </a:r>
            <a:r>
              <a:rPr lang="en-US" sz="2000" b="1" dirty="0"/>
              <a:t>(</a:t>
            </a:r>
            <a:r>
              <a:rPr lang="en-US" sz="2000" b="1" dirty="0" err="1"/>
              <a:t>myPenGreen</a:t>
            </a:r>
            <a:r>
              <a:rPr lang="en-US" sz="2000" b="1" dirty="0"/>
              <a:t>, 10, y,100, 100);</a:t>
            </a:r>
          </a:p>
          <a:p>
            <a:r>
              <a:rPr lang="en-US" sz="2000" b="1" dirty="0"/>
              <a:t>    }</a:t>
            </a:r>
          </a:p>
          <a:p>
            <a:r>
              <a:rPr lang="en-US" sz="2000" b="1" dirty="0"/>
              <a:t>   private void button1_Click(object sender, </a:t>
            </a:r>
            <a:r>
              <a:rPr lang="en-US" sz="2000" b="1" dirty="0" err="1"/>
              <a:t>EventArgs</a:t>
            </a:r>
            <a:r>
              <a:rPr lang="en-US" sz="2000" b="1" dirty="0"/>
              <a:t> e)</a:t>
            </a:r>
          </a:p>
          <a:p>
            <a:r>
              <a:rPr lang="en-US" sz="2000" b="1" dirty="0"/>
              <a:t>    {          </a:t>
            </a:r>
            <a:r>
              <a:rPr lang="en-US" sz="2000" b="1" dirty="0">
                <a:solidFill>
                  <a:srgbClr val="00B050"/>
                </a:solidFill>
              </a:rPr>
              <a:t>//</a:t>
            </a:r>
            <a:r>
              <a:rPr lang="ru-RU" sz="2000" b="1" dirty="0">
                <a:solidFill>
                  <a:srgbClr val="00B050"/>
                </a:solidFill>
              </a:rPr>
              <a:t>Нажимаем на кнопку и рисуем прямоугольник</a:t>
            </a:r>
          </a:p>
          <a:p>
            <a:r>
              <a:rPr lang="ru-RU" sz="2000" b="1" dirty="0"/>
              <a:t> </a:t>
            </a:r>
            <a:r>
              <a:rPr lang="en-US" sz="2000" b="1" dirty="0"/>
              <a:t>        Pen </a:t>
            </a:r>
            <a:r>
              <a:rPr lang="en-US" sz="2000" b="1" dirty="0" err="1"/>
              <a:t>myPenGreen</a:t>
            </a:r>
            <a:r>
              <a:rPr lang="en-US" sz="2000" b="1" dirty="0"/>
              <a:t> = new Pen(</a:t>
            </a:r>
            <a:r>
              <a:rPr lang="en-US" sz="2000" b="1" dirty="0" err="1"/>
              <a:t>Color.Green</a:t>
            </a:r>
            <a:r>
              <a:rPr lang="en-US" sz="2000" b="1" dirty="0"/>
              <a:t>, 3);</a:t>
            </a:r>
          </a:p>
          <a:p>
            <a:r>
              <a:rPr lang="en-US" sz="2000" b="1" dirty="0"/>
              <a:t>         </a:t>
            </a:r>
            <a:r>
              <a:rPr lang="en-US" sz="2000" b="1" dirty="0" err="1"/>
              <a:t>g.DrawRectangle</a:t>
            </a:r>
            <a:r>
              <a:rPr lang="en-US" sz="2000" b="1" dirty="0"/>
              <a:t>(</a:t>
            </a:r>
            <a:r>
              <a:rPr lang="en-US" sz="2000" b="1" dirty="0" err="1"/>
              <a:t>myPenGreen</a:t>
            </a:r>
            <a:r>
              <a:rPr lang="en-US" sz="2000" b="1" dirty="0"/>
              <a:t>, y, 100, 100, 100);</a:t>
            </a:r>
          </a:p>
          <a:p>
            <a:r>
              <a:rPr lang="en-US" sz="2000" b="1" dirty="0"/>
              <a:t>    } </a:t>
            </a:r>
          </a:p>
          <a:p>
            <a:r>
              <a:rPr lang="en-US" sz="2000" b="1" dirty="0"/>
              <a:t>  }</a:t>
            </a:r>
          </a:p>
          <a:p>
            <a:r>
              <a:rPr lang="en-US" sz="2000" b="1" dirty="0"/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2190178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700E0-852E-4541-B616-C9F18D6E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9312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получается следующее окно.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6F275DF-6EF3-42F4-A5F5-B93C9E088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4833" y="1133475"/>
            <a:ext cx="4743450" cy="4591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88265-A938-478D-AC79-BBAA828BDFAC}"/>
              </a:ext>
            </a:extLst>
          </p:cNvPr>
          <p:cNvSpPr txBox="1"/>
          <p:nvPr/>
        </p:nvSpPr>
        <p:spPr>
          <a:xfrm>
            <a:off x="3048000" y="607066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Линия и прямоугольник</a:t>
            </a:r>
          </a:p>
        </p:txBody>
      </p:sp>
    </p:spTree>
    <p:extLst>
      <p:ext uri="{BB962C8B-B14F-4D97-AF65-F5344CB8AC3E}">
        <p14:creationId xmlns:p14="http://schemas.microsoft.com/office/powerpoint/2010/main" val="2246169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5413F-9859-49AB-8B06-3C554B233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399"/>
            <a:ext cx="10515600" cy="896145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Пример.  Нарисуем светофор.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751C60-85A6-44AE-B3BA-E36275EDB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27" y="1127464"/>
            <a:ext cx="5458690" cy="5586145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My_Graph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 g;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//Объявляем </a:t>
            </a:r>
            <a:endParaRPr lang="en-US" sz="20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//</a:t>
            </a:r>
            <a:r>
              <a:rPr lang="ru-RU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переменную</a:t>
            </a: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 типа Graphics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2300" dirty="0" err="1">
                <a:solidFill>
                  <a:srgbClr val="0000FF"/>
                </a:solidFill>
                <a:effectLst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 на форме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478B1-E88C-46FD-8ED9-0C2F79088E99}"/>
              </a:ext>
            </a:extLst>
          </p:cNvPr>
          <p:cNvSpPr txBox="1"/>
          <p:nvPr/>
        </p:nvSpPr>
        <p:spPr>
          <a:xfrm>
            <a:off x="5699465" y="1127463"/>
            <a:ext cx="6492535" cy="55861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100" dirty="0"/>
              <a:t>private void Form1_Paint(object sender, </a:t>
            </a:r>
            <a:r>
              <a:rPr lang="en-US" sz="2100" dirty="0" err="1"/>
              <a:t>PaintEventArgs</a:t>
            </a:r>
            <a:r>
              <a:rPr lang="en-US" sz="2100" dirty="0"/>
              <a:t> e)</a:t>
            </a:r>
          </a:p>
          <a:p>
            <a:r>
              <a:rPr lang="en-US" sz="2100" dirty="0"/>
              <a:t>        {   </a:t>
            </a:r>
            <a:r>
              <a:rPr lang="en-US" sz="2100" dirty="0">
                <a:solidFill>
                  <a:srgbClr val="00B050"/>
                </a:solidFill>
              </a:rPr>
              <a:t>//</a:t>
            </a:r>
            <a:r>
              <a:rPr lang="ru-RU" sz="2100" dirty="0">
                <a:solidFill>
                  <a:srgbClr val="00B050"/>
                </a:solidFill>
              </a:rPr>
              <a:t>Рисуем корпус и окна светофора</a:t>
            </a:r>
          </a:p>
          <a:p>
            <a:r>
              <a:rPr lang="ru-RU" sz="2100" dirty="0"/>
              <a:t>            </a:t>
            </a:r>
            <a:r>
              <a:rPr lang="en-US" sz="2100" dirty="0" err="1"/>
              <a:t>SolidBrush</a:t>
            </a:r>
            <a:r>
              <a:rPr lang="en-US" sz="2100" dirty="0"/>
              <a:t> </a:t>
            </a:r>
            <a:r>
              <a:rPr lang="en-US" sz="2100" dirty="0" err="1"/>
              <a:t>myBrushgray</a:t>
            </a:r>
            <a:r>
              <a:rPr lang="en-US" sz="2100" dirty="0"/>
              <a:t> = new </a:t>
            </a:r>
            <a:r>
              <a:rPr lang="en-US" sz="2100" dirty="0" err="1"/>
              <a:t>SolidBrush</a:t>
            </a:r>
            <a:r>
              <a:rPr lang="en-US" sz="2100" dirty="0"/>
              <a:t>(</a:t>
            </a:r>
            <a:r>
              <a:rPr lang="en-US" sz="2100" dirty="0" err="1"/>
              <a:t>Color.Gray</a:t>
            </a:r>
            <a:r>
              <a:rPr lang="en-US" sz="2100" dirty="0"/>
              <a:t>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g.FillRectangle</a:t>
            </a:r>
            <a:r>
              <a:rPr lang="en-US" sz="2100" dirty="0"/>
              <a:t>(myBrushgray,40, 25, 200, 400);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SolidBrush</a:t>
            </a:r>
            <a:r>
              <a:rPr lang="en-US" sz="2100" dirty="0"/>
              <a:t> </a:t>
            </a:r>
            <a:r>
              <a:rPr lang="en-US" sz="2100" dirty="0" err="1"/>
              <a:t>myBrushred</a:t>
            </a:r>
            <a:r>
              <a:rPr lang="en-US" sz="2100" dirty="0"/>
              <a:t> = new </a:t>
            </a:r>
            <a:r>
              <a:rPr lang="en-US" sz="2100" dirty="0" err="1"/>
              <a:t>SolidBrush</a:t>
            </a:r>
            <a:r>
              <a:rPr lang="en-US" sz="2100" dirty="0"/>
              <a:t>(</a:t>
            </a:r>
            <a:r>
              <a:rPr lang="en-US" sz="2100" dirty="0" err="1"/>
              <a:t>Color.Red</a:t>
            </a:r>
            <a:r>
              <a:rPr lang="en-US" sz="2100" dirty="0"/>
              <a:t>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g.FillEllipse</a:t>
            </a:r>
            <a:r>
              <a:rPr lang="en-US" sz="2100" dirty="0"/>
              <a:t>(</a:t>
            </a:r>
            <a:r>
              <a:rPr lang="en-US" sz="2100" dirty="0" err="1"/>
              <a:t>myBrushred</a:t>
            </a:r>
            <a:r>
              <a:rPr lang="en-US" sz="2100" dirty="0"/>
              <a:t>, 80, 25, 130, 130);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SolidBrush</a:t>
            </a:r>
            <a:r>
              <a:rPr lang="en-US" sz="2100" dirty="0"/>
              <a:t> </a:t>
            </a:r>
            <a:r>
              <a:rPr lang="en-US" sz="2100" dirty="0" err="1"/>
              <a:t>myBrushYellow</a:t>
            </a:r>
            <a:r>
              <a:rPr lang="en-US" sz="2100" dirty="0"/>
              <a:t> = new </a:t>
            </a:r>
            <a:r>
              <a:rPr lang="en-US" sz="2100" dirty="0" err="1"/>
              <a:t>SolidBrush</a:t>
            </a:r>
            <a:r>
              <a:rPr lang="en-US" sz="2100" dirty="0"/>
              <a:t>(</a:t>
            </a:r>
            <a:r>
              <a:rPr lang="en-US" sz="2100" dirty="0" err="1"/>
              <a:t>Color.Yellow</a:t>
            </a:r>
            <a:r>
              <a:rPr lang="en-US" sz="2100" dirty="0"/>
              <a:t>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g.FillEllipse</a:t>
            </a:r>
            <a:r>
              <a:rPr lang="en-US" sz="2100" dirty="0"/>
              <a:t>(</a:t>
            </a:r>
            <a:r>
              <a:rPr lang="en-US" sz="2100" dirty="0" err="1"/>
              <a:t>myBrushYellow</a:t>
            </a:r>
            <a:r>
              <a:rPr lang="en-US" sz="2100" dirty="0"/>
              <a:t>, 80, 155, 130, 130);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SolidBrush</a:t>
            </a:r>
            <a:r>
              <a:rPr lang="en-US" sz="2100" dirty="0"/>
              <a:t> </a:t>
            </a:r>
            <a:r>
              <a:rPr lang="en-US" sz="2100" dirty="0" err="1"/>
              <a:t>myBrushGreen</a:t>
            </a:r>
            <a:r>
              <a:rPr lang="en-US" sz="2100" dirty="0"/>
              <a:t> = new </a:t>
            </a:r>
            <a:r>
              <a:rPr lang="en-US" sz="2100" dirty="0" err="1"/>
              <a:t>SolidBrush</a:t>
            </a:r>
            <a:r>
              <a:rPr lang="en-US" sz="2100" dirty="0"/>
              <a:t>(</a:t>
            </a:r>
            <a:r>
              <a:rPr lang="en-US" sz="2100" dirty="0" err="1"/>
              <a:t>Color.Green</a:t>
            </a:r>
            <a:r>
              <a:rPr lang="en-US" sz="2100" dirty="0"/>
              <a:t>);</a:t>
            </a:r>
          </a:p>
          <a:p>
            <a:r>
              <a:rPr lang="en-US" sz="2100" dirty="0"/>
              <a:t>            </a:t>
            </a:r>
            <a:r>
              <a:rPr lang="en-US" sz="2100" dirty="0" err="1"/>
              <a:t>g.FillEllipse</a:t>
            </a:r>
            <a:r>
              <a:rPr lang="en-US" sz="2100" dirty="0"/>
              <a:t>(</a:t>
            </a:r>
            <a:r>
              <a:rPr lang="en-US" sz="2100" dirty="0" err="1"/>
              <a:t>myBrushGreen</a:t>
            </a:r>
            <a:r>
              <a:rPr lang="en-US" sz="2100" dirty="0"/>
              <a:t>, 80, 285, 130, 130);</a:t>
            </a:r>
          </a:p>
          <a:p>
            <a:r>
              <a:rPr lang="en-US" sz="2100" dirty="0"/>
              <a:t>        }</a:t>
            </a:r>
          </a:p>
          <a:p>
            <a:r>
              <a:rPr lang="en-US" sz="2100" dirty="0"/>
              <a:t>    }</a:t>
            </a:r>
          </a:p>
          <a:p>
            <a:r>
              <a:rPr lang="en-US" sz="2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195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4DC58-32D7-4EF5-9CDD-40A5755C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3" y="18255"/>
            <a:ext cx="11956473" cy="799163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самостоятельной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D2C6EB-1FD8-4754-A29E-6BDEC8BC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63" y="1357746"/>
            <a:ext cx="11956473" cy="45997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b="1" i="1" dirty="0"/>
              <a:t>		</a:t>
            </a:r>
            <a:r>
              <a:rPr lang="ru-RU" sz="4000" b="1" i="1" u="sng" dirty="0"/>
              <a:t>Нарисовать:</a:t>
            </a:r>
            <a:endParaRPr lang="en-US" sz="4000" b="1" i="1" u="sng" dirty="0"/>
          </a:p>
          <a:p>
            <a:pPr marL="0" indent="0">
              <a:buNone/>
            </a:pPr>
            <a:endParaRPr lang="ru-RU" sz="4000" b="1" i="1" u="sng" dirty="0"/>
          </a:p>
          <a:p>
            <a:pPr marL="0" indent="0">
              <a:buNone/>
            </a:pPr>
            <a:r>
              <a:rPr lang="en-US" sz="4000" b="1" i="1" dirty="0"/>
              <a:t>	</a:t>
            </a:r>
            <a:r>
              <a:rPr lang="ru-RU" sz="4000" b="1" i="1" dirty="0"/>
              <a:t>1.	Японский флаг.</a:t>
            </a:r>
          </a:p>
          <a:p>
            <a:pPr marL="0" indent="0">
              <a:buNone/>
            </a:pPr>
            <a:r>
              <a:rPr lang="en-US" sz="4000" b="1" i="1" dirty="0"/>
              <a:t>	</a:t>
            </a:r>
            <a:r>
              <a:rPr lang="ru-RU" sz="4000" b="1" i="1" dirty="0"/>
              <a:t>2.	Российский флаг.</a:t>
            </a:r>
          </a:p>
          <a:p>
            <a:pPr marL="0" indent="0">
              <a:buNone/>
            </a:pPr>
            <a:r>
              <a:rPr lang="en-US" sz="4000" b="1" i="1" dirty="0"/>
              <a:t>	</a:t>
            </a:r>
            <a:r>
              <a:rPr lang="ru-RU" sz="4000" b="1" i="1" dirty="0"/>
              <a:t>3.	Флаг Чехии.</a:t>
            </a:r>
          </a:p>
          <a:p>
            <a:pPr marL="0" indent="0">
              <a:buNone/>
            </a:pPr>
            <a:r>
              <a:rPr lang="en-US" sz="4000" b="1" i="1" dirty="0"/>
              <a:t>	</a:t>
            </a:r>
            <a:r>
              <a:rPr lang="ru-RU" sz="4000" b="1" i="1" dirty="0"/>
              <a:t>4.	Олимпийский флаг</a:t>
            </a:r>
          </a:p>
          <a:p>
            <a:pPr marL="0" indent="0">
              <a:buNone/>
            </a:pPr>
            <a:r>
              <a:rPr lang="en-US" sz="4000" b="1" i="1" dirty="0"/>
              <a:t>	</a:t>
            </a:r>
            <a:r>
              <a:rPr lang="ru-RU" sz="4000" b="1" i="1" dirty="0"/>
              <a:t>5.	Зимний пейзаж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8467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F4FD9-1D92-41E6-BA1A-AA0F9096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7"/>
            <a:ext cx="10515600" cy="59134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с изображениями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A0103-EBC6-4AA6-9958-6C4CE8548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7419"/>
            <a:ext cx="12081164" cy="5902036"/>
          </a:xfrm>
        </p:spPr>
        <p:txBody>
          <a:bodyPr>
            <a:normAutofit fontScale="85000" lnSpcReduction="20000"/>
          </a:bodyPr>
          <a:lstStyle/>
          <a:p>
            <a:pPr indent="0">
              <a:buNone/>
            </a:pPr>
            <a:r>
              <a:rPr lang="ru-RU" sz="2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 </a:t>
            </a:r>
            <a:r>
              <a:rPr lang="en-US" sz="29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</a:t>
            </a:r>
            <a:r>
              <a:rPr lang="ru-RU" sz="2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имеет большое количество свойств и методов для работы с изображениями. Следующие свойства задают:</a:t>
            </a:r>
          </a:p>
          <a:p>
            <a:pPr indent="0"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</a:rPr>
              <a:t>Width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 – ширину изображения</a:t>
            </a:r>
          </a:p>
          <a:p>
            <a:pPr indent="0"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</a:rPr>
              <a:t>Height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 – высоту изображения</a:t>
            </a:r>
          </a:p>
          <a:p>
            <a:pPr indent="0"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</a:rPr>
              <a:t>Size</a:t>
            </a:r>
            <a:r>
              <a:rPr lang="ru-RU" sz="2800" dirty="0">
                <a:effectLst/>
                <a:ea typeface="Times New Roman" panose="02020603050405020304" pitchFamily="18" charset="0"/>
              </a:rPr>
              <a:t> – размер изображения. </a:t>
            </a: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Объявленные переменные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присваиваются объектам класса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Bitmap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Кроме того, можно создавать объекты класса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Bitmap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напрямую. Например,  о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бъявим переменные типа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0">
              <a:buNone/>
            </a:pPr>
            <a:r>
              <a:rPr lang="ru-RU" b="1" dirty="0" err="1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private</a:t>
            </a:r>
            <a:r>
              <a:rPr lang="ru-RU" b="1" dirty="0">
                <a:effectLst/>
                <a:ea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8080"/>
                </a:solidFill>
                <a:effectLst/>
                <a:ea typeface="Times New Roman" panose="02020603050405020304" pitchFamily="18" charset="0"/>
              </a:rPr>
              <a:t>Image</a:t>
            </a:r>
            <a:r>
              <a:rPr lang="ru-RU" b="1" dirty="0">
                <a:effectLst/>
                <a:ea typeface="Times New Roman" panose="02020603050405020304" pitchFamily="18" charset="0"/>
              </a:rPr>
              <a:t> Bit1;</a:t>
            </a:r>
          </a:p>
          <a:p>
            <a:pPr indent="0">
              <a:buNone/>
            </a:pPr>
            <a:r>
              <a:rPr lang="ru-RU" b="1" dirty="0" err="1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private</a:t>
            </a:r>
            <a:r>
              <a:rPr lang="ru-RU" b="1" dirty="0">
                <a:effectLst/>
                <a:ea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8080"/>
                </a:solidFill>
                <a:effectLst/>
                <a:ea typeface="Times New Roman" panose="02020603050405020304" pitchFamily="18" charset="0"/>
              </a:rPr>
              <a:t>Image</a:t>
            </a:r>
            <a:r>
              <a:rPr lang="ru-RU" b="1" dirty="0">
                <a:effectLst/>
                <a:ea typeface="Times New Roman" panose="02020603050405020304" pitchFamily="18" charset="0"/>
              </a:rPr>
              <a:t> Bit2;</a:t>
            </a:r>
          </a:p>
          <a:p>
            <a:pPr indent="0">
              <a:buNone/>
            </a:pPr>
            <a:r>
              <a:rPr lang="ru-RU" b="1" dirty="0" err="1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private</a:t>
            </a:r>
            <a:r>
              <a:rPr lang="ru-RU" b="1" dirty="0">
                <a:effectLst/>
                <a:ea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8080"/>
                </a:solidFill>
                <a:effectLst/>
                <a:ea typeface="Times New Roman" panose="02020603050405020304" pitchFamily="18" charset="0"/>
              </a:rPr>
              <a:t>Image</a:t>
            </a:r>
            <a:r>
              <a:rPr lang="ru-RU" b="1" dirty="0">
                <a:effectLst/>
                <a:ea typeface="Times New Roman" panose="02020603050405020304" pitchFamily="18" charset="0"/>
              </a:rPr>
              <a:t> Bit3;</a:t>
            </a:r>
            <a:r>
              <a:rPr lang="en-US" dirty="0">
                <a:effectLst/>
                <a:ea typeface="Times New Roman" panose="02020603050405020304" pitchFamily="18" charset="0"/>
              </a:rPr>
              <a:t> 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04825" algn="l"/>
              </a:tabLst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Создадим объекты класса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Bitmap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Конструктор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Bitmap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возвращает объект типа 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ru-RU" b="1" dirty="0">
                <a:effectLst/>
                <a:ea typeface="Times New Roman" panose="02020603050405020304" pitchFamily="18" charset="0"/>
              </a:rPr>
              <a:t>	</a:t>
            </a:r>
            <a:r>
              <a:rPr lang="en-US" b="1" dirty="0">
                <a:effectLst/>
                <a:ea typeface="Times New Roman" panose="02020603050405020304" pitchFamily="18" charset="0"/>
              </a:rPr>
              <a:t>Bit1 = </a:t>
            </a:r>
            <a:r>
              <a:rPr lang="en-US" b="1" dirty="0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new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8080"/>
                </a:solidFill>
                <a:effectLst/>
                <a:ea typeface="Times New Roman" panose="02020603050405020304" pitchFamily="18" charset="0"/>
              </a:rPr>
              <a:t>Bitmap</a:t>
            </a:r>
            <a:r>
              <a:rPr lang="en-US" b="1" dirty="0">
                <a:effectLst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800000"/>
                </a:solidFill>
                <a:effectLst/>
                <a:ea typeface="Times New Roman" panose="02020603050405020304" pitchFamily="18" charset="0"/>
              </a:rPr>
              <a:t>"f1.bmp"</a:t>
            </a:r>
            <a:r>
              <a:rPr lang="en-US" b="1" dirty="0">
                <a:effectLst/>
                <a:ea typeface="Times New Roman" panose="02020603050405020304" pitchFamily="18" charset="0"/>
              </a:rPr>
              <a:t>)</a:t>
            </a:r>
            <a:endParaRPr lang="ru-RU" b="1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effectLst/>
                <a:ea typeface="Times New Roman" panose="02020603050405020304" pitchFamily="18" charset="0"/>
              </a:rPr>
              <a:t>	</a:t>
            </a:r>
            <a:r>
              <a:rPr lang="en-US" b="1" dirty="0">
                <a:effectLst/>
                <a:ea typeface="Times New Roman" panose="02020603050405020304" pitchFamily="18" charset="0"/>
              </a:rPr>
              <a:t>Bit2 = </a:t>
            </a:r>
            <a:r>
              <a:rPr lang="en-US" b="1" dirty="0">
                <a:solidFill>
                  <a:srgbClr val="0000FF"/>
                </a:solidFill>
                <a:effectLst/>
                <a:ea typeface="Times New Roman" panose="02020603050405020304" pitchFamily="18" charset="0"/>
              </a:rPr>
              <a:t>new</a:t>
            </a:r>
            <a:r>
              <a:rPr lang="en-US" b="1" dirty="0">
                <a:effectLst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8080"/>
                </a:solidFill>
                <a:effectLst/>
                <a:ea typeface="Times New Roman" panose="02020603050405020304" pitchFamily="18" charset="0"/>
              </a:rPr>
              <a:t>Bitmap</a:t>
            </a:r>
            <a:r>
              <a:rPr lang="en-US" b="1" dirty="0">
                <a:effectLst/>
                <a:ea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800000"/>
                </a:solidFill>
                <a:effectLst/>
                <a:ea typeface="Times New Roman" panose="02020603050405020304" pitchFamily="18" charset="0"/>
              </a:rPr>
              <a:t>"f2.bmp"</a:t>
            </a:r>
            <a:r>
              <a:rPr lang="en-US" b="1" dirty="0">
                <a:effectLst/>
                <a:ea typeface="Times New Roman" panose="02020603050405020304" pitchFamily="18" charset="0"/>
              </a:rPr>
              <a:t>);</a:t>
            </a:r>
            <a:r>
              <a:rPr lang="en-US" dirty="0">
                <a:effectLst/>
                <a:ea typeface="Times New Roman" panose="02020603050405020304" pitchFamily="18" charset="0"/>
              </a:rPr>
              <a:t> </a:t>
            </a:r>
            <a:endParaRPr lang="ru-RU" dirty="0">
              <a:effectLst/>
              <a:ea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04825" algn="l"/>
              </a:tabLst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Выведем изображения на экран с помощью метода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DrawImage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метода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FormPaint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0">
              <a:buNone/>
            </a:pPr>
            <a:r>
              <a:rPr lang="ru-RU" b="1" dirty="0">
                <a:effectLst/>
                <a:ea typeface="Times New Roman" panose="02020603050405020304" pitchFamily="18" charset="0"/>
              </a:rPr>
              <a:t>	</a:t>
            </a:r>
            <a:r>
              <a:rPr lang="ru-RU" b="1" dirty="0" err="1">
                <a:effectLst/>
                <a:ea typeface="Times New Roman" panose="02020603050405020304" pitchFamily="18" charset="0"/>
              </a:rPr>
              <a:t>e.DrawImage</a:t>
            </a:r>
            <a:r>
              <a:rPr lang="ru-RU" b="1" dirty="0">
                <a:effectLst/>
                <a:ea typeface="Times New Roman" panose="02020603050405020304" pitchFamily="18" charset="0"/>
              </a:rPr>
              <a:t>(Bit1, 10, 10, 100, 100);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6435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1ABD2-4F49-4DA0-83C1-6959760F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marL="504825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Полностью код выглядит так: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352C3-41E7-4C99-A6BD-70CFFC80E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09" y="1565563"/>
            <a:ext cx="11984182" cy="4946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6225" indent="0">
              <a:buNone/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008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sz="2800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Graphics</a:t>
            </a: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 =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e.Graphics</a:t>
            </a: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800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</a:t>
            </a: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Bit1;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Bit1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Bitmap</a:t>
            </a: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"C:/C#/Image1/f1.bmp"</a:t>
            </a: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ru-RU" sz="2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p.DrawImage</a:t>
            </a:r>
            <a:r>
              <a:rPr lang="ru-RU" sz="2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(Bit1, 10, 10, 100, 100);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</a:p>
          <a:p>
            <a:pPr indent="0" algn="just">
              <a:buNone/>
            </a:pPr>
            <a:r>
              <a:rPr lang="ru-RU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212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375EE-92AB-4C29-B018-542DD13C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0" y="-47645"/>
            <a:ext cx="12192000" cy="65166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вывести рисунок из файла на форме.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7F8FC5-4CE3-4697-8789-7E6D6EED0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10" y="1367520"/>
            <a:ext cx="6096000" cy="5252159"/>
          </a:xfrm>
          <a:ln w="19050">
            <a:solidFill>
              <a:schemeClr val="tx1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800" dirty="0"/>
              <a:t>using System;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System.Collections.Generic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System.ComponentModel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System.Data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System.Drawing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System.Linq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System.Text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System.Threading.Tasks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using </a:t>
            </a:r>
            <a:r>
              <a:rPr lang="en-US" sz="3800" dirty="0" err="1"/>
              <a:t>System.Windows.Forms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namespace </a:t>
            </a:r>
            <a:r>
              <a:rPr lang="ru-RU" sz="3800" dirty="0" err="1"/>
              <a:t>Неупр</a:t>
            </a:r>
            <a:endParaRPr lang="ru-RU" sz="3800" dirty="0"/>
          </a:p>
          <a:p>
            <a:pPr marL="0" indent="0">
              <a:buNone/>
            </a:pPr>
            <a:r>
              <a:rPr lang="ru-RU" sz="3800" dirty="0"/>
              <a:t>{</a:t>
            </a:r>
          </a:p>
          <a:p>
            <a:pPr marL="0" indent="0">
              <a:buNone/>
            </a:pPr>
            <a:r>
              <a:rPr lang="ru-RU" sz="3800" dirty="0"/>
              <a:t>    </a:t>
            </a:r>
            <a:r>
              <a:rPr lang="en-US" sz="3800" dirty="0"/>
              <a:t>public partial class Form1 : Form</a:t>
            </a:r>
          </a:p>
          <a:p>
            <a:pPr marL="0" indent="0">
              <a:buNone/>
            </a:pPr>
            <a:r>
              <a:rPr lang="en-US" sz="3800" dirty="0"/>
              <a:t>    {</a:t>
            </a:r>
          </a:p>
          <a:p>
            <a:pPr marL="0" indent="0">
              <a:buNone/>
            </a:pPr>
            <a:r>
              <a:rPr lang="en-US" sz="3800" dirty="0"/>
              <a:t>        Graphics g; </a:t>
            </a:r>
            <a:r>
              <a:rPr lang="ru-RU" sz="3800" dirty="0"/>
              <a:t> </a:t>
            </a:r>
            <a:r>
              <a:rPr lang="en-US" sz="3800" b="1" dirty="0">
                <a:solidFill>
                  <a:srgbClr val="00B050"/>
                </a:solidFill>
              </a:rPr>
              <a:t>// </a:t>
            </a:r>
            <a:r>
              <a:rPr lang="ru-RU" sz="3800" b="1" dirty="0">
                <a:solidFill>
                  <a:srgbClr val="00B050"/>
                </a:solidFill>
              </a:rPr>
              <a:t>Объявляем графическую поверхность</a:t>
            </a:r>
          </a:p>
          <a:p>
            <a:pPr marL="0" indent="0">
              <a:buNone/>
            </a:pPr>
            <a:r>
              <a:rPr lang="ru-RU" sz="3800" dirty="0"/>
              <a:t>        </a:t>
            </a:r>
            <a:r>
              <a:rPr lang="en-US" sz="3800" dirty="0"/>
              <a:t>Rectangle </a:t>
            </a:r>
            <a:r>
              <a:rPr lang="en-US" sz="3800" dirty="0" err="1"/>
              <a:t>rct</a:t>
            </a:r>
            <a:r>
              <a:rPr lang="en-US" sz="3800" dirty="0"/>
              <a:t>;</a:t>
            </a:r>
            <a:r>
              <a:rPr lang="ru-RU" sz="3800" dirty="0"/>
              <a:t>  </a:t>
            </a:r>
            <a:r>
              <a:rPr lang="en-US" sz="3800" b="1" dirty="0">
                <a:solidFill>
                  <a:srgbClr val="00B050"/>
                </a:solidFill>
              </a:rPr>
              <a:t>//</a:t>
            </a:r>
            <a:r>
              <a:rPr lang="ru-RU" sz="3800" b="1" dirty="0">
                <a:solidFill>
                  <a:srgbClr val="00B050"/>
                </a:solidFill>
              </a:rPr>
              <a:t>Прямоугольник с размерами рисунка</a:t>
            </a:r>
          </a:p>
          <a:p>
            <a:pPr marL="0" indent="0">
              <a:buNone/>
            </a:pPr>
            <a:r>
              <a:rPr lang="ru-RU" sz="3800" dirty="0"/>
              <a:t>        </a:t>
            </a:r>
            <a:r>
              <a:rPr lang="en-US" sz="3800" dirty="0"/>
              <a:t>private Image Ball;</a:t>
            </a:r>
            <a:r>
              <a:rPr lang="en-US" sz="3800" b="1" dirty="0">
                <a:solidFill>
                  <a:srgbClr val="00B050"/>
                </a:solidFill>
              </a:rPr>
              <a:t>//</a:t>
            </a:r>
            <a:r>
              <a:rPr lang="ru-RU" sz="3800" b="1" dirty="0">
                <a:solidFill>
                  <a:srgbClr val="00B050"/>
                </a:solidFill>
              </a:rPr>
              <a:t>Создаем рисунок и называем его </a:t>
            </a:r>
            <a:r>
              <a:rPr lang="en-US" sz="3800" b="1" dirty="0">
                <a:solidFill>
                  <a:srgbClr val="00B050"/>
                </a:solidFill>
              </a:rPr>
              <a:t>Ball</a:t>
            </a:r>
          </a:p>
          <a:p>
            <a:pPr marL="0" indent="0">
              <a:buNone/>
            </a:pPr>
            <a:r>
              <a:rPr lang="en-US" sz="3800" dirty="0"/>
              <a:t>        int x = 400, y = 100, dx = 2, </a:t>
            </a:r>
            <a:r>
              <a:rPr lang="en-US" sz="3800" dirty="0" err="1"/>
              <a:t>dy</a:t>
            </a:r>
            <a:r>
              <a:rPr lang="en-US" sz="3800" dirty="0"/>
              <a:t> = 2;</a:t>
            </a:r>
            <a:r>
              <a:rPr lang="en-US" sz="3800" b="1" dirty="0">
                <a:solidFill>
                  <a:srgbClr val="00B050"/>
                </a:solidFill>
              </a:rPr>
              <a:t>// </a:t>
            </a:r>
            <a:r>
              <a:rPr lang="ru-RU" sz="3800" b="1" dirty="0">
                <a:solidFill>
                  <a:srgbClr val="00B050"/>
                </a:solidFill>
              </a:rPr>
              <a:t>Переменные типа </a:t>
            </a:r>
            <a:r>
              <a:rPr lang="en-US" sz="3800" b="1" dirty="0">
                <a:solidFill>
                  <a:srgbClr val="00B050"/>
                </a:solidFill>
              </a:rPr>
              <a:t>int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DB1B0-2A4A-42B4-B26D-BAE9A60BFA7E}"/>
              </a:ext>
            </a:extLst>
          </p:cNvPr>
          <p:cNvSpPr txBox="1"/>
          <p:nvPr/>
        </p:nvSpPr>
        <p:spPr>
          <a:xfrm>
            <a:off x="6373089" y="1367520"/>
            <a:ext cx="5763491" cy="53553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private void Form1_Paint(object sender, </a:t>
            </a:r>
            <a:r>
              <a:rPr lang="en-US" dirty="0" err="1"/>
              <a:t>PaintEventArgs</a:t>
            </a:r>
            <a:r>
              <a:rPr lang="en-US" dirty="0"/>
              <a:t> e)</a:t>
            </a:r>
          </a:p>
          <a:p>
            <a:r>
              <a:rPr lang="en-US" dirty="0"/>
              <a:t>     {</a:t>
            </a:r>
          </a:p>
          <a:p>
            <a:r>
              <a:rPr lang="en-US" dirty="0"/>
              <a:t>            </a:t>
            </a:r>
            <a:r>
              <a:rPr lang="en-US" dirty="0" err="1"/>
              <a:t>g.Clear</a:t>
            </a:r>
            <a:r>
              <a:rPr lang="en-US" dirty="0"/>
              <a:t>(</a:t>
            </a:r>
            <a:r>
              <a:rPr lang="en-US" dirty="0" err="1"/>
              <a:t>Color.White</a:t>
            </a:r>
            <a:r>
              <a:rPr lang="en-US" dirty="0"/>
              <a:t>);</a:t>
            </a:r>
            <a:r>
              <a:rPr lang="ru-RU" dirty="0"/>
              <a:t>  </a:t>
            </a:r>
            <a:r>
              <a:rPr lang="en-US" b="1" dirty="0">
                <a:solidFill>
                  <a:srgbClr val="00B050"/>
                </a:solidFill>
              </a:rPr>
              <a:t>//</a:t>
            </a:r>
            <a:r>
              <a:rPr lang="ru-RU" b="1" dirty="0">
                <a:solidFill>
                  <a:srgbClr val="00B050"/>
                </a:solidFill>
              </a:rPr>
              <a:t>Окрашиваем форму </a:t>
            </a:r>
          </a:p>
          <a:p>
            <a:r>
              <a:rPr lang="ru-RU" dirty="0"/>
              <a:t>       </a:t>
            </a:r>
            <a:r>
              <a:rPr lang="ru-RU" b="1" dirty="0">
                <a:solidFill>
                  <a:srgbClr val="00B050"/>
                </a:solidFill>
              </a:rPr>
              <a:t>//Ставим рисунок в начальное положение</a:t>
            </a:r>
          </a:p>
          <a:p>
            <a:r>
              <a:rPr lang="ru-RU" dirty="0"/>
              <a:t>            </a:t>
            </a:r>
            <a:r>
              <a:rPr lang="en-US" dirty="0" err="1"/>
              <a:t>g.DrawImage</a:t>
            </a:r>
            <a:r>
              <a:rPr lang="en-US" dirty="0"/>
              <a:t>(Ball, x, y, </a:t>
            </a:r>
            <a:r>
              <a:rPr lang="en-US" dirty="0" err="1"/>
              <a:t>Ball.Width</a:t>
            </a:r>
            <a:r>
              <a:rPr lang="en-US" dirty="0"/>
              <a:t>, </a:t>
            </a:r>
            <a:r>
              <a:rPr lang="en-US" dirty="0" err="1"/>
              <a:t>Ball.Height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ru-RU" dirty="0"/>
              <a:t>   </a:t>
            </a:r>
            <a:r>
              <a:rPr lang="en-US" dirty="0"/>
              <a:t> }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// </a:t>
            </a:r>
            <a:r>
              <a:rPr lang="ru-RU" b="1" dirty="0">
                <a:solidFill>
                  <a:srgbClr val="00B050"/>
                </a:solidFill>
              </a:rPr>
              <a:t>Здесь </a:t>
            </a:r>
            <a:r>
              <a:rPr lang="en-US" b="1" dirty="0" err="1">
                <a:solidFill>
                  <a:srgbClr val="00B050"/>
                </a:solidFill>
              </a:rPr>
              <a:t>Ball.Width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ru-RU" b="1" dirty="0">
                <a:solidFill>
                  <a:srgbClr val="00B050"/>
                </a:solidFill>
              </a:rPr>
              <a:t>и </a:t>
            </a:r>
            <a:r>
              <a:rPr lang="en-US" b="1" dirty="0" err="1">
                <a:solidFill>
                  <a:srgbClr val="00B050"/>
                </a:solidFill>
              </a:rPr>
              <a:t>Ball.Height</a:t>
            </a:r>
            <a:r>
              <a:rPr lang="en-US" b="1" dirty="0">
                <a:solidFill>
                  <a:srgbClr val="00B050"/>
                </a:solidFill>
              </a:rPr>
              <a:t> – </a:t>
            </a:r>
            <a:r>
              <a:rPr lang="ru-RU" b="1" dirty="0">
                <a:solidFill>
                  <a:srgbClr val="00B050"/>
                </a:solidFill>
              </a:rPr>
              <a:t>ширина и высота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// </a:t>
            </a:r>
            <a:r>
              <a:rPr lang="ru-RU" b="1" dirty="0">
                <a:solidFill>
                  <a:srgbClr val="00B050"/>
                </a:solidFill>
              </a:rPr>
              <a:t>рисунка. Программа определяет из сама.</a:t>
            </a:r>
          </a:p>
          <a:p>
            <a:r>
              <a:rPr lang="ru-RU" dirty="0"/>
              <a:t>  </a:t>
            </a:r>
          </a:p>
          <a:p>
            <a:r>
              <a:rPr lang="ru-RU" dirty="0"/>
              <a:t>      </a:t>
            </a:r>
            <a:r>
              <a:rPr lang="en-US" dirty="0"/>
              <a:t>public Form1()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</a:t>
            </a:r>
            <a:r>
              <a:rPr lang="en-US" dirty="0" err="1"/>
              <a:t>InitializeComponent</a:t>
            </a:r>
            <a:r>
              <a:rPr lang="en-US" dirty="0"/>
              <a:t>();</a:t>
            </a:r>
          </a:p>
          <a:p>
            <a:r>
              <a:rPr lang="en-US" dirty="0"/>
              <a:t>            g = </a:t>
            </a:r>
            <a:r>
              <a:rPr lang="en-US" dirty="0" err="1"/>
              <a:t>this.CreateGraphics</a:t>
            </a:r>
            <a:r>
              <a:rPr lang="en-US" dirty="0"/>
              <a:t>();   </a:t>
            </a:r>
            <a:r>
              <a:rPr lang="en-US" b="1" dirty="0">
                <a:solidFill>
                  <a:srgbClr val="00B050"/>
                </a:solidFill>
              </a:rPr>
              <a:t>// </a:t>
            </a:r>
            <a:r>
              <a:rPr lang="ru-RU" b="1" dirty="0">
                <a:solidFill>
                  <a:srgbClr val="00B050"/>
                </a:solidFill>
              </a:rPr>
              <a:t>Создаем поверхность</a:t>
            </a:r>
          </a:p>
          <a:p>
            <a:r>
              <a:rPr lang="ru-RU" dirty="0"/>
              <a:t>            </a:t>
            </a:r>
            <a:r>
              <a:rPr lang="en-US" dirty="0"/>
              <a:t>Ball = new Bitmap("</a:t>
            </a:r>
            <a:r>
              <a:rPr lang="ru-RU" dirty="0"/>
              <a:t>Полный путь/</a:t>
            </a:r>
            <a:r>
              <a:rPr lang="en-US" dirty="0"/>
              <a:t>apple.png");       				               </a:t>
            </a:r>
            <a:r>
              <a:rPr lang="en-US" b="1" dirty="0">
                <a:solidFill>
                  <a:srgbClr val="00B050"/>
                </a:solidFill>
              </a:rPr>
              <a:t>//</a:t>
            </a:r>
            <a:r>
              <a:rPr lang="ru-RU" b="1" dirty="0">
                <a:solidFill>
                  <a:srgbClr val="00B050"/>
                </a:solidFill>
              </a:rPr>
              <a:t>Создаем рисунок</a:t>
            </a:r>
          </a:p>
          <a:p>
            <a:r>
              <a:rPr lang="ru-RU" dirty="0"/>
              <a:t>        }</a:t>
            </a:r>
          </a:p>
          <a:p>
            <a:r>
              <a:rPr lang="ru-RU" dirty="0"/>
              <a:t>    }</a:t>
            </a:r>
          </a:p>
          <a:p>
            <a:r>
              <a:rPr lang="ru-RU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EF552-E988-4FCC-AACB-B7D76578192F}"/>
              </a:ext>
            </a:extLst>
          </p:cNvPr>
          <p:cNvSpPr txBox="1"/>
          <p:nvPr/>
        </p:nvSpPr>
        <p:spPr>
          <a:xfrm>
            <a:off x="0" y="451546"/>
            <a:ext cx="12136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Рисунок для удобства кладите в ту же папку, где находится проект. Запустить без указания полного пути не получилось. Положим на форму рисунок из файла. </a:t>
            </a:r>
          </a:p>
        </p:txBody>
      </p:sp>
    </p:spTree>
    <p:extLst>
      <p:ext uri="{BB962C8B-B14F-4D97-AF65-F5344CB8AC3E}">
        <p14:creationId xmlns:p14="http://schemas.microsoft.com/office/powerpoint/2010/main" val="476425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1D1E7-8155-4F03-82BC-8D48076E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sz="5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Timer</a:t>
            </a:r>
            <a:endParaRPr lang="ru-RU" sz="5400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11F340-1C94-44CA-B370-1C6546C7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983672"/>
            <a:ext cx="11914910" cy="572192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реализации движения мы будем использовать компонент </a:t>
            </a:r>
            <a:r>
              <a:rPr lang="ru-RU" b="1" i="1" dirty="0" err="1"/>
              <a:t>Timer</a:t>
            </a:r>
            <a:r>
              <a:rPr lang="ru-RU" b="1" i="1" dirty="0"/>
              <a:t>. </a:t>
            </a:r>
            <a:r>
              <a:rPr lang="ru-RU" dirty="0"/>
              <a:t>Интервал времени таймера будем задавать с помощью компонента </a:t>
            </a:r>
            <a:r>
              <a:rPr lang="ru-RU" b="1" i="1" dirty="0" err="1"/>
              <a:t>NumericUpDown</a:t>
            </a:r>
            <a:r>
              <a:rPr lang="ru-RU" b="1" i="1" dirty="0"/>
              <a:t>. </a:t>
            </a:r>
          </a:p>
          <a:p>
            <a:pPr marL="0" indent="0">
              <a:buNone/>
            </a:pPr>
            <a:r>
              <a:rPr lang="ru-RU" dirty="0"/>
              <a:t>Компонент </a:t>
            </a:r>
            <a:r>
              <a:rPr lang="ru-RU" b="1" i="1" dirty="0" err="1"/>
              <a:t>Timer</a:t>
            </a:r>
            <a:r>
              <a:rPr lang="ru-RU" dirty="0"/>
              <a:t> представляет собой компонент, который генерирует последовательность событий </a:t>
            </a:r>
            <a:r>
              <a:rPr lang="ru-RU" b="1" i="1" dirty="0" err="1"/>
              <a:t>Tick</a:t>
            </a:r>
            <a:r>
              <a:rPr lang="ru-RU" b="1" i="1" dirty="0"/>
              <a:t>.</a:t>
            </a:r>
            <a:r>
              <a:rPr lang="ru-RU" dirty="0"/>
              <a:t> Другими словами, </a:t>
            </a:r>
            <a:r>
              <a:rPr lang="ru-RU" b="1" i="1" dirty="0" err="1"/>
              <a:t>Timer</a:t>
            </a:r>
            <a:r>
              <a:rPr lang="ru-RU" dirty="0"/>
              <a:t> – это цикл, который повторяется через заданный интервал времени. Компонент является не</a:t>
            </a:r>
            <a:r>
              <a:rPr lang="en-US" dirty="0"/>
              <a:t> </a:t>
            </a:r>
            <a:r>
              <a:rPr lang="ru-RU" dirty="0"/>
              <a:t>визуальным. Свойства компонента приведены в таблице: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BDE611D-B922-4709-B3E2-6E3BD0A87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2750"/>
              </p:ext>
            </p:extLst>
          </p:nvPr>
        </p:nvGraphicFramePr>
        <p:xfrm>
          <a:off x="471054" y="3976254"/>
          <a:ext cx="11166763" cy="2664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7876">
                  <a:extLst>
                    <a:ext uri="{9D8B030D-6E8A-4147-A177-3AD203B41FA5}">
                      <a16:colId xmlns:a16="http://schemas.microsoft.com/office/drawing/2014/main" val="418718822"/>
                    </a:ext>
                  </a:extLst>
                </a:gridCol>
                <a:gridCol w="8068887">
                  <a:extLst>
                    <a:ext uri="{9D8B030D-6E8A-4147-A177-3AD203B41FA5}">
                      <a16:colId xmlns:a16="http://schemas.microsoft.com/office/drawing/2014/main" val="3493032759"/>
                    </a:ext>
                  </a:extLst>
                </a:gridCol>
              </a:tblGrid>
              <a:tr h="749254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effectLst/>
                        </a:rPr>
                        <a:t>Свойство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effectLst/>
                        </a:rPr>
                        <a:t>Описание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4344258"/>
                  </a:ext>
                </a:extLst>
              </a:tr>
              <a:tr h="788601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Interval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>
                          <a:effectLst/>
                        </a:rPr>
                        <a:t>Период генерации события </a:t>
                      </a:r>
                      <a:r>
                        <a:rPr lang="ru-RU" sz="2800" dirty="0" err="1">
                          <a:effectLst/>
                        </a:rPr>
                        <a:t>Tick</a:t>
                      </a:r>
                      <a:r>
                        <a:rPr lang="ru-RU" sz="2800" dirty="0">
                          <a:effectLst/>
                        </a:rPr>
                        <a:t>. Задается в миллисекундах (1000 миллисекунд – 1 секунда)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3354754"/>
                  </a:ext>
                </a:extLst>
              </a:tr>
              <a:tr h="1061442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err="1">
                          <a:effectLst/>
                        </a:rPr>
                        <a:t>Enabled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effectLst/>
                        </a:rPr>
                        <a:t>Разрешение работы. Разрешает (значение </a:t>
                      </a:r>
                      <a:r>
                        <a:rPr lang="ru-RU" sz="2800" dirty="0" err="1">
                          <a:effectLst/>
                        </a:rPr>
                        <a:t>True</a:t>
                      </a:r>
                      <a:r>
                        <a:rPr lang="ru-RU" sz="2800" dirty="0">
                          <a:effectLst/>
                        </a:rPr>
                        <a:t>) или запрещает (значение </a:t>
                      </a:r>
                      <a:r>
                        <a:rPr lang="ru-RU" sz="2800" dirty="0" err="1">
                          <a:effectLst/>
                        </a:rPr>
                        <a:t>False</a:t>
                      </a:r>
                      <a:r>
                        <a:rPr lang="ru-RU" sz="2800" dirty="0">
                          <a:effectLst/>
                        </a:rPr>
                        <a:t>) генерацию события </a:t>
                      </a:r>
                      <a:r>
                        <a:rPr lang="ru-RU" sz="2800" dirty="0" err="1">
                          <a:effectLst/>
                        </a:rPr>
                        <a:t>Tick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469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8086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7F5C4-75C2-4573-9121-2FEAF528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3564"/>
          </a:xfrm>
        </p:spPr>
        <p:txBody>
          <a:bodyPr/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NumericUpDown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48265-57DF-401E-91F3-C32917661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3564"/>
            <a:ext cx="11998036" cy="579119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Компонент </a:t>
            </a:r>
            <a:r>
              <a:rPr lang="ru-RU" b="1" i="1" dirty="0" err="1"/>
              <a:t>NumericUpDown</a:t>
            </a:r>
            <a:r>
              <a:rPr lang="ru-RU" b="1" i="1" dirty="0"/>
              <a:t> </a:t>
            </a:r>
            <a:r>
              <a:rPr lang="ru-RU" dirty="0"/>
              <a:t>предназначен для ввода числовых данных. Данные в поле редактирования можно ввести путем набора на клавиатуре или при помощи командных кнопок </a:t>
            </a:r>
            <a:r>
              <a:rPr lang="ru-RU" b="1" i="1" dirty="0"/>
              <a:t>Увеличить</a:t>
            </a:r>
            <a:r>
              <a:rPr lang="ru-RU" dirty="0"/>
              <a:t> и </a:t>
            </a:r>
            <a:r>
              <a:rPr lang="ru-RU" b="1" i="1" dirty="0"/>
              <a:t>Уменьшить</a:t>
            </a:r>
            <a:r>
              <a:rPr lang="ru-RU" dirty="0"/>
              <a:t>, которые находятся справа от поля редактирования.</a:t>
            </a:r>
          </a:p>
          <a:p>
            <a:pPr marL="0" indent="0">
              <a:buNone/>
            </a:pPr>
            <a:r>
              <a:rPr lang="ru-RU" dirty="0"/>
              <a:t>Свойства компонента </a:t>
            </a:r>
            <a:r>
              <a:rPr lang="ru-RU" b="1" i="1" dirty="0" err="1"/>
              <a:t>NumericUpDown</a:t>
            </a:r>
            <a:r>
              <a:rPr lang="ru-RU" dirty="0"/>
              <a:t> приведены в таблице: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0DE0882-B02A-436C-9272-0CE23927A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632237"/>
              </p:ext>
            </p:extLst>
          </p:nvPr>
        </p:nvGraphicFramePr>
        <p:xfrm>
          <a:off x="997526" y="2969005"/>
          <a:ext cx="10515599" cy="37449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8602">
                  <a:extLst>
                    <a:ext uri="{9D8B030D-6E8A-4147-A177-3AD203B41FA5}">
                      <a16:colId xmlns:a16="http://schemas.microsoft.com/office/drawing/2014/main" val="2182451541"/>
                    </a:ext>
                  </a:extLst>
                </a:gridCol>
                <a:gridCol w="8226997">
                  <a:extLst>
                    <a:ext uri="{9D8B030D-6E8A-4147-A177-3AD203B41FA5}">
                      <a16:colId xmlns:a16="http://schemas.microsoft.com/office/drawing/2014/main" val="2188010752"/>
                    </a:ext>
                  </a:extLst>
                </a:gridCol>
              </a:tblGrid>
              <a:tr h="453068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Свойство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Описание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4146268"/>
                  </a:ext>
                </a:extLst>
              </a:tr>
              <a:tr h="59081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Value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Значение, соответствующее содержимому поля редактирования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5297815"/>
                  </a:ext>
                </a:extLst>
              </a:tr>
              <a:tr h="59081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Maximum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Максимально возможное значение, которое можно ввести в поле компонента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706752"/>
                  </a:ext>
                </a:extLst>
              </a:tr>
              <a:tr h="590814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Minimum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Минимально возможное значение, которое можно</a:t>
                      </a:r>
                    </a:p>
                    <a:p>
                      <a:pPr algn="just"/>
                      <a:r>
                        <a:rPr lang="ru-RU" sz="2400" dirty="0">
                          <a:effectLst/>
                        </a:rPr>
                        <a:t>ввести в поле компонента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6130678"/>
                  </a:ext>
                </a:extLst>
              </a:tr>
              <a:tr h="88622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err="1">
                          <a:effectLst/>
                        </a:rPr>
                        <a:t>Increment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Величина, на которую увеличивается или уменьшается значение свойства Value при каждом щелчке мышью на кнопках </a:t>
                      </a:r>
                      <a:r>
                        <a:rPr lang="ru-RU" sz="2400" b="1" i="1" dirty="0">
                          <a:effectLst/>
                        </a:rPr>
                        <a:t>Увеличить</a:t>
                      </a:r>
                      <a:r>
                        <a:rPr lang="ru-RU" sz="2400" dirty="0">
                          <a:effectLst/>
                        </a:rPr>
                        <a:t> или </a:t>
                      </a:r>
                      <a:r>
                        <a:rPr lang="ru-RU" sz="2400" b="1" i="1" dirty="0">
                          <a:effectLst/>
                        </a:rPr>
                        <a:t>Уменьшить</a:t>
                      </a:r>
                      <a:endParaRPr lang="ru-RU" sz="2400" b="1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695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48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C3CA2D-553F-44E5-B57B-1D73EF19A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293"/>
            <a:ext cx="10515600" cy="593664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Задание:  Автоматический Светофор.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54975B-B581-4554-B233-59596F188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98" y="1065320"/>
            <a:ext cx="5255581" cy="5427555"/>
          </a:xfrm>
        </p:spPr>
        <p:txBody>
          <a:bodyPr/>
          <a:lstStyle/>
          <a:p>
            <a:pPr marL="0" indent="0">
              <a:buNone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Сделайте проект – светофор, работающий автоматически. Цвета чередуются. По кнопке Старт – запускается, по кнопке Стоп – выключается.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F34AF1-66AA-4752-B66A-F5FE1A56D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254" y="1151230"/>
            <a:ext cx="6314246" cy="403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69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DF551-E431-492E-8168-210909C0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5" y="2"/>
            <a:ext cx="12025745" cy="54032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Неуправляемое движение графического объекта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CAD6F7-D74E-490E-88B3-3BDCE78B6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5" y="810490"/>
            <a:ext cx="5846617" cy="6047509"/>
          </a:xfrm>
          <a:ln w="19050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System;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System.Collections.Generic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System.ComponentModel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System.Data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System.Drawing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System.Linq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System.Text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System.Threading.Tasks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System.Windows.Forms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 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namespace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{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partial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class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Form1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: Form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{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Graphics g; </a:t>
            </a:r>
            <a:r>
              <a:rPr lang="ru-RU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Объявляем графическую </a:t>
            </a:r>
            <a:endParaRPr lang="en-US" sz="1800" b="1" dirty="0">
              <a:solidFill>
                <a:srgbClr val="008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0">
              <a:buNone/>
            </a:pPr>
            <a:r>
              <a:rPr lang="en-US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</a:t>
            </a:r>
            <a:r>
              <a:rPr lang="ru-RU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поверхность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Rectangle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rct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r>
              <a:rPr lang="ru-RU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//Прямоугольник с </a:t>
            </a:r>
            <a:r>
              <a:rPr lang="ru-RU" sz="1800" b="1" dirty="0" err="1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разм</a:t>
            </a:r>
            <a:r>
              <a:rPr lang="en-US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ru-RU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ми рисунка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private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Image Ball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r>
              <a:rPr lang="ru-RU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//Создаем рисунок  </a:t>
            </a:r>
            <a:r>
              <a:rPr lang="en-US" sz="18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x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400,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100, 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dx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2,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dy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2;</a:t>
            </a:r>
            <a:r>
              <a:rPr lang="ru-RU" sz="1800" b="1" dirty="0">
                <a:solidFill>
                  <a:srgbClr val="00CC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</a:t>
            </a:r>
            <a:r>
              <a:rPr lang="ru-RU" sz="1800" b="1" dirty="0">
                <a:solidFill>
                  <a:srgbClr val="5381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Переменные  </a:t>
            </a:r>
            <a:r>
              <a:rPr lang="en-US" sz="1800" b="1" dirty="0">
                <a:solidFill>
                  <a:srgbClr val="5381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273A7-F50F-4FD6-816F-9AB909FD2B26}"/>
              </a:ext>
            </a:extLst>
          </p:cNvPr>
          <p:cNvSpPr txBox="1"/>
          <p:nvPr/>
        </p:nvSpPr>
        <p:spPr>
          <a:xfrm>
            <a:off x="6005945" y="1118489"/>
            <a:ext cx="6096000" cy="535531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private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Form1_Paint(</a:t>
            </a:r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sender,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PaintEventArgs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e)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{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g.Clear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Color.White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);</a:t>
            </a:r>
            <a:r>
              <a:rPr lang="en-US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</a:t>
            </a:r>
            <a:r>
              <a:rPr lang="ru-RU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Окрашиваем форму 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</a:t>
            </a:r>
            <a:r>
              <a:rPr lang="en-US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</a:t>
            </a:r>
            <a:r>
              <a:rPr lang="ru-RU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Ставим рисунок в начальное положение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/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g.DrawImage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(Ball, x, y,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Ball.Width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Ball.Height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);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} 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Здесь </a:t>
            </a:r>
            <a:r>
              <a:rPr lang="en-US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Width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 </a:t>
            </a:r>
            <a:r>
              <a:rPr lang="en-US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Height</a:t>
            </a:r>
            <a:r>
              <a:rPr lang="ru-RU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– </a:t>
            </a:r>
            <a:endParaRPr lang="en-US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252095" algn="just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		//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ширина и высота рисунка. </a:t>
            </a:r>
            <a:endParaRPr lang="en-US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252095" algn="just"/>
            <a:r>
              <a:rPr lang="en-US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 </a:t>
            </a:r>
            <a:r>
              <a:rPr lang="ru-RU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Программа определяет из сама.  </a:t>
            </a:r>
            <a:endParaRPr lang="en-US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252095" algn="just"/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public Form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1()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{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InitializeComponent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();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g = </a:t>
            </a:r>
            <a:r>
              <a:rPr lang="en-US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this.CreateGraphics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(); </a:t>
            </a:r>
            <a:r>
              <a:rPr lang="en-US" b="1" dirty="0">
                <a:solidFill>
                  <a:srgbClr val="5381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</a:t>
            </a:r>
            <a:r>
              <a:rPr lang="ru-RU" b="1" dirty="0">
                <a:solidFill>
                  <a:srgbClr val="5381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Создаем поверхность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Ball = new Bitmap("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Полный путь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/apple.png"); </a:t>
            </a:r>
          </a:p>
          <a:p>
            <a:pPr indent="252095" algn="just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b="1" dirty="0">
                <a:solidFill>
                  <a:srgbClr val="5381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 </a:t>
            </a:r>
            <a:r>
              <a:rPr lang="ru-RU" b="1" dirty="0">
                <a:solidFill>
                  <a:srgbClr val="53813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Создаем рисунок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}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}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52095" algn="just"/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}</a:t>
            </a:r>
            <a:endParaRPr lang="ru-RU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1CA7C-E73E-433D-87D7-FDF613D22551}"/>
              </a:ext>
            </a:extLst>
          </p:cNvPr>
          <p:cNvSpPr txBox="1"/>
          <p:nvPr/>
        </p:nvSpPr>
        <p:spPr>
          <a:xfrm>
            <a:off x="1607127" y="387644"/>
            <a:ext cx="648392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//</a:t>
            </a:r>
            <a:r>
              <a:rPr kumimoji="0" lang="ru-RU" sz="2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Положим на форму рисунок из файла.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8877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F26B5-854D-43A5-9C94-B0A47F68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2" y="0"/>
            <a:ext cx="12095018" cy="701675"/>
          </a:xfrm>
        </p:spPr>
        <p:txBody>
          <a:bodyPr/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рисунка с отражением.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41BDB2-345C-462D-86BF-F8BFF4086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8436" y="701675"/>
            <a:ext cx="8312729" cy="6142471"/>
          </a:xfrm>
          <a:ln w="19050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private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timer1_Tick(</a:t>
            </a:r>
            <a:r>
              <a:rPr lang="en-US" sz="1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object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sender,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EventArgs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e)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9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</a:t>
            </a:r>
            <a:r>
              <a:rPr lang="ru-RU" sz="19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 выглядит</a:t>
            </a:r>
            <a:endParaRPr lang="en-US" sz="19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9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{ </a:t>
            </a:r>
            <a:r>
              <a:rPr lang="en-US" sz="19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//</a:t>
            </a:r>
            <a:r>
              <a:rPr lang="ru-RU" sz="19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обработчик</a:t>
            </a:r>
            <a:r>
              <a:rPr lang="en-US" sz="19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9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компонента </a:t>
            </a:r>
            <a:r>
              <a:rPr lang="ru-RU" sz="19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Таймер.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</a:t>
            </a:r>
            <a:r>
              <a:rPr lang="ru-RU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rct.X</a:t>
            </a: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x;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//Левый верхний угол прямоугольника будет иметь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// координаты х, у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rct.Y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y;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rct.Width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Ball.Width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rct.Height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Ball.Height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Invalidate(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rct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);</a:t>
            </a: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Перерисовываем прямоугольник цветом фона</a:t>
            </a:r>
            <a:r>
              <a:rPr lang="en-US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008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                                                 // </a:t>
            </a:r>
            <a:r>
              <a:rPr lang="en-US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т. е</a:t>
            </a:r>
            <a:r>
              <a:rPr lang="ru-RU" sz="1900" b="1" dirty="0">
                <a:solidFill>
                  <a:srgbClr val="008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 С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тираем рисунок</a:t>
            </a:r>
            <a:r>
              <a:rPr lang="en-US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 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</a:t>
            </a:r>
            <a:r>
              <a:rPr lang="ru-RU" sz="1900" b="1" dirty="0" err="1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Invalidate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очищает прямоугольник. </a:t>
            </a:r>
            <a:endParaRPr lang="en-US" sz="1900" b="1" dirty="0">
              <a:solidFill>
                <a:srgbClr val="008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 //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Если скобки пустые – всю форму.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x += </a:t>
            </a:r>
            <a:r>
              <a:rPr lang="ru-RU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dx</a:t>
            </a: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//Меняем координаты рисунка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y += </a:t>
            </a:r>
            <a:r>
              <a:rPr lang="ru-RU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dy</a:t>
            </a: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g.DrawImage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(Ball, x, y,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Ball.Width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Ball.Height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);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//Ставим рисунок в новые координаты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</a:t>
            </a:r>
            <a:r>
              <a:rPr lang="ru-RU" sz="1900" b="1" dirty="0">
                <a:solidFill>
                  <a:srgbClr val="008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//Отражение от стенок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9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((x &lt; 0) || (x &gt; (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ClientRectangle.Width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Ball.Width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))) dx = -dx;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</a:t>
            </a:r>
            <a:r>
              <a:rPr lang="en-US" sz="19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if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((y &lt; 0) || (y &gt; (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ClientRectangle.Height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Ball.Height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))) 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dy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= -</a:t>
            </a:r>
            <a:r>
              <a:rPr lang="en-US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dy</a:t>
            </a: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 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</a:t>
            </a:r>
            <a:r>
              <a:rPr lang="ru-RU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}</a:t>
            </a:r>
            <a:endParaRPr lang="ru-RU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3C5A2-DEC4-45F6-AEE2-834E4C7CB71D}"/>
              </a:ext>
            </a:extLst>
          </p:cNvPr>
          <p:cNvSpPr txBox="1"/>
          <p:nvPr/>
        </p:nvSpPr>
        <p:spPr>
          <a:xfrm>
            <a:off x="110835" y="1183076"/>
            <a:ext cx="35467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5209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форме двигается рисунок, отражаясь от краев формы. Скорость движения рисунка зависит от интервала таймера. </a:t>
            </a:r>
            <a:endParaRPr lang="ru-RU" sz="3200" b="1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7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2CA5A-66DE-4001-BD5D-417F0533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09" y="18256"/>
            <a:ext cx="11173691" cy="771454"/>
          </a:xfrm>
        </p:spPr>
        <p:txBody>
          <a:bodyPr/>
          <a:lstStyle/>
          <a:p>
            <a:pPr algn="ctr"/>
            <a:r>
              <a:rPr lang="ru-RU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Задание </a:t>
            </a:r>
            <a:r>
              <a:rPr lang="en-US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 «</a:t>
            </a:r>
            <a:r>
              <a:rPr lang="ru-RU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Бегущая кнопка</a:t>
            </a:r>
            <a:r>
              <a:rPr lang="en-US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».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FC8FA6-0455-470A-BFA7-876D2CC69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1753"/>
            <a:ext cx="6095999" cy="5717622"/>
          </a:xfrm>
        </p:spPr>
        <p:txBody>
          <a:bodyPr>
            <a:normAutofit fontScale="85000" lnSpcReduction="20000"/>
          </a:bodyPr>
          <a:lstStyle/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Кнопка с рисунком двигается слева направо. Доходит до края формы и останавливается.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 кнопке 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«Старт»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рисунок начинает движение. Если рисунок дошел до правого края формы, то он останавливается сам. Его можно запустить заново с левого края формы, если нажать кнопку 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«Старт».  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Движение рисунка можно остановить в любой момент по кнопке 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«Стоп».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 затем, по нажатии кнопки 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«Старт»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рисунок начнёт движение заново с левого края формы.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Во время движения кнопка 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«Старт»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неактивна. Если кнопка с картинкой не двигается, то кнопка </a:t>
            </a:r>
            <a:r>
              <a:rPr lang="ru-RU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«Стоп»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неактивна.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 компонента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button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(кнопка) есть свойство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Enabled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Если оно –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то кнопка активна, иначе (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– нет.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1D8E5E-6C6A-455A-B761-522754EFD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714" y="1205690"/>
            <a:ext cx="5693410" cy="4031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2E0FE7-E7ED-4D25-9BE4-C232AE4653B0}"/>
              </a:ext>
            </a:extLst>
          </p:cNvPr>
          <p:cNvSpPr txBox="1"/>
          <p:nvPr/>
        </p:nvSpPr>
        <p:spPr>
          <a:xfrm>
            <a:off x="6691745" y="5306221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Рис. 2. Фрагмент работы проекта </a:t>
            </a: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Бегущая кнопка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399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813F5-4A1C-4160-8118-734CD84D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09" y="18256"/>
            <a:ext cx="11984182" cy="78530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Управляемое движение </a:t>
            </a:r>
            <a:r>
              <a:rPr lang="ru-RU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объекта с помощью клавиш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09AF5F-5DFD-43AA-9362-F6CE1952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3564"/>
            <a:ext cx="12191999" cy="6054436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реализации движения мы используем событие формы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1_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KeyDown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Обработчику события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Form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1_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KeyDown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sender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KeyEventArgs</a:t>
            </a:r>
            <a:r>
              <a:rPr lang="ru-RU" sz="2400" b="1" dirty="0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Через параметр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«e»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передается код нажатой клавиши. Анализируя нажатия клавиш смещаем изображение, изменяя его начальные координаты.</a:t>
            </a:r>
          </a:p>
          <a:p>
            <a:pPr indent="0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Upr</a:t>
            </a:r>
            <a:r>
              <a:rPr lang="ru-RU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dv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Bit;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300, y = 100, w = 40, h = 40;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g.Clear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indent="0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6086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80A36-59BA-4D62-AE10-2FA38533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32660"/>
          </a:xfrm>
        </p:spPr>
        <p:txBody>
          <a:bodyPr>
            <a:normAutofit fontScale="90000"/>
          </a:bodyPr>
          <a:lstStyle/>
          <a:p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Управляемое движение 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объекта с помощью клавиш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A3A27-724A-4F7C-AC51-51F290CC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" y="671945"/>
            <a:ext cx="5985164" cy="6083962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Form1_KeyDown</a:t>
            </a:r>
            <a:endParaRPr lang="ru-RU" sz="20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KeyEventArgs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rct.X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x;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rct.Y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y;</a:t>
            </a:r>
            <a:endParaRPr lang="ru-RU" sz="2000" dirty="0">
              <a:latin typeface="Consolas" panose="020B0609020204030204" pitchFamily="49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rct.Width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w;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rct.Height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h;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Invalidate(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Обработка кодов клавиш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Keys.Down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y += 10;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Keys.Up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y -= 10;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Keys.Left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x -= 10;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Keys.Right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x +=10;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        </a:t>
            </a:r>
            <a:endParaRPr lang="ru-RU" sz="2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B8C2F-8EB6-4A02-93EB-239C79906DED}"/>
              </a:ext>
            </a:extLst>
          </p:cNvPr>
          <p:cNvSpPr txBox="1"/>
          <p:nvPr/>
        </p:nvSpPr>
        <p:spPr>
          <a:xfrm>
            <a:off x="6319222" y="671945"/>
            <a:ext cx="5781043" cy="37856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 g;</a:t>
            </a:r>
            <a:endParaRPr lang="ru-RU" sz="2000" dirty="0">
              <a:latin typeface="Consolas" panose="020B0609020204030204" pitchFamily="49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Rectangle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g = </a:t>
            </a:r>
            <a:r>
              <a:rPr lang="en-US" sz="20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Bit = </a:t>
            </a:r>
            <a:r>
              <a:rPr lang="en-US" sz="20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</a:t>
            </a:r>
            <a:endParaRPr lang="ru-RU" sz="2000" dirty="0">
              <a:solidFill>
                <a:srgbClr val="A31515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20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/My_Projects</a:t>
            </a:r>
            <a:r>
              <a:rPr lang="ru-RU" sz="20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/My_im/</a:t>
            </a:r>
            <a:endParaRPr lang="ru-RU" sz="2000" dirty="0">
              <a:solidFill>
                <a:srgbClr val="A31515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</a:t>
            </a:r>
            <a:r>
              <a:rPr lang="en-US" sz="20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krest.png"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20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931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C42BA-2E3B-45DE-AF8A-0CD8888C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221" y="18256"/>
            <a:ext cx="10515600" cy="59430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объекта с помощью мыши.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ADD7A2-DF26-4667-AB93-A27E262E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20" y="727968"/>
            <a:ext cx="11887200" cy="6036815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Событиям </a:t>
            </a:r>
            <a:r>
              <a:rPr lang="en-US" sz="2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MouseDown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MouseUp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2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MouseMove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аргумента передается объект 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обеспечивает эти события текущими координатами 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2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курсора мыши. В примере с помощью этих событий мы обеспечим движение объекта вслед за курсором мыши.</a:t>
            </a:r>
          </a:p>
          <a:p>
            <a:pPr indent="0" algn="just">
              <a:buNone/>
            </a:pP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My_im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Bit;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10, y = 10, w = 40, h = 40;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Graphics g;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 =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Признак нажатой клавиши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Rectangle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0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20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100, 100, w, h);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0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579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839E1-7EFB-44E1-BB6B-137EC0A4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43" y="18256"/>
            <a:ext cx="11762913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объекта с помощью мыши.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7B2A42-D81F-4941-9509-A768F1B18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81038"/>
            <a:ext cx="6205490" cy="6158706"/>
          </a:xfrm>
          <a:ln w="19050"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Form1_MouseDown(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{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p = 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Нажали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 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Form1_MouseUp(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{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p = 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Отпустили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 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Form1_MouseMove(</a:t>
            </a:r>
            <a:r>
              <a:rPr lang="en-US" sz="1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ru-RU" sz="18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(p)  </a:t>
            </a:r>
            <a:r>
              <a:rPr lang="ru-RU" sz="1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//Если нажата, то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rct.X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x 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rct.Y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y 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rct.Width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w;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rct.Height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=h;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Invalidate(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x =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e.X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y =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e.Y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}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D5B48-5E92-4132-9249-D8FA13E51288}"/>
              </a:ext>
            </a:extLst>
          </p:cNvPr>
          <p:cNvSpPr txBox="1"/>
          <p:nvPr/>
        </p:nvSpPr>
        <p:spPr>
          <a:xfrm>
            <a:off x="6282801" y="681038"/>
            <a:ext cx="5909197" cy="332398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 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g.Clear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g = </a:t>
            </a:r>
            <a:r>
              <a:rPr lang="en-US" sz="14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Bit = </a:t>
            </a:r>
            <a:r>
              <a:rPr lang="en-US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"D:/C#/My_Projects</a:t>
            </a:r>
            <a:endParaRPr lang="ru-RU" sz="1400" dirty="0">
              <a:solidFill>
                <a:srgbClr val="A31515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</a:t>
            </a:r>
            <a:r>
              <a:rPr lang="en-US" sz="1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/My_im/krest.png"</a:t>
            </a:r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5588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3805</Words>
  <Application>Microsoft Office PowerPoint</Application>
  <PresentationFormat>Широкоэкранный</PresentationFormat>
  <Paragraphs>460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Courier New</vt:lpstr>
      <vt:lpstr>Times New Roman</vt:lpstr>
      <vt:lpstr>Wingdings</vt:lpstr>
      <vt:lpstr>Тема Office</vt:lpstr>
      <vt:lpstr>Графика и Таймер в Window Forms.</vt:lpstr>
      <vt:lpstr>Как занести рисунок из файла на элемент из панели элементов.</vt:lpstr>
      <vt:lpstr>Графические поверхности</vt:lpstr>
      <vt:lpstr>Cпособы создания графической поверхности.</vt:lpstr>
      <vt:lpstr>Cпособы создания графической поверхности.</vt:lpstr>
      <vt:lpstr>Основные методы класса Graphics</vt:lpstr>
      <vt:lpstr>Инструменты рисования</vt:lpstr>
      <vt:lpstr>Класс Pen – карандаш.</vt:lpstr>
      <vt:lpstr>Кисть – класс Brush.</vt:lpstr>
      <vt:lpstr>Графические примитивы.</vt:lpstr>
      <vt:lpstr>Графические примитивы (продолжение)</vt:lpstr>
      <vt:lpstr>Графические примитивы (продолжение)</vt:lpstr>
      <vt:lpstr>Пример создания поверхности и отрисовки на  ней линии и прямоугольника. </vt:lpstr>
      <vt:lpstr>В результате получается следующее окно.</vt:lpstr>
      <vt:lpstr>Пример.  Нарисуем светофор.</vt:lpstr>
      <vt:lpstr>Задания для самостоятельной работы</vt:lpstr>
      <vt:lpstr>Работа с изображениями</vt:lpstr>
      <vt:lpstr>Полностью код выглядит так: </vt:lpstr>
      <vt:lpstr>Как вывести рисунок из файла на форме.</vt:lpstr>
      <vt:lpstr>Компонент Timer</vt:lpstr>
      <vt:lpstr>Компонент NumericUpDown</vt:lpstr>
      <vt:lpstr>Задание:  Автоматический Светофор.</vt:lpstr>
      <vt:lpstr>Неуправляемое движение графического объекта</vt:lpstr>
      <vt:lpstr>Движение рисунка с отражением.</vt:lpstr>
      <vt:lpstr>Задание 2. «Бегущая кнопка». </vt:lpstr>
      <vt:lpstr>Управляемое движение объекта с помощью клавиш</vt:lpstr>
      <vt:lpstr>Управляемое движение объекта с помощью клавиш</vt:lpstr>
      <vt:lpstr>Движение объекта с помощью мыши.</vt:lpstr>
      <vt:lpstr>Движение объекта с помощью мыши.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Мария Белякова</cp:lastModifiedBy>
  <cp:revision>44</cp:revision>
  <dcterms:created xsi:type="dcterms:W3CDTF">2022-02-10T11:57:25Z</dcterms:created>
  <dcterms:modified xsi:type="dcterms:W3CDTF">2022-02-14T16:33:47Z</dcterms:modified>
</cp:coreProperties>
</file>