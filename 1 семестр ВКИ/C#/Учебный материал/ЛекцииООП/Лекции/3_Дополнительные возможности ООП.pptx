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6858000" cy="9144000"/>
  <p:embeddedFontLst>
    <p:embeddedFont>
      <p:font typeface="Montserrat" charset="-52"/>
      <p:regular r:id="rId32"/>
      <p:bold r:id="rId33"/>
      <p:italic r:id="rId34"/>
      <p:boldItalic r:id="rId35"/>
    </p:embeddedFont>
    <p:embeddedFont>
      <p:font typeface="Lato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-96" y="-19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43733e9bf4_0_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43733e9bf4_0_3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437489034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437489034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437489034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437489034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437489034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4374890346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4374890346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4374890346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4374890346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4374890346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4374890346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4374890346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43733e9bf4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43733e9bf4_0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43733e9bf4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43733e9bf4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43733e9bf4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43733e9bf4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43733e9bf4_0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43733e9bf4_0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43733e9bf4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43733e9bf4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43733e9bf4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43733e9bf4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43733e9bf4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43733e9bf4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43733e9bf4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43733e9bf4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43733e9bf4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43733e9bf4_0_2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43733e9bf4_0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43733e9bf4_0_2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43733e9bf4_0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43733e9bf4_0_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43733e9bf4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43733e9bf4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43733e9bf4_0_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43733e9bf4_0_2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43733e9bf4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43733e9bf4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43733e9bf4_0_2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43733e9bf4_0_2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43733e9bf4_0_2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43733e9bf4_0_2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43733e9bf4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43733e9bf4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43733e9bf4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43733e9bf4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43733e9bf4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43733e9bf4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43733e9bf4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43733e9bf4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43733e9bf4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43733e9bf4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Дополнительные возможности ООП</a:t>
            </a:r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Мухортова Н.Н.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Преобразование типов</a:t>
            </a:r>
            <a:endParaRPr/>
          </a:p>
        </p:txBody>
      </p:sp>
      <p:sp>
        <p:nvSpPr>
          <p:cNvPr id="141" name="Google Shape;141;p1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class Person{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	public string Name { get; set; }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	public Person(string name)	{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	Name = name;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	}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	public void Display()	{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	Console.WriteLine($"Person {Name}");	}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ru"/>
              <a:t>}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Преобразование типов</a:t>
            </a:r>
            <a:endParaRPr/>
          </a:p>
        </p:txBody>
      </p:sp>
      <p:sp>
        <p:nvSpPr>
          <p:cNvPr id="147" name="Google Shape;147;p1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class Employee : Person{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	public string Company { get; set; }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	public Employee(string name, string company) : base(name)	{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	Company = company;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	}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ru"/>
              <a:t>}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Преобразование типов</a:t>
            </a:r>
            <a:endParaRPr/>
          </a:p>
        </p:txBody>
      </p:sp>
      <p:sp>
        <p:nvSpPr>
          <p:cNvPr id="153" name="Google Shape;153;p16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class Client : Person{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	public string Bank { get; set; }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	public Client(string name, string bank) : base(name)	{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	Bank = bank;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	}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ru"/>
              <a:t>}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Преобразование типов</a:t>
            </a:r>
            <a:endParaRPr/>
          </a:p>
        </p:txBody>
      </p:sp>
      <p:pic>
        <p:nvPicPr>
          <p:cNvPr id="159" name="Google Shape;159;p17" descr="Иерархия наследования в языке C#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8475" y="1307850"/>
            <a:ext cx="6717750" cy="367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Восходящие преобразования</a:t>
            </a:r>
            <a:endParaRPr/>
          </a:p>
        </p:txBody>
      </p:sp>
      <p:sp>
        <p:nvSpPr>
          <p:cNvPr id="165" name="Google Shape;165;p18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static void Main(string[] args){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	Employee employee = new Employee("Tom", "Microsoft");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	Person person = employee;   // преобразование от Employee к Person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	Console.WriteLine(person.Name);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	Console.ReadKey();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ru"/>
              <a:t>}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Восходящие преобразования</a:t>
            </a:r>
            <a:endParaRPr/>
          </a:p>
        </p:txBody>
      </p:sp>
      <p:pic>
        <p:nvPicPr>
          <p:cNvPr id="171" name="Google Shape;171;p19" descr="Преобразование типов в C#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8675" y="1618325"/>
            <a:ext cx="6781800" cy="284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Нисходящие преобразования</a:t>
            </a:r>
            <a:endParaRPr/>
          </a:p>
        </p:txBody>
      </p:sp>
      <p:sp>
        <p:nvSpPr>
          <p:cNvPr id="177" name="Google Shape;177;p20"/>
          <p:cNvSpPr txBox="1">
            <a:spLocks noGrp="1"/>
          </p:cNvSpPr>
          <p:nvPr>
            <p:ph type="body" idx="1"/>
          </p:nvPr>
        </p:nvSpPr>
        <p:spPr>
          <a:xfrm>
            <a:off x="1297500" y="1130850"/>
            <a:ext cx="7038900" cy="33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// Объект Employee также представляет тип object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object obj = new Employee("Bill", "Microsoft");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// чтобы обратиться к возможностям типа Employee, приводим объект к типу Employee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Employee emp = (Employee) obj;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// объект Client также представляет тип Person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Person person = new Client("Sam", "ContosoBank");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// преобразование от типа Person к Client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ru"/>
              <a:t>Client client = (Client)person;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Пространства имен </a:t>
            </a:r>
            <a:endParaRPr/>
          </a:p>
        </p:txBody>
      </p:sp>
      <p:sp>
        <p:nvSpPr>
          <p:cNvPr id="183" name="Google Shape;183;p21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Пространство имен определяется с помощью ключевого слова namespace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namespace HelloApp{  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class Program      {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 static void Main(string[] args)        {        }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}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}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Пространства имен </a:t>
            </a:r>
            <a:endParaRPr/>
          </a:p>
        </p:txBody>
      </p:sp>
      <p:sp>
        <p:nvSpPr>
          <p:cNvPr id="189" name="Google Shape;189;p22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Класс Program видит все классы, которые объявлены в том же пространстве имен</a:t>
            </a:r>
            <a:endParaRPr sz="18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800"/>
              <a:t>чтобы задействовать классы из других пространств имен, эти пространства надо подключить с помощью директивы using</a:t>
            </a:r>
            <a:endParaRPr sz="18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ru" sz="1800"/>
              <a:t>Пространства имен могут быть определены внутри других пространств</a:t>
            </a:r>
            <a:endParaRPr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Псевдонимы </a:t>
            </a:r>
            <a:endParaRPr/>
          </a:p>
        </p:txBody>
      </p:sp>
      <p:sp>
        <p:nvSpPr>
          <p:cNvPr id="195" name="Google Shape;195;p23"/>
          <p:cNvSpPr txBox="1">
            <a:spLocks noGrp="1"/>
          </p:cNvSpPr>
          <p:nvPr>
            <p:ph type="body" idx="1"/>
          </p:nvPr>
        </p:nvSpPr>
        <p:spPr>
          <a:xfrm>
            <a:off x="1297500" y="1559475"/>
            <a:ext cx="7038900" cy="291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 dirty="0"/>
              <a:t>using printer = System.Console;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 dirty="0"/>
              <a:t>class Program{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 dirty="0"/>
              <a:t>    static void Main(string[] args)    {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 dirty="0"/>
              <a:t>        printer.WriteLine("Hello from C#");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 dirty="0"/>
              <a:t>        printer.Read();    }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 dirty="0"/>
              <a:t>}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Псевдонимы </a:t>
            </a:r>
            <a:endParaRPr/>
          </a:p>
        </p:txBody>
      </p:sp>
      <p:sp>
        <p:nvSpPr>
          <p:cNvPr id="201" name="Google Shape;201;p24"/>
          <p:cNvSpPr txBox="1">
            <a:spLocks noGrp="1"/>
          </p:cNvSpPr>
          <p:nvPr>
            <p:ph type="body" idx="1"/>
          </p:nvPr>
        </p:nvSpPr>
        <p:spPr>
          <a:xfrm>
            <a:off x="1297500" y="1108050"/>
            <a:ext cx="7038900" cy="38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using Person = HelloApp.User;    using Printer = System.Console;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namespace HelloApp{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class Program    {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    static void Main(string[] args)        {</a:t>
            </a:r>
            <a:endParaRPr/>
          </a:p>
          <a:p>
            <a:pPr marL="0" lvl="0" indent="45720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Person person = new Person();            person.name = "Tom";   </a:t>
            </a:r>
            <a:endParaRPr/>
          </a:p>
          <a:p>
            <a:pPr marL="0" lvl="0" indent="45720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Printer.WriteLine(person.name);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        Printer.Read();        }    }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class User    {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    public string name;   }}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"/>
          <p:cNvSpPr txBox="1">
            <a:spLocks noGrp="1"/>
          </p:cNvSpPr>
          <p:nvPr>
            <p:ph type="title"/>
          </p:nvPr>
        </p:nvSpPr>
        <p:spPr>
          <a:xfrm>
            <a:off x="1297500" y="416475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Статический импорт</a:t>
            </a:r>
            <a:endParaRPr/>
          </a:p>
        </p:txBody>
      </p:sp>
      <p:sp>
        <p:nvSpPr>
          <p:cNvPr id="207" name="Google Shape;207;p2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Выражение using static подключает в программу все статические методы и свойства, а также константы</a:t>
            </a:r>
            <a:endParaRPr sz="18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800"/>
              <a:t>После этого мы можем не указывать название класса при вызове метода</a:t>
            </a:r>
            <a:endParaRPr sz="18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800"/>
              <a:t>Подобным образом можно определять свои классы и импортировать их</a:t>
            </a:r>
            <a:endParaRPr sz="18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Методы расширения extension methods</a:t>
            </a:r>
            <a:endParaRPr/>
          </a:p>
        </p:txBody>
      </p:sp>
      <p:sp>
        <p:nvSpPr>
          <p:cNvPr id="213" name="Google Shape;213;p26"/>
          <p:cNvSpPr txBox="1">
            <a:spLocks noGrp="1"/>
          </p:cNvSpPr>
          <p:nvPr>
            <p:ph type="body" idx="1"/>
          </p:nvPr>
        </p:nvSpPr>
        <p:spPr>
          <a:xfrm>
            <a:off x="1297500" y="1162750"/>
            <a:ext cx="7038900" cy="384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Методы расширения позволяют добавлять новые методы в уже существующие типы без создания нового производного класса. 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public static class StringExtension{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public static int WordCount( this string str, char c)    {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 int counter = 0;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 for (int i = 0; i&lt;str.Length; i++)        {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     if (str[i] == c)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         counter++;        }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 return counter;    }} 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Методы расширения</a:t>
            </a:r>
            <a:endParaRPr/>
          </a:p>
        </p:txBody>
      </p:sp>
      <p:sp>
        <p:nvSpPr>
          <p:cNvPr id="219" name="Google Shape;219;p27"/>
          <p:cNvSpPr txBox="1">
            <a:spLocks noGrp="1"/>
          </p:cNvSpPr>
          <p:nvPr>
            <p:ph type="body" idx="1"/>
          </p:nvPr>
        </p:nvSpPr>
        <p:spPr>
          <a:xfrm>
            <a:off x="1297500" y="1874100"/>
            <a:ext cx="7038900" cy="186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ru" sz="1800"/>
              <a:t>Метод расширения - это обычный статический метод, который в качестве первого параметра всегда принимает такую конструкцию: this имя_типа название_параметра, то есть в нашем случае this string str</a:t>
            </a:r>
            <a:endParaRPr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Методы расширения</a:t>
            </a:r>
            <a:endParaRPr/>
          </a:p>
        </p:txBody>
      </p:sp>
      <p:sp>
        <p:nvSpPr>
          <p:cNvPr id="225" name="Google Shape;225;p28"/>
          <p:cNvSpPr txBox="1">
            <a:spLocks noGrp="1"/>
          </p:cNvSpPr>
          <p:nvPr>
            <p:ph type="body" idx="1"/>
          </p:nvPr>
        </p:nvSpPr>
        <p:spPr>
          <a:xfrm>
            <a:off x="1297500" y="1162750"/>
            <a:ext cx="7038900" cy="384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 dirty="0"/>
              <a:t>class Program{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 dirty="0"/>
              <a:t>    static void Main(string[] args)    {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 dirty="0"/>
              <a:t>        string s = "Привет мир";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 dirty="0"/>
              <a:t>        char c = 'и';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 dirty="0"/>
              <a:t>        int i = s.WordCount(c);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 dirty="0"/>
              <a:t>        Console.WriteLine(i); 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 dirty="0"/>
              <a:t>        Console.ReadLine();    }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 dirty="0"/>
              <a:t>}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Частичные классы и методы</a:t>
            </a:r>
            <a:endParaRPr/>
          </a:p>
        </p:txBody>
      </p:sp>
      <p:sp>
        <p:nvSpPr>
          <p:cNvPr id="231" name="Google Shape;231;p29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 dirty="0"/>
              <a:t>Определяются с ключевым словом partial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 dirty="0" smtClean="0"/>
              <a:t>public </a:t>
            </a:r>
            <a:r>
              <a:rPr lang="ru" sz="1400" dirty="0"/>
              <a:t>partial class Person{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 dirty="0"/>
              <a:t>    public void Move()    {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 dirty="0"/>
              <a:t>        Console.WriteLine("I am moving");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 dirty="0"/>
              <a:t>    }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 dirty="0"/>
              <a:t>}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Частичные классы и методы</a:t>
            </a:r>
            <a:endParaRPr/>
          </a:p>
        </p:txBody>
      </p:sp>
      <p:sp>
        <p:nvSpPr>
          <p:cNvPr id="237" name="Google Shape;237;p30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public partial class Person{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public void Eat()    {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 Console.WriteLine("I am eating");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}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}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1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Частичные классы и методы</a:t>
            </a:r>
            <a:endParaRPr/>
          </a:p>
        </p:txBody>
      </p:sp>
      <p:sp>
        <p:nvSpPr>
          <p:cNvPr id="243" name="Google Shape;243;p31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class Program{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static void Main(string[] args)    {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 Person tom = new Person();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 tom.Move();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 tom.Eat(); 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 Console.ReadKey();    }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}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2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Частичные методы</a:t>
            </a:r>
            <a:endParaRPr/>
          </a:p>
        </p:txBody>
      </p:sp>
      <p:sp>
        <p:nvSpPr>
          <p:cNvPr id="249" name="Google Shape;249;p32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311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 dirty="0"/>
              <a:t>public partial class Person{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 dirty="0"/>
              <a:t>    partial void DoSomethingElse(); 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 dirty="0"/>
              <a:t>    public void DoSomething()    {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 dirty="0"/>
              <a:t>        Console.WriteLine("Start");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 dirty="0"/>
              <a:t>        DoSomethingElse();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 dirty="0"/>
              <a:t>        Console.WriteLine("Finish");    }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 dirty="0"/>
              <a:t>}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3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Частичные методы</a:t>
            </a:r>
            <a:endParaRPr/>
          </a:p>
        </p:txBody>
      </p:sp>
      <p:sp>
        <p:nvSpPr>
          <p:cNvPr id="255" name="Google Shape;255;p33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public partial class Person{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dirty="0"/>
              <a:t>    partial void DoSomethingElse()    {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dirty="0"/>
              <a:t>        Console.WriteLine("I am reading a book");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dirty="0"/>
              <a:t>    }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dirty="0"/>
              <a:t>}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Анонимные типы</a:t>
            </a:r>
            <a:endParaRPr/>
          </a:p>
        </p:txBody>
      </p:sp>
      <p:sp>
        <p:nvSpPr>
          <p:cNvPr id="261" name="Google Shape;261;p3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312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Анонимный тип определяется с помощью ключевого слова var и инициализатора объектов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var user = new { Name = "Tom", Age = 34 };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Console.WriteLine(user.Name);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Свойства анонимных типов доступны только для чтения.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При этом во время компиляции компилятор сам будет создавать для него имя типа и использовать это имя при обращении к объекту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ru" sz="1400"/>
              <a:t>Если в программе используются несколько объектов анонимных типов с одинаковым набором свойств, то для них компилятор создаст одно определение анонимного типа</a:t>
            </a:r>
            <a:endParaRPr sz="1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Анонимные типы</a:t>
            </a:r>
            <a:endParaRPr/>
          </a:p>
        </p:txBody>
      </p:sp>
      <p:sp>
        <p:nvSpPr>
          <p:cNvPr id="267" name="Google Shape;267;p3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312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Также можно определять массивы объектов анонимных типов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var people = new[]{    new {Name="Tom"},    new {Name="Bob"}};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foreach(var p in people){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Console.WriteLine(p.Name);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}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Локальные функции</a:t>
            </a:r>
            <a:endParaRPr/>
          </a:p>
        </p:txBody>
      </p:sp>
      <p:sp>
        <p:nvSpPr>
          <p:cNvPr id="273" name="Google Shape;273;p36"/>
          <p:cNvSpPr txBox="1">
            <a:spLocks noGrp="1"/>
          </p:cNvSpPr>
          <p:nvPr>
            <p:ph type="body" idx="1"/>
          </p:nvPr>
        </p:nvSpPr>
        <p:spPr>
          <a:xfrm>
            <a:off x="1297500" y="998600"/>
            <a:ext cx="7038900" cy="387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static int GetResult( int[] numbers )    {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    int limit = 0;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    // локальная функция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    bool IsMoreThan(int number)        {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        return number &gt; limit;        }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    int result = 0;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    for(int i=0; i &lt; numbers.Length; i++)        {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        if ( IsMoreThan(numbers[i]))            {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            result += numbers[i];            }        }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return result;}}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Значение null   Оператор ??</a:t>
            </a:r>
            <a:endParaRPr/>
          </a:p>
        </p:txBody>
      </p:sp>
      <p:sp>
        <p:nvSpPr>
          <p:cNvPr id="279" name="Google Shape;279;p37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Оператор ??   называется оператором null-объединения</a:t>
            </a:r>
            <a:endParaRPr sz="18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800"/>
              <a:t>object x = null;</a:t>
            </a:r>
            <a:endParaRPr sz="18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800"/>
              <a:t>object y = x ?? 100;  // равно 100, так как x равен null </a:t>
            </a:r>
            <a:endParaRPr sz="18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800"/>
              <a:t>object z = 200;</a:t>
            </a:r>
            <a:endParaRPr sz="18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800"/>
              <a:t>object t = z ?? 44; // равно 200, так как z не равен null</a:t>
            </a:r>
            <a:endParaRPr sz="18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Оператор условного null</a:t>
            </a:r>
            <a:endParaRPr/>
          </a:p>
        </p:txBody>
      </p:sp>
      <p:sp>
        <p:nvSpPr>
          <p:cNvPr id="285" name="Google Shape;285;p38"/>
          <p:cNvSpPr txBox="1">
            <a:spLocks noGrp="1"/>
          </p:cNvSpPr>
          <p:nvPr>
            <p:ph type="body" idx="1"/>
          </p:nvPr>
        </p:nvSpPr>
        <p:spPr>
          <a:xfrm>
            <a:off x="1297500" y="1422675"/>
            <a:ext cx="7038900" cy="33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Пусть есть следующая система классов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class User{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public Phone Phone { get; set; }}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class Phone{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public Company Company { get; set; }} 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class Company{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public string Name { get; set; }}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Оператор условного null</a:t>
            </a:r>
            <a:endParaRPr/>
          </a:p>
        </p:txBody>
      </p:sp>
      <p:sp>
        <p:nvSpPr>
          <p:cNvPr id="291" name="Google Shape;291;p39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Можно получить из объекта User название компании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User user = new User();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Console.WriteLine(user.Phone.Company.Name);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В данном случае свойство Phone не определено, будет по умолчанию иметь значение null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Поэтому мы столкнемся с исключением NullReferenceException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Оператор условного null</a:t>
            </a:r>
            <a:endParaRPr/>
          </a:p>
        </p:txBody>
      </p:sp>
      <p:sp>
        <p:nvSpPr>
          <p:cNvPr id="297" name="Google Shape;297;p40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if(user!=null &amp;&amp; user.Phone!=null &amp;&amp; user.Phone.Company!=null){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string companyName = user.Phone.Company.Name;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Console.WriteLine(companyName);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}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заменяется одной строкой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ru" sz="1400"/>
              <a:t>string companyName = user?.Phone?.Company?.Name;</a:t>
            </a:r>
            <a:endParaRPr sz="14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1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Оператор условного null Установить по умолчанию</a:t>
            </a:r>
            <a:endParaRPr/>
          </a:p>
        </p:txBody>
      </p:sp>
      <p:sp>
        <p:nvSpPr>
          <p:cNvPr id="303" name="Google Shape;303;p41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Применить операцию ?? для установки значения по умолчанию, если название компании не установлено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User user = new User();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string companyName = user?.Phone?.Company?.Name ?? "не установлено";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Console.WriteLine(companyName);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995</Words>
  <PresentationFormat>Экран (16:9)</PresentationFormat>
  <Paragraphs>187</Paragraphs>
  <Slides>29</Slides>
  <Notes>29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3" baseType="lpstr">
      <vt:lpstr>Arial</vt:lpstr>
      <vt:lpstr>Montserrat</vt:lpstr>
      <vt:lpstr>Lato</vt:lpstr>
      <vt:lpstr>Focus</vt:lpstr>
      <vt:lpstr>Дополнительные возможности ООП</vt:lpstr>
      <vt:lpstr>Преобразование типов</vt:lpstr>
      <vt:lpstr>Преобразование типов</vt:lpstr>
      <vt:lpstr>Преобразование типов</vt:lpstr>
      <vt:lpstr>Преобразование типов</vt:lpstr>
      <vt:lpstr>Восходящие преобразования</vt:lpstr>
      <vt:lpstr>Восходящие преобразования</vt:lpstr>
      <vt:lpstr>Нисходящие преобразования</vt:lpstr>
      <vt:lpstr>Пространства имен </vt:lpstr>
      <vt:lpstr>Пространства имен </vt:lpstr>
      <vt:lpstr>Псевдонимы </vt:lpstr>
      <vt:lpstr>Псевдонимы </vt:lpstr>
      <vt:lpstr>Статический импорт</vt:lpstr>
      <vt:lpstr>Методы расширения extension methods</vt:lpstr>
      <vt:lpstr>Методы расширения</vt:lpstr>
      <vt:lpstr>Методы расширения</vt:lpstr>
      <vt:lpstr>Частичные классы и методы</vt:lpstr>
      <vt:lpstr>Частичные классы и методы</vt:lpstr>
      <vt:lpstr>Частичные классы и методы</vt:lpstr>
      <vt:lpstr>Частичные методы</vt:lpstr>
      <vt:lpstr>Частичные методы</vt:lpstr>
      <vt:lpstr>Анонимные типы</vt:lpstr>
      <vt:lpstr>Анонимные типы</vt:lpstr>
      <vt:lpstr>Локальные функции</vt:lpstr>
      <vt:lpstr>Значение null   Оператор ??</vt:lpstr>
      <vt:lpstr>Оператор условного null</vt:lpstr>
      <vt:lpstr>Оператор условного null</vt:lpstr>
      <vt:lpstr>Оператор условного null</vt:lpstr>
      <vt:lpstr>Оператор условного null Установить по умолчанию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Дополнительные возможности ООП</dc:title>
  <cp:lastModifiedBy>muhortova</cp:lastModifiedBy>
  <cp:revision>3</cp:revision>
  <dcterms:modified xsi:type="dcterms:W3CDTF">2019-02-05T06:17:13Z</dcterms:modified>
</cp:coreProperties>
</file>