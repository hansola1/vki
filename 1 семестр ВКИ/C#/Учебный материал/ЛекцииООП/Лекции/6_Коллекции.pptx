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embeddedFontLst>
    <p:embeddedFont>
      <p:font typeface="Nunito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unito-bold.fntdata"/><Relationship Id="rId20" Type="http://schemas.openxmlformats.org/officeDocument/2006/relationships/slide" Target="slides/slide15.xml"/><Relationship Id="rId42" Type="http://schemas.openxmlformats.org/officeDocument/2006/relationships/font" Target="fonts/Nunito-boldItalic.fntdata"/><Relationship Id="rId41" Type="http://schemas.openxmlformats.org/officeDocument/2006/relationships/font" Target="fonts/Nunito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Nunito-regular.fnt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461400ad23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461400ad23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461400ad23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461400ad23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461400ad23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461400ad23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461400ad23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461400ad23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461400ad23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461400ad23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461400ad23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461400ad23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461400ad23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461400ad23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461400ad23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461400ad23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461400ad23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461400ad23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461400ad23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461400ad23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461400ad23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461400ad23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461400ad23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461400ad23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461400ad23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461400ad23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461400ad23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461400ad23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461400ad23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461400ad23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461400ad23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461400ad23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461400ad23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461400ad23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461400ad23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461400ad23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461400ad23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461400ad23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461400ad23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461400ad23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461400ad23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461400ad23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461400ad23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461400ad23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461400ad23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461400ad23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461400ad23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461400ad23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461400ad23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461400ad23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461400ad23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461400ad23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461400ad23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461400ad23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461400ad23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461400ad23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461400ad23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461400ad23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461400ad23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461400ad23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461400ad23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461400ad23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461400ad23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461400ad23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Коллекции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Мухортова Н.Н.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751225" y="431800"/>
            <a:ext cx="2129100" cy="10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Иерархия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классов</a:t>
            </a:r>
            <a:endParaRPr/>
          </a:p>
        </p:txBody>
      </p:sp>
      <p:pic>
        <p:nvPicPr>
          <p:cNvPr id="135" name="Google Shape;13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5875" y="290938"/>
            <a:ext cx="5958875" cy="4561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idx="1" type="body"/>
          </p:nvPr>
        </p:nvSpPr>
        <p:spPr>
          <a:xfrm>
            <a:off x="819150" y="828800"/>
            <a:ext cx="7505700" cy="3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Collection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базовый интерфейс для всех коллекций и других интерфейсов коллекций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Queue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наследует интерфейс Collection и представляет функционал для структур данных в виде очереди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Deque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наследует интерфейс Queue и представляет функционал для двунаправленных очередей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List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наследует интерфейс Collection и представляет функциональность простых списков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Set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также расширяет интерфейс Collection и используется для хранения множеств уникальных объектов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SortedSet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расширяет интерфейс Set для создания сортированных коллекций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NavigableSet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расширяет интерфейс SortedSet для создания коллекций, в которых можно осуществлять поиск по соответствию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Map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предназначен для созданий структур данных в виде словаря, где каждый элемент имеет определенный ключ и значение. В отличие от других интерфейсов коллекций не наследуется от интерфейса Collection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 txBox="1"/>
          <p:nvPr>
            <p:ph idx="1" type="body"/>
          </p:nvPr>
        </p:nvSpPr>
        <p:spPr>
          <a:xfrm>
            <a:off x="819150" y="461950"/>
            <a:ext cx="7505700" cy="39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AbstractCollection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базовый абстрактный класс для других коллекций, который применяет интерфейс Collection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AbstractList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расширяет класс AbstractCollection и применяет интерфейс List, предназначен для создания коллекций в виде списков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AbstractSet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расширяет класс AbstractCollection и применяет интерфейс Set для создания коллекций в виде множеств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AbstractQueue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расширяет класс AbstractCollection и применяет интерфейс Queue, предназначен для создания коллекций в виде очередей и стеков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AbstractSequentialList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также расширяет класс AbstractList и реализует интерфейс List. Используется для создания связанных списков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AbstractMap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применяет интерфейс Map, предназначен для создания наборов по типу словаря с объектами в виде пары "ключ-значение"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/>
          <p:nvPr>
            <p:ph idx="1" type="body"/>
          </p:nvPr>
        </p:nvSpPr>
        <p:spPr>
          <a:xfrm>
            <a:off x="819150" y="923900"/>
            <a:ext cx="7505700" cy="3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ArrayList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простой список объектов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LinkedList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представляет связанный список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ArrayDeque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класс двунаправленной очереди, в которой мы можем произвести вставку и удаление как в начале коллекции, так и в ее конце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HashSet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набор объектов или хеш-множество, где каждый элемент имеет ключ - уникальный хеш-код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TreeSet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набор отсортированных объектов в виде дерева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LinkedHashSet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связанное хеш-множество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PriorityQueue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очередь приоритетов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HashMap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структура данных в виде словаря, в котором каждый объект имеет уникальный ключ и некоторое значение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TreeMap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структура данных в виде дерева, где каждый элемент имеет уникальный ключ и некоторое значение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/>
          <p:cNvSpPr txBox="1"/>
          <p:nvPr>
            <p:ph type="title"/>
          </p:nvPr>
        </p:nvSpPr>
        <p:spPr>
          <a:xfrm>
            <a:off x="819150" y="597823"/>
            <a:ext cx="7505700" cy="10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Интерфейс Collection</a:t>
            </a:r>
            <a:endParaRPr/>
          </a:p>
        </p:txBody>
      </p:sp>
      <p:sp>
        <p:nvSpPr>
          <p:cNvPr id="156" name="Google Shape;156;p18"/>
          <p:cNvSpPr txBox="1"/>
          <p:nvPr>
            <p:ph idx="1" type="body"/>
          </p:nvPr>
        </p:nvSpPr>
        <p:spPr>
          <a:xfrm>
            <a:off x="819150" y="1821894"/>
            <a:ext cx="7505700" cy="26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void clear (): удаляет все элементы из коллекции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boolean contains (Object item): возвращает true, если объект item содержится в коллекции, иначе возвращает false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boolean isEmpty (): возвращает true, если коллекция пуста, иначе возвращает false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Iterator&lt;E&gt; iterator (): возвращает объект Iterator для обхода элементов коллекции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 txBox="1"/>
          <p:nvPr>
            <p:ph idx="1" type="body"/>
          </p:nvPr>
        </p:nvSpPr>
        <p:spPr>
          <a:xfrm>
            <a:off x="819150" y="407600"/>
            <a:ext cx="7505700" cy="40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boolean add (E item): добавляет в коллекцию объект item. При удачном добавлении возвращает true, при неудачном - false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boolean addAll (Collection&lt;? extends E&gt; col): добавляет в коллекцию все элементы из коллекции col. При удачном добавлении возвращает true, при неудачном - false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boolean remove (Object item): возвращает true, если объект item удачно удален из коллекции, иначе возвращается false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boolean removeAll (Collection&lt;?&gt; col): удаляет все объекты коллекции col из текущей коллекции. Если текущая коллекция изменилась, возвращает true, иначе возвращается false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boolean retainAll (Collection&lt;?&gt; col): удаляет все объекты из текущей коллекции, кроме тех, которые содержатся в коллекции col. Если текущая коллекция после удаления изменилась, возвращает true, иначе возвращается false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int size (): возвращает число элементов в коллекции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Object[] toArray (): возвращает массив, содержащий все элементы коллекции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Методы интерфейса List</a:t>
            </a:r>
            <a:endParaRPr/>
          </a:p>
        </p:txBody>
      </p:sp>
      <p:sp>
        <p:nvSpPr>
          <p:cNvPr id="167" name="Google Shape;167;p20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void add(int index, E obj)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добавляет в список по индексу index объект obj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boolean addAll(int index, Collection&lt;? extends E&gt; col)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добавляет в список по индексу index все элементы коллекции col. Если в результате добавления список был изменен, то возвращается true, иначе возвращается false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 get(int index)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возвращает объект из списка по индексу index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 indexOf(Object obj)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возвращает индекс первого вхождения объекта obj в список. Если объект не найден, то возвращается -1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 lastIndexOf(Object obj)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возвращает индекс последнего вхождения объекта obj в список. Если объект не найден, то возвращается -1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Методы интерфейса List</a:t>
            </a:r>
            <a:endParaRPr/>
          </a:p>
        </p:txBody>
      </p:sp>
      <p:sp>
        <p:nvSpPr>
          <p:cNvPr id="173" name="Google Shape;173;p21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ListIterator&lt;E&gt; listIterator ()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возвращает объект ListIterator для обхода элементов списка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static &lt;E&gt; List&lt;E&gt; of(элементы)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создает из набора элементов объект List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 remove(int index)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удаляет объект из списка по индексу index, возвращая при этом удаленный объект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 set(int index, E obj)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присваивает значение объекта obj элементу, который находится по индексу index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void sort(Comparator&lt;? super E&gt; comp)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сортирует список с помощью компаратора comp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List&lt;E&gt; subList(int start, int end)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получает набор элементов, которые находятся в списке между индексами start и end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Класс ArrayList конструкторы</a:t>
            </a:r>
            <a:endParaRPr/>
          </a:p>
        </p:txBody>
      </p:sp>
      <p:sp>
        <p:nvSpPr>
          <p:cNvPr id="179" name="Google Shape;179;p22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ArrayList(): создает пустой список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ArrayList(Collection &lt;? extends E&gt; col): создает список, в который добавляются все элементы коллекции col.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ArrayList (int capacity): создает список, который имеет начальную емкость capacity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пример в файле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Интерфейс Queue</a:t>
            </a:r>
            <a:endParaRPr/>
          </a:p>
        </p:txBody>
      </p:sp>
      <p:sp>
        <p:nvSpPr>
          <p:cNvPr id="185" name="Google Shape;185;p23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 element()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возвращает, но не удаляет, элемент из начала очереди. Если очередь пуста, генерирует исключениеNoSuchElementException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boolean offer(E obj)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добавляет элемент obj в конец очереди. Если элемент удачно добавлен, возвращает true, иначе - false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 peek()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возвращает без удаления элемент из начала очереди. Если очередь пуста, возвращает значение null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 poll()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возвращает с удалением элемент из начала очереди. Если очередь пуста, возвращает значение null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 remove()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возвращает с удалением элемент из начала очереди. Если очередь пуста, генерирует исключениеNoSuchElementException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Интерфейс</a:t>
            </a:r>
            <a:r>
              <a:rPr lang="ru"/>
              <a:t> Dequ</a:t>
            </a:r>
            <a:r>
              <a:rPr lang="ru"/>
              <a:t>e</a:t>
            </a:r>
            <a:endParaRPr/>
          </a:p>
        </p:txBody>
      </p:sp>
      <p:sp>
        <p:nvSpPr>
          <p:cNvPr id="191" name="Google Shape;191;p2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void addFirst(E obj)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добавляет элемент в начало очереди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void addLast(E obj)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добавляет элемент obj в конец очереди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 getFirst()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возвращает без удаления элемент из головы очереди. Если очередь пуста, генерирует исключениеNoSuchElementException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 getLast()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возвращает без удаления последний элемент очереди. Если очередь пуста, генерирует исключениеNoSuchElementException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boolean offerFirst(E obj)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добавляет элемент obj в самое начало очереди. Если элемент удачно добавлен, возвращает true, иначе - false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boolean offerLast(E obj)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добавляет элемент obj в конец очереди. Если элемент удачно добавлен, возвращает true, иначе - false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 txBox="1"/>
          <p:nvPr>
            <p:ph idx="1" type="body"/>
          </p:nvPr>
        </p:nvSpPr>
        <p:spPr>
          <a:xfrm>
            <a:off x="819150" y="271750"/>
            <a:ext cx="7505700" cy="41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 peekFirst()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возвращает без удаления элемент из начала очереди. Если очередь пуста, возвращает значение null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 peekLast()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возвращает без удаления последний элемент очереди. Если очередь пуста, возвращает значение null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 pollFirst()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возвращает с удалением элемент из начала очереди. Если очередь пуста, возвращает значение null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 pollLast()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возвращает с удалением последний элемент очереди. Если очередь пуста, возвращает значение null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 pop()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возвращает с удалением элемент из начала очереди. Если очередь пуста, генерирует исключениеNoSuchElementException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void push(E element)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добавляет элемент в самое начало очереди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 removeFirst()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возвращает с удалением элемент из начала очереди. Если очередь пуста, генерирует исключениеNoSuchElementException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 removeLast()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возвращает с удалением элемент из конца очереди. Если очередь пуста, генерирует исключениеNoSuchElementException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boolean removeFirstOccurrence(Object obj)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удаляет первый встреченный элемент obj из очереди. Если удаление произшло, то возвращает true, иначе возвращает false.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boolean removeLastOccurrence(Object obj)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удаляет последний встреченный элемент obj из очереди. Если удаление произшло, то возвращает true, иначе возвращает false.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Класс ArrayDeque</a:t>
            </a:r>
            <a:endParaRPr/>
          </a:p>
        </p:txBody>
      </p:sp>
      <p:sp>
        <p:nvSpPr>
          <p:cNvPr id="202" name="Google Shape;202;p26"/>
          <p:cNvSpPr txBox="1"/>
          <p:nvPr>
            <p:ph idx="1" type="body"/>
          </p:nvPr>
        </p:nvSpPr>
        <p:spPr>
          <a:xfrm>
            <a:off x="819150" y="1508150"/>
            <a:ext cx="7505700" cy="29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Этот класс представляют обобщенную двунаправленную очередь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В классе ArrayDeque определены следующие конструкторы: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1.	ArrayDeque(): создает пустую очередь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2.	ArrayDeque(Collection&lt;? extends E&gt; col): создает очередь, наполненную элементами из коллекции col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3.	ArrayDeque(int capacity): создает очередь с начальной емкостью capacity. Если мы явно не указываем начальную емкость, то емкость по умолчанию будет равна 16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Пример в файле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Класс LinkedList</a:t>
            </a:r>
            <a:endParaRPr/>
          </a:p>
        </p:txBody>
      </p:sp>
      <p:sp>
        <p:nvSpPr>
          <p:cNvPr id="208" name="Google Shape;208;p27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Обобщенный класс LinkedList&lt;E&gt; представляет структуру данных в виде связанного списка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Класс LinkedList имеет следующие конструкторы: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LinkedList(): создает пустой список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LinkedList(Collection&lt;? extends E&gt; col): создает список, в который добавляет все элементы коллекции col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Методы </a:t>
            </a:r>
            <a:r>
              <a:rPr lang="ru"/>
              <a:t>LinkedList</a:t>
            </a:r>
            <a:endParaRPr/>
          </a:p>
        </p:txBody>
      </p:sp>
      <p:sp>
        <p:nvSpPr>
          <p:cNvPr id="214" name="Google Shape;214;p28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addFirst() / offerFirst()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добавляет элемент в начало списка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addLast() / offerLast()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добавляет элемент в конец списка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removeFirst() / pollFirst()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удаляет первый элемент из начала списка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removeLast() / pollLast()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удаляет последний элемент из конца списка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getFirst() / peekFirst()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получает первый элемент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getLast() / peekLast()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получает последний элемент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Интерфейс Set и класс HashSet</a:t>
            </a:r>
            <a:endParaRPr/>
          </a:p>
        </p:txBody>
      </p:sp>
      <p:sp>
        <p:nvSpPr>
          <p:cNvPr id="220" name="Google Shape;220;p29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Verdana"/>
                <a:ea typeface="Verdana"/>
                <a:cs typeface="Verdana"/>
                <a:sym typeface="Verdana"/>
              </a:rPr>
              <a:t>Интерфейс </a:t>
            </a:r>
            <a:r>
              <a:rPr b="1" lang="ru" sz="1000">
                <a:solidFill>
                  <a:srgbClr val="000000"/>
                </a:solidFill>
                <a:highlight>
                  <a:srgbClr val="F7F7FA"/>
                </a:highlight>
                <a:latin typeface="Verdana"/>
                <a:ea typeface="Verdana"/>
                <a:cs typeface="Verdana"/>
                <a:sym typeface="Verdana"/>
              </a:rPr>
              <a:t>Set</a:t>
            </a: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Verdana"/>
                <a:ea typeface="Verdana"/>
                <a:cs typeface="Verdana"/>
                <a:sym typeface="Verdana"/>
              </a:rPr>
              <a:t> расширяет интерфейс Collection и представляет набор уникальных элементов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Verdana"/>
                <a:ea typeface="Verdana"/>
                <a:cs typeface="Verdana"/>
                <a:sym typeface="Verdana"/>
              </a:rPr>
              <a:t>Set не добавляет новых методов, только вносит изменения унаследованные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Verdana"/>
                <a:ea typeface="Verdana"/>
                <a:cs typeface="Verdana"/>
                <a:sym typeface="Verdana"/>
              </a:rPr>
              <a:t>Обобщенный класс </a:t>
            </a:r>
            <a:r>
              <a:rPr b="1" lang="ru" sz="1000">
                <a:solidFill>
                  <a:srgbClr val="000000"/>
                </a:solidFill>
                <a:highlight>
                  <a:srgbClr val="F7F7FA"/>
                </a:highlight>
                <a:latin typeface="Verdana"/>
                <a:ea typeface="Verdana"/>
                <a:cs typeface="Verdana"/>
                <a:sym typeface="Verdana"/>
              </a:rPr>
              <a:t>HashSet</a:t>
            </a: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Verdana"/>
                <a:ea typeface="Verdana"/>
                <a:cs typeface="Verdana"/>
                <a:sym typeface="Verdana"/>
              </a:rPr>
              <a:t> представляет хеш-таблицу. Он наследует свой функционал от класса </a:t>
            </a: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Arial"/>
                <a:ea typeface="Arial"/>
                <a:cs typeface="Arial"/>
                <a:sym typeface="Arial"/>
              </a:rPr>
              <a:t>AbstractSet</a:t>
            </a: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Verdana"/>
                <a:ea typeface="Verdana"/>
                <a:cs typeface="Verdana"/>
                <a:sym typeface="Verdana"/>
              </a:rPr>
              <a:t>, а также реализует интерфейс </a:t>
            </a: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Arial"/>
                <a:ea typeface="Arial"/>
                <a:cs typeface="Arial"/>
                <a:sym typeface="Arial"/>
              </a:rPr>
              <a:t>Set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Verdana"/>
                <a:ea typeface="Verdana"/>
                <a:cs typeface="Verdana"/>
                <a:sym typeface="Verdana"/>
              </a:rPr>
              <a:t>Хеш-таблица представляет такую структуру данных, в которой все объекты имеют уникальный ключ или хеш-код. Данный ключ позволяет уникально идентифицировать объект в таблице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Конструкторы HashSet</a:t>
            </a:r>
            <a:endParaRPr/>
          </a:p>
        </p:txBody>
      </p:sp>
      <p:sp>
        <p:nvSpPr>
          <p:cNvPr id="226" name="Google Shape;226;p30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HashSet(): создает пустой список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HashSet(Collection&lt;? extends E&gt; col): создает хеш-таблицу, в которую добавляет все элементы коллекции col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HashSet(int capacity): параметр capacity указывает начальную емкость таблицы, которая по умолчанию равна 16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HashSet(int capacity, float koef): параметр koef или коэффициент заполнения, значение которого должно быть в пределах от 0.0 до 1.0, указывает, насколько должна быть заполнена емкость объектами прежде чем произойдет ее расширение. Например, коэффициент 0.75 указывает, что при заполнении емкости на 3/4 произойдет ее расширение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Пример в файле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Интерфейс SortedSet</a:t>
            </a:r>
            <a:endParaRPr/>
          </a:p>
        </p:txBody>
      </p:sp>
      <p:sp>
        <p:nvSpPr>
          <p:cNvPr id="232" name="Google Shape;232;p31"/>
          <p:cNvSpPr txBox="1"/>
          <p:nvPr>
            <p:ph idx="1" type="body"/>
          </p:nvPr>
        </p:nvSpPr>
        <p:spPr>
          <a:xfrm>
            <a:off x="819150" y="1576075"/>
            <a:ext cx="7505700" cy="28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Verdana"/>
                <a:ea typeface="Verdana"/>
                <a:cs typeface="Verdana"/>
                <a:sym typeface="Verdana"/>
              </a:rPr>
              <a:t>Интерфейс </a:t>
            </a:r>
            <a:r>
              <a:rPr b="1" lang="ru" sz="1000">
                <a:solidFill>
                  <a:srgbClr val="000000"/>
                </a:solidFill>
                <a:highlight>
                  <a:srgbClr val="F7F7FA"/>
                </a:highlight>
                <a:latin typeface="Verdana"/>
                <a:ea typeface="Verdana"/>
                <a:cs typeface="Verdana"/>
                <a:sym typeface="Verdana"/>
              </a:rPr>
              <a:t>SortedSet</a:t>
            </a: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Verdana"/>
                <a:ea typeface="Verdana"/>
                <a:cs typeface="Verdana"/>
                <a:sym typeface="Verdana"/>
              </a:rPr>
              <a:t> предназначен для создания коллекций, который хранят элементы в отсортированном виде (сортировка по возрастанию). 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Verdana"/>
                <a:ea typeface="Verdana"/>
                <a:cs typeface="Verdana"/>
                <a:sym typeface="Verdana"/>
              </a:rPr>
              <a:t>SortedSet расширяет интерфейс Set, поэтому такая коллекция опять же хранит только уникальные значения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41818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SortedSet предоставляет следующие методы: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 first()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возвращает первый элемент набора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 last()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возвращает последний элемент набора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SortedSet&lt;E&gt; headSet(E end)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возвращает объект SortedSet, который содержит все элементы первичного набора до элемента end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SortedSet&lt;E&gt; subSet(E start, E end)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возвращает объект SortedSet, который содержит все элементы первичного набора между элементами start и end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SortedSet&lt;E&gt; tailSet(E start)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возвращает объект SortedSet, который содержит все элементы первичного набора, начиная с элемента tail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Интерфейс NavigableSet</a:t>
            </a:r>
            <a:endParaRPr/>
          </a:p>
        </p:txBody>
      </p:sp>
      <p:sp>
        <p:nvSpPr>
          <p:cNvPr id="238" name="Google Shape;238;p32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Интерфейс NavigableSet расширяет интерфейс SortedSet и позволяет извлекать элементы на основании их значений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Методы </a:t>
            </a:r>
            <a:r>
              <a:rPr lang="ru"/>
              <a:t>NavigableSet</a:t>
            </a:r>
            <a:endParaRPr/>
          </a:p>
        </p:txBody>
      </p:sp>
      <p:sp>
        <p:nvSpPr>
          <p:cNvPr id="244" name="Google Shape;244;p33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 ceiling(E obj)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ищет в наборе наименьший элемент e, который больше obj (e &gt;=obj). Если такой элемент найден, то он возвращается в качестве результата. Иначе возвращается null.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 floor(E obj)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ищет в наборе наибольший элемент e, который меньше элемента obj (e &lt;=obj). Если такой элемент найден, то он возвращается в качестве результата. Иначе возвращается null.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 higher(E obj)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ищет в наборе наименьший элемент e, который больше элемента obj (e &gt;obj). Если такой элемент найден, то он возвращается в качестве результата. Иначе возвращается null.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 lower(E obj)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ищет в наборе наибольший элемент e, который меньше элемента obj (e &lt;obj). Если такой элемент найден, то он возвращается в качестве результата. Иначе возвращается null.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 pollFirst()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возвращает первый элемент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 pollLast()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возвращает последний элемент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Методы NavigableSet</a:t>
            </a:r>
            <a:endParaRPr/>
          </a:p>
        </p:txBody>
      </p:sp>
      <p:sp>
        <p:nvSpPr>
          <p:cNvPr id="250" name="Google Shape;250;p34"/>
          <p:cNvSpPr txBox="1"/>
          <p:nvPr>
            <p:ph idx="1" type="body"/>
          </p:nvPr>
        </p:nvSpPr>
        <p:spPr>
          <a:xfrm>
            <a:off x="819150" y="1800200"/>
            <a:ext cx="7505700" cy="26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NavigableSet&lt;E&gt; descendingSet()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возвращает объект NavigableSet, который содержит все элементы первичного набора NavigableSet в обратном порядке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NavigableSet&lt;E&gt; headSet(E upperBound, boolean incl)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возвращает объект NavigableSet, который содержит все элементы первичного набора NavigableSet до upperBound. Параметр incl при значении true, позволяет включить в выходной набор элемент upperBound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NavigableSet&lt;E&gt; tailSet(E lowerBound, boolean incl)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возвращает объект NavigableSet, который содержит все элементы первичного набора NavigableSet, начиная с lowerBound. Параметр incl при значении true, позволяет включить в выходной набор элемент lowerBound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b="1"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NavigableSet&lt;E&gt; subSet(E lowerBound, boolean lowerIncl, E upperBound, boolean highIncl)</a:t>
            </a: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возвращает объект NavigableSet, который содержит все элементы первичного набора NavigableSet от lowerBound до upperBound.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Обобщенный класс TreeSet</a:t>
            </a:r>
            <a:endParaRPr/>
          </a:p>
        </p:txBody>
      </p:sp>
      <p:sp>
        <p:nvSpPr>
          <p:cNvPr id="256" name="Google Shape;256;p3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Verdana"/>
                <a:ea typeface="Verdana"/>
                <a:cs typeface="Verdana"/>
                <a:sym typeface="Verdana"/>
              </a:rPr>
              <a:t>Обобщенный класс TreeSet&lt;E&gt; представляет структуру данных в виде дерева, в котором все объекты хранятся в отсортированном виде по возрастанию. 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Verdana"/>
                <a:ea typeface="Verdana"/>
                <a:cs typeface="Verdana"/>
                <a:sym typeface="Verdana"/>
              </a:rPr>
              <a:t>TreeSet является наследником класса </a:t>
            </a: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Arial"/>
                <a:ea typeface="Arial"/>
                <a:cs typeface="Arial"/>
                <a:sym typeface="Arial"/>
              </a:rPr>
              <a:t>AbstractSet</a:t>
            </a: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Verdana"/>
                <a:ea typeface="Verdana"/>
                <a:cs typeface="Verdana"/>
                <a:sym typeface="Verdana"/>
              </a:rPr>
              <a:t> и реализует интерфейс </a:t>
            </a: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Arial"/>
                <a:ea typeface="Arial"/>
                <a:cs typeface="Arial"/>
                <a:sym typeface="Arial"/>
              </a:rPr>
              <a:t>NavigableSet</a:t>
            </a: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Verdana"/>
                <a:ea typeface="Verdana"/>
                <a:cs typeface="Verdana"/>
                <a:sym typeface="Verdana"/>
              </a:rPr>
              <a:t>, а следовательно, и интерфейс </a:t>
            </a: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Arial"/>
                <a:ea typeface="Arial"/>
                <a:cs typeface="Arial"/>
                <a:sym typeface="Arial"/>
              </a:rPr>
              <a:t>SortedSet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Конструкторы TreeSet</a:t>
            </a:r>
            <a:endParaRPr/>
          </a:p>
        </p:txBody>
      </p:sp>
      <p:sp>
        <p:nvSpPr>
          <p:cNvPr id="262" name="Google Shape;262;p3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18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В классе TreeSet определены следующие конструкторы: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TreeSet(): создает пустое дерево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TreeSet(Collection&lt;? extends E&gt; col): создает дерево, в которое добавляет все элементы коллекции col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TreeSet(SortedSet &lt;E&gt; set): создает дерево, в которое добавляет все элементы сортированного набора set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TreeSet(Comparator&lt;? super E&gt; comparator): создает пустое дерево, где все добавляемые элементы впоследствии будут отсортированы компаратором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Пример в файле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Интерфейс Comparable </a:t>
            </a:r>
            <a:endParaRPr/>
          </a:p>
        </p:txBody>
      </p:sp>
      <p:sp>
        <p:nvSpPr>
          <p:cNvPr id="268" name="Google Shape;268;p37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63500" marR="63500" rtl="0" algn="l">
              <a:lnSpc>
                <a:spcPct val="1329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Courier New"/>
                <a:ea typeface="Courier New"/>
                <a:cs typeface="Courier New"/>
                <a:sym typeface="Courier New"/>
              </a:rPr>
              <a:t>class Person implements Comparable&lt;Person&gt;{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329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329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Courier New"/>
                <a:ea typeface="Courier New"/>
                <a:cs typeface="Courier New"/>
                <a:sym typeface="Courier New"/>
              </a:rPr>
              <a:t>    private String name;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329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Courier New"/>
                <a:ea typeface="Courier New"/>
                <a:cs typeface="Courier New"/>
                <a:sym typeface="Courier New"/>
              </a:rPr>
              <a:t>    Person(String name){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329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329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Courier New"/>
                <a:ea typeface="Courier New"/>
                <a:cs typeface="Courier New"/>
                <a:sym typeface="Courier New"/>
              </a:rPr>
              <a:t>        this.name = name;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329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329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Courier New"/>
                <a:ea typeface="Courier New"/>
                <a:cs typeface="Courier New"/>
                <a:sym typeface="Courier New"/>
              </a:rPr>
              <a:t>    String getName(){return name;}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329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329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Courier New"/>
                <a:ea typeface="Courier New"/>
                <a:cs typeface="Courier New"/>
                <a:sym typeface="Courier New"/>
              </a:rPr>
              <a:t>    public int compareTo(Person p){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329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329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Courier New"/>
                <a:ea typeface="Courier New"/>
                <a:cs typeface="Courier New"/>
                <a:sym typeface="Courier New"/>
              </a:rPr>
              <a:t>        return name.compareTo(p.getName());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329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329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Интерфейс Comparator</a:t>
            </a:r>
            <a:endParaRPr/>
          </a:p>
        </p:txBody>
      </p:sp>
      <p:sp>
        <p:nvSpPr>
          <p:cNvPr id="274" name="Google Shape;274;p38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63500" marR="63500" rtl="0" algn="l">
              <a:lnSpc>
                <a:spcPct val="1329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Courier New"/>
                <a:ea typeface="Courier New"/>
                <a:cs typeface="Courier New"/>
                <a:sym typeface="Courier New"/>
              </a:rPr>
              <a:t>public interface Comparator&lt;E&gt; {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329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329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Courier New"/>
                <a:ea typeface="Courier New"/>
                <a:cs typeface="Courier New"/>
                <a:sym typeface="Courier New"/>
              </a:rPr>
              <a:t>    int compare(T a, T b);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329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Courier New"/>
                <a:ea typeface="Courier New"/>
                <a:cs typeface="Courier New"/>
                <a:sym typeface="Courier New"/>
              </a:rPr>
              <a:t>    // остальные методы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32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32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329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Verdana"/>
                <a:ea typeface="Verdana"/>
                <a:cs typeface="Verdana"/>
                <a:sym typeface="Verdana"/>
              </a:rPr>
              <a:t>Метод </a:t>
            </a: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Arial"/>
                <a:ea typeface="Arial"/>
                <a:cs typeface="Arial"/>
                <a:sym typeface="Arial"/>
              </a:rPr>
              <a:t>compare</a:t>
            </a: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Verdana"/>
                <a:ea typeface="Verdana"/>
                <a:cs typeface="Verdana"/>
                <a:sym typeface="Verdana"/>
              </a:rPr>
              <a:t> также возвращает числовое значение - если оно отрицательное, то объект a предшествует объекту b, иначе - наоборот. А если метод возвращает ноль, то объекты равны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Создание класса компоратора</a:t>
            </a:r>
            <a:endParaRPr/>
          </a:p>
        </p:txBody>
      </p:sp>
      <p:sp>
        <p:nvSpPr>
          <p:cNvPr id="280" name="Google Shape;280;p39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Verdana"/>
                <a:ea typeface="Verdana"/>
                <a:cs typeface="Verdana"/>
                <a:sym typeface="Verdana"/>
              </a:rPr>
              <a:t>Для применения интерфейса нам вначале надо создать класс компаратора, который реализует этот интерфейс: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63500" marR="63500" rtl="0" algn="l">
              <a:lnSpc>
                <a:spcPct val="132954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Courier New"/>
                <a:ea typeface="Courier New"/>
                <a:cs typeface="Courier New"/>
                <a:sym typeface="Courier New"/>
              </a:rPr>
              <a:t>class PersonComparator implements Comparator&lt;Person&gt;{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329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329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Courier New"/>
                <a:ea typeface="Courier New"/>
                <a:cs typeface="Courier New"/>
                <a:sym typeface="Courier New"/>
              </a:rPr>
              <a:t>    public int compare(Person a, Person b){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329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329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Courier New"/>
                <a:ea typeface="Courier New"/>
                <a:cs typeface="Courier New"/>
                <a:sym typeface="Courier New"/>
              </a:rPr>
              <a:t>        return a.getName().compareTo(b.getName());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329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329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Использование класса компоратора</a:t>
            </a:r>
            <a:endParaRPr/>
          </a:p>
        </p:txBody>
      </p:sp>
      <p:sp>
        <p:nvSpPr>
          <p:cNvPr id="286" name="Google Shape;286;p40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63500" marR="63500" rtl="0" algn="l">
              <a:lnSpc>
                <a:spcPct val="1329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Courier New"/>
                <a:ea typeface="Courier New"/>
                <a:cs typeface="Courier New"/>
                <a:sym typeface="Courier New"/>
              </a:rPr>
              <a:t>PersonComparator pcomp = new PersonComparator();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329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Courier New"/>
                <a:ea typeface="Courier New"/>
                <a:cs typeface="Courier New"/>
                <a:sym typeface="Courier New"/>
              </a:rPr>
              <a:t>TreeSet&lt;Person&gt; people = new TreeSet&lt;Person&gt;(pcomp);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329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Courier New"/>
                <a:ea typeface="Courier New"/>
                <a:cs typeface="Courier New"/>
                <a:sym typeface="Courier New"/>
              </a:rPr>
              <a:t>people.add(new Person("Tom"));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329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Courier New"/>
                <a:ea typeface="Courier New"/>
                <a:cs typeface="Courier New"/>
                <a:sym typeface="Courier New"/>
              </a:rPr>
              <a:t>people.add(new Person("Nick"));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329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Courier New"/>
                <a:ea typeface="Courier New"/>
                <a:cs typeface="Courier New"/>
                <a:sym typeface="Courier New"/>
              </a:rPr>
              <a:t>people.add(new Person("Alice"));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329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Courier New"/>
                <a:ea typeface="Courier New"/>
                <a:cs typeface="Courier New"/>
                <a:sym typeface="Courier New"/>
              </a:rPr>
              <a:t>people.add(new Person("Bill"));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329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Courier New"/>
                <a:ea typeface="Courier New"/>
                <a:cs typeface="Courier New"/>
                <a:sym typeface="Courier New"/>
              </a:rPr>
              <a:t>for(Person  p : people){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329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329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Courier New"/>
                <a:ea typeface="Courier New"/>
                <a:cs typeface="Courier New"/>
                <a:sym typeface="Courier New"/>
              </a:rPr>
              <a:t>    System.out.println(p.getName());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329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Интерфейс Map</a:t>
            </a:r>
            <a:endParaRPr/>
          </a:p>
        </p:txBody>
      </p:sp>
      <p:sp>
        <p:nvSpPr>
          <p:cNvPr id="292" name="Google Shape;292;p41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Verdana"/>
                <a:ea typeface="Verdana"/>
                <a:cs typeface="Verdana"/>
                <a:sym typeface="Verdana"/>
              </a:rPr>
              <a:t>Интерфейс </a:t>
            </a:r>
            <a:r>
              <a:rPr b="1" lang="ru" sz="1000">
                <a:solidFill>
                  <a:srgbClr val="000000"/>
                </a:solidFill>
                <a:highlight>
                  <a:srgbClr val="F7F7FA"/>
                </a:highlight>
                <a:latin typeface="Verdana"/>
                <a:ea typeface="Verdana"/>
                <a:cs typeface="Verdana"/>
                <a:sym typeface="Verdana"/>
              </a:rPr>
              <a:t>Map&lt;K, V&gt;</a:t>
            </a: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Verdana"/>
                <a:ea typeface="Verdana"/>
                <a:cs typeface="Verdana"/>
                <a:sym typeface="Verdana"/>
              </a:rPr>
              <a:t> представляет отображение или иначе говоря словарь, где каждый элемент представляет пару "ключ-значение". 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Verdana"/>
                <a:ea typeface="Verdana"/>
                <a:cs typeface="Verdana"/>
                <a:sym typeface="Verdana"/>
              </a:rPr>
              <a:t>При этом все ключи уникальные в рамках объекта Map. 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Verdana"/>
                <a:ea typeface="Verdana"/>
                <a:cs typeface="Verdana"/>
                <a:sym typeface="Verdana"/>
              </a:rPr>
              <a:t>Такие коллекции облегчают поиск элемента, если нам известен ключ - уникальный идентификатор объекта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Методы интерфейса Map</a:t>
            </a:r>
            <a:endParaRPr/>
          </a:p>
        </p:txBody>
      </p:sp>
      <p:sp>
        <p:nvSpPr>
          <p:cNvPr id="298" name="Google Shape;298;p42"/>
          <p:cNvSpPr txBox="1"/>
          <p:nvPr>
            <p:ph idx="1" type="body"/>
          </p:nvPr>
        </p:nvSpPr>
        <p:spPr>
          <a:xfrm>
            <a:off x="819150" y="1508150"/>
            <a:ext cx="7505700" cy="29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void clear(): очищает коллекцию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boolean containsKey(Object k): возвращает true, если коллекция содержит ключ k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boolean containsValue(Object v): возвращает true, если коллекция содержит значение v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Set&lt;Map.Entry&lt;K, V&gt;&gt; entrySet(): возвращает набор элементов коллекции. Все элементы представляют объект Map.Entry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boolean equals(Object obj): возвращает true, если коллекция идентична коллекции, передаваемой через параметр obj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boolean isEmpty: возвращает true, если коллекция пуста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 get(Object k): возвращает значение объекта, ключ которого равен k. Если такого элемента не окажется, то возвращается значение null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 getOrDefault(Object k, V defaultValue): возвращает значение объекта, ключ которого равен k. Если такого элемента не окажется, то возвращается значение defaultVlue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Методы интерфейса Map</a:t>
            </a:r>
            <a:endParaRPr/>
          </a:p>
        </p:txBody>
      </p:sp>
      <p:sp>
        <p:nvSpPr>
          <p:cNvPr id="304" name="Google Shape;304;p43"/>
          <p:cNvSpPr txBox="1"/>
          <p:nvPr>
            <p:ph idx="1" type="body"/>
          </p:nvPr>
        </p:nvSpPr>
        <p:spPr>
          <a:xfrm>
            <a:off x="819150" y="1616850"/>
            <a:ext cx="7505700" cy="28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 put(K k, V v): помещает в коллекцию новый объект с ключом k и значением v. Если в коллекции уже есть объект с подобным ключом, то он перезаписывается. После добавления возвращает предыдущее значение для ключа k, если он уже был в коллекции. Если же ключа еще не было в коллекции, то возвращается значение null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 putIfAbsent(K k, V v): помещает в коллекцию новый объект с ключом k и значением v, если в коллекции еще нет элемента с подобным ключом.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Set&lt;K&gt; keySet(): возвращает набор всех ключей отображения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Collection&lt;V&gt; values(): возвращает набор всех значений отображения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void putAll(Map&lt;? extends K, ? extends V&gt; map): добавляет в коллекцию все объекты из отображения map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 remove(Object k): удаляет объект с ключом k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 size(): возвращает количество элементов коллекции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Методы</a:t>
            </a:r>
            <a:r>
              <a:rPr lang="ru"/>
              <a:t> интерфейса Map.Entry&lt;K, V&gt;</a:t>
            </a:r>
            <a:endParaRPr/>
          </a:p>
        </p:txBody>
      </p:sp>
      <p:sp>
        <p:nvSpPr>
          <p:cNvPr id="310" name="Google Shape;310;p4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boolean equals(Object obj): возвращает true, если объект obj, представляющий интерфейс Map.Entry, идентичен текущему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K getKey(): возвращает ключ объекта отображения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 getValue(): возвращает значение объекта отображения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Set&lt;K&gt; keySet(): возвращает набор всех ключей отображения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 setValue(V v): устанавливает для текущего объекта значение v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●"/>
            </a:pPr>
            <a:r>
              <a:rPr lang="ru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 hashCode(): возвращает хеш-код данного объекта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Класс HashMap</a:t>
            </a:r>
            <a:endParaRPr/>
          </a:p>
        </p:txBody>
      </p:sp>
      <p:sp>
        <p:nvSpPr>
          <p:cNvPr id="316" name="Google Shape;316;p4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Verdana"/>
                <a:ea typeface="Verdana"/>
                <a:cs typeface="Verdana"/>
                <a:sym typeface="Verdana"/>
              </a:rPr>
              <a:t>Базовым классом для всех отображений является абстрактный класс </a:t>
            </a:r>
            <a:r>
              <a:rPr b="1" lang="ru" sz="1000">
                <a:solidFill>
                  <a:srgbClr val="000000"/>
                </a:solidFill>
                <a:highlight>
                  <a:srgbClr val="F7F7FA"/>
                </a:highlight>
                <a:latin typeface="Verdana"/>
                <a:ea typeface="Verdana"/>
                <a:cs typeface="Verdana"/>
                <a:sym typeface="Verdana"/>
              </a:rPr>
              <a:t>AbstractMap</a:t>
            </a: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Verdana"/>
                <a:ea typeface="Verdana"/>
                <a:cs typeface="Verdana"/>
                <a:sym typeface="Verdana"/>
              </a:rPr>
              <a:t>, который реализует большую часть методов интерфейса Map. 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Verdana"/>
                <a:ea typeface="Verdana"/>
                <a:cs typeface="Verdana"/>
                <a:sym typeface="Verdana"/>
              </a:rPr>
              <a:t>Наиболее распространенным классом отображений является </a:t>
            </a:r>
            <a:r>
              <a:rPr b="1" lang="ru" sz="1000">
                <a:solidFill>
                  <a:srgbClr val="000000"/>
                </a:solidFill>
                <a:highlight>
                  <a:srgbClr val="F7F7FA"/>
                </a:highlight>
                <a:latin typeface="Verdana"/>
                <a:ea typeface="Verdana"/>
                <a:cs typeface="Verdana"/>
                <a:sym typeface="Verdana"/>
              </a:rPr>
              <a:t>HashMap</a:t>
            </a: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Verdana"/>
                <a:ea typeface="Verdana"/>
                <a:cs typeface="Verdana"/>
                <a:sym typeface="Verdana"/>
              </a:rPr>
              <a:t>, который реализует интерфейс Map и наследуется от класса AbstractMap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 sz="1000">
                <a:solidFill>
                  <a:srgbClr val="000000"/>
                </a:solidFill>
                <a:highlight>
                  <a:srgbClr val="F7F7FA"/>
                </a:highlight>
                <a:latin typeface="Verdana"/>
                <a:ea typeface="Verdana"/>
                <a:cs typeface="Verdana"/>
                <a:sym typeface="Verdana"/>
              </a:rPr>
              <a:t>Пример в файле</a:t>
            </a:r>
            <a:endParaRPr sz="1000">
              <a:solidFill>
                <a:srgbClr val="000000"/>
              </a:solidFill>
              <a:highlight>
                <a:srgbClr val="F7F7FA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