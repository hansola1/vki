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Montserrat"/>
      <p:regular r:id="rId28"/>
      <p:bold r:id="rId29"/>
      <p:italic r:id="rId30"/>
      <p:boldItalic r:id="rId31"/>
    </p:embeddedFont>
    <p:embeddedFont>
      <p:font typeface="Lat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Montserrat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6.xml"/><Relationship Id="rId33" Type="http://schemas.openxmlformats.org/officeDocument/2006/relationships/font" Target="fonts/Lato-bold.fntdata"/><Relationship Id="rId10" Type="http://schemas.openxmlformats.org/officeDocument/2006/relationships/slide" Target="slides/slide5.xml"/><Relationship Id="rId32" Type="http://schemas.openxmlformats.org/officeDocument/2006/relationships/font" Target="fonts/Lato-regular.fntdata"/><Relationship Id="rId13" Type="http://schemas.openxmlformats.org/officeDocument/2006/relationships/slide" Target="slides/slide8.xml"/><Relationship Id="rId35" Type="http://schemas.openxmlformats.org/officeDocument/2006/relationships/font" Target="fonts/Lato-boldItalic.fntdata"/><Relationship Id="rId12" Type="http://schemas.openxmlformats.org/officeDocument/2006/relationships/slide" Target="slides/slide7.xml"/><Relationship Id="rId34" Type="http://schemas.openxmlformats.org/officeDocument/2006/relationships/font" Target="fonts/Lato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423299101f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423299101f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423299101f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423299101f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423299101f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423299101f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423299101f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423299101f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423299101f_0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423299101f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423299101f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423299101f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423299101f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423299101f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423299101f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423299101f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423299101f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423299101f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423299101f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423299101f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423299101f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423299101f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423299101f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423299101f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423299101f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423299101f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423299101f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423299101f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4233df2ba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4233df2b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4233df2ba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4233df2ba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4233df2ba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4233df2ba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4233df2ba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4233df2ba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4233df2bae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4233df2ba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4233df2ba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4233df2ba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4233df2bae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4233df2ba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148125" y="1578400"/>
            <a:ext cx="5743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C# основы программирования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Мухортова Н.Н.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Простые типы данных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byte:  хранит целое число от 0 до 255 и занимает 1 байт. Представлен системным типом System.Byte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sbyte:  хранит целое число от -128 до 127 и занимает 1 байт. Представлен системным типом System.SByte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short:  хранит целое число от -32768 до 32767 и занимает 2 байта. Представлен системным типом System.Int16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ushort:  хранит целое число от 0 до 65535 и занимает 2 байта. Представлен системным типом System.UInt16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Простые типы данных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7957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decimal: хранит десятичное дробное число. Если употребляется без десятичной запятой, имеет значение от 0 до +/–79 228 162 514 264 337 593 543 950 335; если с запятой, то от 0 до +/–7,9228162514264337593543950335 с 28 разрядами после запятой и занимает 16 байт. Представлен системным типом System.Decimal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object: может хранить значение любого типа данных и занимает 4 байта на 32-разрядной платформе и 8 байт на 64-разрядной платформе. Представлен системным типом System.Object, который является базовым для всех других типов и классов .NET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Использование суффиксов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float a = 3.14F;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float b = 30.6f;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decimal c = 1005.8M;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decimal d = 334.8m;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Неявная типизация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var hello = "Hello to World";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var c = 20;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</a:t>
            </a:r>
            <a:r>
              <a:rPr lang="ru" sz="1400"/>
              <a:t>          //переменную необходимо сразу инициализировать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Console.WriteLine(c.GetType().ToString());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Console.WriteLine(hello.GetType().ToString());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Кортежи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Кортеж представляет набор значений, заключенных в круглые скобки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var tuple = (5, 10);          или           (int, int) tuple = (5, 10);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Console.WriteLine(tuple.Item1);            // 5                	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(string, int, double) person = ("Tom", 25, 81.23);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Мы также можем дать названия полям кортежа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var tuple = (count:5, sum:10);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Использование кортежей</a:t>
            </a:r>
            <a:endParaRPr/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static void Main(string[] args){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var tuple = GetValues();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Console.WriteLine(tuple.Item1); // 1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Console.WriteLine(tuple.Item2); // 3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Console.Read();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Использование кортежей</a:t>
            </a:r>
            <a:endParaRPr/>
          </a:p>
        </p:txBody>
      </p:sp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private static (int, int) GetValues()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var result = (1, 3);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return result;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Массив параметров и ключевое слово params</a:t>
            </a:r>
            <a:endParaRPr/>
          </a:p>
        </p:txBody>
      </p:sp>
      <p:sp>
        <p:nvSpPr>
          <p:cNvPr id="183" name="Google Shape;183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static void Addition ( params int[] integers ){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int result = 0;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for ( int i = 0;  i &lt; integers.Length;  i++ )    {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result += integers[i];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}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Console.WriteLine(result);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}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Массив параметров и ключевое слово params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static void Main(string[] args) 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Addition(1, 2, 3, 4, 5);    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int[] array = new int[] { 1, 2, 3, 4 };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Addition(array);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Addition();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Console.ReadLine();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Примеры передачи параметров</a:t>
            </a:r>
            <a:endParaRPr/>
          </a:p>
        </p:txBody>
      </p:sp>
      <p:sp>
        <p:nvSpPr>
          <p:cNvPr id="195" name="Google Shape;195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Другие параметры должны указываться до параметра с ключевым словом params</a:t>
            </a:r>
            <a:endParaRPr/>
          </a:p>
          <a:p>
            <a:pPr indent="45720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static void Addition( int x, string mes, params int[] integers )</a:t>
            </a:r>
            <a:endParaRPr/>
          </a:p>
          <a:p>
            <a:pPr indent="45720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Вызов           Addition(2, "hello", 1, 3, 4);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После параметра с модификатором params мы НЕ можем указывать другие параметры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//Так НЕ работает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static void Addition( params int[] integers, int x, string mes)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Исключения</a:t>
            </a:r>
            <a:endParaRPr/>
          </a:p>
        </p:txBody>
      </p:sp>
      <p:sp>
        <p:nvSpPr>
          <p:cNvPr id="201" name="Google Shape;201;p24"/>
          <p:cNvSpPr txBox="1"/>
          <p:nvPr>
            <p:ph idx="1" type="body"/>
          </p:nvPr>
        </p:nvSpPr>
        <p:spPr>
          <a:xfrm>
            <a:off x="1297500" y="1105450"/>
            <a:ext cx="7038900" cy="37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  int[] a = new int[4];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try    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    a[5] = 4;     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catch (Exception ex)    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    Console.WriteLine("Ошибка: " + ex.Message);    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finally    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    Console.WriteLine("Блок finally");    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Console.ReadLine();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Обработка нескольких исключений</a:t>
            </a:r>
            <a:endParaRPr/>
          </a:p>
        </p:txBody>
      </p:sp>
      <p:sp>
        <p:nvSpPr>
          <p:cNvPr id="207" name="Google Shape;207;p25"/>
          <p:cNvSpPr txBox="1"/>
          <p:nvPr>
            <p:ph idx="1" type="body"/>
          </p:nvPr>
        </p:nvSpPr>
        <p:spPr>
          <a:xfrm>
            <a:off x="1297500" y="961250"/>
            <a:ext cx="7038900" cy="35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try     {    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catch (FileNotFoundException e)    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    // Обработка исключения, возникшего при отсутствии файла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catch (IOException e)    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    // Обработка исключений ввода-вывода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Console.ReadLine();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Генерация исключений( о</a:t>
            </a:r>
            <a:r>
              <a:rPr lang="ru"/>
              <a:t>ператор throw)</a:t>
            </a:r>
            <a:endParaRPr/>
          </a:p>
        </p:txBody>
      </p:sp>
      <p:sp>
        <p:nvSpPr>
          <p:cNvPr id="213" name="Google Shape;213;p26"/>
          <p:cNvSpPr txBox="1"/>
          <p:nvPr>
            <p:ph idx="1" type="body"/>
          </p:nvPr>
        </p:nvSpPr>
        <p:spPr>
          <a:xfrm>
            <a:off x="1297500" y="1567550"/>
            <a:ext cx="7038900" cy="31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try    {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string message = Console.ReadLine();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if (message.Length &gt; 6)        {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    throw new Exception("Длина строки больше 6 символов");        }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}    catch (Exception e)    {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Console.WriteLine("Ошибка: " + e.Message);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}    Console.ReadLine();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Фильтры исключений</a:t>
            </a:r>
            <a:endParaRPr/>
          </a:p>
        </p:txBody>
      </p:sp>
      <p:sp>
        <p:nvSpPr>
          <p:cNvPr id="219" name="Google Shape;219;p27"/>
          <p:cNvSpPr txBox="1"/>
          <p:nvPr>
            <p:ph idx="1" type="body"/>
          </p:nvPr>
        </p:nvSpPr>
        <p:spPr>
          <a:xfrm>
            <a:off x="1297500" y="1009325"/>
            <a:ext cx="70389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try{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int result = x / y;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catch(Exception ex)  when  (y==0) 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Console.WriteLine("y не должен быть равен 0");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catch(Exception ex){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Console.WriteLine(ex.Message);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Статические члены класса</a:t>
            </a:r>
            <a:endParaRPr/>
          </a:p>
        </p:txBody>
      </p:sp>
      <p:pic>
        <p:nvPicPr>
          <p:cNvPr descr="Статические методы класса в C#" id="225" name="Google Shape;22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5175" y="1116175"/>
            <a:ext cx="5067300" cy="368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Свойства </a:t>
            </a:r>
            <a:endParaRPr/>
          </a:p>
        </p:txBody>
      </p:sp>
      <p:sp>
        <p:nvSpPr>
          <p:cNvPr id="231" name="Google Shape;231;p29"/>
          <p:cNvSpPr txBox="1"/>
          <p:nvPr>
            <p:ph idx="1" type="body"/>
          </p:nvPr>
        </p:nvSpPr>
        <p:spPr>
          <a:xfrm>
            <a:off x="1297500" y="1062150"/>
            <a:ext cx="7038900" cy="37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class Person{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	private string name;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	public string Name	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		get    	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    	return name;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	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		set    	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    	name = value;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/>
              <a:t>    	}	}</a:t>
            </a:r>
            <a:r>
              <a:rPr lang="ru"/>
              <a:t>}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Свойства </a:t>
            </a:r>
            <a:endParaRPr/>
          </a:p>
        </p:txBody>
      </p:sp>
      <p:sp>
        <p:nvSpPr>
          <p:cNvPr id="237" name="Google Shape;237;p3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Person p = new Person();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Устанавливаем свойство - срабатывает блок Set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// значение "Tom" и есть передаваемое в свойство value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p.Name = "Tom";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// Получаем значение свойства и присваиваем его переменной - срабатывает блок Get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string  personName = p.Name;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Модификаторы доступа</a:t>
            </a:r>
            <a:endParaRPr/>
          </a:p>
        </p:txBody>
      </p:sp>
      <p:sp>
        <p:nvSpPr>
          <p:cNvPr id="243" name="Google Shape;243;p31"/>
          <p:cNvSpPr txBox="1"/>
          <p:nvPr>
            <p:ph idx="1" type="body"/>
          </p:nvPr>
        </p:nvSpPr>
        <p:spPr>
          <a:xfrm>
            <a:off x="1297500" y="1219500"/>
            <a:ext cx="7038900" cy="38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Мы можем применять модификаторы доступа не только ко всему свойству, но и к отдельным блокам - либо get,  либо set: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class Person {    private string name;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public string Name    {        get        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        return name;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    }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    private set        {            name = value;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    }    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public Person(string name, int age)    {        Name = name;        Age = age;    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/>
              <a:t>}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</a:t>
            </a:r>
            <a:r>
              <a:rPr lang="ru"/>
              <a:t>нкапсуляция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2"/>
          <p:cNvSpPr txBox="1"/>
          <p:nvPr>
            <p:ph idx="1" type="body"/>
          </p:nvPr>
        </p:nvSpPr>
        <p:spPr>
          <a:xfrm>
            <a:off x="1297500" y="1567550"/>
            <a:ext cx="7038900" cy="34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class Account{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private int sum;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public int Sum    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    get {return sum;}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    set        {            if (value &gt; 0)            {                sum=value;            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    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} ограничение на изменение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Автоматические свойства</a:t>
            </a:r>
            <a:endParaRPr/>
          </a:p>
        </p:txBody>
      </p:sp>
      <p:sp>
        <p:nvSpPr>
          <p:cNvPr id="255" name="Google Shape;255;p33"/>
          <p:cNvSpPr txBox="1"/>
          <p:nvPr>
            <p:ph idx="1" type="body"/>
          </p:nvPr>
        </p:nvSpPr>
        <p:spPr>
          <a:xfrm>
            <a:off x="1297500" y="1150650"/>
            <a:ext cx="7038900" cy="33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class Person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public string Name { get; set; } = "Tom";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public int Age { get; set; } = 23;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Поля для чтения</a:t>
            </a:r>
            <a:endParaRPr/>
          </a:p>
        </p:txBody>
      </p:sp>
      <p:sp>
        <p:nvSpPr>
          <p:cNvPr id="261" name="Google Shape;261;p3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Поля для чтения можно инициализировать при их объявлении либо на уровне класса, либо </a:t>
            </a:r>
            <a:r>
              <a:rPr lang="ru"/>
              <a:t>инициализировать</a:t>
            </a:r>
            <a:r>
              <a:rPr lang="ru"/>
              <a:t> и изменять в конструкторе.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class MathLib{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	public readonly double K = 23;  // можно так инициализировать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	public MathLib(double _k)	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	K = _k; // поле для чтения может быть инициализировано или изменено в конструкторе после компиляции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/>
              <a:t>	}}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