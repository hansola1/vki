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Montserrat"/>
      <p:regular r:id="rId33"/>
      <p:bold r:id="rId34"/>
      <p:italic r:id="rId35"/>
      <p:boldItalic r:id="rId36"/>
    </p:embeddedFont>
    <p:embeddedFont>
      <p:font typeface="La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Lato-regular.fntdata"/><Relationship Id="rId14" Type="http://schemas.openxmlformats.org/officeDocument/2006/relationships/slide" Target="slides/slide9.xml"/><Relationship Id="rId36" Type="http://schemas.openxmlformats.org/officeDocument/2006/relationships/font" Target="fonts/Montserrat-boldItalic.fntdata"/><Relationship Id="rId17" Type="http://schemas.openxmlformats.org/officeDocument/2006/relationships/slide" Target="slides/slide12.xml"/><Relationship Id="rId39" Type="http://schemas.openxmlformats.org/officeDocument/2006/relationships/font" Target="fonts/Lato-italic.fntdata"/><Relationship Id="rId16" Type="http://schemas.openxmlformats.org/officeDocument/2006/relationships/slide" Target="slides/slide11.xml"/><Relationship Id="rId38" Type="http://schemas.openxmlformats.org/officeDocument/2006/relationships/font" Target="fonts/La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43fcc42c2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43fcc42c2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43fcc42c2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43fcc42c2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g43fcc42c2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43fcc42c2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43fcc42c2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43fcc42c2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43fcc42c2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43fcc42c2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43fcc42c2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43fcc42c2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g43fcc42c2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43fcc42c2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g43fcc42c27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43fcc42c2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g43fcc42c27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43fcc42c27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Google Shape;191;g43fcc42c2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43fcc42c2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43fcc42c2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43fcc42c2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2" name="Shape 202"/>
        <p:cNvGrpSpPr/>
        <p:nvPr/>
      </p:nvGrpSpPr>
      <p:grpSpPr>
        <a:xfrm>
          <a:off x="0" y="0"/>
          <a:ext cx="0" cy="0"/>
          <a:chOff x="0" y="0"/>
          <a:chExt cx="0" cy="0"/>
        </a:xfrm>
      </p:grpSpPr>
      <p:sp>
        <p:nvSpPr>
          <p:cNvPr id="203" name="Google Shape;203;g43fcc42c27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43fcc42c27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8" name="Shape 208"/>
        <p:cNvGrpSpPr/>
        <p:nvPr/>
      </p:nvGrpSpPr>
      <p:grpSpPr>
        <a:xfrm>
          <a:off x="0" y="0"/>
          <a:ext cx="0" cy="0"/>
          <a:chOff x="0" y="0"/>
          <a:chExt cx="0" cy="0"/>
        </a:xfrm>
      </p:grpSpPr>
      <p:sp>
        <p:nvSpPr>
          <p:cNvPr id="209" name="Google Shape;209;g43fcc42c2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43fcc42c2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4" name="Shape 214"/>
        <p:cNvGrpSpPr/>
        <p:nvPr/>
      </p:nvGrpSpPr>
      <p:grpSpPr>
        <a:xfrm>
          <a:off x="0" y="0"/>
          <a:ext cx="0" cy="0"/>
          <a:chOff x="0" y="0"/>
          <a:chExt cx="0" cy="0"/>
        </a:xfrm>
      </p:grpSpPr>
      <p:sp>
        <p:nvSpPr>
          <p:cNvPr id="215" name="Google Shape;215;g43fcc42c2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43fcc42c2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43fcc42c27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43fcc42c27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6" name="Shape 226"/>
        <p:cNvGrpSpPr/>
        <p:nvPr/>
      </p:nvGrpSpPr>
      <p:grpSpPr>
        <a:xfrm>
          <a:off x="0" y="0"/>
          <a:ext cx="0" cy="0"/>
          <a:chOff x="0" y="0"/>
          <a:chExt cx="0" cy="0"/>
        </a:xfrm>
      </p:grpSpPr>
      <p:sp>
        <p:nvSpPr>
          <p:cNvPr id="227" name="Google Shape;227;g43fcc42c2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43fcc42c2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2" name="Shape 232"/>
        <p:cNvGrpSpPr/>
        <p:nvPr/>
      </p:nvGrpSpPr>
      <p:grpSpPr>
        <a:xfrm>
          <a:off x="0" y="0"/>
          <a:ext cx="0" cy="0"/>
          <a:chOff x="0" y="0"/>
          <a:chExt cx="0" cy="0"/>
        </a:xfrm>
      </p:grpSpPr>
      <p:sp>
        <p:nvSpPr>
          <p:cNvPr id="233" name="Google Shape;233;g43fcc42c27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43fcc42c27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8" name="Shape 238"/>
        <p:cNvGrpSpPr/>
        <p:nvPr/>
      </p:nvGrpSpPr>
      <p:grpSpPr>
        <a:xfrm>
          <a:off x="0" y="0"/>
          <a:ext cx="0" cy="0"/>
          <a:chOff x="0" y="0"/>
          <a:chExt cx="0" cy="0"/>
        </a:xfrm>
      </p:grpSpPr>
      <p:sp>
        <p:nvSpPr>
          <p:cNvPr id="239" name="Google Shape;239;g43fcc42c27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43fcc42c27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Google Shape;245;g43fcc42c27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43fcc42c27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0" name="Shape 250"/>
        <p:cNvGrpSpPr/>
        <p:nvPr/>
      </p:nvGrpSpPr>
      <p:grpSpPr>
        <a:xfrm>
          <a:off x="0" y="0"/>
          <a:ext cx="0" cy="0"/>
          <a:chOff x="0" y="0"/>
          <a:chExt cx="0" cy="0"/>
        </a:xfrm>
      </p:grpSpPr>
      <p:sp>
        <p:nvSpPr>
          <p:cNvPr id="251" name="Google Shape;251;g43fcc42c27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43fcc42c27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Google Shape;257;g43fcc42c27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43fcc42c27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2" name="Shape 262"/>
        <p:cNvGrpSpPr/>
        <p:nvPr/>
      </p:nvGrpSpPr>
      <p:grpSpPr>
        <a:xfrm>
          <a:off x="0" y="0"/>
          <a:ext cx="0" cy="0"/>
          <a:chOff x="0" y="0"/>
          <a:chExt cx="0" cy="0"/>
        </a:xfrm>
      </p:grpSpPr>
      <p:sp>
        <p:nvSpPr>
          <p:cNvPr id="263" name="Google Shape;263;g43fcc42c27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43fcc42c27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8" name="Shape 268"/>
        <p:cNvGrpSpPr/>
        <p:nvPr/>
      </p:nvGrpSpPr>
      <p:grpSpPr>
        <a:xfrm>
          <a:off x="0" y="0"/>
          <a:ext cx="0" cy="0"/>
          <a:chOff x="0" y="0"/>
          <a:chExt cx="0" cy="0"/>
        </a:xfrm>
      </p:grpSpPr>
      <p:sp>
        <p:nvSpPr>
          <p:cNvPr id="269" name="Google Shape;269;g43fcc42c27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43fcc42c27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4" name="Shape 274"/>
        <p:cNvGrpSpPr/>
        <p:nvPr/>
      </p:nvGrpSpPr>
      <p:grpSpPr>
        <a:xfrm>
          <a:off x="0" y="0"/>
          <a:ext cx="0" cy="0"/>
          <a:chOff x="0" y="0"/>
          <a:chExt cx="0" cy="0"/>
        </a:xfrm>
      </p:grpSpPr>
      <p:sp>
        <p:nvSpPr>
          <p:cNvPr id="275" name="Google Shape;275;g43fcc42c27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43fcc42c27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0" name="Shape 280"/>
        <p:cNvGrpSpPr/>
        <p:nvPr/>
      </p:nvGrpSpPr>
      <p:grpSpPr>
        <a:xfrm>
          <a:off x="0" y="0"/>
          <a:ext cx="0" cy="0"/>
          <a:chOff x="0" y="0"/>
          <a:chExt cx="0" cy="0"/>
        </a:xfrm>
      </p:grpSpPr>
      <p:sp>
        <p:nvSpPr>
          <p:cNvPr id="281" name="Google Shape;281;g43fcc42c2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3fcc42c2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6" name="Shape 286"/>
        <p:cNvGrpSpPr/>
        <p:nvPr/>
      </p:nvGrpSpPr>
      <p:grpSpPr>
        <a:xfrm>
          <a:off x="0" y="0"/>
          <a:ext cx="0" cy="0"/>
          <a:chOff x="0" y="0"/>
          <a:chExt cx="0" cy="0"/>
        </a:xfrm>
      </p:grpSpPr>
      <p:sp>
        <p:nvSpPr>
          <p:cNvPr id="287" name="Google Shape;287;g43fcc42c27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43fcc42c27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C# Многопоточность</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Мухортова Н.Н.</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Потоки и многозадачность</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Многопоточность позволяет приложениям разделять задачи и работать над каждой независимо, чтобы максимально эффективно задействовать процессор и пользовательское время. </a:t>
            </a:r>
            <a:endParaRPr/>
          </a:p>
          <a:p>
            <a:pPr indent="0" lvl="0" marL="0" rtl="0" algn="l">
              <a:spcBef>
                <a:spcPts val="1600"/>
              </a:spcBef>
              <a:spcAft>
                <a:spcPts val="1600"/>
              </a:spcAft>
              <a:buNone/>
            </a:pPr>
            <a:r>
              <a:rPr lang="ru"/>
              <a:t>Вытесняющая многозадачность - процессор отвечает за выдачу каждому потоку определенного количества времени, в течение которого поток может выполняться, — кванта времени (timeslice). Далее процессор переключается между разными потоками, выдавая каждому потоку его квант времени, а программист может не заботится о том, как и когда возвращать управление, в результате чего могут работать и другие потоки.</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Переключение контекста</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1.	Процессор с помощью аппаратного таймера определяет момент окончания кванта, выделенного для данного потока. </a:t>
            </a:r>
            <a:endParaRPr/>
          </a:p>
          <a:p>
            <a:pPr indent="0" lvl="0" marL="0" rtl="0" algn="l">
              <a:spcBef>
                <a:spcPts val="1600"/>
              </a:spcBef>
              <a:spcAft>
                <a:spcPts val="0"/>
              </a:spcAft>
              <a:buNone/>
            </a:pPr>
            <a:r>
              <a:rPr lang="ru"/>
              <a:t>2.	Когда аппаратный таймер генерирует прерывание, процессор сохраняет в стеке содержимое всех регистров для данного потока. </a:t>
            </a:r>
            <a:endParaRPr/>
          </a:p>
          <a:p>
            <a:pPr indent="0" lvl="0" marL="0" rtl="0" algn="l">
              <a:spcBef>
                <a:spcPts val="1600"/>
              </a:spcBef>
              <a:spcAft>
                <a:spcPts val="0"/>
              </a:spcAft>
              <a:buNone/>
            </a:pPr>
            <a:r>
              <a:rPr lang="ru"/>
              <a:t>3.	Затем процессор перемещает содержимое этих же регистров в структуру данных CONTEXT. </a:t>
            </a:r>
            <a:endParaRPr/>
          </a:p>
          <a:p>
            <a:pPr indent="0" lvl="0" marL="0" rtl="0" algn="l">
              <a:spcBef>
                <a:spcPts val="1600"/>
              </a:spcBef>
              <a:spcAft>
                <a:spcPts val="0"/>
              </a:spcAft>
              <a:buNone/>
            </a:pPr>
            <a:r>
              <a:rPr lang="ru"/>
              <a:t>4.	При необходимости переключения обратно на поток, выполнявшийся прежде, процессор выполняет обратную процедуру и восстанавливает содержимое регистров из структуры CONTEXT, ассоциированной с потоком.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195825"/>
            <a:ext cx="70389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Многопоточное приложение на С#</a:t>
            </a:r>
            <a:endParaRPr/>
          </a:p>
        </p:txBody>
      </p:sp>
      <p:sp>
        <p:nvSpPr>
          <p:cNvPr id="153" name="Google Shape;153;p16"/>
          <p:cNvSpPr txBox="1"/>
          <p:nvPr>
            <p:ph idx="1" type="body"/>
          </p:nvPr>
        </p:nvSpPr>
        <p:spPr>
          <a:xfrm>
            <a:off x="1297500" y="831225"/>
            <a:ext cx="7038900" cy="364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using System;        using System.Threading;</a:t>
            </a:r>
            <a:endParaRPr/>
          </a:p>
          <a:p>
            <a:pPr indent="0" lvl="0" marL="0" rtl="0" algn="l">
              <a:spcBef>
                <a:spcPts val="1600"/>
              </a:spcBef>
              <a:spcAft>
                <a:spcPts val="0"/>
              </a:spcAft>
              <a:buNone/>
            </a:pPr>
            <a:r>
              <a:rPr lang="ru"/>
              <a:t>class SimpleThreadApp {</a:t>
            </a:r>
            <a:endParaRPr/>
          </a:p>
          <a:p>
            <a:pPr indent="0" lvl="0" marL="0" rtl="0" algn="l">
              <a:spcBef>
                <a:spcPts val="1600"/>
              </a:spcBef>
              <a:spcAft>
                <a:spcPts val="0"/>
              </a:spcAft>
              <a:buNone/>
            </a:pPr>
            <a:r>
              <a:rPr lang="ru"/>
              <a:t>	public static void WorkerThreadMethod(){</a:t>
            </a:r>
            <a:endParaRPr/>
          </a:p>
          <a:p>
            <a:pPr indent="0" lvl="0" marL="0" rtl="0" algn="l">
              <a:spcBef>
                <a:spcPts val="1600"/>
              </a:spcBef>
              <a:spcAft>
                <a:spcPts val="0"/>
              </a:spcAft>
              <a:buNone/>
            </a:pPr>
            <a:r>
              <a:rPr lang="ru"/>
              <a:t>		Console.WriteLine("Worker thread started");}</a:t>
            </a:r>
            <a:endParaRPr/>
          </a:p>
          <a:p>
            <a:pPr indent="0" lvl="0" marL="0" rtl="0" algn="l">
              <a:spcBef>
                <a:spcPts val="1600"/>
              </a:spcBef>
              <a:spcAft>
                <a:spcPts val="0"/>
              </a:spcAft>
              <a:buNone/>
            </a:pPr>
            <a:r>
              <a:rPr lang="ru"/>
              <a:t>	public static void Main() {</a:t>
            </a:r>
            <a:endParaRPr/>
          </a:p>
          <a:p>
            <a:pPr indent="0" lvl="0" marL="0" rtl="0" algn="l">
              <a:spcBef>
                <a:spcPts val="1600"/>
              </a:spcBef>
              <a:spcAft>
                <a:spcPts val="0"/>
              </a:spcAft>
              <a:buNone/>
            </a:pPr>
            <a:r>
              <a:rPr lang="ru"/>
              <a:t>		ThreadStart worker = new ThreadStart(WorkerThreadMethod);</a:t>
            </a:r>
            <a:endParaRPr/>
          </a:p>
          <a:p>
            <a:pPr indent="0" lvl="0" marL="0" rtl="0" algn="l">
              <a:spcBef>
                <a:spcPts val="1600"/>
              </a:spcBef>
              <a:spcAft>
                <a:spcPts val="0"/>
              </a:spcAft>
              <a:buNone/>
            </a:pPr>
            <a:r>
              <a:rPr lang="ru"/>
              <a:t>		Console.WriteLine("Main - Creating worker thread");</a:t>
            </a:r>
            <a:endParaRPr/>
          </a:p>
          <a:p>
            <a:pPr indent="0" lvl="0" marL="0" rtl="0" algn="l">
              <a:spcBef>
                <a:spcPts val="1600"/>
              </a:spcBef>
              <a:spcAft>
                <a:spcPts val="0"/>
              </a:spcAft>
              <a:buNone/>
            </a:pPr>
            <a:r>
              <a:rPr lang="ru"/>
              <a:t>		Thread t = new Thread(worker);</a:t>
            </a:r>
            <a:endParaRPr/>
          </a:p>
          <a:p>
            <a:pPr indent="0" lvl="0" marL="0" rtl="0" algn="l">
              <a:spcBef>
                <a:spcPts val="1600"/>
              </a:spcBef>
              <a:spcAft>
                <a:spcPts val="0"/>
              </a:spcAft>
              <a:buNone/>
            </a:pPr>
            <a:r>
              <a:rPr lang="ru"/>
              <a:t>		 t.Start();</a:t>
            </a:r>
            <a:endParaRPr/>
          </a:p>
          <a:p>
            <a:pPr indent="0" lvl="0" marL="0" rtl="0" algn="l">
              <a:spcBef>
                <a:spcPts val="1600"/>
              </a:spcBef>
              <a:spcAft>
                <a:spcPts val="0"/>
              </a:spcAft>
              <a:buNone/>
            </a:pPr>
            <a:r>
              <a:rPr lang="ru"/>
              <a:t>		Console.WriteLine("Main - Have requested the start of worker thread"); }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Поток</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1.	ThreadStart — это делегат. </a:t>
            </a:r>
            <a:endParaRPr/>
          </a:p>
          <a:p>
            <a:pPr indent="0" lvl="0" marL="0" rtl="0" algn="l">
              <a:spcBef>
                <a:spcPts val="1600"/>
              </a:spcBef>
              <a:spcAft>
                <a:spcPts val="0"/>
              </a:spcAft>
              <a:buNone/>
            </a:pPr>
            <a:r>
              <a:rPr lang="ru"/>
              <a:t>2.	Он должен быть задействован при создании нового потока. </a:t>
            </a:r>
            <a:endParaRPr/>
          </a:p>
          <a:p>
            <a:pPr indent="0" lvl="0" marL="0" rtl="0" algn="l">
              <a:spcBef>
                <a:spcPts val="1600"/>
              </a:spcBef>
              <a:spcAft>
                <a:spcPts val="0"/>
              </a:spcAft>
              <a:buNone/>
            </a:pPr>
            <a:r>
              <a:rPr lang="ru"/>
              <a:t>3.	Он используется, чтобы задать метод, который должен вызываться как метод потока. </a:t>
            </a:r>
            <a:endParaRPr/>
          </a:p>
          <a:p>
            <a:pPr indent="0" lvl="0" marL="0" rtl="0" algn="l">
              <a:spcBef>
                <a:spcPts val="1600"/>
              </a:spcBef>
              <a:spcAft>
                <a:spcPts val="0"/>
              </a:spcAft>
              <a:buNone/>
            </a:pPr>
            <a:r>
              <a:rPr lang="ru"/>
              <a:t>Здесь создается экземпляр объекта Thread, при этом конструктор принимает в качестве аргумента только делегат ThreadStart</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AppDomain</a:t>
            </a:r>
            <a:endParaRPr/>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1.	В .NET потоки работают в сущности под названием AppDomain</a:t>
            </a:r>
            <a:endParaRPr/>
          </a:p>
          <a:p>
            <a:pPr indent="0" lvl="0" marL="0" rtl="0" algn="l">
              <a:spcBef>
                <a:spcPts val="1600"/>
              </a:spcBef>
              <a:spcAft>
                <a:spcPts val="0"/>
              </a:spcAft>
              <a:buNone/>
            </a:pPr>
            <a:r>
              <a:rPr lang="ru"/>
              <a:t>2.	 в .NET потоки могут пересекать границы AppDomain, а метод из одного потока может вызывать метод из другого AppDomain</a:t>
            </a:r>
            <a:endParaRPr/>
          </a:p>
          <a:p>
            <a:pPr indent="0" lvl="0" marL="0" rtl="0" algn="l">
              <a:spcBef>
                <a:spcPts val="1600"/>
              </a:spcBef>
              <a:spcAft>
                <a:spcPts val="0"/>
              </a:spcAft>
              <a:buNone/>
            </a:pPr>
            <a:r>
              <a:rPr lang="ru"/>
              <a:t>3.	AppDomain - это логический процесс внутри физического процесса</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Создание потоков и объектов Thread</a:t>
            </a:r>
            <a:endParaRPr/>
          </a:p>
        </p:txBody>
      </p:sp>
      <p:sp>
        <p:nvSpPr>
          <p:cNvPr id="171" name="Google Shape;171;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Вы можете создавать экземпляры объекта Thread двумя способами. </a:t>
            </a:r>
            <a:endParaRPr/>
          </a:p>
          <a:p>
            <a:pPr indent="0" lvl="0" marL="0" rtl="0" algn="l">
              <a:spcBef>
                <a:spcPts val="1600"/>
              </a:spcBef>
              <a:spcAft>
                <a:spcPts val="0"/>
              </a:spcAft>
              <a:buNone/>
            </a:pPr>
            <a:r>
              <a:rPr lang="ru"/>
              <a:t>1.	Один - создание нового потока и получение объекта Thread, позволяющего манипулировать новым потоком в этом процессе. </a:t>
            </a:r>
            <a:endParaRPr/>
          </a:p>
          <a:p>
            <a:pPr indent="0" lvl="0" marL="0" rtl="0" algn="l">
              <a:spcBef>
                <a:spcPts val="1600"/>
              </a:spcBef>
              <a:spcAft>
                <a:spcPts val="0"/>
              </a:spcAft>
              <a:buNone/>
            </a:pPr>
            <a:r>
              <a:rPr lang="ru"/>
              <a:t>2.	Другой способ получить объект Thread для потока, исполняемого в данный момент, — вызов статического метода Thread. CurrentThread.</a:t>
            </a:r>
            <a:endParaRPr/>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20"/>
          <p:cNvSpPr txBox="1"/>
          <p:nvPr>
            <p:ph type="title"/>
          </p:nvPr>
        </p:nvSpPr>
        <p:spPr>
          <a:xfrm>
            <a:off x="1297500" y="16942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Управление временем существования потоков</a:t>
            </a:r>
            <a:endParaRPr/>
          </a:p>
        </p:txBody>
      </p:sp>
      <p:sp>
        <p:nvSpPr>
          <p:cNvPr id="177" name="Google Shape;177;p20"/>
          <p:cNvSpPr txBox="1"/>
          <p:nvPr>
            <p:ph idx="1" type="body"/>
          </p:nvPr>
        </p:nvSpPr>
        <p:spPr>
          <a:xfrm>
            <a:off x="1297500" y="1083525"/>
            <a:ext cx="7038900" cy="339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using System;    using System.Threading;</a:t>
            </a:r>
            <a:endParaRPr/>
          </a:p>
          <a:p>
            <a:pPr indent="0" lvl="0" marL="0" rtl="0" algn="l">
              <a:spcBef>
                <a:spcPts val="1600"/>
              </a:spcBef>
              <a:spcAft>
                <a:spcPts val="0"/>
              </a:spcAft>
              <a:buNone/>
            </a:pPr>
            <a:r>
              <a:rPr lang="ru"/>
              <a:t>class ThreadSleepApp{</a:t>
            </a:r>
            <a:endParaRPr/>
          </a:p>
          <a:p>
            <a:pPr indent="0" lvl="0" marL="0" rtl="0" algn="l">
              <a:spcBef>
                <a:spcPts val="1600"/>
              </a:spcBef>
              <a:spcAft>
                <a:spcPts val="0"/>
              </a:spcAft>
              <a:buNone/>
            </a:pPr>
            <a:r>
              <a:rPr lang="ru"/>
              <a:t>	public static void WorkerThreadMethod(){</a:t>
            </a:r>
            <a:endParaRPr/>
          </a:p>
          <a:p>
            <a:pPr indent="0" lvl="0" marL="0" rtl="0" algn="l">
              <a:spcBef>
                <a:spcPts val="1600"/>
              </a:spcBef>
              <a:spcAft>
                <a:spcPts val="0"/>
              </a:spcAft>
              <a:buNone/>
            </a:pPr>
            <a:r>
              <a:rPr lang="ru"/>
              <a:t>		Console.WriteLine("Worker thread started");</a:t>
            </a:r>
            <a:endParaRPr/>
          </a:p>
          <a:p>
            <a:pPr indent="0" lvl="0" marL="0" rtl="0" algn="l">
              <a:spcBef>
                <a:spcPts val="1600"/>
              </a:spcBef>
              <a:spcAft>
                <a:spcPts val="0"/>
              </a:spcAft>
              <a:buNone/>
            </a:pPr>
            <a:r>
              <a:rPr lang="ru"/>
              <a:t>		int sleepTime = 5000;</a:t>
            </a:r>
            <a:endParaRPr/>
          </a:p>
          <a:p>
            <a:pPr indent="0" lvl="0" marL="0" rtl="0" algn="l">
              <a:spcBef>
                <a:spcPts val="1600"/>
              </a:spcBef>
              <a:spcAft>
                <a:spcPts val="0"/>
              </a:spcAft>
              <a:buNone/>
            </a:pPr>
            <a:r>
              <a:rPr lang="ru"/>
              <a:t>		Console.WriteLine("\tsleeping for {0} seconds",sleepTime / 1000);</a:t>
            </a:r>
            <a:endParaRPr/>
          </a:p>
          <a:p>
            <a:pPr indent="0" lvl="0" marL="0" rtl="0" algn="l">
              <a:spcBef>
                <a:spcPts val="1600"/>
              </a:spcBef>
              <a:spcAft>
                <a:spcPts val="0"/>
              </a:spcAft>
              <a:buNone/>
            </a:pPr>
            <a:r>
              <a:rPr lang="ru"/>
              <a:t>		Thread.Sleep(sleepTime); // Приостановка на пять секунд. </a:t>
            </a:r>
            <a:endParaRPr/>
          </a:p>
          <a:p>
            <a:pPr indent="0" lvl="0" marL="0" rtl="0" algn="l">
              <a:spcBef>
                <a:spcPts val="1600"/>
              </a:spcBef>
              <a:spcAft>
                <a:spcPts val="0"/>
              </a:spcAft>
              <a:buNone/>
            </a:pPr>
            <a:r>
              <a:rPr lang="ru"/>
              <a:t>		Console.WriteLine("\twaking up");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Управление временем существования потоков</a:t>
            </a:r>
            <a:endParaRPr/>
          </a:p>
          <a:p>
            <a:pPr indent="0" lvl="0" marL="0" rtl="0" algn="l">
              <a:spcBef>
                <a:spcPts val="0"/>
              </a:spcBef>
              <a:spcAft>
                <a:spcPts val="0"/>
              </a:spcAft>
              <a:buNone/>
            </a:pPr>
            <a:r>
              <a:t/>
            </a:r>
            <a:endParaRPr/>
          </a:p>
        </p:txBody>
      </p:sp>
      <p:sp>
        <p:nvSpPr>
          <p:cNvPr id="183" name="Google Shape;183;p2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public static void Main(){</a:t>
            </a:r>
            <a:endParaRPr/>
          </a:p>
          <a:p>
            <a:pPr indent="0" lvl="0" marL="0" rtl="0" algn="l">
              <a:spcBef>
                <a:spcPts val="1600"/>
              </a:spcBef>
              <a:spcAft>
                <a:spcPts val="0"/>
              </a:spcAft>
              <a:buNone/>
            </a:pPr>
            <a:r>
              <a:rPr lang="ru"/>
              <a:t>ThreadStart worker = new ThreadStart(WorkerThreadMethod);</a:t>
            </a:r>
            <a:endParaRPr/>
          </a:p>
          <a:p>
            <a:pPr indent="0" lvl="0" marL="0" rtl="0" algn="l">
              <a:spcBef>
                <a:spcPts val="1600"/>
              </a:spcBef>
              <a:spcAft>
                <a:spcPts val="0"/>
              </a:spcAft>
              <a:buNone/>
            </a:pPr>
            <a:r>
              <a:rPr lang="ru"/>
              <a:t>Console.WriteLine("Main - Creating worker thread");</a:t>
            </a:r>
            <a:endParaRPr/>
          </a:p>
          <a:p>
            <a:pPr indent="0" lvl="0" marL="0" rtl="0" algn="l">
              <a:spcBef>
                <a:spcPts val="1600"/>
              </a:spcBef>
              <a:spcAft>
                <a:spcPts val="0"/>
              </a:spcAft>
              <a:buNone/>
            </a:pPr>
            <a:r>
              <a:rPr lang="ru"/>
              <a:t>Thread t = new Thread(worker); t.Start();</a:t>
            </a:r>
            <a:endParaRPr/>
          </a:p>
          <a:p>
            <a:pPr indent="0" lvl="0" marL="0" rtl="0" algn="l">
              <a:spcBef>
                <a:spcPts val="1600"/>
              </a:spcBef>
              <a:spcAft>
                <a:spcPts val="0"/>
              </a:spcAft>
              <a:buNone/>
            </a:pPr>
            <a:r>
              <a:rPr lang="ru"/>
              <a:t>Console.WriteLine("Main - Have requested the start of worker thread"); }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Google Shape;188;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Управление временем существования потоков</a:t>
            </a:r>
            <a:endParaRPr/>
          </a:p>
          <a:p>
            <a:pPr indent="0" lvl="0" marL="0" rtl="0" algn="l">
              <a:spcBef>
                <a:spcPts val="0"/>
              </a:spcBef>
              <a:spcAft>
                <a:spcPts val="0"/>
              </a:spcAft>
              <a:buNone/>
            </a:pPr>
            <a:r>
              <a:t/>
            </a:r>
            <a:endParaRPr/>
          </a:p>
        </p:txBody>
      </p:sp>
      <p:sp>
        <p:nvSpPr>
          <p:cNvPr id="189" name="Google Shape;189;p2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Есть еще два способа вызова метода Thread.Sleep. </a:t>
            </a:r>
            <a:endParaRPr/>
          </a:p>
          <a:p>
            <a:pPr indent="0" lvl="0" marL="0" rtl="0" algn="l">
              <a:spcBef>
                <a:spcPts val="1600"/>
              </a:spcBef>
              <a:spcAft>
                <a:spcPts val="0"/>
              </a:spcAft>
              <a:buNone/>
            </a:pPr>
            <a:r>
              <a:rPr lang="ru"/>
              <a:t>Первый — вызов Thread. Sleep со значением 0. При этом вы заставите текущий поток освободить неиспользованный остаток своего кванта.</a:t>
            </a:r>
            <a:endParaRPr/>
          </a:p>
          <a:p>
            <a:pPr indent="0" lvl="0" marL="0" rtl="0" algn="l">
              <a:spcBef>
                <a:spcPts val="1600"/>
              </a:spcBef>
              <a:spcAft>
                <a:spcPts val="0"/>
              </a:spcAft>
              <a:buNone/>
            </a:pPr>
            <a:r>
              <a:rPr lang="ru"/>
              <a:t> При передаче значения Timeout. Infinite поток будет приостановлен на неопределенно долгий срок, пока это состояние потока не будет прервано другим потоком, вызвавшим метод приостановленного потока Thread.Interrupt.</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Методы Thread. Suspend и Thread. Resume</a:t>
            </a:r>
            <a:endParaRPr/>
          </a:p>
        </p:txBody>
      </p:sp>
      <p:sp>
        <p:nvSpPr>
          <p:cNvPr id="195" name="Google Shape;195;p23"/>
          <p:cNvSpPr txBox="1"/>
          <p:nvPr>
            <p:ph idx="1" type="body"/>
          </p:nvPr>
        </p:nvSpPr>
        <p:spPr>
          <a:xfrm>
            <a:off x="1297500" y="1213925"/>
            <a:ext cx="7038900" cy="32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Второй способ приостановить исполнение потока — вызов метода Thread.Suspend. </a:t>
            </a:r>
            <a:endParaRPr/>
          </a:p>
          <a:p>
            <a:pPr indent="0" lvl="0" marL="0" rtl="0" algn="l">
              <a:spcBef>
                <a:spcPts val="1600"/>
              </a:spcBef>
              <a:spcAft>
                <a:spcPts val="0"/>
              </a:spcAft>
              <a:buNone/>
            </a:pPr>
            <a:r>
              <a:rPr lang="ru"/>
              <a:t>Между этими методиками несколько важных отличий. </a:t>
            </a:r>
            <a:endParaRPr/>
          </a:p>
          <a:p>
            <a:pPr indent="0" lvl="0" marL="0" rtl="0" algn="l">
              <a:spcBef>
                <a:spcPts val="1600"/>
              </a:spcBef>
              <a:spcAft>
                <a:spcPts val="0"/>
              </a:spcAft>
              <a:buNone/>
            </a:pPr>
            <a:r>
              <a:rPr lang="ru"/>
              <a:t>Во-первых, можно вызвать метод Thread. Suspend для потока, исполняемого в текущий момент, или для другого потока. </a:t>
            </a:r>
            <a:endParaRPr/>
          </a:p>
          <a:p>
            <a:pPr indent="0" lvl="0" marL="0" rtl="0" algn="l">
              <a:spcBef>
                <a:spcPts val="1600"/>
              </a:spcBef>
              <a:spcAft>
                <a:spcPts val="0"/>
              </a:spcAft>
              <a:buNone/>
            </a:pPr>
            <a:r>
              <a:rPr lang="ru"/>
              <a:t>Во-вторых, если таким образом приостановить выполнение потока, любой другой поток способен возобновить его выполнение с помощью метода Thread. Resume. </a:t>
            </a:r>
            <a:endParaRPr/>
          </a:p>
          <a:p>
            <a:pPr indent="0" lvl="0" marL="0" rtl="0" algn="l">
              <a:spcBef>
                <a:spcPts val="1600"/>
              </a:spcBef>
              <a:spcAft>
                <a:spcPts val="0"/>
              </a:spcAft>
              <a:buNone/>
            </a:pPr>
            <a:r>
              <a:rPr lang="ru"/>
              <a:t>Обратите внимание, что, когда один поток приостанавливает выполнение другого, первый поток не блокируется. Возврат управления после вызова происходит немедленно. </a:t>
            </a:r>
            <a:endParaRPr/>
          </a:p>
          <a:p>
            <a:pPr indent="0" lvl="0" marL="0" rtl="0" algn="l">
              <a:spcBef>
                <a:spcPts val="1600"/>
              </a:spcBef>
              <a:spcAft>
                <a:spcPts val="0"/>
              </a:spcAft>
              <a:buNone/>
            </a:pPr>
            <a:r>
              <a:rPr lang="ru"/>
              <a:t>Кроме того, единственный вызов Thread.Resume возобновит исполнение данного потока независимо от числа вызовов метода Thread.Suspend, выполненных ранее.</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24"/>
          <p:cNvSpPr txBox="1"/>
          <p:nvPr>
            <p:ph type="title"/>
          </p:nvPr>
        </p:nvSpPr>
        <p:spPr>
          <a:xfrm>
            <a:off x="1297500" y="195825"/>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Уничтожение потоков</a:t>
            </a:r>
            <a:endParaRPr/>
          </a:p>
        </p:txBody>
      </p:sp>
      <p:sp>
        <p:nvSpPr>
          <p:cNvPr id="201" name="Google Shape;201;p24"/>
          <p:cNvSpPr txBox="1"/>
          <p:nvPr>
            <p:ph idx="1" type="body"/>
          </p:nvPr>
        </p:nvSpPr>
        <p:spPr>
          <a:xfrm>
            <a:off x="1297500" y="884050"/>
            <a:ext cx="7038900" cy="359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Уничтожить поток можно вызовом метода Thread.Abort. </a:t>
            </a:r>
            <a:endParaRPr/>
          </a:p>
          <a:p>
            <a:pPr indent="0" lvl="0" marL="0" rtl="0" algn="l">
              <a:spcBef>
                <a:spcPts val="1600"/>
              </a:spcBef>
              <a:spcAft>
                <a:spcPts val="0"/>
              </a:spcAft>
              <a:buNone/>
            </a:pPr>
            <a:r>
              <a:rPr lang="ru"/>
              <a:t>Исполняющая среда насильно завершает выполнение потока, генерируя исключение ThreadAbortException.</a:t>
            </a:r>
            <a:endParaRPr/>
          </a:p>
          <a:p>
            <a:pPr indent="0" lvl="0" marL="0" rtl="0" algn="l">
              <a:spcBef>
                <a:spcPts val="1600"/>
              </a:spcBef>
              <a:spcAft>
                <a:spcPts val="0"/>
              </a:spcAft>
              <a:buNone/>
            </a:pPr>
            <a:r>
              <a:rPr lang="ru"/>
              <a:t> Даже если метод попытается уловить ThreadAbort-Exception, исполняющая среда этого не допустит. </a:t>
            </a:r>
            <a:endParaRPr/>
          </a:p>
          <a:p>
            <a:pPr indent="0" lvl="0" marL="0" rtl="0" algn="l">
              <a:spcBef>
                <a:spcPts val="1600"/>
              </a:spcBef>
              <a:spcAft>
                <a:spcPts val="0"/>
              </a:spcAft>
              <a:buNone/>
            </a:pPr>
            <a:r>
              <a:rPr lang="ru"/>
              <a:t>Однако она исполнит код из блока finally потока, выполнение которого прервано, если этот блок присутствует. </a:t>
            </a:r>
            <a:endParaRPr/>
          </a:p>
          <a:p>
            <a:pPr indent="0" lvl="0" marL="0" rtl="0" algn="l">
              <a:spcBef>
                <a:spcPts val="1600"/>
              </a:spcBef>
              <a:spcAft>
                <a:spcPts val="0"/>
              </a:spcAft>
              <a:buNone/>
            </a:pPr>
            <a:r>
              <a:rPr lang="ru"/>
              <a:t>Это проиллюстрировано следующим кодом. </a:t>
            </a:r>
            <a:endParaRPr/>
          </a:p>
          <a:p>
            <a:pPr indent="0" lvl="0" marL="0" rtl="0" algn="l">
              <a:spcBef>
                <a:spcPts val="1600"/>
              </a:spcBef>
              <a:spcAft>
                <a:spcPts val="0"/>
              </a:spcAft>
              <a:buNone/>
            </a:pPr>
            <a:r>
              <a:rPr lang="ru"/>
              <a:t>Выполнение метода Main приостанавливается на 2 секунды, чтобы дать исполняющей среде время для запуска рабочего потока. После запуска рабочий поток считает до десяти, останавливаясь после каждого отсчета на секунду. Когда выполнение метода Main возобновляется после двух секундной паузы, он прерывает выполнение рабочего потока. После этого исполняется блок finally.</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5" name="Shape 205"/>
        <p:cNvGrpSpPr/>
        <p:nvPr/>
      </p:nvGrpSpPr>
      <p:grpSpPr>
        <a:xfrm>
          <a:off x="0" y="0"/>
          <a:ext cx="0" cy="0"/>
          <a:chOff x="0" y="0"/>
          <a:chExt cx="0" cy="0"/>
        </a:xfrm>
      </p:grpSpPr>
      <p:sp>
        <p:nvSpPr>
          <p:cNvPr id="206" name="Google Shape;206;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using System;    using System.Threading;</a:t>
            </a:r>
            <a:endParaRPr/>
          </a:p>
          <a:p>
            <a:pPr indent="0" lvl="0" marL="0" rtl="0" algn="l">
              <a:spcBef>
                <a:spcPts val="1600"/>
              </a:spcBef>
              <a:spcAft>
                <a:spcPts val="0"/>
              </a:spcAft>
              <a:buNone/>
            </a:pPr>
            <a:r>
              <a:rPr lang="ru"/>
              <a:t>class ThreadAbortApp {</a:t>
            </a:r>
            <a:endParaRPr/>
          </a:p>
          <a:p>
            <a:pPr indent="0" lvl="0" marL="0" rtl="0" algn="l">
              <a:spcBef>
                <a:spcPts val="1600"/>
              </a:spcBef>
              <a:spcAft>
                <a:spcPts val="0"/>
              </a:spcAft>
              <a:buNone/>
            </a:pPr>
            <a:r>
              <a:rPr lang="ru"/>
              <a:t>	public static void WorkerThreadMethod() {</a:t>
            </a:r>
            <a:endParaRPr/>
          </a:p>
          <a:p>
            <a:pPr indent="0" lvl="0" marL="0" rtl="0" algn="l">
              <a:spcBef>
                <a:spcPts val="1600"/>
              </a:spcBef>
              <a:spcAft>
                <a:spcPts val="0"/>
              </a:spcAft>
              <a:buNone/>
            </a:pPr>
            <a:r>
              <a:rPr lang="ru"/>
              <a:t>		try { … }</a:t>
            </a:r>
            <a:endParaRPr/>
          </a:p>
          <a:p>
            <a:pPr indent="0" lvl="0" marL="0" rtl="0" algn="l">
              <a:spcBef>
                <a:spcPts val="1600"/>
              </a:spcBef>
              <a:spcAft>
                <a:spcPts val="0"/>
              </a:spcAft>
              <a:buNone/>
            </a:pPr>
            <a:r>
              <a:rPr lang="ru"/>
              <a:t>		catch(ThreadAbortException e){}</a:t>
            </a:r>
            <a:endParaRPr/>
          </a:p>
          <a:p>
            <a:pPr indent="0" lvl="0" marL="0" rtl="0" algn="l">
              <a:spcBef>
                <a:spcPts val="1600"/>
              </a:spcBef>
              <a:spcAft>
                <a:spcPts val="0"/>
              </a:spcAft>
              <a:buNone/>
            </a:pPr>
            <a:r>
              <a:rPr lang="ru"/>
              <a:t>		finally{</a:t>
            </a:r>
            <a:endParaRPr/>
          </a:p>
          <a:p>
            <a:pPr indent="0" lvl="0" marL="0" rtl="0" algn="l">
              <a:spcBef>
                <a:spcPts val="1600"/>
              </a:spcBef>
              <a:spcAft>
                <a:spcPts val="0"/>
              </a:spcAft>
              <a:buNone/>
            </a:pPr>
            <a:r>
              <a:rPr lang="ru"/>
              <a:t>			Console.WriteLine ("Worker thread -I can't catch the exception, but I can cleanup"); }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1" name="Shape 211"/>
        <p:cNvGrpSpPr/>
        <p:nvPr/>
      </p:nvGrpSpPr>
      <p:grpSpPr>
        <a:xfrm>
          <a:off x="0" y="0"/>
          <a:ext cx="0" cy="0"/>
          <a:chOff x="0" y="0"/>
          <a:chExt cx="0" cy="0"/>
        </a:xfrm>
      </p:grpSpPr>
      <p:sp>
        <p:nvSpPr>
          <p:cNvPr id="212" name="Google Shape;212;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try{ … }</a:t>
            </a:r>
            <a:endParaRPr/>
          </a:p>
        </p:txBody>
      </p:sp>
      <p:sp>
        <p:nvSpPr>
          <p:cNvPr id="213" name="Google Shape;213;p2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457200" lvl="0" marL="914400" rtl="0" algn="l">
              <a:spcBef>
                <a:spcPts val="0"/>
              </a:spcBef>
              <a:spcAft>
                <a:spcPts val="0"/>
              </a:spcAft>
              <a:buNone/>
            </a:pPr>
            <a:r>
              <a:rPr lang="ru"/>
              <a:t>Console.WrlteLine("Worker thread started");</a:t>
            </a:r>
            <a:endParaRPr/>
          </a:p>
          <a:p>
            <a:pPr indent="0" lvl="0" marL="0" rtl="0" algn="l">
              <a:spcBef>
                <a:spcPts val="1600"/>
              </a:spcBef>
              <a:spcAft>
                <a:spcPts val="0"/>
              </a:spcAft>
              <a:buNone/>
            </a:pPr>
            <a:r>
              <a:rPr lang="ru"/>
              <a:t>			Console.WriteLine("Worker thread - counting slowly to 10");</a:t>
            </a:r>
            <a:endParaRPr/>
          </a:p>
          <a:p>
            <a:pPr indent="0" lvl="0" marL="0" rtl="0" algn="l">
              <a:spcBef>
                <a:spcPts val="1600"/>
              </a:spcBef>
              <a:spcAft>
                <a:spcPts val="0"/>
              </a:spcAft>
              <a:buNone/>
            </a:pPr>
            <a:r>
              <a:rPr lang="ru"/>
              <a:t>			 for (int i = 0; i &lt; 10; i++) {</a:t>
            </a:r>
            <a:endParaRPr/>
          </a:p>
          <a:p>
            <a:pPr indent="0" lvl="0" marL="0" rtl="0" algn="l">
              <a:spcBef>
                <a:spcPts val="1600"/>
              </a:spcBef>
              <a:spcAft>
                <a:spcPts val="0"/>
              </a:spcAft>
              <a:buNone/>
            </a:pPr>
            <a:r>
              <a:rPr lang="ru"/>
              <a:t>				Thread. Sleep(1OOO)};</a:t>
            </a:r>
            <a:endParaRPr/>
          </a:p>
          <a:p>
            <a:pPr indent="0" lvl="0" marL="0" rtl="0" algn="l">
              <a:spcBef>
                <a:spcPts val="1600"/>
              </a:spcBef>
              <a:spcAft>
                <a:spcPts val="0"/>
              </a:spcAft>
              <a:buNone/>
            </a:pPr>
            <a:r>
              <a:rPr lang="ru"/>
              <a:t>			Console.Writer("{0}...", i); }</a:t>
            </a:r>
            <a:endParaRPr/>
          </a:p>
          <a:p>
            <a:pPr indent="0" lvl="0" marL="0" rtl="0" algn="l">
              <a:spcBef>
                <a:spcPts val="1600"/>
              </a:spcBef>
              <a:spcAft>
                <a:spcPts val="0"/>
              </a:spcAft>
              <a:buNone/>
            </a:pPr>
            <a:r>
              <a:rPr lang="ru"/>
              <a:t>			Console.WriteLine("Worker thread finished"); }</a:t>
            </a:r>
            <a:endParaRPr/>
          </a:p>
          <a:p>
            <a:pPr indent="0" lvl="0" marL="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main()</a:t>
            </a:r>
            <a:endParaRPr/>
          </a:p>
        </p:txBody>
      </p:sp>
      <p:sp>
        <p:nvSpPr>
          <p:cNvPr id="219" name="Google Shape;219;p27"/>
          <p:cNvSpPr txBox="1"/>
          <p:nvPr>
            <p:ph idx="1" type="body"/>
          </p:nvPr>
        </p:nvSpPr>
        <p:spPr>
          <a:xfrm>
            <a:off x="1297500" y="989600"/>
            <a:ext cx="7038900" cy="348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public static void Main() {</a:t>
            </a:r>
            <a:endParaRPr/>
          </a:p>
          <a:p>
            <a:pPr indent="0" lvl="0" marL="0" rtl="0" algn="l">
              <a:spcBef>
                <a:spcPts val="1600"/>
              </a:spcBef>
              <a:spcAft>
                <a:spcPts val="0"/>
              </a:spcAft>
              <a:buNone/>
            </a:pPr>
            <a:r>
              <a:rPr lang="ru"/>
              <a:t>ThreadStart worker = new ThreadStart(WorkerThreadMethod);</a:t>
            </a:r>
            <a:endParaRPr/>
          </a:p>
          <a:p>
            <a:pPr indent="0" lvl="0" marL="0" rtl="0" algn="l">
              <a:spcBef>
                <a:spcPts val="1600"/>
              </a:spcBef>
              <a:spcAft>
                <a:spcPts val="0"/>
              </a:spcAft>
              <a:buNone/>
            </a:pPr>
            <a:r>
              <a:rPr lang="ru"/>
              <a:t>Console.WriteLine("Main - Creating worker thread");</a:t>
            </a:r>
            <a:endParaRPr/>
          </a:p>
          <a:p>
            <a:pPr indent="0" lvl="0" marL="0" rtl="0" algn="l">
              <a:spcBef>
                <a:spcPts val="1600"/>
              </a:spcBef>
              <a:spcAft>
                <a:spcPts val="0"/>
              </a:spcAft>
              <a:buNone/>
            </a:pPr>
            <a:r>
              <a:rPr lang="ru"/>
              <a:t>Thread t = new Thread(worker); </a:t>
            </a:r>
            <a:endParaRPr/>
          </a:p>
          <a:p>
            <a:pPr indent="0" lvl="0" marL="0" rtl="0" algn="l">
              <a:spcBef>
                <a:spcPts val="1600"/>
              </a:spcBef>
              <a:spcAft>
                <a:spcPts val="0"/>
              </a:spcAft>
              <a:buNone/>
            </a:pPr>
            <a:r>
              <a:rPr lang="ru"/>
              <a:t>t.Start();</a:t>
            </a:r>
            <a:endParaRPr/>
          </a:p>
          <a:p>
            <a:pPr indent="0" lvl="0" marL="0" rtl="0" algn="l">
              <a:spcBef>
                <a:spcPts val="1600"/>
              </a:spcBef>
              <a:spcAft>
                <a:spcPts val="0"/>
              </a:spcAft>
              <a:buNone/>
            </a:pPr>
            <a:r>
              <a:rPr lang="ru"/>
              <a:t>// Даем время для запуска рабочего потока. Console.WriteLine("Main - Sleeping for 2 seconds"); </a:t>
            </a:r>
            <a:endParaRPr/>
          </a:p>
          <a:p>
            <a:pPr indent="0" lvl="0" marL="0" rtl="0" algn="l">
              <a:spcBef>
                <a:spcPts val="1600"/>
              </a:spcBef>
              <a:spcAft>
                <a:spcPts val="0"/>
              </a:spcAft>
              <a:buNone/>
            </a:pPr>
            <a:r>
              <a:rPr lang="ru"/>
              <a:t>Thread.Sleep(2000);</a:t>
            </a:r>
            <a:endParaRPr/>
          </a:p>
          <a:p>
            <a:pPr indent="0" lvl="0" marL="0" rtl="0" algn="l">
              <a:spcBef>
                <a:spcPts val="1600"/>
              </a:spcBef>
              <a:spcAft>
                <a:spcPts val="0"/>
              </a:spcAft>
              <a:buNone/>
            </a:pPr>
            <a:r>
              <a:rPr lang="ru"/>
              <a:t>Console.WriteLine("\nMain - Aborting worker thread"); </a:t>
            </a:r>
            <a:endParaRPr/>
          </a:p>
          <a:p>
            <a:pPr indent="0" lvl="0" marL="0" rtl="0" algn="l">
              <a:spcBef>
                <a:spcPts val="1600"/>
              </a:spcBef>
              <a:spcAft>
                <a:spcPts val="0"/>
              </a:spcAft>
              <a:buNone/>
            </a:pPr>
            <a:r>
              <a:rPr lang="ru"/>
              <a:t>t.Abort(); } }</a:t>
            </a:r>
            <a:endParaRPr/>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Результат</a:t>
            </a:r>
            <a:endParaRPr/>
          </a:p>
        </p:txBody>
      </p:sp>
      <p:sp>
        <p:nvSpPr>
          <p:cNvPr id="225" name="Google Shape;225;p2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Main - Creating worker thread</a:t>
            </a:r>
            <a:endParaRPr/>
          </a:p>
          <a:p>
            <a:pPr indent="0" lvl="0" marL="0" rtl="0" algn="l">
              <a:spcBef>
                <a:spcPts val="1600"/>
              </a:spcBef>
              <a:spcAft>
                <a:spcPts val="0"/>
              </a:spcAft>
              <a:buNone/>
            </a:pPr>
            <a:r>
              <a:rPr lang="ru"/>
              <a:t>Main - Sleeping for 2 seconds</a:t>
            </a:r>
            <a:endParaRPr/>
          </a:p>
          <a:p>
            <a:pPr indent="0" lvl="0" marL="0" rtl="0" algn="l">
              <a:spcBef>
                <a:spcPts val="1600"/>
              </a:spcBef>
              <a:spcAft>
                <a:spcPts val="0"/>
              </a:spcAft>
              <a:buNone/>
            </a:pPr>
            <a:r>
              <a:rPr lang="ru"/>
              <a:t>Worker thread started</a:t>
            </a:r>
            <a:endParaRPr/>
          </a:p>
          <a:p>
            <a:pPr indent="0" lvl="0" marL="0" rtl="0" algn="l">
              <a:spcBef>
                <a:spcPts val="1600"/>
              </a:spcBef>
              <a:spcAft>
                <a:spcPts val="0"/>
              </a:spcAft>
              <a:buNone/>
            </a:pPr>
            <a:r>
              <a:rPr lang="ru"/>
              <a:t>Worker thread - counting slowly to 10</a:t>
            </a:r>
            <a:endParaRPr/>
          </a:p>
          <a:p>
            <a:pPr indent="0" lvl="0" marL="0" rtl="0" algn="l">
              <a:spcBef>
                <a:spcPts val="1600"/>
              </a:spcBef>
              <a:spcAft>
                <a:spcPts val="0"/>
              </a:spcAft>
              <a:buNone/>
            </a:pPr>
            <a:r>
              <a:rPr lang="ru"/>
              <a:t>0...1...2...3...</a:t>
            </a:r>
            <a:endParaRPr/>
          </a:p>
          <a:p>
            <a:pPr indent="0" lvl="0" marL="0" rtl="0" algn="l">
              <a:spcBef>
                <a:spcPts val="1600"/>
              </a:spcBef>
              <a:spcAft>
                <a:spcPts val="0"/>
              </a:spcAft>
              <a:buNone/>
            </a:pPr>
            <a:r>
              <a:rPr lang="ru"/>
              <a:t>Main - Aborting worker thread</a:t>
            </a:r>
            <a:endParaRPr/>
          </a:p>
          <a:p>
            <a:pPr indent="0" lvl="0" marL="0" rtl="0" algn="l">
              <a:spcBef>
                <a:spcPts val="1600"/>
              </a:spcBef>
              <a:spcAft>
                <a:spcPts val="0"/>
              </a:spcAft>
              <a:buNone/>
            </a:pPr>
            <a:r>
              <a:rPr lang="ru"/>
              <a:t>Worker thread - I can't catch the exception, but I can cleanup</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Выводы</a:t>
            </a:r>
            <a:endParaRPr/>
          </a:p>
        </p:txBody>
      </p:sp>
      <p:sp>
        <p:nvSpPr>
          <p:cNvPr id="231" name="Google Shape;231;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При вызове метода Thread.Abort выполнение потока не может остановиться сразу. Исполняющая среда ожидает, пока поток не достигнет той точки, которая в документации названа "безопасной точкой" ("safe point"). </a:t>
            </a:r>
            <a:endParaRPr/>
          </a:p>
          <a:p>
            <a:pPr indent="0" lvl="0" marL="0" rtl="0" algn="l">
              <a:spcBef>
                <a:spcPts val="1600"/>
              </a:spcBef>
              <a:spcAft>
                <a:spcPts val="0"/>
              </a:spcAft>
              <a:buNone/>
            </a:pPr>
            <a:r>
              <a:rPr lang="ru"/>
              <a:t>Поэтому, если ваша программа зависит от некоторых действий, которые происходят после прерывания потока, и вам надо быть уверенными в том, что поток остановлен, вы можете использовать метод Thread. Join.  Это синхронный вызов, т. е. он не вернет управление, пока поток не будет остановлен. </a:t>
            </a:r>
            <a:endParaRPr/>
          </a:p>
          <a:p>
            <a:pPr indent="0" lvl="0" marL="0" rtl="0" algn="l">
              <a:spcBef>
                <a:spcPts val="1600"/>
              </a:spcBef>
              <a:spcAft>
                <a:spcPts val="0"/>
              </a:spcAft>
              <a:buNone/>
            </a:pPr>
            <a:r>
              <a:rPr lang="ru"/>
              <a:t>После прерывания поток нельзя перезапустить. В этом случае, несмотря на то, что у вас есть действительный объект Thread, от него нет никакой пользы в плане выполнения кода.</a:t>
            </a:r>
            <a:endParaRPr/>
          </a:p>
          <a:p>
            <a:pPr indent="0" lvl="0" marL="0" rtl="0" algn="l">
              <a:spcBef>
                <a:spcPts val="1600"/>
              </a:spcBef>
              <a:spcAft>
                <a:spcPts val="16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Google Shape;236;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Планирование потоков</a:t>
            </a:r>
            <a:endParaRPr/>
          </a:p>
        </p:txBody>
      </p:sp>
      <p:sp>
        <p:nvSpPr>
          <p:cNvPr id="237" name="Google Shape;237;p3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У каждого потока есть приоритет, указывающий процессору, как должно планироваться выполнение этого потока по отношению к другим потокам системы. </a:t>
            </a:r>
            <a:endParaRPr/>
          </a:p>
          <a:p>
            <a:pPr indent="0" lvl="0" marL="0" rtl="0" algn="l">
              <a:spcBef>
                <a:spcPts val="1600"/>
              </a:spcBef>
              <a:spcAft>
                <a:spcPts val="0"/>
              </a:spcAft>
              <a:buNone/>
            </a:pPr>
            <a:r>
              <a:rPr lang="ru"/>
              <a:t>Для потоков, создаваемых в период выполнения, уровень приоритета по умолчанию равен Normal. Потоки, созданные не в период выполнения, сохраняют свой исходный приоритет. Для просмотра и установки этого значения служит свойство Thread.Priority.</a:t>
            </a:r>
            <a:endParaRPr/>
          </a:p>
          <a:p>
            <a:pPr indent="0" lvl="0" marL="0" rtl="0" algn="l">
              <a:spcBef>
                <a:spcPts val="1600"/>
              </a:spcBef>
              <a:spcAft>
                <a:spcPts val="0"/>
              </a:spcAft>
              <a:buNone/>
            </a:pPr>
            <a:r>
              <a:rPr lang="ru"/>
              <a:t> Установщик свойства Thread.Priority принимает аргумент типа Thread. ThreadPriority, который представляет собой enum, определяющий значения Highest, AboveNormal, Normal, BelowNormal и Lowest.</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Планирование потоков, пример</a:t>
            </a:r>
            <a:endParaRPr/>
          </a:p>
        </p:txBody>
      </p:sp>
      <p:sp>
        <p:nvSpPr>
          <p:cNvPr id="243" name="Google Shape;243;p3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Чтобы проиллюстрировать, как приоритеты могут влиять даже на простейший код, взгляните на следующий пример, где один рабочий поток считает от 1 до 10, а другой — от 11 до 20. </a:t>
            </a:r>
            <a:endParaRPr/>
          </a:p>
          <a:p>
            <a:pPr indent="0" lvl="0" marL="0" rtl="0" algn="l">
              <a:spcBef>
                <a:spcPts val="1600"/>
              </a:spcBef>
              <a:spcAft>
                <a:spcPts val="0"/>
              </a:spcAft>
              <a:buNone/>
            </a:pPr>
            <a:r>
              <a:rPr lang="ru"/>
              <a:t>Обратите внимание на вложенный цикл в каждом методе WorkerThread. Циклы используются здесь для представления действий, которые выполняло бы настоящее приложение. </a:t>
            </a:r>
            <a:endParaRPr/>
          </a:p>
          <a:p>
            <a:pPr indent="0" lvl="0" marL="0" rtl="0" algn="l">
              <a:spcBef>
                <a:spcPts val="1600"/>
              </a:spcBef>
              <a:spcAft>
                <a:spcPts val="0"/>
              </a:spcAft>
              <a:buNone/>
            </a:pPr>
            <a:r>
              <a:rPr lang="ru"/>
              <a:t>Поскольку на самом деле эти методы ничего не делают, то без циклов каждый поток завершил бы свою работу в течение первого же своего кванта времени!</a:t>
            </a:r>
            <a:endParaRPr/>
          </a:p>
          <a:p>
            <a:pPr indent="0" lvl="0" marL="0" rtl="0" algn="l">
              <a:spcBef>
                <a:spcPts val="1600"/>
              </a:spcBef>
              <a:spcAft>
                <a:spcPts val="0"/>
              </a:spcAft>
              <a:buNone/>
            </a:pPr>
            <a:r>
              <a:rPr lang="ru"/>
              <a:t>Пример в файле</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Google Shape;248;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Изменение приоритета</a:t>
            </a:r>
            <a:endParaRPr/>
          </a:p>
        </p:txBody>
      </p:sp>
      <p:sp>
        <p:nvSpPr>
          <p:cNvPr id="249" name="Google Shape;249;p3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А теперь изменим свойство Priority каждого потока, как это сделано в следующем коде. Наибольший приоритет из возможных первому потоку и наименьший — второму. Результаты, как вы увидите, будут во многом отличаться от предыдущих</a:t>
            </a:r>
            <a:endParaRPr/>
          </a:p>
          <a:p>
            <a:pPr indent="0" lvl="0" marL="0" rtl="0" algn="l">
              <a:spcBef>
                <a:spcPts val="1600"/>
              </a:spcBef>
              <a:spcAft>
                <a:spcPts val="0"/>
              </a:spcAft>
              <a:buNone/>
            </a:pPr>
            <a:r>
              <a:rPr lang="ru"/>
              <a:t>t1.Priority = ThreadPriority.Highest;      t2.Priority = ThreadPriority.Lowest;</a:t>
            </a:r>
            <a:endParaRPr/>
          </a:p>
          <a:p>
            <a:pPr indent="0" lvl="0" marL="0" rtl="0" algn="l">
              <a:spcBef>
                <a:spcPts val="1600"/>
              </a:spcBef>
              <a:spcAft>
                <a:spcPts val="1600"/>
              </a:spcAft>
              <a:buNone/>
            </a:pPr>
            <a:r>
              <a:rPr lang="ru"/>
              <a:t>У второго потока  установлен такой низкий приоритет, что он не сможет выполнить ни одного цикла, пока первый поток не закончит свою работу.</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Выводы</a:t>
            </a:r>
            <a:endParaRPr/>
          </a:p>
        </p:txBody>
      </p:sp>
      <p:sp>
        <p:nvSpPr>
          <p:cNvPr id="255" name="Google Shape;255;p3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Когда вы указываете процессору приоритет, который вы хотите установить для данного потока, то его значение в конечном счете используется ОС как часть алгоритма планирования распределения процессорного времени.</a:t>
            </a:r>
            <a:endParaRPr/>
          </a:p>
          <a:p>
            <a:pPr indent="0" lvl="0" marL="0" rtl="0" algn="l">
              <a:spcBef>
                <a:spcPts val="1600"/>
              </a:spcBef>
              <a:spcAft>
                <a:spcPts val="0"/>
              </a:spcAft>
              <a:buNone/>
            </a:pPr>
            <a:r>
              <a:rPr lang="ru"/>
              <a:t>Допустим, у вас есть приложение с графическим интерфейсом и пара рабочих потоков, асинхронно выполняющих второстепенную работу. Если установить слишком высокий приоритет рабочих потоков, работа пользовательского интерфейса может замедлиться, поскольку главный поток, в котором выполняется приложение с графическим интерфейсом, получает меньше циклов процессора. </a:t>
            </a:r>
            <a:endParaRPr/>
          </a:p>
          <a:p>
            <a:pPr indent="0" lvl="0" marL="0" rtl="0" algn="l">
              <a:spcBef>
                <a:spcPts val="1600"/>
              </a:spcBef>
              <a:spcAft>
                <a:spcPts val="0"/>
              </a:spcAft>
              <a:buNone/>
            </a:pPr>
            <a:r>
              <a:rPr lang="ru"/>
              <a:t>Если у вас нет особой причины планировать поток с высоким приоритетом, лучше всего оставить у потока приоритет по умолчанию — Normal.</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Безопасность и синхронизация потоков</a:t>
            </a:r>
            <a:endParaRPr/>
          </a:p>
        </p:txBody>
      </p:sp>
      <p:sp>
        <p:nvSpPr>
          <p:cNvPr id="261" name="Google Shape;261;p3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ru"/>
              <a:t>Синхронизация позволяет задавать критические секции (critical sections) кода, в которые в каждый отдельный момент может входить только один поток, гарантируя, что любые временные недействительные состояния вашего объекта будут невидимы его клиентам.</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5" name="Shape 265"/>
        <p:cNvGrpSpPr/>
        <p:nvPr/>
      </p:nvGrpSpPr>
      <p:grpSpPr>
        <a:xfrm>
          <a:off x="0" y="0"/>
          <a:ext cx="0" cy="0"/>
          <a:chOff x="0" y="0"/>
          <a:chExt cx="0" cy="0"/>
        </a:xfrm>
      </p:grpSpPr>
      <p:sp>
        <p:nvSpPr>
          <p:cNvPr id="266" name="Google Shape;266;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 Защита кода с помощью класса Monitor</a:t>
            </a:r>
            <a:endParaRPr/>
          </a:p>
        </p:txBody>
      </p:sp>
      <p:sp>
        <p:nvSpPr>
          <p:cNvPr id="267" name="Google Shape;267;p3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Класс System. Monitor позволяет упорядочить обращения к блокам кода с помощью блокировки и освобождения. </a:t>
            </a:r>
            <a:endParaRPr/>
          </a:p>
          <a:p>
            <a:pPr indent="0" lvl="0" marL="0" rtl="0" algn="l">
              <a:spcBef>
                <a:spcPts val="1600"/>
              </a:spcBef>
              <a:spcAft>
                <a:spcPts val="0"/>
              </a:spcAft>
              <a:buNone/>
            </a:pPr>
            <a:r>
              <a:rPr lang="ru"/>
              <a:t>Например, ваш метод, обновляющий БД, не может выполняться двумя и более потоками одновременно. Если выполняемая им работа требует особенно много времени и у вас есть несколько потоков, любой из которых может его вызывать, может возникнуть серьезная проблема. Здесь в дело вступает класс Monitor. Взгляните на пример синхронизации. </a:t>
            </a:r>
            <a:endParaRPr/>
          </a:p>
          <a:p>
            <a:pPr indent="0" lvl="0" marL="0" rtl="0" algn="l">
              <a:spcBef>
                <a:spcPts val="1600"/>
              </a:spcBef>
              <a:spcAft>
                <a:spcPts val="0"/>
              </a:spcAft>
              <a:buNone/>
            </a:pPr>
            <a:r>
              <a:rPr lang="ru"/>
              <a:t>Здесь у нас два потока, каждый из которых будет вызывать метод Database.SaveData: using System; using System.Threading;</a:t>
            </a:r>
            <a:endParaRPr/>
          </a:p>
          <a:p>
            <a:pPr indent="0" lvl="0" marL="0" rtl="0" algn="l">
              <a:spcBef>
                <a:spcPts val="1600"/>
              </a:spcBef>
              <a:spcAft>
                <a:spcPts val="1600"/>
              </a:spcAft>
              <a:buNone/>
            </a:pPr>
            <a:r>
              <a:rPr lang="ru"/>
              <a:t>Пример в файле2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1" name="Shape 271"/>
        <p:cNvGrpSpPr/>
        <p:nvPr/>
      </p:nvGrpSpPr>
      <p:grpSpPr>
        <a:xfrm>
          <a:off x="0" y="0"/>
          <a:ext cx="0" cy="0"/>
          <a:chOff x="0" y="0"/>
          <a:chExt cx="0" cy="0"/>
        </a:xfrm>
      </p:grpSpPr>
      <p:sp>
        <p:nvSpPr>
          <p:cNvPr id="272" name="Google Shape;272;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Защита кода с помощью класса Monitor</a:t>
            </a:r>
            <a:endParaRPr/>
          </a:p>
        </p:txBody>
      </p:sp>
      <p:sp>
        <p:nvSpPr>
          <p:cNvPr id="273" name="Google Shape;273;p3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Для включения в этот пример класса Monitor мы воспользуемся двумя его </a:t>
            </a:r>
            <a:endParaRPr/>
          </a:p>
          <a:p>
            <a:pPr indent="0" lvl="0" marL="0" rtl="0" algn="l">
              <a:spcBef>
                <a:spcPts val="1600"/>
              </a:spcBef>
              <a:spcAft>
                <a:spcPts val="0"/>
              </a:spcAft>
              <a:buNone/>
            </a:pPr>
            <a:r>
              <a:rPr lang="ru"/>
              <a:t>статическими методами. </a:t>
            </a:r>
            <a:endParaRPr/>
          </a:p>
          <a:p>
            <a:pPr indent="0" lvl="0" marL="0" rtl="0" algn="l">
              <a:spcBef>
                <a:spcPts val="1600"/>
              </a:spcBef>
              <a:spcAft>
                <a:spcPts val="0"/>
              </a:spcAft>
              <a:buNone/>
            </a:pPr>
            <a:r>
              <a:rPr lang="ru"/>
              <a:t>Первый —</a:t>
            </a:r>
            <a:r>
              <a:rPr lang="ru"/>
              <a:t>Monitor.</a:t>
            </a:r>
            <a:r>
              <a:rPr lang="ru"/>
              <a:t> Enter — во время исполнения пытается получить блокировку монитора для объекта. Если у другого потока уже есть эта блокировка, метод блокируется до тех пор, пока блокировка не будет освобождена. Заметьте: здесь не выполняется неявная операция упаковки, поэтому для этого метода вы можете предоставлять только ссылочные типы. </a:t>
            </a:r>
            <a:endParaRPr/>
          </a:p>
          <a:p>
            <a:pPr indent="0" lvl="0" marL="0" rtl="0" algn="l">
              <a:spcBef>
                <a:spcPts val="1600"/>
              </a:spcBef>
              <a:spcAft>
                <a:spcPts val="0"/>
              </a:spcAft>
              <a:buNone/>
            </a:pPr>
            <a:r>
              <a:rPr lang="ru"/>
              <a:t>Затем вызывается метод Monitor.Exit, чтобы освободить блокировку.</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7" name="Shape 277"/>
        <p:cNvGrpSpPr/>
        <p:nvPr/>
      </p:nvGrpSpPr>
      <p:grpSpPr>
        <a:xfrm>
          <a:off x="0" y="0"/>
          <a:ext cx="0" cy="0"/>
          <a:chOff x="0" y="0"/>
          <a:chExt cx="0" cy="0"/>
        </a:xfrm>
      </p:grpSpPr>
      <p:sp>
        <p:nvSpPr>
          <p:cNvPr id="278" name="Google Shape;278;p3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Применение блокировок монитора с оператором С# lock</a:t>
            </a:r>
            <a:endParaRPr/>
          </a:p>
        </p:txBody>
      </p:sp>
      <p:sp>
        <p:nvSpPr>
          <p:cNvPr id="279" name="Google Shape;279;p3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Оператор С# lock не поддерживает полный набор функций класса Monitor, но все же позволяет получать и освобождать блокировку монитора. </a:t>
            </a:r>
            <a:endParaRPr/>
          </a:p>
          <a:p>
            <a:pPr indent="0" lvl="0" marL="0" rtl="0" algn="l">
              <a:spcBef>
                <a:spcPts val="1600"/>
              </a:spcBef>
              <a:spcAft>
                <a:spcPts val="0"/>
              </a:spcAft>
              <a:buNone/>
            </a:pPr>
            <a:r>
              <a:rPr lang="ru"/>
              <a:t>Чтобы задействовать оператор lock, укажите его в фигурных скобках вместе с упорядочиваемым кодом. </a:t>
            </a:r>
            <a:endParaRPr/>
          </a:p>
          <a:p>
            <a:pPr indent="0" lvl="0" marL="0" rtl="0" algn="l">
              <a:spcBef>
                <a:spcPts val="1600"/>
              </a:spcBef>
              <a:spcAft>
                <a:spcPts val="0"/>
              </a:spcAft>
              <a:buNone/>
            </a:pPr>
            <a:r>
              <a:rPr lang="ru"/>
              <a:t>Начальная и конечная точки защищаемого кода указываются фигурными скобками, поэтому нет нужды использовать оператор unlock</a:t>
            </a:r>
            <a:endParaRPr/>
          </a:p>
          <a:p>
            <a:pPr indent="0" lvl="0" marL="0" rtl="0" algn="l">
              <a:spcBef>
                <a:spcPts val="1600"/>
              </a:spcBef>
              <a:spcAft>
                <a:spcPts val="16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3" name="Shape 283"/>
        <p:cNvGrpSpPr/>
        <p:nvPr/>
      </p:nvGrpSpPr>
      <p:grpSpPr>
        <a:xfrm>
          <a:off x="0" y="0"/>
          <a:ext cx="0" cy="0"/>
          <a:chOff x="0" y="0"/>
          <a:chExt cx="0" cy="0"/>
        </a:xfrm>
      </p:grpSpPr>
      <p:sp>
        <p:nvSpPr>
          <p:cNvPr id="284" name="Google Shape;284;p3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Синхронизация кода с помощью класса Mutex</a:t>
            </a:r>
            <a:endParaRPr/>
          </a:p>
        </p:txBody>
      </p:sp>
      <p:sp>
        <p:nvSpPr>
          <p:cNvPr id="285" name="Google Shape;285;p3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Синхронизация кода с Класс Mutex, определенный в пространстве имен System. Threading, — это представление примитива системы Win32 с тем же именем для периода выполнения.</a:t>
            </a:r>
            <a:endParaRPr/>
          </a:p>
          <a:p>
            <a:pPr indent="0" lvl="0" marL="0" rtl="0" algn="l">
              <a:spcBef>
                <a:spcPts val="1600"/>
              </a:spcBef>
              <a:spcAft>
                <a:spcPts val="0"/>
              </a:spcAft>
              <a:buNone/>
            </a:pPr>
            <a:r>
              <a:rPr lang="ru"/>
              <a:t> Вы можете использовать мыотекс для упорядочивания обращений к коду так же, как блокировку монитора, но мьютексы намного медленнее из-за своей универсальности. Термин мыотекс (mutex) происходит от фразы mutually exclusive (взаимно исключающий), и поскольку только один поток может получить блокировку монитора для данного объекта в любой момент времени, только один поток в любой момент времени может получить данный мьютекс с помощью класса Mutex</a:t>
            </a:r>
            <a:endParaRPr/>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Итоги</a:t>
            </a:r>
            <a:endParaRPr/>
          </a:p>
        </p:txBody>
      </p:sp>
      <p:sp>
        <p:nvSpPr>
          <p:cNvPr id="291" name="Google Shape;291;p39"/>
          <p:cNvSpPr txBox="1"/>
          <p:nvPr>
            <p:ph idx="1" type="body"/>
          </p:nvPr>
        </p:nvSpPr>
        <p:spPr>
          <a:xfrm>
            <a:off x="1297500" y="1253500"/>
            <a:ext cx="7038900" cy="322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Многопоточность позволяет приложениям разделять задачи и решать независимо каждую из них, максимально эффективно используя процессорное время. </a:t>
            </a:r>
            <a:endParaRPr/>
          </a:p>
          <a:p>
            <a:pPr indent="0" lvl="0" marL="0" rtl="0" algn="l">
              <a:spcBef>
                <a:spcPts val="1600"/>
              </a:spcBef>
              <a:spcAft>
                <a:spcPts val="0"/>
              </a:spcAft>
              <a:buNone/>
            </a:pPr>
            <a:r>
              <a:rPr lang="ru"/>
              <a:t>Однако многопоточность является верным выбором не всегда и порой может замедлить работу приложения. </a:t>
            </a:r>
            <a:endParaRPr/>
          </a:p>
          <a:p>
            <a:pPr indent="0" lvl="0" marL="0" rtl="0" algn="l">
              <a:spcBef>
                <a:spcPts val="1600"/>
              </a:spcBef>
              <a:spcAft>
                <a:spcPts val="0"/>
              </a:spcAft>
              <a:buNone/>
            </a:pPr>
            <a:r>
              <a:rPr lang="ru"/>
              <a:t>Создание и управление потоками на С# осуществляется посредством класса System. Threading. Thread. Безопасность потоков является важным понятием, связанным с созданием и использованием потоков. </a:t>
            </a:r>
            <a:endParaRPr/>
          </a:p>
          <a:p>
            <a:pPr indent="0" lvl="0" marL="0" rtl="0" algn="l">
              <a:spcBef>
                <a:spcPts val="1600"/>
              </a:spcBef>
              <a:spcAft>
                <a:spcPts val="0"/>
              </a:spcAft>
              <a:buNone/>
            </a:pPr>
            <a:r>
              <a:rPr lang="ru"/>
              <a:t>Безопасность потоков означает, что члены объекта всегда поддерживаются в действительном состоянии при одновременном использовании несколькими потоками. </a:t>
            </a:r>
            <a:endParaRPr/>
          </a:p>
          <a:p>
            <a:pPr indent="0" lvl="0" marL="0" rtl="0" algn="l">
              <a:spcBef>
                <a:spcPts val="1600"/>
              </a:spcBef>
              <a:spcAft>
                <a:spcPts val="0"/>
              </a:spcAft>
              <a:buNone/>
            </a:pPr>
            <a:r>
              <a:rPr lang="ru"/>
              <a:t>Важно, чтобы наряду с изучением синтаксиса многопоточности вы также поняли, когда ее применять, а именно: для повышения параллелизма, упрощения структуры и оптимального использования процессорного времени.</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