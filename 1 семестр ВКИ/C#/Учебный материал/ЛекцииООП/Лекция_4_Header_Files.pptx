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Default Extension="fntdata" ContentType="application/x-fontdata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sldIdLst>
    <p:sldId id="256" r:id="rId2"/>
    <p:sldId id="266" r:id="rId3"/>
    <p:sldId id="267" r:id="rId4"/>
    <p:sldId id="257" r:id="rId5"/>
    <p:sldId id="258" r:id="rId6"/>
    <p:sldId id="265" r:id="rId7"/>
    <p:sldId id="268" r:id="rId8"/>
    <p:sldId id="261" r:id="rId9"/>
    <p:sldId id="270" r:id="rId10"/>
    <p:sldId id="259" r:id="rId11"/>
    <p:sldId id="260" r:id="rId12"/>
    <p:sldId id="264" r:id="rId13"/>
    <p:sldId id="269" r:id="rId14"/>
    <p:sldId id="263" r:id="rId15"/>
  </p:sldIdLst>
  <p:sldSz cx="9144000" cy="6858000" type="screen4x3"/>
  <p:notesSz cx="6858000" cy="9144000"/>
  <p:embeddedFontLst>
    <p:embeddedFont>
      <p:font typeface="Calibri" pitchFamily="34" charset="0"/>
      <p:regular r:id="rId16"/>
      <p:bold r:id="rId17"/>
      <p:italic r:id="rId18"/>
      <p:boldItalic r:id="rId19"/>
    </p:embeddedFont>
  </p:embeddedFontLst>
  <p:defaultTextStyle>
    <a:defPPr>
      <a:defRPr lang="ru-RU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110" d="100"/>
          <a:sy n="110" d="100"/>
        </p:scale>
        <p:origin x="-1644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15A4B09-73C1-4C22-8103-B92F289774C7}" type="datetimeFigureOut">
              <a:rPr lang="ru-RU"/>
              <a:pPr>
                <a:defRPr/>
              </a:pPr>
              <a:t>12.04.2017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0FEF0FA-B85D-4862-B184-CAECF88D452D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41964777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CA2BC43-877E-4F9E-90F5-0B5343F66A99}" type="datetimeFigureOut">
              <a:rPr lang="ru-RU"/>
              <a:pPr>
                <a:defRPr/>
              </a:pPr>
              <a:t>12.04.2017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0641421-5CC9-4598-9685-F8F4BD5470B9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38603654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7E1F33A-96F9-4664-93FF-1E204235F006}" type="datetimeFigureOut">
              <a:rPr lang="ru-RU"/>
              <a:pPr>
                <a:defRPr/>
              </a:pPr>
              <a:t>12.04.2017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5E80AAE-CC64-4134-A95E-360CD11DBDAF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2903442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973185-C816-40B8-BC25-AB42FE386BA4}" type="datetimeFigureOut">
              <a:rPr lang="ru-RU"/>
              <a:pPr>
                <a:defRPr/>
              </a:pPr>
              <a:t>12.04.2017</a:t>
            </a:fld>
            <a:endParaRPr lang="ru-RU"/>
          </a:p>
        </p:txBody>
      </p:sp>
      <p:sp>
        <p:nvSpPr>
          <p:cNvPr id="6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80EA9A1-1EE0-44BA-B6EF-BCBE0F868D1D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42084802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B63A721-F75C-4BCD-90E9-4002E65AF73D}" type="datetimeFigureOut">
              <a:rPr lang="ru-RU"/>
              <a:pPr>
                <a:defRPr/>
              </a:pPr>
              <a:t>12.04.2017</a:t>
            </a:fld>
            <a:endParaRPr lang="ru-RU"/>
          </a:p>
        </p:txBody>
      </p:sp>
      <p:sp>
        <p:nvSpPr>
          <p:cNvPr id="8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9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998DB5-B560-4D48-BCE0-2EEBE81A44AD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1003032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D8448E3-78CE-42D7-9F8F-E3934538573C}" type="datetimeFigureOut">
              <a:rPr lang="ru-RU"/>
              <a:pPr>
                <a:defRPr/>
              </a:pPr>
              <a:t>12.04.2017</a:t>
            </a:fld>
            <a:endParaRPr lang="ru-RU"/>
          </a:p>
        </p:txBody>
      </p:sp>
      <p:sp>
        <p:nvSpPr>
          <p:cNvPr id="4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2918E09-CFFD-4806-A834-0BD09588BB87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7209843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74251B2-9607-42B3-BC2C-92F29F2F9468}" type="datetimeFigureOut">
              <a:rPr lang="ru-RU"/>
              <a:pPr>
                <a:defRPr/>
              </a:pPr>
              <a:t>12.04.2017</a:t>
            </a:fld>
            <a:endParaRPr lang="ru-RU"/>
          </a:p>
        </p:txBody>
      </p:sp>
      <p:sp>
        <p:nvSpPr>
          <p:cNvPr id="3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4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48543EE-8187-4C12-842C-226724ABF34F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2620452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EFB5783-6253-4614-B4EB-E0AE3CCEE5C9}" type="datetimeFigureOut">
              <a:rPr lang="ru-RU"/>
              <a:pPr>
                <a:defRPr/>
              </a:pPr>
              <a:t>12.04.2017</a:t>
            </a:fld>
            <a:endParaRPr lang="ru-RU"/>
          </a:p>
        </p:txBody>
      </p:sp>
      <p:sp>
        <p:nvSpPr>
          <p:cNvPr id="6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FAD687-C1F0-4E65-B7D5-B06E751C966B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6552570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ru-RU" noProof="0" smtClean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C52405-E875-4419-AAB7-96E25856C2EE}" type="datetimeFigureOut">
              <a:rPr lang="ru-RU"/>
              <a:pPr>
                <a:defRPr/>
              </a:pPr>
              <a:t>12.04.2017</a:t>
            </a:fld>
            <a:endParaRPr lang="ru-RU"/>
          </a:p>
        </p:txBody>
      </p:sp>
      <p:sp>
        <p:nvSpPr>
          <p:cNvPr id="6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EF512E-E056-401D-9F67-E1EEC9FF2EB1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11653773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03F90FF-D96C-427B-864C-53E1F1163E67}" type="datetimeFigureOut">
              <a:rPr lang="ru-RU"/>
              <a:pPr>
                <a:defRPr/>
              </a:pPr>
              <a:t>12.04.2017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8BA5CED-E6DC-4D34-ACDC-F273308D1443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6964381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C7B68F6-3B60-4734-9FAE-EE3797D142FC}" type="datetimeFigureOut">
              <a:rPr lang="ru-RU"/>
              <a:pPr>
                <a:defRPr/>
              </a:pPr>
              <a:t>12.04.2017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32E5796-01B7-4F59-9ABA-48688B1FF3E1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3907093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Заголовок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ru-RU" altLang="ru-RU" smtClean="0"/>
              <a:t>Образец заголовка</a:t>
            </a:r>
          </a:p>
        </p:txBody>
      </p:sp>
      <p:sp>
        <p:nvSpPr>
          <p:cNvPr id="1027" name="Текст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 altLang="ru-RU" smtClean="0"/>
              <a:t>Образец текста</a:t>
            </a:r>
          </a:p>
          <a:p>
            <a:pPr lvl="1"/>
            <a:r>
              <a:rPr lang="ru-RU" altLang="ru-RU" smtClean="0"/>
              <a:t>Второй уровень</a:t>
            </a:r>
          </a:p>
          <a:p>
            <a:pPr lvl="2"/>
            <a:r>
              <a:rPr lang="ru-RU" altLang="ru-RU" smtClean="0"/>
              <a:t>Третий уровень</a:t>
            </a:r>
          </a:p>
          <a:p>
            <a:pPr lvl="3"/>
            <a:r>
              <a:rPr lang="ru-RU" altLang="ru-RU" smtClean="0"/>
              <a:t>Четвертый уровень</a:t>
            </a:r>
          </a:p>
          <a:p>
            <a:pPr lvl="4"/>
            <a:r>
              <a:rPr lang="ru-RU" altLang="ru-RU" smtClean="0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9CEB89FA-FE1C-4267-9EF5-FE1100F93C3E}" type="datetimeFigureOut">
              <a:rPr lang="ru-RU"/>
              <a:pPr>
                <a:defRPr/>
              </a:pPr>
              <a:t>12.04.2017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2566E80A-7CAE-4AD8-A2A3-46A7A431402B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 txBox="1">
            <a:spLocks/>
          </p:cNvSpPr>
          <p:nvPr/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altLang="ru-RU" b="1" dirty="0" smtClean="0">
                <a:solidFill>
                  <a:schemeClr val="accent1">
                    <a:lumMod val="75000"/>
                  </a:schemeClr>
                </a:solidFill>
              </a:rPr>
              <a:t>Модульность в С++</a:t>
            </a:r>
          </a:p>
          <a:p>
            <a:pPr fontAlgn="auto">
              <a:spcAft>
                <a:spcPts val="0"/>
              </a:spcAft>
              <a:defRPr/>
            </a:pPr>
            <a:r>
              <a:rPr lang="ru-RU" sz="2800" b="1" dirty="0" smtClean="0">
                <a:solidFill>
                  <a:schemeClr val="accent1">
                    <a:lumMod val="75000"/>
                  </a:schemeClr>
                </a:solidFill>
              </a:rPr>
              <a:t>Лекция </a:t>
            </a:r>
            <a:r>
              <a:rPr lang="en-US" sz="2800" b="1" smtClean="0">
                <a:solidFill>
                  <a:schemeClr val="accent1">
                    <a:lumMod val="75000"/>
                  </a:schemeClr>
                </a:solidFill>
              </a:rPr>
              <a:t>4</a:t>
            </a:r>
            <a:endParaRPr lang="ru-RU" sz="28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5" name="Подзаголовок 2"/>
          <p:cNvSpPr txBox="1">
            <a:spLocks/>
          </p:cNvSpPr>
          <p:nvPr/>
        </p:nvSpPr>
        <p:spPr>
          <a:xfrm>
            <a:off x="1547813" y="4365625"/>
            <a:ext cx="6400800" cy="141446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fontAlgn="auto">
              <a:spcAft>
                <a:spcPts val="0"/>
              </a:spcAft>
              <a:defRPr/>
            </a:pPr>
            <a:r>
              <a:rPr lang="ru-RU" sz="2000" smtClean="0">
                <a:solidFill>
                  <a:schemeClr val="accent1">
                    <a:lumMod val="75000"/>
                  </a:schemeClr>
                </a:solidFill>
              </a:rPr>
              <a:t>доцент</a:t>
            </a:r>
            <a:endParaRPr lang="ru-RU" sz="2000" dirty="0" smtClean="0">
              <a:solidFill>
                <a:schemeClr val="accent1">
                  <a:lumMod val="75000"/>
                </a:schemeClr>
              </a:solidFill>
            </a:endParaRPr>
          </a:p>
          <a:p>
            <a:pPr algn="r" fontAlgn="auto">
              <a:spcAft>
                <a:spcPts val="0"/>
              </a:spcAft>
              <a:defRPr/>
            </a:pPr>
            <a:r>
              <a:rPr lang="ru-RU" sz="2000" dirty="0" smtClean="0">
                <a:solidFill>
                  <a:schemeClr val="accent1">
                    <a:lumMod val="75000"/>
                  </a:schemeClr>
                </a:solidFill>
              </a:rPr>
              <a:t>Высшего колледжа информатики НГУ </a:t>
            </a:r>
          </a:p>
          <a:p>
            <a:pPr algn="r" fontAlgn="auto">
              <a:spcAft>
                <a:spcPts val="0"/>
              </a:spcAft>
              <a:defRPr/>
            </a:pPr>
            <a:r>
              <a:rPr lang="ru-RU" sz="2000" dirty="0" smtClean="0">
                <a:solidFill>
                  <a:schemeClr val="accent1">
                    <a:lumMod val="75000"/>
                  </a:schemeClr>
                </a:solidFill>
              </a:rPr>
              <a:t>Наталия Викторовна </a:t>
            </a:r>
            <a:r>
              <a:rPr lang="ru-RU" sz="2000" dirty="0" err="1" smtClean="0">
                <a:solidFill>
                  <a:schemeClr val="accent1">
                    <a:lumMod val="75000"/>
                  </a:schemeClr>
                </a:solidFill>
              </a:rPr>
              <a:t>Голкова</a:t>
            </a:r>
            <a:endParaRPr lang="ru-RU" sz="2000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3568" y="116632"/>
            <a:ext cx="73448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b="1" dirty="0" smtClean="0"/>
              <a:t>Заголовочные файлы</a:t>
            </a:r>
            <a:endParaRPr lang="ru-RU" sz="3600" b="1" dirty="0"/>
          </a:p>
        </p:txBody>
      </p:sp>
      <p:sp>
        <p:nvSpPr>
          <p:cNvPr id="3" name="Line 2"/>
          <p:cNvSpPr>
            <a:spLocks noChangeShapeType="1"/>
          </p:cNvSpPr>
          <p:nvPr/>
        </p:nvSpPr>
        <p:spPr bwMode="auto">
          <a:xfrm>
            <a:off x="376238" y="795338"/>
            <a:ext cx="8464550" cy="0"/>
          </a:xfrm>
          <a:prstGeom prst="line">
            <a:avLst/>
          </a:prstGeom>
          <a:noFill/>
          <a:ln w="38100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4" name="TextBox 3"/>
          <p:cNvSpPr txBox="1"/>
          <p:nvPr/>
        </p:nvSpPr>
        <p:spPr>
          <a:xfrm>
            <a:off x="390927" y="1124744"/>
            <a:ext cx="8645569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dirty="0" smtClean="0"/>
              <a:t>Стандартные  </a:t>
            </a:r>
            <a:r>
              <a:rPr lang="en-US" sz="3000" dirty="0" smtClean="0">
                <a:solidFill>
                  <a:srgbClr val="0000FF"/>
                </a:solidFill>
              </a:rPr>
              <a:t>#include</a:t>
            </a:r>
            <a:r>
              <a:rPr lang="en-US" sz="3000" dirty="0">
                <a:solidFill>
                  <a:prstClr val="black"/>
                </a:solidFill>
              </a:rPr>
              <a:t> </a:t>
            </a:r>
            <a:r>
              <a:rPr lang="en-US" sz="3000" dirty="0" smtClean="0">
                <a:solidFill>
                  <a:srgbClr val="A31515"/>
                </a:solidFill>
              </a:rPr>
              <a:t>&lt;</a:t>
            </a:r>
            <a:r>
              <a:rPr lang="ru-RU" sz="3000" dirty="0" err="1" smtClean="0">
                <a:solidFill>
                  <a:srgbClr val="A31515"/>
                </a:solidFill>
              </a:rPr>
              <a:t>стандартная_библиотека</a:t>
            </a:r>
            <a:r>
              <a:rPr lang="ru-RU" sz="3000" dirty="0" smtClean="0">
                <a:solidFill>
                  <a:srgbClr val="A31515"/>
                </a:solidFill>
              </a:rPr>
              <a:t>&gt;</a:t>
            </a:r>
            <a:endParaRPr lang="ru-RU" sz="3000" dirty="0" smtClean="0"/>
          </a:p>
          <a:p>
            <a:r>
              <a:rPr lang="ru-RU" sz="3200" dirty="0" smtClean="0"/>
              <a:t>Например: </a:t>
            </a:r>
          </a:p>
          <a:p>
            <a:r>
              <a:rPr lang="en-US" sz="3200" dirty="0" smtClean="0">
                <a:solidFill>
                  <a:srgbClr val="0000FF"/>
                </a:solidFill>
              </a:rPr>
              <a:t>#include</a:t>
            </a:r>
            <a:r>
              <a:rPr lang="en-US" sz="3200" dirty="0">
                <a:solidFill>
                  <a:prstClr val="black"/>
                </a:solidFill>
              </a:rPr>
              <a:t> </a:t>
            </a:r>
            <a:r>
              <a:rPr lang="en-US" sz="3200" dirty="0" smtClean="0">
                <a:solidFill>
                  <a:srgbClr val="A31515"/>
                </a:solidFill>
              </a:rPr>
              <a:t>&lt;</a:t>
            </a:r>
            <a:r>
              <a:rPr lang="en-US" sz="3200" dirty="0" err="1" smtClean="0">
                <a:solidFill>
                  <a:srgbClr val="A31515"/>
                </a:solidFill>
              </a:rPr>
              <a:t>iostream</a:t>
            </a:r>
            <a:r>
              <a:rPr lang="en-US" sz="3200" dirty="0" smtClean="0">
                <a:solidFill>
                  <a:srgbClr val="A31515"/>
                </a:solidFill>
              </a:rPr>
              <a:t>&gt;</a:t>
            </a:r>
          </a:p>
          <a:p>
            <a:r>
              <a:rPr lang="en-US" sz="3200" dirty="0" smtClean="0">
                <a:solidFill>
                  <a:srgbClr val="0000FF"/>
                </a:solidFill>
              </a:rPr>
              <a:t>#include</a:t>
            </a:r>
            <a:r>
              <a:rPr lang="en-US" sz="3200" dirty="0">
                <a:solidFill>
                  <a:prstClr val="black"/>
                </a:solidFill>
              </a:rPr>
              <a:t> </a:t>
            </a:r>
            <a:r>
              <a:rPr lang="en-US" sz="3200" dirty="0" smtClean="0">
                <a:solidFill>
                  <a:srgbClr val="A31515"/>
                </a:solidFill>
              </a:rPr>
              <a:t>&lt;vector&gt;</a:t>
            </a:r>
            <a:endParaRPr lang="ru-RU" sz="3200" dirty="0" smtClean="0"/>
          </a:p>
          <a:p>
            <a:endParaRPr lang="ru-RU" sz="3200" dirty="0" smtClean="0"/>
          </a:p>
          <a:p>
            <a:r>
              <a:rPr lang="ru-RU" sz="3200" dirty="0" smtClean="0"/>
              <a:t>Пользовательские </a:t>
            </a:r>
            <a:r>
              <a:rPr lang="en-US" sz="3000" dirty="0" smtClean="0">
                <a:solidFill>
                  <a:srgbClr val="0000FF"/>
                </a:solidFill>
              </a:rPr>
              <a:t>#include</a:t>
            </a:r>
            <a:r>
              <a:rPr lang="en-US" sz="3000" dirty="0" smtClean="0">
                <a:solidFill>
                  <a:prstClr val="black"/>
                </a:solidFill>
              </a:rPr>
              <a:t> </a:t>
            </a:r>
            <a:r>
              <a:rPr lang="en-US" sz="3000" dirty="0" smtClean="0">
                <a:solidFill>
                  <a:srgbClr val="A31515"/>
                </a:solidFill>
              </a:rPr>
              <a:t>"</a:t>
            </a:r>
            <a:r>
              <a:rPr lang="ru-RU" sz="3000" dirty="0" err="1" smtClean="0">
                <a:solidFill>
                  <a:srgbClr val="A31515"/>
                </a:solidFill>
              </a:rPr>
              <a:t>создали_вы_сами</a:t>
            </a:r>
            <a:r>
              <a:rPr lang="ru-RU" sz="3000" dirty="0" smtClean="0">
                <a:solidFill>
                  <a:srgbClr val="A31515"/>
                </a:solidFill>
              </a:rPr>
              <a:t>"</a:t>
            </a:r>
            <a:endParaRPr lang="ru-RU" sz="3000" dirty="0"/>
          </a:p>
          <a:p>
            <a:r>
              <a:rPr lang="ru-RU" sz="3200" dirty="0" smtClean="0"/>
              <a:t>Например: </a:t>
            </a:r>
          </a:p>
          <a:p>
            <a:r>
              <a:rPr lang="en-US" sz="3200" dirty="0" smtClean="0">
                <a:solidFill>
                  <a:srgbClr val="0000FF"/>
                </a:solidFill>
              </a:rPr>
              <a:t>#</a:t>
            </a:r>
            <a:r>
              <a:rPr lang="en-US" sz="3200" dirty="0" err="1" smtClean="0">
                <a:solidFill>
                  <a:srgbClr val="0000FF"/>
                </a:solidFill>
              </a:rPr>
              <a:t>include</a:t>
            </a:r>
            <a:r>
              <a:rPr lang="en-US" sz="3200" dirty="0" err="1" smtClean="0">
                <a:solidFill>
                  <a:srgbClr val="A31515"/>
                </a:solidFill>
              </a:rPr>
              <a:t>"array.h</a:t>
            </a:r>
            <a:r>
              <a:rPr lang="en-US" sz="3200" dirty="0" smtClean="0">
                <a:solidFill>
                  <a:srgbClr val="A31515"/>
                </a:solidFill>
              </a:rPr>
              <a:t> " </a:t>
            </a:r>
          </a:p>
          <a:p>
            <a:r>
              <a:rPr lang="en-US" sz="3200" dirty="0" smtClean="0">
                <a:solidFill>
                  <a:srgbClr val="0000FF"/>
                </a:solidFill>
              </a:rPr>
              <a:t>#</a:t>
            </a:r>
            <a:r>
              <a:rPr lang="en-US" sz="3200" dirty="0" err="1" smtClean="0">
                <a:solidFill>
                  <a:srgbClr val="0000FF"/>
                </a:solidFill>
              </a:rPr>
              <a:t>include</a:t>
            </a:r>
            <a:r>
              <a:rPr lang="en-US" sz="3200" dirty="0" err="1" smtClean="0">
                <a:solidFill>
                  <a:srgbClr val="A31515"/>
                </a:solidFill>
              </a:rPr>
              <a:t>"matrix.h</a:t>
            </a:r>
            <a:r>
              <a:rPr lang="en-US" sz="3200" dirty="0" smtClean="0">
                <a:solidFill>
                  <a:srgbClr val="A31515"/>
                </a:solidFill>
              </a:rPr>
              <a:t>"</a:t>
            </a:r>
            <a:endParaRPr lang="ru-RU" sz="3200" dirty="0"/>
          </a:p>
        </p:txBody>
      </p:sp>
    </p:spTree>
    <p:extLst>
      <p:ext uri="{BB962C8B-B14F-4D97-AF65-F5344CB8AC3E}">
        <p14:creationId xmlns="" xmlns:p14="http://schemas.microsoft.com/office/powerpoint/2010/main" val="8858598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995" y="1124744"/>
            <a:ext cx="9107508" cy="36625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ru-RU" sz="3200" dirty="0" smtClean="0"/>
              <a:t>В файле </a:t>
            </a:r>
            <a:r>
              <a:rPr lang="en-US" sz="3200" dirty="0" err="1" smtClean="0">
                <a:solidFill>
                  <a:srgbClr val="A31515"/>
                </a:solidFill>
              </a:rPr>
              <a:t>array.h</a:t>
            </a:r>
            <a:r>
              <a:rPr lang="ru-RU" sz="3200" dirty="0" smtClean="0">
                <a:solidFill>
                  <a:srgbClr val="A31515"/>
                </a:solidFill>
              </a:rPr>
              <a:t> </a:t>
            </a:r>
            <a:r>
              <a:rPr lang="ru-RU" sz="3200" dirty="0" smtClean="0"/>
              <a:t>– определение класса </a:t>
            </a:r>
            <a:r>
              <a:rPr lang="en-US" sz="32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Array</a:t>
            </a:r>
            <a:r>
              <a:rPr lang="ru-RU" sz="32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3200" dirty="0" smtClean="0">
                <a:solidFill>
                  <a:prstClr val="black"/>
                </a:solidFill>
                <a:latin typeface="+mn-lt"/>
                <a:cs typeface="Courier New" panose="02070309020205020404" pitchFamily="49" charset="0"/>
              </a:rPr>
              <a:t>и директивы препроцессора.</a:t>
            </a:r>
            <a:endParaRPr lang="ru-RU" sz="3200" dirty="0" smtClean="0">
              <a:solidFill>
                <a:srgbClr val="A31515"/>
              </a:solidFill>
              <a:latin typeface="+mn-lt"/>
            </a:endParaRPr>
          </a:p>
          <a:p>
            <a:pPr>
              <a:spcAft>
                <a:spcPts val="1200"/>
              </a:spcAft>
            </a:pPr>
            <a:r>
              <a:rPr lang="ru-RU" sz="3200" dirty="0" smtClean="0"/>
              <a:t>В файле </a:t>
            </a:r>
            <a:r>
              <a:rPr lang="en-US" sz="3200" dirty="0" smtClean="0">
                <a:solidFill>
                  <a:srgbClr val="A31515"/>
                </a:solidFill>
              </a:rPr>
              <a:t>array.cpp</a:t>
            </a:r>
            <a:r>
              <a:rPr lang="ru-RU" sz="3200" dirty="0" smtClean="0">
                <a:solidFill>
                  <a:srgbClr val="A31515"/>
                </a:solidFill>
              </a:rPr>
              <a:t> </a:t>
            </a:r>
            <a:r>
              <a:rPr lang="ru-RU" sz="3200" dirty="0" smtClean="0"/>
              <a:t>– методы класса </a:t>
            </a:r>
            <a:r>
              <a:rPr lang="en-US" sz="32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Array</a:t>
            </a:r>
            <a:r>
              <a:rPr lang="ru-RU" sz="32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endParaRPr lang="ru-RU" sz="3200" dirty="0" smtClean="0">
              <a:solidFill>
                <a:srgbClr val="A31515"/>
              </a:solidFill>
            </a:endParaRPr>
          </a:p>
          <a:p>
            <a:pPr>
              <a:spcAft>
                <a:spcPts val="1200"/>
              </a:spcAft>
            </a:pPr>
            <a:r>
              <a:rPr lang="ru-RU" sz="3200" dirty="0" smtClean="0"/>
              <a:t>В файле</a:t>
            </a:r>
            <a:r>
              <a:rPr lang="en-US" sz="3200" dirty="0" smtClean="0"/>
              <a:t> </a:t>
            </a:r>
            <a:r>
              <a:rPr lang="en-US" sz="3200" dirty="0" smtClean="0">
                <a:solidFill>
                  <a:srgbClr val="A31515"/>
                </a:solidFill>
              </a:rPr>
              <a:t>mas.cpp </a:t>
            </a:r>
            <a:r>
              <a:rPr lang="ru-RU" sz="3200" dirty="0" smtClean="0"/>
              <a:t>– функция </a:t>
            </a:r>
            <a:r>
              <a:rPr lang="en-US" sz="3200" b="1" dirty="0" err="1" smtClean="0">
                <a:solidFill>
                  <a:srgbClr val="0000FF"/>
                </a:solidFill>
              </a:rPr>
              <a:t>int</a:t>
            </a:r>
            <a:r>
              <a:rPr lang="en-US" sz="3200" b="1" dirty="0">
                <a:solidFill>
                  <a:prstClr val="black"/>
                </a:solidFill>
              </a:rPr>
              <a:t> main</a:t>
            </a:r>
            <a:r>
              <a:rPr lang="en-US" sz="3200" b="1" dirty="0" smtClean="0">
                <a:solidFill>
                  <a:prstClr val="black"/>
                </a:solidFill>
              </a:rPr>
              <a:t>()</a:t>
            </a:r>
            <a:r>
              <a:rPr lang="ru-RU" sz="3200" dirty="0" smtClean="0">
                <a:solidFill>
                  <a:prstClr val="black"/>
                </a:solidFill>
              </a:rPr>
              <a:t>. В </a:t>
            </a:r>
            <a:r>
              <a:rPr lang="ru-RU" sz="3200" dirty="0" smtClean="0"/>
              <a:t>функции </a:t>
            </a:r>
            <a:r>
              <a:rPr lang="en-US" sz="3200" b="1" dirty="0" err="1" smtClean="0">
                <a:solidFill>
                  <a:srgbClr val="0000FF"/>
                </a:solidFill>
              </a:rPr>
              <a:t>int</a:t>
            </a:r>
            <a:r>
              <a:rPr lang="en-US" sz="3200" b="1" dirty="0">
                <a:solidFill>
                  <a:prstClr val="black"/>
                </a:solidFill>
              </a:rPr>
              <a:t> main() </a:t>
            </a:r>
            <a:r>
              <a:rPr lang="ru-RU" sz="3200" dirty="0" smtClean="0">
                <a:solidFill>
                  <a:prstClr val="black"/>
                </a:solidFill>
              </a:rPr>
              <a:t>вызов методов класса</a:t>
            </a:r>
            <a:r>
              <a:rPr lang="en-US" sz="3200" dirty="0" smtClean="0">
                <a:solidFill>
                  <a:prstClr val="black"/>
                </a:solidFill>
              </a:rPr>
              <a:t> </a:t>
            </a:r>
            <a:r>
              <a:rPr lang="en-US" sz="32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Array</a:t>
            </a:r>
            <a:r>
              <a:rPr lang="ru-RU" sz="32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endParaRPr lang="ru-RU" sz="3200" dirty="0" smtClean="0"/>
          </a:p>
          <a:p>
            <a:pPr algn="ctr">
              <a:spcBef>
                <a:spcPts val="1200"/>
              </a:spcBef>
              <a:spcAft>
                <a:spcPts val="1200"/>
              </a:spcAft>
            </a:pPr>
            <a:r>
              <a:rPr lang="ru-RU" sz="3200" dirty="0" smtClean="0"/>
              <a:t>Пример программы класса </a:t>
            </a:r>
            <a:r>
              <a:rPr lang="en-US" sz="32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Array</a:t>
            </a:r>
            <a:endParaRPr lang="ru-RU" sz="3200" dirty="0"/>
          </a:p>
        </p:txBody>
      </p:sp>
      <p:sp>
        <p:nvSpPr>
          <p:cNvPr id="4" name="TextBox 3"/>
          <p:cNvSpPr txBox="1"/>
          <p:nvPr/>
        </p:nvSpPr>
        <p:spPr>
          <a:xfrm>
            <a:off x="107504" y="44624"/>
            <a:ext cx="90364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spcAft>
                <a:spcPts val="1200"/>
              </a:spcAft>
            </a:pPr>
            <a:r>
              <a:rPr lang="ru-RU" sz="3200" dirty="0">
                <a:solidFill>
                  <a:prstClr val="black"/>
                </a:solidFill>
              </a:rPr>
              <a:t>Разбить проект на файлы: </a:t>
            </a:r>
            <a:r>
              <a:rPr lang="ru-RU" sz="2800" dirty="0">
                <a:solidFill>
                  <a:prstClr val="black"/>
                </a:solidFill>
              </a:rPr>
              <a:t> </a:t>
            </a:r>
            <a:r>
              <a:rPr lang="en-US" sz="2800" dirty="0" err="1">
                <a:solidFill>
                  <a:srgbClr val="A31515"/>
                </a:solidFill>
              </a:rPr>
              <a:t>array.h</a:t>
            </a:r>
            <a:r>
              <a:rPr lang="ru-RU" sz="2800" dirty="0">
                <a:solidFill>
                  <a:srgbClr val="A31515"/>
                </a:solidFill>
              </a:rPr>
              <a:t>, </a:t>
            </a:r>
            <a:r>
              <a:rPr lang="en-US" sz="2800" dirty="0">
                <a:solidFill>
                  <a:srgbClr val="A31515"/>
                </a:solidFill>
              </a:rPr>
              <a:t>array.cpp</a:t>
            </a:r>
            <a:r>
              <a:rPr lang="ru-RU" sz="2800" dirty="0">
                <a:solidFill>
                  <a:srgbClr val="A31515"/>
                </a:solidFill>
              </a:rPr>
              <a:t> и</a:t>
            </a:r>
            <a:r>
              <a:rPr lang="en-US" sz="2800" dirty="0">
                <a:solidFill>
                  <a:srgbClr val="A31515"/>
                </a:solidFill>
              </a:rPr>
              <a:t> mas.cpp </a:t>
            </a:r>
            <a:endParaRPr lang="ru-RU" sz="2800" dirty="0">
              <a:solidFill>
                <a:srgbClr val="A31515"/>
              </a:solidFill>
            </a:endParaRPr>
          </a:p>
        </p:txBody>
      </p:sp>
      <p:sp>
        <p:nvSpPr>
          <p:cNvPr id="5" name="Line 2"/>
          <p:cNvSpPr>
            <a:spLocks noChangeShapeType="1"/>
          </p:cNvSpPr>
          <p:nvPr/>
        </p:nvSpPr>
        <p:spPr bwMode="auto">
          <a:xfrm>
            <a:off x="376238" y="795338"/>
            <a:ext cx="8464550" cy="0"/>
          </a:xfrm>
          <a:prstGeom prst="line">
            <a:avLst/>
          </a:prstGeom>
          <a:noFill/>
          <a:ln w="38100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23172724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74" name="Группа 3"/>
          <p:cNvGrpSpPr>
            <a:grpSpLocks/>
          </p:cNvGrpSpPr>
          <p:nvPr/>
        </p:nvGrpSpPr>
        <p:grpSpPr bwMode="auto">
          <a:xfrm>
            <a:off x="250825" y="116632"/>
            <a:ext cx="8569325" cy="6576867"/>
            <a:chOff x="251520" y="117012"/>
            <a:chExt cx="8568952" cy="6576256"/>
          </a:xfrm>
        </p:grpSpPr>
        <p:sp>
          <p:nvSpPr>
            <p:cNvPr id="2" name="TextBox 1"/>
            <p:cNvSpPr txBox="1"/>
            <p:nvPr/>
          </p:nvSpPr>
          <p:spPr>
            <a:xfrm>
              <a:off x="251520" y="117012"/>
              <a:ext cx="8568952" cy="1815714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ru-RU" sz="2800" dirty="0">
                  <a:latin typeface="+mn-lt"/>
                  <a:cs typeface="+mn-cs"/>
                </a:rPr>
                <a:t>В папку «</a:t>
              </a:r>
              <a:r>
                <a:rPr lang="en-US" sz="2800" b="1" dirty="0">
                  <a:solidFill>
                    <a:schemeClr val="accent1">
                      <a:lumMod val="50000"/>
                    </a:schemeClr>
                  </a:solidFill>
                  <a:latin typeface="+mn-lt"/>
                  <a:cs typeface="+mn-cs"/>
                </a:rPr>
                <a:t>Header Files</a:t>
              </a:r>
              <a:r>
                <a:rPr lang="ru-RU" sz="2800" b="1" dirty="0">
                  <a:solidFill>
                    <a:schemeClr val="accent1">
                      <a:lumMod val="50000"/>
                    </a:schemeClr>
                  </a:solidFill>
                  <a:latin typeface="+mn-lt"/>
                  <a:cs typeface="+mn-cs"/>
                </a:rPr>
                <a:t> </a:t>
              </a:r>
              <a:r>
                <a:rPr lang="ru-RU" sz="2800" dirty="0">
                  <a:latin typeface="+mn-lt"/>
                  <a:cs typeface="+mn-cs"/>
                </a:rPr>
                <a:t>» добавляем (</a:t>
              </a:r>
              <a:r>
                <a:rPr lang="en-US" sz="2800" b="1" dirty="0">
                  <a:solidFill>
                    <a:schemeClr val="accent1">
                      <a:lumMod val="50000"/>
                    </a:schemeClr>
                  </a:solidFill>
                  <a:latin typeface="+mn-lt"/>
                  <a:cs typeface="+mn-cs"/>
                </a:rPr>
                <a:t>add</a:t>
              </a:r>
              <a:r>
                <a:rPr lang="ru-RU" sz="2800" dirty="0">
                  <a:latin typeface="+mn-lt"/>
                  <a:cs typeface="+mn-cs"/>
                </a:rPr>
                <a:t>)</a:t>
              </a:r>
              <a:r>
                <a:rPr lang="en-US" sz="2800" dirty="0">
                  <a:latin typeface="+mn-lt"/>
                  <a:cs typeface="+mn-cs"/>
                </a:rPr>
                <a:t> </a:t>
              </a:r>
              <a:r>
                <a:rPr lang="ru-RU" sz="2800" dirty="0">
                  <a:latin typeface="+mn-lt"/>
                  <a:cs typeface="+mn-cs"/>
                </a:rPr>
                <a:t>заголовочный файл </a:t>
              </a:r>
              <a:r>
                <a:rPr lang="en-US" sz="2800" b="1" dirty="0" err="1" smtClean="0">
                  <a:solidFill>
                    <a:schemeClr val="accent1">
                      <a:lumMod val="50000"/>
                    </a:schemeClr>
                  </a:solidFill>
                  <a:latin typeface="+mn-lt"/>
                  <a:cs typeface="+mn-cs"/>
                </a:rPr>
                <a:t>array.h</a:t>
              </a:r>
              <a:r>
                <a:rPr lang="ru-RU" sz="2800" dirty="0" smtClean="0">
                  <a:latin typeface="+mn-lt"/>
                  <a:cs typeface="+mn-cs"/>
                </a:rPr>
                <a:t>  </a:t>
              </a:r>
              <a:r>
                <a:rPr lang="ru-RU" sz="2800" dirty="0">
                  <a:latin typeface="+mn-lt"/>
                  <a:cs typeface="+mn-cs"/>
                </a:rPr>
                <a:t>В С++ </a:t>
              </a:r>
              <a:r>
                <a:rPr lang="en-US" sz="2800" b="1" dirty="0" smtClean="0">
                  <a:solidFill>
                    <a:schemeClr val="accent1">
                      <a:lumMod val="50000"/>
                    </a:schemeClr>
                  </a:solidFill>
                  <a:latin typeface="+mn-lt"/>
                  <a:cs typeface="+mn-cs"/>
                </a:rPr>
                <a:t>header </a:t>
              </a:r>
              <a:r>
                <a:rPr lang="ru-RU" sz="2800" b="1" dirty="0">
                  <a:solidFill>
                    <a:schemeClr val="accent1">
                      <a:lumMod val="50000"/>
                    </a:schemeClr>
                  </a:solidFill>
                  <a:latin typeface="+mn-lt"/>
                  <a:cs typeface="+mn-cs"/>
                </a:rPr>
                <a:t>файл </a:t>
              </a:r>
              <a:r>
                <a:rPr lang="ru-RU" sz="2800" b="1" dirty="0" smtClean="0">
                  <a:solidFill>
                    <a:srgbClr val="FF0000"/>
                  </a:solidFill>
                  <a:latin typeface="+mn-lt"/>
                  <a:cs typeface="+mn-cs"/>
                </a:rPr>
                <a:t>называют </a:t>
              </a:r>
              <a:r>
                <a:rPr lang="ru-RU" sz="2800" b="1" dirty="0">
                  <a:solidFill>
                    <a:srgbClr val="FF0000"/>
                  </a:solidFill>
                  <a:latin typeface="+mn-lt"/>
                  <a:cs typeface="+mn-cs"/>
                </a:rPr>
                <a:t>именем класса</a:t>
              </a:r>
              <a:r>
                <a:rPr lang="ru-RU" sz="2800" b="1" dirty="0" smtClean="0">
                  <a:solidFill>
                    <a:srgbClr val="FF0000"/>
                  </a:solidFill>
                  <a:latin typeface="+mn-lt"/>
                  <a:cs typeface="+mn-cs"/>
                </a:rPr>
                <a:t>. </a:t>
              </a:r>
              <a:r>
                <a:rPr lang="ru-RU" sz="2800" dirty="0" smtClean="0"/>
                <a:t>Заголовочный файл по-русски программисты называют </a:t>
              </a:r>
              <a:r>
                <a:rPr lang="en-US" sz="2800" b="1" dirty="0">
                  <a:solidFill>
                    <a:schemeClr val="accent1">
                      <a:lumMod val="50000"/>
                    </a:schemeClr>
                  </a:solidFill>
                </a:rPr>
                <a:t>header </a:t>
              </a:r>
              <a:r>
                <a:rPr lang="ru-RU" sz="2800" b="1" dirty="0">
                  <a:solidFill>
                    <a:schemeClr val="accent1">
                      <a:lumMod val="50000"/>
                    </a:schemeClr>
                  </a:solidFill>
                </a:rPr>
                <a:t>файл </a:t>
              </a:r>
              <a:endParaRPr lang="ru-RU" sz="2800" b="1" dirty="0">
                <a:solidFill>
                  <a:srgbClr val="FF0000"/>
                </a:solidFill>
                <a:latin typeface="+mn-lt"/>
                <a:cs typeface="+mn-cs"/>
              </a:endParaRPr>
            </a:p>
          </p:txBody>
        </p:sp>
        <p:pic>
          <p:nvPicPr>
            <p:cNvPr id="3076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49807" y="1845043"/>
              <a:ext cx="7572375" cy="4848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" name="Овал 2"/>
            <p:cNvSpPr/>
            <p:nvPr/>
          </p:nvSpPr>
          <p:spPr>
            <a:xfrm>
              <a:off x="5220179" y="2643286"/>
              <a:ext cx="1512822" cy="360330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/>
            </a:p>
          </p:txBody>
        </p:sp>
        <p:sp>
          <p:nvSpPr>
            <p:cNvPr id="5" name="Овал 4"/>
            <p:cNvSpPr/>
            <p:nvPr/>
          </p:nvSpPr>
          <p:spPr>
            <a:xfrm>
              <a:off x="1115082" y="2624285"/>
              <a:ext cx="541314" cy="360329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/>
            </a:p>
          </p:txBody>
        </p:sp>
        <p:sp>
          <p:nvSpPr>
            <p:cNvPr id="6" name="Овал 5"/>
            <p:cNvSpPr/>
            <p:nvPr/>
          </p:nvSpPr>
          <p:spPr>
            <a:xfrm>
              <a:off x="1764342" y="5445011"/>
              <a:ext cx="863562" cy="360330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/>
            </a:p>
          </p:txBody>
        </p:sp>
        <p:sp>
          <p:nvSpPr>
            <p:cNvPr id="7" name="Овал 6"/>
            <p:cNvSpPr/>
            <p:nvPr/>
          </p:nvSpPr>
          <p:spPr>
            <a:xfrm>
              <a:off x="6299632" y="6184717"/>
              <a:ext cx="1204861" cy="358742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extBox 1"/>
          <p:cNvSpPr txBox="1">
            <a:spLocks noChangeArrowheads="1"/>
          </p:cNvSpPr>
          <p:nvPr/>
        </p:nvSpPr>
        <p:spPr bwMode="auto">
          <a:xfrm>
            <a:off x="0" y="21355"/>
            <a:ext cx="9144000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ru-RU" altLang="ru-RU" sz="2800" dirty="0" smtClean="0"/>
              <a:t>В файл </a:t>
            </a:r>
            <a:r>
              <a:rPr lang="en-US" altLang="ru-RU" sz="2800" dirty="0" err="1" smtClean="0"/>
              <a:t>arrray.h</a:t>
            </a:r>
            <a:r>
              <a:rPr lang="en-US" altLang="ru-RU" sz="2800" dirty="0" smtClean="0"/>
              <a:t> </a:t>
            </a:r>
            <a:r>
              <a:rPr lang="ru-RU" altLang="ru-RU" sz="2800" dirty="0" smtClean="0"/>
              <a:t>переносим </a:t>
            </a:r>
            <a:r>
              <a:rPr lang="ru-RU" altLang="ru-RU" sz="2800" b="1" dirty="0" smtClean="0"/>
              <a:t>определение</a:t>
            </a:r>
            <a:r>
              <a:rPr lang="ru-RU" altLang="ru-RU" sz="2800" dirty="0" smtClean="0"/>
              <a:t> </a:t>
            </a:r>
            <a:r>
              <a:rPr lang="ru-RU" altLang="ru-RU" sz="2800" b="1" dirty="0" smtClean="0"/>
              <a:t>класса </a:t>
            </a:r>
            <a:r>
              <a:rPr lang="en-US" sz="28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Array</a:t>
            </a:r>
            <a:r>
              <a:rPr lang="ru-RU" sz="28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800" dirty="0" smtClean="0">
                <a:solidFill>
                  <a:prstClr val="black"/>
                </a:solidFill>
                <a:latin typeface="+mn-lt"/>
                <a:cs typeface="Courier New" panose="02070309020205020404" pitchFamily="49" charset="0"/>
              </a:rPr>
              <a:t>и </a:t>
            </a:r>
            <a:r>
              <a:rPr lang="ru-RU" sz="2800" b="1" dirty="0" smtClean="0">
                <a:solidFill>
                  <a:prstClr val="black"/>
                </a:solidFill>
                <a:latin typeface="+mn-lt"/>
                <a:cs typeface="Courier New" panose="02070309020205020404" pitchFamily="49" charset="0"/>
              </a:rPr>
              <a:t>заголовочные файлы </a:t>
            </a:r>
            <a:r>
              <a:rPr lang="ru-RU" sz="2800" dirty="0" smtClean="0">
                <a:solidFill>
                  <a:prstClr val="black"/>
                </a:solidFill>
                <a:latin typeface="+mn-lt"/>
                <a:cs typeface="Courier New" panose="02070309020205020404" pitchFamily="49" charset="0"/>
              </a:rPr>
              <a:t>стандартной библиотеки</a:t>
            </a:r>
            <a:endParaRPr lang="ru-RU" altLang="ru-RU" sz="2800" dirty="0">
              <a:latin typeface="+mn-lt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72008" y="1109057"/>
            <a:ext cx="9036496" cy="5632311"/>
          </a:xfrm>
          <a:prstGeom prst="rect">
            <a:avLst/>
          </a:prstGeom>
          <a:solidFill>
            <a:srgbClr val="FFFF99"/>
          </a:solidFill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#include</a:t>
            </a:r>
            <a:r>
              <a:rPr lang="en-US" sz="20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b="1" dirty="0" smtClean="0">
                <a:solidFill>
                  <a:srgbClr val="A3151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sz="2000" b="1" dirty="0" err="1" smtClean="0">
                <a:solidFill>
                  <a:srgbClr val="A3151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iostream</a:t>
            </a:r>
            <a:r>
              <a:rPr lang="en-US" sz="2000" b="1" dirty="0" smtClean="0">
                <a:solidFill>
                  <a:srgbClr val="A3151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endParaRPr lang="ru-RU" sz="2000" b="1" dirty="0" smtClean="0">
              <a:solidFill>
                <a:srgbClr val="A31515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b="1" dirty="0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using</a:t>
            </a:r>
            <a:r>
              <a:rPr lang="en-US" sz="20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b="1" dirty="0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namespace</a:t>
            </a:r>
            <a:r>
              <a:rPr lang="en-US" sz="20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std</a:t>
            </a:r>
            <a:r>
              <a:rPr lang="en-US" sz="20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ru-RU" sz="2000" b="1" dirty="0" smtClean="0">
              <a:solidFill>
                <a:srgbClr val="0000FF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b="1" dirty="0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en-US" sz="20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Array {</a:t>
            </a:r>
          </a:p>
          <a:p>
            <a:r>
              <a:rPr lang="ru-RU" sz="20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ru-RU" sz="2000" b="1" dirty="0" err="1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ru-RU" sz="20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0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*a; </a:t>
            </a:r>
            <a:r>
              <a:rPr lang="ru-RU" sz="2000" b="1" dirty="0" smtClean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указатель на массив</a:t>
            </a:r>
          </a:p>
          <a:p>
            <a:r>
              <a:rPr lang="en-US" sz="20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ru-RU" sz="20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000" b="1" dirty="0" err="1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0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size;</a:t>
            </a:r>
            <a:r>
              <a:rPr lang="en-US" sz="2000" b="1" dirty="0" smtClean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lang="ru-RU" sz="2000" b="1" dirty="0" smtClean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размер массива</a:t>
            </a:r>
          </a:p>
          <a:p>
            <a:r>
              <a:rPr lang="en-US" sz="2000" b="1" dirty="0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en-US" sz="20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n-US" sz="20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Array();</a:t>
            </a:r>
            <a:r>
              <a:rPr lang="en-US" sz="2000" b="1" dirty="0" smtClean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</a:t>
            </a:r>
            <a:r>
              <a:rPr lang="ru-RU" sz="2000" b="1" dirty="0" smtClean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конструктор по умолчанию</a:t>
            </a:r>
          </a:p>
          <a:p>
            <a:r>
              <a:rPr lang="ru-RU" sz="20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ru-RU" sz="20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Array</a:t>
            </a:r>
            <a:r>
              <a:rPr lang="ru-RU" sz="20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ru-RU" sz="2000" b="1" dirty="0" err="1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ru-RU" sz="20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0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size</a:t>
            </a:r>
            <a:r>
              <a:rPr lang="ru-RU" sz="20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  </a:t>
            </a:r>
            <a:r>
              <a:rPr lang="ru-RU" sz="2000" b="1" dirty="0" smtClean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конструктор с параметрами</a:t>
            </a:r>
          </a:p>
          <a:p>
            <a:r>
              <a:rPr lang="en-US" sz="20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Array( </a:t>
            </a:r>
            <a:r>
              <a:rPr lang="en-US" sz="2000" b="1" dirty="0" err="1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const</a:t>
            </a:r>
            <a:r>
              <a:rPr lang="en-US" sz="20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Array &amp;</a:t>
            </a:r>
            <a:r>
              <a:rPr lang="en-US" sz="20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arrayToCopy</a:t>
            </a:r>
            <a:r>
              <a:rPr lang="en-US" sz="20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); </a:t>
            </a:r>
            <a:r>
              <a:rPr lang="en-US" sz="2000" b="1" dirty="0" smtClean="0">
                <a:solidFill>
                  <a:srgbClr val="008000"/>
                </a:solidFill>
                <a:latin typeface="+mn-lt"/>
                <a:cs typeface="Courier New" panose="02070309020205020404" pitchFamily="49" charset="0"/>
              </a:rPr>
              <a:t>// </a:t>
            </a:r>
            <a:r>
              <a:rPr lang="en-US" sz="2000" b="1" dirty="0" err="1" smtClean="0">
                <a:solidFill>
                  <a:srgbClr val="008000"/>
                </a:solidFill>
                <a:latin typeface="+mn-lt"/>
                <a:cs typeface="Courier New" panose="02070309020205020404" pitchFamily="49" charset="0"/>
              </a:rPr>
              <a:t>конструктор</a:t>
            </a:r>
            <a:r>
              <a:rPr lang="en-US" sz="2000" b="1" dirty="0" smtClean="0">
                <a:solidFill>
                  <a:srgbClr val="008000"/>
                </a:solidFill>
                <a:latin typeface="+mn-lt"/>
                <a:cs typeface="Courier New" panose="02070309020205020404" pitchFamily="49" charset="0"/>
              </a:rPr>
              <a:t> </a:t>
            </a:r>
            <a:r>
              <a:rPr lang="en-US" sz="2000" b="1" dirty="0" err="1" smtClean="0">
                <a:solidFill>
                  <a:srgbClr val="008000"/>
                </a:solidFill>
                <a:latin typeface="+mn-lt"/>
                <a:cs typeface="Courier New" panose="02070309020205020404" pitchFamily="49" charset="0"/>
              </a:rPr>
              <a:t>копии</a:t>
            </a:r>
            <a:endParaRPr lang="en-US" sz="2000" b="1" dirty="0" smtClean="0">
              <a:solidFill>
                <a:srgbClr val="008000"/>
              </a:solidFill>
              <a:latin typeface="+mn-lt"/>
              <a:cs typeface="Courier New" panose="02070309020205020404" pitchFamily="49" charset="0"/>
            </a:endParaRPr>
          </a:p>
          <a:p>
            <a:r>
              <a:rPr lang="en-US" sz="20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ru-RU" sz="20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0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~</a:t>
            </a:r>
            <a:r>
              <a:rPr lang="en-US" sz="20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Array(); </a:t>
            </a:r>
            <a:r>
              <a:rPr lang="en-US" sz="2000" b="1" dirty="0" smtClean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</a:t>
            </a:r>
            <a:r>
              <a:rPr lang="ru-RU" sz="2000" b="1" dirty="0" err="1" smtClean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десструктор</a:t>
            </a:r>
            <a:endParaRPr lang="ru-RU" sz="2000" b="1" dirty="0" smtClean="0">
              <a:solidFill>
                <a:srgbClr val="008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ru-RU" sz="20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000" b="1" dirty="0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sz="20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show(); </a:t>
            </a:r>
            <a:r>
              <a:rPr lang="en-US" sz="2000" b="1" dirty="0" smtClean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</a:t>
            </a:r>
            <a:r>
              <a:rPr lang="ru-RU" sz="2000" b="1" dirty="0" smtClean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вывод массива</a:t>
            </a:r>
          </a:p>
          <a:p>
            <a:r>
              <a:rPr lang="en-US" sz="20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000" b="1" dirty="0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sz="20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setArray</a:t>
            </a:r>
            <a:r>
              <a:rPr lang="en-US" sz="20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000" b="1" dirty="0" err="1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const</a:t>
            </a:r>
            <a:r>
              <a:rPr lang="en-US" sz="20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b="1" dirty="0" err="1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0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n); </a:t>
            </a:r>
            <a:r>
              <a:rPr lang="en-US" sz="2000" b="1" dirty="0" smtClean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</a:t>
            </a:r>
            <a:r>
              <a:rPr lang="ru-RU" sz="2000" b="1" dirty="0" smtClean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заполнение массива</a:t>
            </a:r>
          </a:p>
          <a:p>
            <a:r>
              <a:rPr lang="ru-RU" sz="20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ru-RU" sz="2000" b="1" dirty="0" err="1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ru-RU" sz="20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0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getArray</a:t>
            </a:r>
            <a:r>
              <a:rPr lang="ru-RU" sz="20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ru-RU" sz="2000" b="1" dirty="0" err="1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ru-RU" sz="20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i) </a:t>
            </a:r>
            <a:r>
              <a:rPr lang="ru-RU" sz="2000" b="1" dirty="0" err="1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const</a:t>
            </a:r>
            <a:r>
              <a:rPr lang="ru-RU" sz="20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; </a:t>
            </a:r>
            <a:r>
              <a:rPr lang="ru-RU" b="1" dirty="0" smtClean="0">
                <a:solidFill>
                  <a:srgbClr val="008000"/>
                </a:solidFill>
                <a:latin typeface="+mn-lt"/>
                <a:cs typeface="Courier New" panose="02070309020205020404" pitchFamily="49" charset="0"/>
              </a:rPr>
              <a:t>// смотрим  </a:t>
            </a:r>
            <a:r>
              <a:rPr lang="en-US" b="1" dirty="0" err="1" smtClean="0">
                <a:solidFill>
                  <a:srgbClr val="008000"/>
                </a:solidFill>
                <a:latin typeface="+mn-lt"/>
                <a:cs typeface="Courier New" panose="02070309020205020404" pitchFamily="49" charset="0"/>
              </a:rPr>
              <a:t>i</a:t>
            </a:r>
            <a:r>
              <a:rPr lang="en-US" b="1" dirty="0" smtClean="0">
                <a:solidFill>
                  <a:srgbClr val="008000"/>
                </a:solidFill>
                <a:latin typeface="+mn-lt"/>
                <a:cs typeface="Courier New" panose="02070309020205020404" pitchFamily="49" charset="0"/>
              </a:rPr>
              <a:t>-</a:t>
            </a:r>
            <a:r>
              <a:rPr lang="ru-RU" b="1" dirty="0" err="1" smtClean="0">
                <a:solidFill>
                  <a:srgbClr val="008000"/>
                </a:solidFill>
                <a:latin typeface="+mn-lt"/>
                <a:cs typeface="Courier New" panose="02070309020205020404" pitchFamily="49" charset="0"/>
              </a:rPr>
              <a:t>ый</a:t>
            </a:r>
            <a:r>
              <a:rPr lang="ru-RU" b="1" dirty="0" smtClean="0">
                <a:solidFill>
                  <a:srgbClr val="008000"/>
                </a:solidFill>
                <a:latin typeface="+mn-lt"/>
                <a:cs typeface="Courier New" panose="02070309020205020404" pitchFamily="49" charset="0"/>
              </a:rPr>
              <a:t>  элемент массива</a:t>
            </a:r>
          </a:p>
          <a:p>
            <a:r>
              <a:rPr lang="ru-RU" sz="20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ru-RU" sz="20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ru-RU" sz="2000" b="1" dirty="0" err="1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ru-RU" sz="20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ru-RU" sz="20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getSize</a:t>
            </a:r>
            <a:r>
              <a:rPr lang="ru-RU" sz="20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r>
              <a:rPr lang="ru-RU" sz="2000" b="1" dirty="0" err="1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const</a:t>
            </a:r>
            <a:r>
              <a:rPr lang="ru-RU" sz="20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  <a:r>
              <a:rPr lang="ru-RU" sz="2000" b="1" dirty="0" smtClean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смотрим размер массива</a:t>
            </a:r>
          </a:p>
          <a:p>
            <a:r>
              <a:rPr lang="ru-RU" sz="20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ru-RU" sz="2000" b="1" dirty="0" err="1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ru-RU" sz="20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&amp;</a:t>
            </a:r>
            <a:r>
              <a:rPr lang="ru-RU" sz="2000" b="1" dirty="0" err="1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operator</a:t>
            </a:r>
            <a:r>
              <a:rPr lang="ru-RU" sz="20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[] (</a:t>
            </a:r>
            <a:r>
              <a:rPr lang="ru-RU" sz="2000" b="1" dirty="0" err="1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ru-RU" sz="20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j); </a:t>
            </a:r>
            <a:r>
              <a:rPr lang="ru-RU" sz="2000" b="1" dirty="0" smtClean="0">
                <a:solidFill>
                  <a:srgbClr val="008000"/>
                </a:solidFill>
                <a:latin typeface="+mn-lt"/>
                <a:cs typeface="Courier New" panose="02070309020205020404" pitchFamily="49" charset="0"/>
              </a:rPr>
              <a:t>// Перегруженный оператор []</a:t>
            </a:r>
          </a:p>
          <a:p>
            <a:r>
              <a:rPr lang="en-US" sz="20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Array </a:t>
            </a:r>
            <a:r>
              <a:rPr lang="en-US" sz="2000" b="1" dirty="0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operator</a:t>
            </a:r>
            <a:r>
              <a:rPr lang="en-US" sz="20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 (</a:t>
            </a:r>
            <a:r>
              <a:rPr lang="en-US" sz="2000" b="1" dirty="0" err="1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const</a:t>
            </a:r>
            <a:r>
              <a:rPr lang="en-US" sz="20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Array &amp;right) </a:t>
            </a:r>
            <a:r>
              <a:rPr lang="en-US" sz="2000" b="1" dirty="0" err="1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const</a:t>
            </a:r>
            <a:r>
              <a:rPr lang="en-US" sz="20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  <a:endParaRPr lang="ru-RU" sz="2000" b="1" dirty="0">
              <a:solidFill>
                <a:prstClr val="black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ru-RU" sz="2000" b="1" dirty="0" smtClean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000" b="1" dirty="0" smtClean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lang="ru-RU" sz="2000" b="1" dirty="0" smtClean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Перегруженный оператор сумма двух массивов</a:t>
            </a:r>
          </a:p>
          <a:p>
            <a:r>
              <a:rPr lang="ru-RU" sz="20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  <a:endParaRPr lang="ru-RU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76238" y="2406131"/>
            <a:ext cx="8588250" cy="3785652"/>
          </a:xfrm>
          <a:prstGeom prst="rect">
            <a:avLst/>
          </a:prstGeom>
          <a:solidFill>
            <a:srgbClr val="FFFF99"/>
          </a:solidFill>
        </p:spPr>
        <p:txBody>
          <a:bodyPr wrap="square" rtlCol="0">
            <a:spAutoFit/>
          </a:bodyPr>
          <a:lstStyle/>
          <a:p>
            <a:r>
              <a:rPr lang="en-US" sz="3000" b="1" dirty="0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</a:t>
            </a:r>
            <a:r>
              <a:rPr lang="en-US" sz="3000" b="1" dirty="0" err="1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ifndef</a:t>
            </a:r>
            <a:r>
              <a:rPr lang="en-US" sz="30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30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/*имя </a:t>
            </a:r>
            <a:r>
              <a:rPr lang="ru-RU" sz="3000" b="1" dirty="0" err="1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заголовочеого</a:t>
            </a:r>
            <a:r>
              <a:rPr lang="ru-RU" sz="30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файла*/</a:t>
            </a:r>
            <a:endParaRPr lang="en-US" sz="3000" b="1" dirty="0">
              <a:solidFill>
                <a:prstClr val="black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3000" b="1" dirty="0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#define</a:t>
            </a:r>
            <a:r>
              <a:rPr lang="en-US" sz="30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30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/*имя </a:t>
            </a:r>
            <a:r>
              <a:rPr lang="ru-RU" sz="30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заголовочеого</a:t>
            </a:r>
            <a:r>
              <a:rPr lang="ru-RU" sz="30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файла</a:t>
            </a:r>
            <a:r>
              <a:rPr lang="ru-RU" sz="30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*/</a:t>
            </a:r>
          </a:p>
          <a:p>
            <a:endParaRPr lang="en-US" sz="3000" b="1" dirty="0" smtClean="0">
              <a:solidFill>
                <a:prstClr val="black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ru-RU" sz="3000" b="1" dirty="0" smtClean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заголовочные файлы стандартной </a:t>
            </a:r>
          </a:p>
          <a:p>
            <a:r>
              <a:rPr lang="ru-RU" sz="3000" b="1" dirty="0" smtClean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библиотеки</a:t>
            </a:r>
            <a:endParaRPr lang="en-US" sz="3000" b="1" dirty="0" smtClean="0">
              <a:solidFill>
                <a:srgbClr val="008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ru-RU" sz="3000" b="1" dirty="0" smtClean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определение класса</a:t>
            </a:r>
            <a:endParaRPr lang="en-US" sz="3000" b="1" dirty="0" smtClean="0">
              <a:solidFill>
                <a:srgbClr val="008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ru-RU" sz="3000" b="1" dirty="0" smtClean="0">
              <a:solidFill>
                <a:srgbClr val="008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3000" b="1" dirty="0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</a:t>
            </a:r>
            <a:r>
              <a:rPr lang="en-US" sz="3000" b="1" dirty="0" err="1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endif</a:t>
            </a:r>
            <a:r>
              <a:rPr lang="en-US" sz="30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3000" b="1" dirty="0" smtClean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lang="ru-RU" sz="30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/*имя </a:t>
            </a:r>
            <a:r>
              <a:rPr lang="ru-RU" sz="30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заголовочеого</a:t>
            </a:r>
            <a:r>
              <a:rPr lang="ru-RU" sz="30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файла*/</a:t>
            </a:r>
            <a:endParaRPr lang="en-US" sz="3000" b="1" dirty="0">
              <a:solidFill>
                <a:prstClr val="black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pSp>
        <p:nvGrpSpPr>
          <p:cNvPr id="5122" name="Группа 4"/>
          <p:cNvGrpSpPr>
            <a:grpSpLocks/>
          </p:cNvGrpSpPr>
          <p:nvPr/>
        </p:nvGrpSpPr>
        <p:grpSpPr bwMode="auto">
          <a:xfrm>
            <a:off x="251519" y="836712"/>
            <a:ext cx="8589269" cy="3000580"/>
            <a:chOff x="362887" y="620688"/>
            <a:chExt cx="8588556" cy="3001040"/>
          </a:xfrm>
        </p:grpSpPr>
        <p:sp>
          <p:nvSpPr>
            <p:cNvPr id="5124" name="TextBox 1"/>
            <p:cNvSpPr txBox="1">
              <a:spLocks noChangeArrowheads="1"/>
            </p:cNvSpPr>
            <p:nvPr/>
          </p:nvSpPr>
          <p:spPr bwMode="auto">
            <a:xfrm>
              <a:off x="362887" y="620688"/>
              <a:ext cx="8588556" cy="15699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r>
                <a:rPr lang="ru-RU" altLang="ru-RU" sz="3200" dirty="0" smtClean="0"/>
                <a:t>Между директивами препроцессора вставляем </a:t>
              </a:r>
              <a:r>
                <a:rPr lang="ru-RU" altLang="ru-RU" sz="3200" dirty="0"/>
                <a:t>определение </a:t>
              </a:r>
              <a:r>
                <a:rPr lang="ru-RU" altLang="ru-RU" sz="3200" dirty="0" smtClean="0"/>
                <a:t>класса и заголовочные файлы стандартной библиотеки</a:t>
              </a:r>
              <a:endParaRPr lang="ru-RU" altLang="ru-RU" sz="3200" dirty="0"/>
            </a:p>
          </p:txBody>
        </p:sp>
        <p:cxnSp>
          <p:nvCxnSpPr>
            <p:cNvPr id="4" name="Прямая со стрелкой 3"/>
            <p:cNvCxnSpPr/>
            <p:nvPr/>
          </p:nvCxnSpPr>
          <p:spPr>
            <a:xfrm flipH="1">
              <a:off x="6483060" y="1124821"/>
              <a:ext cx="1800051" cy="2496907"/>
            </a:xfrm>
            <a:prstGeom prst="straightConnector1">
              <a:avLst/>
            </a:prstGeom>
            <a:ln>
              <a:solidFill>
                <a:srgbClr val="FF0000"/>
              </a:solidFill>
              <a:tailEnd type="arrow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8" name="TextBox 7"/>
          <p:cNvSpPr txBox="1"/>
          <p:nvPr/>
        </p:nvSpPr>
        <p:spPr>
          <a:xfrm>
            <a:off x="467544" y="53438"/>
            <a:ext cx="74168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H</a:t>
            </a:r>
            <a:r>
              <a:rPr lang="en-US" sz="3600" b="1" dirty="0" smtClean="0"/>
              <a:t>eader </a:t>
            </a:r>
            <a:r>
              <a:rPr lang="ru-RU" sz="3600" b="1" dirty="0" smtClean="0"/>
              <a:t>файл</a:t>
            </a:r>
            <a:endParaRPr lang="ru-RU" sz="3600" b="1" dirty="0"/>
          </a:p>
        </p:txBody>
      </p:sp>
      <p:sp>
        <p:nvSpPr>
          <p:cNvPr id="12" name="Line 2"/>
          <p:cNvSpPr>
            <a:spLocks noChangeShapeType="1"/>
          </p:cNvSpPr>
          <p:nvPr/>
        </p:nvSpPr>
        <p:spPr bwMode="auto">
          <a:xfrm>
            <a:off x="376238" y="620688"/>
            <a:ext cx="8464550" cy="0"/>
          </a:xfrm>
          <a:prstGeom prst="line">
            <a:avLst/>
          </a:prstGeom>
          <a:noFill/>
          <a:ln w="38100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ru-RU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7584" y="2060848"/>
            <a:ext cx="7560840" cy="4031873"/>
          </a:xfrm>
          <a:prstGeom prst="rect">
            <a:avLst/>
          </a:prstGeom>
          <a:solidFill>
            <a:srgbClr val="FFFF99"/>
          </a:solidFill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</a:t>
            </a:r>
            <a:r>
              <a:rPr lang="en-US" sz="3200" b="1" dirty="0" err="1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ifndef</a:t>
            </a:r>
            <a:r>
              <a:rPr lang="en-US" sz="32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ARRAY_H</a:t>
            </a:r>
          </a:p>
          <a:p>
            <a:r>
              <a:rPr lang="en-US" sz="3200" b="1" dirty="0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#define</a:t>
            </a:r>
            <a:r>
              <a:rPr lang="en-US" sz="32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32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ARRAY_H</a:t>
            </a:r>
            <a:endParaRPr lang="ru-RU" sz="3200" b="1" dirty="0" smtClean="0">
              <a:solidFill>
                <a:prstClr val="black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ru-RU" sz="3200" b="1" dirty="0">
              <a:solidFill>
                <a:prstClr val="black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0"/>
            <a:r>
              <a:rPr lang="en-US" sz="32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#include</a:t>
            </a:r>
            <a:r>
              <a:rPr lang="en-US" sz="32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3200" b="1" dirty="0">
                <a:solidFill>
                  <a:srgbClr val="A3151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sz="3200" b="1" dirty="0" err="1">
                <a:solidFill>
                  <a:srgbClr val="A3151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iostream</a:t>
            </a:r>
            <a:r>
              <a:rPr lang="en-US" sz="3200" b="1" dirty="0">
                <a:solidFill>
                  <a:srgbClr val="A3151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endParaRPr lang="ru-RU" sz="3200" b="1" dirty="0">
              <a:solidFill>
                <a:srgbClr val="A31515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0"/>
            <a:r>
              <a:rPr lang="en-US" sz="32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using</a:t>
            </a:r>
            <a:r>
              <a:rPr lang="en-US" sz="32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32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namespace</a:t>
            </a:r>
            <a:r>
              <a:rPr lang="en-US" sz="32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32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std</a:t>
            </a:r>
            <a:r>
              <a:rPr lang="en-US" sz="32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ru-RU" sz="3200" b="1" dirty="0">
              <a:solidFill>
                <a:srgbClr val="0000FF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ru-RU" sz="3200" b="1" dirty="0" smtClean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определение класса</a:t>
            </a:r>
            <a:endParaRPr lang="en-US" sz="3200" b="1" dirty="0" smtClean="0">
              <a:solidFill>
                <a:srgbClr val="008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ru-RU" sz="3200" b="1" dirty="0" smtClean="0">
              <a:solidFill>
                <a:srgbClr val="008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3200" b="1" dirty="0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</a:t>
            </a:r>
            <a:r>
              <a:rPr lang="en-US" sz="3200" b="1" dirty="0" err="1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endif</a:t>
            </a:r>
            <a:r>
              <a:rPr lang="en-US" sz="32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3200" b="1" dirty="0" smtClean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//ARRAY_H</a:t>
            </a:r>
            <a:endParaRPr lang="en-US" sz="3200" b="1" dirty="0">
              <a:solidFill>
                <a:prstClr val="black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pSp>
        <p:nvGrpSpPr>
          <p:cNvPr id="5122" name="Группа 4"/>
          <p:cNvGrpSpPr>
            <a:grpSpLocks/>
          </p:cNvGrpSpPr>
          <p:nvPr/>
        </p:nvGrpSpPr>
        <p:grpSpPr bwMode="auto">
          <a:xfrm>
            <a:off x="788268" y="836712"/>
            <a:ext cx="6841327" cy="2736305"/>
            <a:chOff x="899592" y="620688"/>
            <a:chExt cx="6840760" cy="2736724"/>
          </a:xfrm>
        </p:grpSpPr>
        <p:sp>
          <p:nvSpPr>
            <p:cNvPr id="5124" name="TextBox 1"/>
            <p:cNvSpPr txBox="1">
              <a:spLocks noChangeArrowheads="1"/>
            </p:cNvSpPr>
            <p:nvPr/>
          </p:nvSpPr>
          <p:spPr bwMode="auto">
            <a:xfrm>
              <a:off x="899592" y="620688"/>
              <a:ext cx="6840760" cy="15696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r>
                <a:rPr lang="ru-RU" altLang="ru-RU" sz="3200" dirty="0"/>
                <a:t>Вставляем определение класса между директивами препроцессора</a:t>
              </a:r>
            </a:p>
            <a:p>
              <a:endParaRPr lang="ru-RU" altLang="ru-RU" sz="3200" dirty="0"/>
            </a:p>
          </p:txBody>
        </p:sp>
        <p:cxnSp>
          <p:nvCxnSpPr>
            <p:cNvPr id="4" name="Прямая со стрелкой 3"/>
            <p:cNvCxnSpPr/>
            <p:nvPr/>
          </p:nvCxnSpPr>
          <p:spPr>
            <a:xfrm>
              <a:off x="1403275" y="1557457"/>
              <a:ext cx="471656" cy="1799955"/>
            </a:xfrm>
            <a:prstGeom prst="straightConnector1">
              <a:avLst/>
            </a:prstGeom>
            <a:ln>
              <a:solidFill>
                <a:srgbClr val="FF0000"/>
              </a:solidFill>
              <a:tailEnd type="arrow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8" name="TextBox 7"/>
          <p:cNvSpPr txBox="1"/>
          <p:nvPr/>
        </p:nvSpPr>
        <p:spPr>
          <a:xfrm>
            <a:off x="467544" y="53438"/>
            <a:ext cx="74168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b="1" dirty="0" smtClean="0"/>
              <a:t>Файл </a:t>
            </a:r>
            <a:r>
              <a:rPr lang="en-US" sz="3200" b="1" dirty="0" err="1">
                <a:solidFill>
                  <a:srgbClr val="A31515"/>
                </a:solidFill>
              </a:rPr>
              <a:t>array.h</a:t>
            </a:r>
            <a:endParaRPr lang="ru-RU" sz="3600" b="1" dirty="0"/>
          </a:p>
        </p:txBody>
      </p:sp>
      <p:sp>
        <p:nvSpPr>
          <p:cNvPr id="12" name="Line 2"/>
          <p:cNvSpPr>
            <a:spLocks noChangeShapeType="1"/>
          </p:cNvSpPr>
          <p:nvPr/>
        </p:nvSpPr>
        <p:spPr bwMode="auto">
          <a:xfrm>
            <a:off x="376238" y="620688"/>
            <a:ext cx="8464550" cy="0"/>
          </a:xfrm>
          <a:prstGeom prst="line">
            <a:avLst/>
          </a:prstGeom>
          <a:noFill/>
          <a:ln w="38100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1523309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55" name="Picture 1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730" y="933449"/>
            <a:ext cx="8886766" cy="55304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0" name="Группа 9"/>
          <p:cNvGrpSpPr/>
          <p:nvPr/>
        </p:nvGrpSpPr>
        <p:grpSpPr>
          <a:xfrm>
            <a:off x="36687" y="138698"/>
            <a:ext cx="9080347" cy="6325232"/>
            <a:chOff x="36687" y="138698"/>
            <a:chExt cx="9080347" cy="6325232"/>
          </a:xfrm>
        </p:grpSpPr>
        <p:sp>
          <p:nvSpPr>
            <p:cNvPr id="2" name="Овал 1"/>
            <p:cNvSpPr/>
            <p:nvPr/>
          </p:nvSpPr>
          <p:spPr>
            <a:xfrm>
              <a:off x="1907704" y="1383224"/>
              <a:ext cx="2232025" cy="720725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/>
            </a:p>
          </p:txBody>
        </p:sp>
        <p:sp>
          <p:nvSpPr>
            <p:cNvPr id="4" name="Овал 3"/>
            <p:cNvSpPr/>
            <p:nvPr/>
          </p:nvSpPr>
          <p:spPr>
            <a:xfrm>
              <a:off x="2062981" y="6114680"/>
              <a:ext cx="2232025" cy="349250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/>
            </a:p>
          </p:txBody>
        </p:sp>
        <p:sp>
          <p:nvSpPr>
            <p:cNvPr id="5" name="Овал 4"/>
            <p:cNvSpPr/>
            <p:nvPr/>
          </p:nvSpPr>
          <p:spPr>
            <a:xfrm>
              <a:off x="36687" y="1784027"/>
              <a:ext cx="1150937" cy="420837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/>
            </a:p>
          </p:txBody>
        </p:sp>
        <p:sp>
          <p:nvSpPr>
            <p:cNvPr id="6150" name="TextBox 2"/>
            <p:cNvSpPr txBox="1">
              <a:spLocks noChangeArrowheads="1"/>
            </p:cNvSpPr>
            <p:nvPr/>
          </p:nvSpPr>
          <p:spPr bwMode="auto">
            <a:xfrm>
              <a:off x="4004467" y="138698"/>
              <a:ext cx="5112567" cy="5539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r>
                <a:rPr lang="ru-RU" altLang="ru-RU" sz="3000" b="1" dirty="0"/>
                <a:t>Директивы препроцессора</a:t>
              </a:r>
            </a:p>
          </p:txBody>
        </p:sp>
        <p:cxnSp>
          <p:nvCxnSpPr>
            <p:cNvPr id="7" name="Прямая со стрелкой 6"/>
            <p:cNvCxnSpPr/>
            <p:nvPr/>
          </p:nvCxnSpPr>
          <p:spPr>
            <a:xfrm flipH="1">
              <a:off x="4139729" y="688975"/>
              <a:ext cx="2376960" cy="1011833"/>
            </a:xfrm>
            <a:prstGeom prst="straightConnector1">
              <a:avLst/>
            </a:prstGeom>
            <a:ln>
              <a:solidFill>
                <a:srgbClr val="FF0000"/>
              </a:solidFill>
              <a:tailEnd type="arrow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9" name="Прямая со стрелкой 8"/>
            <p:cNvCxnSpPr/>
            <p:nvPr/>
          </p:nvCxnSpPr>
          <p:spPr>
            <a:xfrm flipH="1">
              <a:off x="3779912" y="688975"/>
              <a:ext cx="2736777" cy="5362314"/>
            </a:xfrm>
            <a:prstGeom prst="straightConnector1">
              <a:avLst/>
            </a:prstGeom>
            <a:ln>
              <a:solidFill>
                <a:srgbClr val="FF0000"/>
              </a:solidFill>
              <a:tailEnd type="arrow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67518" y="-27384"/>
            <a:ext cx="8208963" cy="5847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ru-RU" sz="3200" dirty="0" smtClean="0">
                <a:latin typeface="+mn-lt"/>
                <a:cs typeface="+mn-cs"/>
              </a:rPr>
              <a:t>Интерфейс класса </a:t>
            </a:r>
            <a:r>
              <a:rPr lang="en-US" sz="32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Array</a:t>
            </a:r>
            <a:endParaRPr lang="ru-RU" sz="3200" b="1" dirty="0">
              <a:solidFill>
                <a:schemeClr val="accent1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Line 2"/>
          <p:cNvSpPr>
            <a:spLocks noChangeShapeType="1"/>
          </p:cNvSpPr>
          <p:nvPr/>
        </p:nvSpPr>
        <p:spPr bwMode="auto">
          <a:xfrm>
            <a:off x="376238" y="476672"/>
            <a:ext cx="8464550" cy="0"/>
          </a:xfrm>
          <a:prstGeom prst="line">
            <a:avLst/>
          </a:prstGeom>
          <a:noFill/>
          <a:ln w="38100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4" name="TextBox 3"/>
          <p:cNvSpPr txBox="1"/>
          <p:nvPr/>
        </p:nvSpPr>
        <p:spPr>
          <a:xfrm>
            <a:off x="339724" y="548680"/>
            <a:ext cx="8464550" cy="6232475"/>
          </a:xfrm>
          <a:prstGeom prst="rect">
            <a:avLst/>
          </a:prstGeom>
          <a:solidFill>
            <a:srgbClr val="FFFF99"/>
          </a:solidFill>
        </p:spPr>
        <p:txBody>
          <a:bodyPr wrap="square" rtlCol="0">
            <a:spAutoFit/>
          </a:bodyPr>
          <a:lstStyle/>
          <a:p>
            <a:r>
              <a:rPr lang="en-US" sz="19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</a:t>
            </a:r>
            <a:r>
              <a:rPr lang="en-US" sz="1900" b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ifndef</a:t>
            </a:r>
            <a:r>
              <a:rPr lang="en-US" sz="19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ARRAY_H</a:t>
            </a:r>
          </a:p>
          <a:p>
            <a:r>
              <a:rPr lang="en-US" sz="19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#define</a:t>
            </a:r>
            <a:r>
              <a:rPr lang="en-US" sz="19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ARRAY_H</a:t>
            </a:r>
          </a:p>
          <a:p>
            <a:endParaRPr lang="ru-RU" sz="1900" b="1" dirty="0">
              <a:solidFill>
                <a:prstClr val="black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9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#include</a:t>
            </a:r>
            <a:r>
              <a:rPr lang="en-US" sz="19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900" b="1" dirty="0">
                <a:solidFill>
                  <a:srgbClr val="A3151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sz="1900" b="1" dirty="0" err="1">
                <a:solidFill>
                  <a:srgbClr val="A3151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iostream</a:t>
            </a:r>
            <a:r>
              <a:rPr lang="en-US" sz="1900" b="1" dirty="0">
                <a:solidFill>
                  <a:srgbClr val="A3151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r>
              <a:rPr lang="en-US" sz="19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using</a:t>
            </a:r>
            <a:r>
              <a:rPr lang="en-US" sz="19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9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namespace</a:t>
            </a:r>
            <a:r>
              <a:rPr lang="en-US" sz="19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9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std</a:t>
            </a:r>
            <a:r>
              <a:rPr lang="en-US" sz="19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900" b="1" dirty="0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en-US" sz="19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9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Array {</a:t>
            </a:r>
          </a:p>
          <a:p>
            <a:r>
              <a:rPr lang="ru-RU" sz="19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ru-RU" sz="1900" b="1" dirty="0" err="1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ru-RU" sz="19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19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*a; </a:t>
            </a:r>
            <a:r>
              <a:rPr lang="ru-RU" sz="1900" b="1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указатель на массив</a:t>
            </a:r>
          </a:p>
          <a:p>
            <a:r>
              <a:rPr lang="en-US" sz="19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ru-RU" sz="19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900" b="1" dirty="0" err="1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9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9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size;</a:t>
            </a:r>
            <a:r>
              <a:rPr lang="en-US" sz="1900" b="1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lang="ru-RU" sz="1900" b="1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размер массива</a:t>
            </a:r>
          </a:p>
          <a:p>
            <a:r>
              <a:rPr lang="en-US" sz="19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en-US" sz="19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n-US" sz="19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Array();</a:t>
            </a:r>
            <a:r>
              <a:rPr lang="en-US" sz="1900" b="1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</a:t>
            </a:r>
            <a:r>
              <a:rPr lang="ru-RU" sz="1900" b="1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конструктор по умолчанию</a:t>
            </a:r>
          </a:p>
          <a:p>
            <a:r>
              <a:rPr lang="ru-RU" sz="19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ru-RU" sz="19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Array</a:t>
            </a:r>
            <a:r>
              <a:rPr lang="ru-RU" sz="19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ru-RU" sz="1900" b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ru-RU" sz="19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19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size</a:t>
            </a:r>
            <a:r>
              <a:rPr lang="ru-RU" sz="19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  </a:t>
            </a:r>
            <a:r>
              <a:rPr lang="ru-RU" sz="1900" b="1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конструктор с параметрами</a:t>
            </a:r>
          </a:p>
          <a:p>
            <a:r>
              <a:rPr lang="en-US" sz="19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Array( </a:t>
            </a:r>
            <a:r>
              <a:rPr lang="en-US" sz="1900" b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const</a:t>
            </a:r>
            <a:r>
              <a:rPr lang="en-US" sz="19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Array &amp;</a:t>
            </a:r>
            <a:r>
              <a:rPr lang="en-US" sz="19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arrayToCopy</a:t>
            </a:r>
            <a:r>
              <a:rPr lang="en-US" sz="19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); </a:t>
            </a:r>
            <a:endParaRPr lang="en-US" sz="1900" b="1" dirty="0">
              <a:solidFill>
                <a:srgbClr val="008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9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ru-RU" sz="19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9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~</a:t>
            </a:r>
            <a:r>
              <a:rPr lang="en-US" sz="19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Array(); </a:t>
            </a:r>
            <a:r>
              <a:rPr lang="en-US" sz="1900" b="1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</a:t>
            </a:r>
            <a:r>
              <a:rPr lang="ru-RU" sz="1900" b="1" dirty="0" err="1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десструктор</a:t>
            </a:r>
            <a:endParaRPr lang="ru-RU" sz="1900" b="1" dirty="0">
              <a:solidFill>
                <a:srgbClr val="008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9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ru-RU" sz="19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900" b="1" dirty="0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sz="19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9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show(); </a:t>
            </a:r>
            <a:r>
              <a:rPr lang="en-US" sz="1900" b="1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</a:t>
            </a:r>
            <a:r>
              <a:rPr lang="ru-RU" sz="1900" b="1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вывод массива</a:t>
            </a:r>
          </a:p>
          <a:p>
            <a:r>
              <a:rPr lang="en-US" sz="19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9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sz="19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9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setArray</a:t>
            </a:r>
            <a:r>
              <a:rPr lang="en-US" sz="19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900" b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const</a:t>
            </a:r>
            <a:r>
              <a:rPr lang="en-US" sz="19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900" b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9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9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n); </a:t>
            </a:r>
            <a:endParaRPr lang="ru-RU" sz="1900" b="1" dirty="0" smtClean="0">
              <a:solidFill>
                <a:srgbClr val="008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9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900" b="1" dirty="0" err="1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9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900" b="1" dirty="0" err="1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getArray</a:t>
            </a:r>
            <a:r>
              <a:rPr lang="en-US" sz="19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900" b="1" dirty="0" err="1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9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900" b="1" dirty="0" err="1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9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  <a:r>
              <a:rPr lang="en-US" sz="1900" b="1" dirty="0" err="1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const</a:t>
            </a:r>
            <a:r>
              <a:rPr lang="en-US" sz="19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;</a:t>
            </a:r>
            <a:endParaRPr lang="ru-RU" sz="1900" b="1" dirty="0" smtClean="0">
              <a:solidFill>
                <a:srgbClr val="008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ru-RU" sz="19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	</a:t>
            </a:r>
            <a:r>
              <a:rPr lang="ru-RU" sz="1900" b="1" dirty="0" err="1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ru-RU" sz="1900" b="1" dirty="0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1900" b="1" dirty="0" err="1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getSize</a:t>
            </a:r>
            <a:r>
              <a:rPr lang="ru-RU" sz="19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r>
              <a:rPr lang="ru-RU" sz="1900" b="1" dirty="0" err="1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const</a:t>
            </a:r>
            <a:r>
              <a:rPr lang="ru-RU" sz="19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  <a:r>
              <a:rPr lang="ru-RU" sz="1900" b="1" dirty="0" smtClean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смотрим размер массива</a:t>
            </a:r>
          </a:p>
          <a:p>
            <a:r>
              <a:rPr lang="ru-RU" sz="19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ru-RU" sz="1900" b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ru-RU" sz="19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&amp;</a:t>
            </a:r>
            <a:r>
              <a:rPr lang="ru-RU" sz="1900" b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operator</a:t>
            </a:r>
            <a:r>
              <a:rPr lang="ru-RU" sz="19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[] (</a:t>
            </a:r>
            <a:r>
              <a:rPr lang="ru-RU" sz="1900" b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ru-RU" sz="19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j); </a:t>
            </a:r>
            <a:endParaRPr lang="ru-RU" sz="1900" b="1" dirty="0">
              <a:solidFill>
                <a:srgbClr val="008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9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Array </a:t>
            </a:r>
            <a:r>
              <a:rPr lang="en-US" sz="19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operator</a:t>
            </a:r>
            <a:r>
              <a:rPr lang="en-US" sz="19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 (</a:t>
            </a:r>
            <a:r>
              <a:rPr lang="en-US" sz="1900" b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const</a:t>
            </a:r>
            <a:r>
              <a:rPr lang="en-US" sz="19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Array &amp;right) </a:t>
            </a:r>
            <a:r>
              <a:rPr lang="en-US" sz="1900" b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const</a:t>
            </a:r>
            <a:r>
              <a:rPr lang="en-US" sz="19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</a:p>
          <a:p>
            <a:r>
              <a:rPr lang="ru-RU" sz="19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</a:p>
          <a:p>
            <a:r>
              <a:rPr lang="en-US" sz="19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</a:t>
            </a:r>
            <a:r>
              <a:rPr lang="en-US" sz="1900" b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endif</a:t>
            </a:r>
            <a:r>
              <a:rPr lang="en-US" sz="19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900" b="1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//ARRAY_H</a:t>
            </a:r>
            <a:endParaRPr lang="ru-RU" sz="19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28175262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70" name="Группа 3"/>
          <p:cNvGrpSpPr>
            <a:grpSpLocks/>
          </p:cNvGrpSpPr>
          <p:nvPr/>
        </p:nvGrpSpPr>
        <p:grpSpPr bwMode="auto">
          <a:xfrm>
            <a:off x="468313" y="165100"/>
            <a:ext cx="8135937" cy="6483350"/>
            <a:chOff x="467544" y="164497"/>
            <a:chExt cx="8136904" cy="6484012"/>
          </a:xfrm>
        </p:grpSpPr>
        <p:sp>
          <p:nvSpPr>
            <p:cNvPr id="7171" name="TextBox 1"/>
            <p:cNvSpPr txBox="1">
              <a:spLocks noChangeArrowheads="1"/>
            </p:cNvSpPr>
            <p:nvPr/>
          </p:nvSpPr>
          <p:spPr bwMode="auto">
            <a:xfrm>
              <a:off x="467544" y="164497"/>
              <a:ext cx="8136904" cy="13849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r>
                <a:rPr lang="ru-RU" altLang="ru-RU" sz="2800" dirty="0" smtClean="0"/>
                <a:t>В папке </a:t>
              </a:r>
              <a:r>
                <a:rPr lang="ru-RU" altLang="ru-RU" sz="2800" dirty="0"/>
                <a:t>« </a:t>
              </a:r>
              <a:r>
                <a:rPr lang="en-US" altLang="ru-RU" sz="2800" b="1" dirty="0"/>
                <a:t>Source Files</a:t>
              </a:r>
              <a:r>
                <a:rPr lang="ru-RU" altLang="ru-RU" sz="2800" b="1" dirty="0"/>
                <a:t> </a:t>
              </a:r>
              <a:r>
                <a:rPr lang="ru-RU" altLang="ru-RU" sz="2800" dirty="0"/>
                <a:t>» </a:t>
              </a:r>
              <a:r>
                <a:rPr lang="ru-RU" altLang="ru-RU" sz="2800" dirty="0" smtClean="0"/>
                <a:t>создаём </a:t>
              </a:r>
              <a:r>
                <a:rPr lang="ru-RU" altLang="ru-RU" sz="2800" b="1" dirty="0" smtClean="0"/>
                <a:t>файл </a:t>
              </a:r>
              <a:r>
                <a:rPr lang="ru-RU" altLang="ru-RU" sz="2800" b="1" dirty="0"/>
                <a:t>исходных текстов</a:t>
              </a:r>
              <a:r>
                <a:rPr lang="en-US" altLang="ru-RU" sz="2800" b="1" dirty="0"/>
                <a:t> (*.</a:t>
              </a:r>
              <a:r>
                <a:rPr lang="en-US" altLang="ru-RU" sz="2800" b="1" dirty="0" err="1"/>
                <a:t>cpp</a:t>
              </a:r>
              <a:r>
                <a:rPr lang="en-US" altLang="ru-RU" sz="2800" b="1" dirty="0"/>
                <a:t>)</a:t>
              </a:r>
              <a:r>
                <a:rPr lang="ru-RU" altLang="ru-RU" sz="2800" dirty="0"/>
                <a:t>. </a:t>
              </a:r>
              <a:r>
                <a:rPr lang="ru-RU" altLang="ru-RU" sz="2800" dirty="0" smtClean="0"/>
                <a:t>В С++ имя </a:t>
              </a:r>
              <a:r>
                <a:rPr lang="ru-RU" altLang="ru-RU" sz="2800" dirty="0"/>
                <a:t>файла </a:t>
              </a:r>
              <a:r>
                <a:rPr lang="ru-RU" sz="2800" b="1" dirty="0">
                  <a:solidFill>
                    <a:srgbClr val="FF0000"/>
                  </a:solidFill>
                </a:rPr>
                <a:t>называют именем </a:t>
              </a:r>
              <a:r>
                <a:rPr lang="ru-RU" sz="2800" b="1" dirty="0" smtClean="0">
                  <a:solidFill>
                    <a:srgbClr val="FF0000"/>
                  </a:solidFill>
                </a:rPr>
                <a:t>класса</a:t>
              </a:r>
              <a:r>
                <a:rPr lang="ru-RU" altLang="ru-RU" sz="2800" dirty="0" smtClean="0"/>
                <a:t> </a:t>
              </a:r>
              <a:r>
                <a:rPr lang="en-US" altLang="ru-RU" sz="2800" b="1" dirty="0"/>
                <a:t>arrray.cpp</a:t>
              </a:r>
              <a:endParaRPr lang="ru-RU" altLang="ru-RU" sz="2800" b="1" dirty="0"/>
            </a:p>
          </p:txBody>
        </p:sp>
        <p:pic>
          <p:nvPicPr>
            <p:cNvPr id="7172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0164" y="1819334"/>
              <a:ext cx="7581900" cy="4829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" name="Овал 2"/>
            <p:cNvSpPr/>
            <p:nvPr/>
          </p:nvSpPr>
          <p:spPr>
            <a:xfrm>
              <a:off x="3060239" y="2636487"/>
              <a:ext cx="1008183" cy="217509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/>
            </a:p>
          </p:txBody>
        </p:sp>
        <p:sp>
          <p:nvSpPr>
            <p:cNvPr id="5" name="Овал 4"/>
            <p:cNvSpPr/>
            <p:nvPr/>
          </p:nvSpPr>
          <p:spPr>
            <a:xfrm>
              <a:off x="1043874" y="2746036"/>
              <a:ext cx="576331" cy="215922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/>
            </a:p>
          </p:txBody>
        </p:sp>
        <p:sp>
          <p:nvSpPr>
            <p:cNvPr id="6" name="Овал 5"/>
            <p:cNvSpPr/>
            <p:nvPr/>
          </p:nvSpPr>
          <p:spPr>
            <a:xfrm>
              <a:off x="1763098" y="5516506"/>
              <a:ext cx="649364" cy="360399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/>
            </a:p>
          </p:txBody>
        </p:sp>
        <p:sp>
          <p:nvSpPr>
            <p:cNvPr id="7" name="Овал 6"/>
            <p:cNvSpPr/>
            <p:nvPr/>
          </p:nvSpPr>
          <p:spPr>
            <a:xfrm>
              <a:off x="6300712" y="6165860"/>
              <a:ext cx="1008182" cy="411205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9" name="Picture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656" y="1217613"/>
            <a:ext cx="8039100" cy="553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/>
          <p:cNvSpPr txBox="1"/>
          <p:nvPr/>
        </p:nvSpPr>
        <p:spPr bwMode="auto">
          <a:xfrm>
            <a:off x="104775" y="171450"/>
            <a:ext cx="8424863" cy="10461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ru-RU" sz="3000" dirty="0">
                <a:latin typeface="+mn-lt"/>
                <a:cs typeface="+mn-cs"/>
              </a:rPr>
              <a:t>В файл </a:t>
            </a:r>
            <a:r>
              <a:rPr lang="en-US" sz="3000" b="1" dirty="0">
                <a:solidFill>
                  <a:schemeClr val="accent1">
                    <a:lumMod val="50000"/>
                  </a:schemeClr>
                </a:solidFill>
                <a:latin typeface="+mn-lt"/>
                <a:cs typeface="+mn-cs"/>
              </a:rPr>
              <a:t>array.cpp</a:t>
            </a:r>
            <a:r>
              <a:rPr lang="ru-RU" sz="3000" dirty="0">
                <a:latin typeface="+mn-lt"/>
                <a:cs typeface="+mn-cs"/>
              </a:rPr>
              <a:t> переносим все </a:t>
            </a:r>
            <a:r>
              <a:rPr lang="ru-RU" sz="3000" b="1" dirty="0">
                <a:solidFill>
                  <a:schemeClr val="accent1">
                    <a:lumMod val="50000"/>
                  </a:schemeClr>
                </a:solidFill>
                <a:latin typeface="+mn-lt"/>
                <a:cs typeface="+mn-cs"/>
              </a:rPr>
              <a:t>методы. </a:t>
            </a:r>
            <a:r>
              <a:rPr lang="ru-RU" sz="3000" dirty="0">
                <a:solidFill>
                  <a:schemeClr val="accent1">
                    <a:lumMod val="50000"/>
                  </a:schemeClr>
                </a:solidFill>
                <a:latin typeface="+mn-lt"/>
                <a:cs typeface="+mn-cs"/>
              </a:rPr>
              <a:t>Первым в заголовок включаем</a:t>
            </a:r>
            <a:r>
              <a:rPr lang="ru-RU" sz="3000" b="1" dirty="0">
                <a:solidFill>
                  <a:schemeClr val="accent1">
                    <a:lumMod val="50000"/>
                  </a:schemeClr>
                </a:solidFill>
                <a:latin typeface="+mn-lt"/>
                <a:cs typeface="+mn-cs"/>
              </a:rPr>
              <a:t> </a:t>
            </a:r>
            <a:r>
              <a:rPr lang="en-US" sz="3200" b="1" dirty="0">
                <a:solidFill>
                  <a:schemeClr val="accent1">
                    <a:lumMod val="50000"/>
                  </a:schemeClr>
                </a:solidFill>
                <a:latin typeface="+mn-lt"/>
                <a:cs typeface="+mn-cs"/>
              </a:rPr>
              <a:t>#</a:t>
            </a:r>
            <a:r>
              <a:rPr lang="en-US" sz="3200" b="1" dirty="0" err="1">
                <a:solidFill>
                  <a:schemeClr val="accent1">
                    <a:lumMod val="50000"/>
                  </a:schemeClr>
                </a:solidFill>
                <a:latin typeface="+mn-lt"/>
                <a:cs typeface="+mn-cs"/>
              </a:rPr>
              <a:t>include"array.h</a:t>
            </a:r>
            <a:r>
              <a:rPr lang="en-US" sz="3200" b="1" dirty="0">
                <a:solidFill>
                  <a:schemeClr val="accent1">
                    <a:lumMod val="50000"/>
                  </a:schemeClr>
                </a:solidFill>
                <a:latin typeface="+mn-lt"/>
                <a:cs typeface="+mn-cs"/>
              </a:rPr>
              <a:t>"</a:t>
            </a:r>
            <a:endParaRPr lang="ru-RU" sz="3000" b="1" dirty="0">
              <a:solidFill>
                <a:schemeClr val="accent1">
                  <a:lumMod val="50000"/>
                </a:schemeClr>
              </a:solidFill>
              <a:latin typeface="+mn-lt"/>
              <a:cs typeface="+mn-cs"/>
            </a:endParaRPr>
          </a:p>
        </p:txBody>
      </p:sp>
      <p:sp>
        <p:nvSpPr>
          <p:cNvPr id="3" name="Овал 2"/>
          <p:cNvSpPr/>
          <p:nvPr/>
        </p:nvSpPr>
        <p:spPr bwMode="auto">
          <a:xfrm>
            <a:off x="2051720" y="1556792"/>
            <a:ext cx="1944216" cy="50405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ru-RU"/>
          </a:p>
        </p:txBody>
      </p:sp>
      <p:sp>
        <p:nvSpPr>
          <p:cNvPr id="4" name="Овал 3"/>
          <p:cNvSpPr/>
          <p:nvPr/>
        </p:nvSpPr>
        <p:spPr bwMode="auto">
          <a:xfrm>
            <a:off x="297656" y="2492896"/>
            <a:ext cx="1105992" cy="41750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ru-RU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67518" y="72231"/>
            <a:ext cx="8208963" cy="5847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ru-RU" sz="3200" dirty="0">
                <a:latin typeface="+mn-lt"/>
                <a:cs typeface="+mn-cs"/>
              </a:rPr>
              <a:t>В файле </a:t>
            </a:r>
            <a:r>
              <a:rPr lang="en-US" sz="3200" b="1" dirty="0">
                <a:solidFill>
                  <a:schemeClr val="accent1">
                    <a:lumMod val="50000"/>
                  </a:schemeClr>
                </a:solidFill>
                <a:latin typeface="+mn-lt"/>
                <a:cs typeface="+mn-cs"/>
              </a:rPr>
              <a:t>mas.cpp </a:t>
            </a:r>
            <a:r>
              <a:rPr lang="ru-RU" sz="3200" dirty="0">
                <a:latin typeface="+mn-lt"/>
                <a:cs typeface="+mn-cs"/>
              </a:rPr>
              <a:t>осталась функция</a:t>
            </a:r>
            <a:r>
              <a:rPr lang="en-US" sz="3200" dirty="0">
                <a:latin typeface="+mn-lt"/>
                <a:cs typeface="+mn-cs"/>
              </a:rPr>
              <a:t> </a:t>
            </a:r>
            <a:r>
              <a:rPr lang="en-US" sz="3200" b="1" dirty="0">
                <a:solidFill>
                  <a:schemeClr val="accent1">
                    <a:lumMod val="50000"/>
                  </a:schemeClr>
                </a:solidFill>
                <a:latin typeface="+mn-lt"/>
                <a:cs typeface="+mn-cs"/>
              </a:rPr>
              <a:t>main()</a:t>
            </a:r>
            <a:endParaRPr lang="ru-RU" sz="3200" b="1" dirty="0">
              <a:solidFill>
                <a:schemeClr val="accent1">
                  <a:lumMod val="50000"/>
                </a:schemeClr>
              </a:solidFill>
              <a:latin typeface="+mn-lt"/>
              <a:cs typeface="+mn-cs"/>
            </a:endParaRPr>
          </a:p>
        </p:txBody>
      </p:sp>
      <p:pic>
        <p:nvPicPr>
          <p:cNvPr id="9220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124744"/>
            <a:ext cx="9144000" cy="53332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Line 2"/>
          <p:cNvSpPr>
            <a:spLocks noChangeShapeType="1"/>
          </p:cNvSpPr>
          <p:nvPr/>
        </p:nvSpPr>
        <p:spPr bwMode="auto">
          <a:xfrm>
            <a:off x="376238" y="620688"/>
            <a:ext cx="8464550" cy="0"/>
          </a:xfrm>
          <a:prstGeom prst="line">
            <a:avLst/>
          </a:prstGeom>
          <a:noFill/>
          <a:ln w="38100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ru-RU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ine 2"/>
          <p:cNvSpPr>
            <a:spLocks noChangeShapeType="1"/>
          </p:cNvSpPr>
          <p:nvPr/>
        </p:nvSpPr>
        <p:spPr bwMode="auto">
          <a:xfrm>
            <a:off x="376238" y="620688"/>
            <a:ext cx="8464550" cy="0"/>
          </a:xfrm>
          <a:prstGeom prst="line">
            <a:avLst/>
          </a:prstGeom>
          <a:noFill/>
          <a:ln w="38100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4" name="TextBox 3"/>
          <p:cNvSpPr txBox="1"/>
          <p:nvPr/>
        </p:nvSpPr>
        <p:spPr>
          <a:xfrm>
            <a:off x="467518" y="72231"/>
            <a:ext cx="8208963" cy="5847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ru-RU" sz="3200" dirty="0" smtClean="0">
                <a:latin typeface="+mn-lt"/>
                <a:cs typeface="+mn-cs"/>
              </a:rPr>
              <a:t>Результат работы программы</a:t>
            </a:r>
            <a:endParaRPr lang="ru-RU" sz="3200" b="1" dirty="0">
              <a:solidFill>
                <a:schemeClr val="accent1">
                  <a:lumMod val="50000"/>
                </a:schemeClr>
              </a:solidFill>
              <a:latin typeface="+mn-lt"/>
              <a:cs typeface="+mn-cs"/>
            </a:endParaRPr>
          </a:p>
        </p:txBody>
      </p:sp>
      <p:pic>
        <p:nvPicPr>
          <p:cNvPr id="1229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3" y="1124744"/>
            <a:ext cx="7283095" cy="38884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="" xmlns:p14="http://schemas.microsoft.com/office/powerpoint/2010/main" val="9655331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extBox 2"/>
          <p:cNvSpPr txBox="1">
            <a:spLocks noChangeArrowheads="1"/>
          </p:cNvSpPr>
          <p:nvPr/>
        </p:nvSpPr>
        <p:spPr bwMode="auto">
          <a:xfrm>
            <a:off x="340996" y="1124744"/>
            <a:ext cx="8584722" cy="39703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ru-RU" altLang="ru-RU" sz="2800" dirty="0" smtClean="0"/>
              <a:t>В файле </a:t>
            </a:r>
            <a:r>
              <a:rPr lang="en-US" altLang="ru-RU" sz="2800" b="1" dirty="0" err="1" smtClean="0"/>
              <a:t>arrray</a:t>
            </a:r>
            <a:r>
              <a:rPr lang="ru-RU" altLang="ru-RU" sz="2800" b="1" dirty="0" smtClean="0"/>
              <a:t>.h </a:t>
            </a:r>
            <a:r>
              <a:rPr lang="ru-RU" altLang="ru-RU" sz="2800" dirty="0" smtClean="0"/>
              <a:t>находится класс </a:t>
            </a:r>
            <a:r>
              <a:rPr lang="en-US" altLang="ru-RU" sz="28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Array</a:t>
            </a:r>
            <a:r>
              <a:rPr lang="ru-RU" altLang="ru-RU" sz="2800" dirty="0" smtClean="0"/>
              <a:t> </a:t>
            </a:r>
            <a:endParaRPr lang="en-US" altLang="ru-RU" sz="2800" dirty="0" smtClean="0"/>
          </a:p>
          <a:p>
            <a:r>
              <a:rPr lang="ru-RU" altLang="ru-RU" sz="2800" dirty="0"/>
              <a:t>В</a:t>
            </a:r>
            <a:r>
              <a:rPr lang="ru-RU" altLang="ru-RU" sz="2800" dirty="0" smtClean="0"/>
              <a:t>  файле</a:t>
            </a:r>
            <a:r>
              <a:rPr lang="en-US" altLang="ru-RU" sz="2800" dirty="0" smtClean="0"/>
              <a:t> </a:t>
            </a:r>
            <a:r>
              <a:rPr lang="en-US" altLang="ru-RU" sz="2800" b="1" dirty="0" smtClean="0"/>
              <a:t>array</a:t>
            </a:r>
            <a:r>
              <a:rPr lang="ru-RU" altLang="ru-RU" sz="2800" b="1" dirty="0" smtClean="0"/>
              <a:t>.</a:t>
            </a:r>
            <a:r>
              <a:rPr lang="ru-RU" altLang="ru-RU" sz="2800" b="1" dirty="0" err="1" smtClean="0"/>
              <a:t>cpp</a:t>
            </a:r>
            <a:r>
              <a:rPr lang="en-US" altLang="ru-RU" sz="2800" b="1" dirty="0" smtClean="0"/>
              <a:t> </a:t>
            </a:r>
            <a:r>
              <a:rPr lang="ru-RU" altLang="ru-RU" sz="2800" b="1" dirty="0" smtClean="0"/>
              <a:t>н</a:t>
            </a:r>
            <a:r>
              <a:rPr lang="ru-RU" altLang="ru-RU" sz="2800" dirty="0" smtClean="0"/>
              <a:t>аходятся</a:t>
            </a:r>
            <a:r>
              <a:rPr lang="en-US" altLang="ru-RU" sz="2800" dirty="0" smtClean="0"/>
              <a:t> </a:t>
            </a:r>
            <a:r>
              <a:rPr lang="ru-RU" altLang="ru-RU" sz="2800" b="1" smtClean="0"/>
              <a:t>методы</a:t>
            </a:r>
            <a:r>
              <a:rPr lang="ru-RU" altLang="ru-RU" sz="2800" smtClean="0"/>
              <a:t> класса</a:t>
            </a:r>
            <a:r>
              <a:rPr lang="ru-RU" altLang="ru-RU" sz="2800" b="1" smtClean="0"/>
              <a:t> </a:t>
            </a:r>
            <a:r>
              <a:rPr lang="ru-RU" altLang="ru-RU" sz="2800" dirty="0" smtClean="0"/>
              <a:t> </a:t>
            </a:r>
          </a:p>
          <a:p>
            <a:r>
              <a:rPr lang="ru-RU" altLang="ru-RU" sz="2800" dirty="0" smtClean="0"/>
              <a:t>В файле </a:t>
            </a:r>
            <a:r>
              <a:rPr lang="en-US" altLang="ru-RU" sz="2800" b="1" dirty="0" smtClean="0"/>
              <a:t>mas</a:t>
            </a:r>
            <a:r>
              <a:rPr lang="ru-RU" altLang="ru-RU" sz="2800" b="1" dirty="0" smtClean="0"/>
              <a:t>.</a:t>
            </a:r>
            <a:r>
              <a:rPr lang="ru-RU" altLang="ru-RU" sz="2800" b="1" dirty="0" err="1" smtClean="0"/>
              <a:t>cpp</a:t>
            </a:r>
            <a:r>
              <a:rPr lang="ru-RU" altLang="ru-RU" sz="2800" dirty="0" smtClean="0"/>
              <a:t>  находится  </a:t>
            </a:r>
            <a:r>
              <a:rPr lang="ru-RU" altLang="ru-RU" sz="2800" b="1" dirty="0" err="1" smtClean="0"/>
              <a:t>main</a:t>
            </a:r>
            <a:r>
              <a:rPr lang="ru-RU" altLang="ru-RU" sz="2800" b="1" dirty="0" smtClean="0"/>
              <a:t>()</a:t>
            </a:r>
            <a:r>
              <a:rPr lang="en-US" altLang="ru-RU" sz="2800" b="1" dirty="0" smtClean="0"/>
              <a:t> </a:t>
            </a:r>
            <a:r>
              <a:rPr lang="ru-RU" altLang="ru-RU" sz="2800" dirty="0" smtClean="0"/>
              <a:t> .</a:t>
            </a:r>
          </a:p>
          <a:p>
            <a:endParaRPr lang="ru-RU" altLang="ru-RU" sz="2800" dirty="0" smtClean="0"/>
          </a:p>
          <a:p>
            <a:r>
              <a:rPr lang="ru-RU" altLang="ru-RU" sz="2800" dirty="0" smtClean="0"/>
              <a:t>Файлы </a:t>
            </a:r>
            <a:r>
              <a:rPr lang="en-US" altLang="ru-RU" sz="2800" b="1" dirty="0" err="1" smtClean="0"/>
              <a:t>arrray</a:t>
            </a:r>
            <a:r>
              <a:rPr lang="ru-RU" altLang="ru-RU" sz="2800" b="1" dirty="0" smtClean="0"/>
              <a:t>.h</a:t>
            </a:r>
            <a:r>
              <a:rPr lang="ru-RU" altLang="ru-RU" sz="2800" dirty="0" smtClean="0"/>
              <a:t> и </a:t>
            </a:r>
            <a:r>
              <a:rPr lang="en-US" altLang="ru-RU" sz="2800" b="1" dirty="0" err="1" smtClean="0"/>
              <a:t>arrray</a:t>
            </a:r>
            <a:r>
              <a:rPr lang="ru-RU" altLang="ru-RU" sz="2800" b="1" dirty="0" smtClean="0"/>
              <a:t>.</a:t>
            </a:r>
            <a:r>
              <a:rPr lang="en-US" altLang="ru-RU" sz="2800" b="1" dirty="0" err="1" smtClean="0"/>
              <a:t>cpp</a:t>
            </a:r>
            <a:r>
              <a:rPr lang="en-US" altLang="ru-RU" sz="2800" b="1" dirty="0" smtClean="0"/>
              <a:t> </a:t>
            </a:r>
            <a:r>
              <a:rPr lang="ru-RU" altLang="ru-RU" sz="2800" dirty="0" smtClean="0"/>
              <a:t>можно использовать </a:t>
            </a:r>
          </a:p>
          <a:p>
            <a:r>
              <a:rPr lang="ru-RU" altLang="ru-RU" sz="2800" dirty="0" smtClean="0"/>
              <a:t>в других программах. </a:t>
            </a:r>
          </a:p>
          <a:p>
            <a:r>
              <a:rPr lang="ru-RU" altLang="ru-RU" sz="2800" dirty="0" smtClean="0"/>
              <a:t>Их нужно скопировать в папку с вашей новой </a:t>
            </a:r>
          </a:p>
          <a:p>
            <a:r>
              <a:rPr lang="ru-RU" altLang="ru-RU" sz="2800" dirty="0" smtClean="0"/>
              <a:t>программой *.</a:t>
            </a:r>
            <a:r>
              <a:rPr lang="en-US" altLang="ru-RU" sz="2800" dirty="0" err="1" smtClean="0"/>
              <a:t>cpp</a:t>
            </a:r>
            <a:r>
              <a:rPr lang="en-US" altLang="ru-RU" sz="2800" dirty="0" smtClean="0"/>
              <a:t> </a:t>
            </a:r>
            <a:endParaRPr lang="ru-RU" altLang="ru-RU" sz="2800" dirty="0" smtClean="0"/>
          </a:p>
          <a:p>
            <a:r>
              <a:rPr lang="ru-RU" altLang="ru-RU" sz="2800" dirty="0" smtClean="0"/>
              <a:t>В первой строке программы написать </a:t>
            </a:r>
            <a:r>
              <a:rPr lang="en-US" sz="2800" dirty="0" smtClean="0">
                <a:solidFill>
                  <a:srgbClr val="0000FF"/>
                </a:solidFill>
              </a:rPr>
              <a:t>#</a:t>
            </a:r>
            <a:r>
              <a:rPr lang="en-US" sz="2800" dirty="0" err="1" smtClean="0">
                <a:solidFill>
                  <a:srgbClr val="0000FF"/>
                </a:solidFill>
              </a:rPr>
              <a:t>include</a:t>
            </a:r>
            <a:r>
              <a:rPr lang="en-US" sz="2800" dirty="0" err="1" smtClean="0">
                <a:solidFill>
                  <a:srgbClr val="A31515"/>
                </a:solidFill>
              </a:rPr>
              <a:t>"array.h</a:t>
            </a:r>
            <a:r>
              <a:rPr lang="en-US" sz="2800" dirty="0" smtClean="0">
                <a:solidFill>
                  <a:srgbClr val="A31515"/>
                </a:solidFill>
              </a:rPr>
              <a:t>"</a:t>
            </a:r>
            <a:endParaRPr lang="ru-RU" altLang="ru-RU" sz="2800" dirty="0" smtClean="0"/>
          </a:p>
        </p:txBody>
      </p:sp>
      <p:sp>
        <p:nvSpPr>
          <p:cNvPr id="3" name="Line 2"/>
          <p:cNvSpPr>
            <a:spLocks noChangeShapeType="1"/>
          </p:cNvSpPr>
          <p:nvPr/>
        </p:nvSpPr>
        <p:spPr bwMode="auto">
          <a:xfrm>
            <a:off x="376238" y="620688"/>
            <a:ext cx="8464550" cy="0"/>
          </a:xfrm>
          <a:prstGeom prst="line">
            <a:avLst/>
          </a:prstGeom>
          <a:noFill/>
          <a:ln w="38100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4" name="TextBox 3"/>
          <p:cNvSpPr txBox="1"/>
          <p:nvPr/>
        </p:nvSpPr>
        <p:spPr>
          <a:xfrm>
            <a:off x="467518" y="72231"/>
            <a:ext cx="8208963" cy="5847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ru-RU" sz="3200" b="1" dirty="0" smtClean="0">
                <a:latin typeface="+mn-lt"/>
                <a:cs typeface="+mn-cs"/>
              </a:rPr>
              <a:t>Вывод</a:t>
            </a:r>
            <a:endParaRPr lang="ru-RU" sz="3200" b="1" dirty="0">
              <a:solidFill>
                <a:schemeClr val="accent1">
                  <a:lumMod val="50000"/>
                </a:schemeClr>
              </a:solidFill>
              <a:latin typeface="+mn-lt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200</TotalTime>
  <Words>300</Words>
  <Application>Microsoft Office PowerPoint</Application>
  <PresentationFormat>Экран (4:3)</PresentationFormat>
  <Paragraphs>97</Paragraphs>
  <Slides>14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18" baseType="lpstr">
      <vt:lpstr>Arial</vt:lpstr>
      <vt:lpstr>Calibri</vt:lpstr>
      <vt:lpstr>Courier New</vt:lpstr>
      <vt:lpstr>Тема Office</vt:lpstr>
      <vt:lpstr>Слайд 1</vt:lpstr>
      <vt:lpstr>Слайд 2</vt:lpstr>
      <vt:lpstr>Слайд 3</vt:lpstr>
      <vt:lpstr>Слайд 4</vt:lpstr>
      <vt:lpstr>Слайд 5</vt:lpstr>
      <vt:lpstr>Слайд 6</vt:lpstr>
      <vt:lpstr>Слайд 7</vt:lpstr>
      <vt:lpstr>Слайд 8</vt:lpstr>
      <vt:lpstr>Слайд 9</vt:lpstr>
      <vt:lpstr>Слайд 10</vt:lpstr>
      <vt:lpstr>Слайд 11</vt:lpstr>
      <vt:lpstr>Слайд 12</vt:lpstr>
      <vt:lpstr>Слайд 13</vt:lpstr>
      <vt:lpstr>Слайд 14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admin</dc:creator>
  <cp:lastModifiedBy>kiryakinax</cp:lastModifiedBy>
  <cp:revision>49</cp:revision>
  <dcterms:created xsi:type="dcterms:W3CDTF">2014-09-22T05:40:02Z</dcterms:created>
  <dcterms:modified xsi:type="dcterms:W3CDTF">2017-04-12T03:28:09Z</dcterms:modified>
</cp:coreProperties>
</file>