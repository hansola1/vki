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0" r:id="rId3"/>
    <p:sldId id="301" r:id="rId4"/>
    <p:sldId id="302" r:id="rId5"/>
    <p:sldId id="303" r:id="rId6"/>
    <p:sldId id="304" r:id="rId7"/>
    <p:sldId id="306" r:id="rId8"/>
    <p:sldId id="305" r:id="rId9"/>
    <p:sldId id="307" r:id="rId10"/>
    <p:sldId id="308" r:id="rId11"/>
    <p:sldId id="286" r:id="rId12"/>
    <p:sldId id="310" r:id="rId13"/>
    <p:sldId id="311" r:id="rId14"/>
    <p:sldId id="312" r:id="rId15"/>
    <p:sldId id="314" r:id="rId16"/>
    <p:sldId id="313" r:id="rId17"/>
    <p:sldId id="316" r:id="rId18"/>
    <p:sldId id="317" r:id="rId19"/>
    <p:sldId id="318" r:id="rId20"/>
    <p:sldId id="315" r:id="rId21"/>
    <p:sldId id="321" r:id="rId22"/>
    <p:sldId id="319" r:id="rId23"/>
    <p:sldId id="320" r:id="rId24"/>
    <p:sldId id="322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7" r:id="rId38"/>
    <p:sldId id="323" r:id="rId39"/>
    <p:sldId id="324" r:id="rId40"/>
    <p:sldId id="339" r:id="rId41"/>
    <p:sldId id="338" r:id="rId42"/>
    <p:sldId id="340" r:id="rId43"/>
    <p:sldId id="341" r:id="rId44"/>
    <p:sldId id="342" r:id="rId45"/>
    <p:sldId id="343" r:id="rId46"/>
    <p:sldId id="344" r:id="rId47"/>
    <p:sldId id="345" r:id="rId48"/>
    <p:sldId id="346" r:id="rId49"/>
    <p:sldId id="347" r:id="rId50"/>
    <p:sldId id="348" r:id="rId5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>
      <p:cViewPr varScale="1">
        <p:scale>
          <a:sx n="105" d="100"/>
          <a:sy n="105" d="100"/>
        </p:scale>
        <p:origin x="-19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26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4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83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08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477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20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831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91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59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388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EC5D4-BD1B-4752-A35D-2E65CFB2B930}" type="datetimeFigureOut">
              <a:rPr lang="ru-RU" smtClean="0"/>
              <a:t>02.12.2015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50169-326C-44B9-A1FD-10694B3E8A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71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Множественное наследование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250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13. Множественное 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27323" y="692696"/>
            <a:ext cx="87651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Пример иерархии вида: </a:t>
            </a:r>
            <a:r>
              <a:rPr lang="ru-RU" sz="3200" dirty="0" smtClean="0"/>
              <a:t> </a:t>
            </a:r>
            <a:r>
              <a:rPr lang="en-US" sz="3200" dirty="0" smtClean="0"/>
              <a:t>B1 </a:t>
            </a:r>
            <a:r>
              <a:rPr lang="ru-RU" sz="3200" dirty="0" smtClean="0"/>
              <a:t> </a:t>
            </a:r>
            <a:r>
              <a:rPr lang="en-US" sz="3200" dirty="0" smtClean="0"/>
              <a:t>←</a:t>
            </a:r>
            <a:r>
              <a:rPr lang="ru-RU" sz="3200" dirty="0" smtClean="0"/>
              <a:t> </a:t>
            </a:r>
            <a:r>
              <a:rPr lang="en-US" sz="3200" dirty="0" smtClean="0"/>
              <a:t>D1</a:t>
            </a:r>
            <a:r>
              <a:rPr lang="ru-RU" sz="3200" dirty="0" smtClean="0"/>
              <a:t>  </a:t>
            </a:r>
            <a:r>
              <a:rPr lang="en-US" sz="3200" dirty="0" smtClean="0"/>
              <a:t>← </a:t>
            </a:r>
            <a:r>
              <a:rPr lang="ru-RU" sz="3200" dirty="0" smtClean="0"/>
              <a:t> </a:t>
            </a:r>
            <a:r>
              <a:rPr lang="en-US" sz="3200" dirty="0" smtClean="0"/>
              <a:t>D2 </a:t>
            </a:r>
            <a:endParaRPr lang="en-US" sz="3200" dirty="0"/>
          </a:p>
          <a:p>
            <a:r>
              <a:rPr lang="ru-RU" sz="3200" dirty="0"/>
              <a:t>Конструкторы вызываются в порядке наследования. Деструкторы – в обратном порядке. </a:t>
            </a:r>
            <a:endParaRPr lang="ru-RU" sz="30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8795" y="2924944"/>
            <a:ext cx="8927701" cy="353943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B1 { 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объявление базового класса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B1(</a:t>
            </a:r>
            <a:r>
              <a:rPr lang="ru-RU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x) { a = x; }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конструктор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a; }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46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13. Множественное 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8795" y="692696"/>
            <a:ext cx="8927701" cy="483209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Прямое наследование базового класса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D1 :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B1 {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передача переменной y классу B1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D1(</a:t>
            </a:r>
            <a:r>
              <a:rPr lang="ru-RU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ru-RU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y) : B1(y) {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конструктор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b = x;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b; }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2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13. Множественное 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25403" y="627067"/>
            <a:ext cx="8927702" cy="618630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ru-RU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Прямое наследование производного класса</a:t>
            </a:r>
          </a:p>
          <a:p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и косвенное наследование базового класса</a:t>
            </a:r>
          </a:p>
          <a:p>
            <a:r>
              <a:rPr lang="en-US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D2 : </a:t>
            </a:r>
            <a:r>
              <a:rPr lang="en-US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D1 {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r>
              <a:rPr lang="en-US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передача аргументов классу </a:t>
            </a:r>
            <a:r>
              <a:rPr lang="en-US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D1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D2(</a:t>
            </a:r>
            <a:r>
              <a:rPr lang="en-US" sz="22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22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y, </a:t>
            </a:r>
            <a:r>
              <a:rPr lang="en-US" sz="22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 : D1(y, z)  { </a:t>
            </a:r>
            <a:r>
              <a:rPr lang="en-US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конструктор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 = x;</a:t>
            </a:r>
          </a:p>
          <a:p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Поскольку базовые классы наследуются как открытые, класс D2 имеет доступ к открытым элементам классов B1 и D1 */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show() {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2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2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c &lt;&lt; </a:t>
            </a:r>
            <a:r>
              <a:rPr lang="en-US" sz="22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2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94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13. Множественное 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8794" y="692696"/>
            <a:ext cx="8927702" cy="3970318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D2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2, 3);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obj.show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функции </a:t>
            </a:r>
            <a:r>
              <a:rPr lang="ru-RU" sz="28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и </a:t>
            </a:r>
            <a:r>
              <a:rPr lang="ru-RU" sz="28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здесь тоже открыты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obj.geta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8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obj.getb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86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14. </a:t>
            </a:r>
            <a:r>
              <a:rPr lang="ru-RU" sz="3200" b="1" dirty="0" smtClean="0"/>
              <a:t>Множественное </a:t>
            </a:r>
            <a:r>
              <a:rPr lang="ru-RU" sz="3200" b="1" dirty="0"/>
              <a:t>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8795" y="764704"/>
            <a:ext cx="87836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Пример множественного наследования вида: </a:t>
            </a:r>
          </a:p>
          <a:p>
            <a:r>
              <a:rPr lang="ru-RU" sz="2800" dirty="0" smtClean="0"/>
              <a:t>               	</a:t>
            </a:r>
            <a:r>
              <a:rPr lang="en-US" sz="2800" b="1" dirty="0" smtClean="0"/>
              <a:t>B1 </a:t>
            </a:r>
            <a:r>
              <a:rPr lang="ru-RU" sz="2800" b="1" dirty="0" smtClean="0"/>
              <a:t>     	   </a:t>
            </a:r>
            <a:r>
              <a:rPr lang="en-US" sz="2800" b="1" dirty="0" smtClean="0"/>
              <a:t>B2 </a:t>
            </a:r>
            <a:r>
              <a:rPr lang="ru-RU" sz="2800" b="1" dirty="0" smtClean="0"/>
              <a:t> </a:t>
            </a:r>
          </a:p>
          <a:p>
            <a:r>
              <a:rPr lang="ru-RU" sz="2800" b="1" dirty="0"/>
              <a:t>	 </a:t>
            </a:r>
            <a:r>
              <a:rPr lang="ru-RU" sz="2800" b="1" dirty="0" smtClean="0"/>
              <a:t>     	    ↘     ↙</a:t>
            </a:r>
            <a:endParaRPr lang="en-US" sz="2800" b="1" dirty="0"/>
          </a:p>
          <a:p>
            <a:r>
              <a:rPr lang="ru-RU" sz="2800" b="1" dirty="0" smtClean="0"/>
              <a:t>                     	         </a:t>
            </a:r>
            <a:r>
              <a:rPr lang="en-US" sz="2800" b="1" dirty="0" smtClean="0"/>
              <a:t>D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904656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</a:t>
            </a:r>
            <a:r>
              <a:rPr lang="ru-RU" sz="3200" b="1" dirty="0" smtClean="0"/>
              <a:t>15. Множественное </a:t>
            </a:r>
            <a:r>
              <a:rPr lang="ru-RU" sz="3200" b="1" dirty="0"/>
              <a:t>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8795" y="764704"/>
            <a:ext cx="878368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Конструктор и деструктор при множественном наследовании </a:t>
            </a:r>
            <a:endParaRPr lang="ru-RU" sz="2800" dirty="0"/>
          </a:p>
          <a:p>
            <a:r>
              <a:rPr lang="ru-RU" sz="2800" dirty="0"/>
              <a:t>Порядок вызова конструкторов и деструкторов при множественном наследовании: </a:t>
            </a:r>
            <a:r>
              <a:rPr lang="ru-RU" sz="2800" dirty="0" smtClean="0"/>
              <a:t>               	</a:t>
            </a:r>
          </a:p>
          <a:p>
            <a:r>
              <a:rPr lang="ru-RU" sz="2800" b="1" dirty="0"/>
              <a:t>	</a:t>
            </a:r>
            <a:r>
              <a:rPr lang="ru-RU" sz="2800" b="1" dirty="0" smtClean="0"/>
              <a:t>	</a:t>
            </a:r>
            <a:r>
              <a:rPr lang="en-US" sz="2800" b="1" dirty="0" smtClean="0"/>
              <a:t>B1 </a:t>
            </a:r>
            <a:r>
              <a:rPr lang="ru-RU" sz="2800" b="1" dirty="0" smtClean="0"/>
              <a:t>     	   </a:t>
            </a:r>
            <a:r>
              <a:rPr lang="en-US" sz="2800" b="1" dirty="0" smtClean="0"/>
              <a:t>B2 </a:t>
            </a:r>
            <a:r>
              <a:rPr lang="ru-RU" sz="2800" b="1" dirty="0" smtClean="0"/>
              <a:t> </a:t>
            </a:r>
          </a:p>
          <a:p>
            <a:r>
              <a:rPr lang="ru-RU" sz="2800" b="1" dirty="0"/>
              <a:t>	 </a:t>
            </a:r>
            <a:r>
              <a:rPr lang="ru-RU" sz="2800" b="1" dirty="0" smtClean="0"/>
              <a:t>     	    ↘     ↙</a:t>
            </a:r>
            <a:endParaRPr lang="en-US" sz="2800" b="1" dirty="0"/>
          </a:p>
          <a:p>
            <a:r>
              <a:rPr lang="ru-RU" sz="2800" b="1" dirty="0" smtClean="0"/>
              <a:t>                     	         </a:t>
            </a:r>
            <a:r>
              <a:rPr lang="en-US" sz="2800" b="1" dirty="0" smtClean="0"/>
              <a:t>D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492504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</a:t>
            </a:r>
            <a:r>
              <a:rPr lang="ru-RU" sz="3200" b="1" dirty="0" smtClean="0"/>
              <a:t>16. Множественное </a:t>
            </a:r>
            <a:r>
              <a:rPr lang="ru-RU" sz="3200" b="1" dirty="0"/>
              <a:t>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8795" y="764704"/>
            <a:ext cx="87836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Неопределенность </a:t>
            </a:r>
            <a:endParaRPr lang="ru-RU" sz="2800" dirty="0"/>
          </a:p>
          <a:p>
            <a:r>
              <a:rPr lang="ru-RU" sz="2800" dirty="0" smtClean="0"/>
              <a:t>В </a:t>
            </a:r>
            <a:r>
              <a:rPr lang="ru-RU" sz="2800" dirty="0"/>
              <a:t>каждом базовом классе есть свой метод </a:t>
            </a:r>
            <a:r>
              <a:rPr lang="ru-RU" sz="2800" dirty="0" err="1"/>
              <a:t>Print</a:t>
            </a:r>
            <a:r>
              <a:rPr lang="ru-RU" sz="2800" dirty="0"/>
              <a:t>. В производном классе такой метод отсутствует. При вызове метода </a:t>
            </a:r>
            <a:r>
              <a:rPr lang="ru-RU" sz="2800" dirty="0" err="1"/>
              <a:t>Print</a:t>
            </a:r>
            <a:r>
              <a:rPr lang="ru-RU" sz="2800" dirty="0"/>
              <a:t> из производного класса возникает неопределенность!</a:t>
            </a:r>
            <a:r>
              <a:rPr lang="ru-RU" sz="2800" dirty="0" smtClean="0"/>
              <a:t>               </a:t>
            </a:r>
          </a:p>
          <a:p>
            <a:r>
              <a:rPr lang="ru-RU" sz="2800" dirty="0"/>
              <a:t>Пример множественного наследования вида: </a:t>
            </a:r>
          </a:p>
          <a:p>
            <a:r>
              <a:rPr lang="ru-RU" sz="2800" dirty="0" smtClean="0"/>
              <a:t>	           	</a:t>
            </a:r>
            <a:r>
              <a:rPr lang="en-US" sz="2800" b="1" dirty="0" smtClean="0"/>
              <a:t>B1 </a:t>
            </a:r>
            <a:r>
              <a:rPr lang="ru-RU" sz="2800" b="1" dirty="0" smtClean="0"/>
              <a:t>     	   </a:t>
            </a:r>
            <a:r>
              <a:rPr lang="en-US" sz="2800" b="1" dirty="0" smtClean="0"/>
              <a:t>B2 </a:t>
            </a:r>
            <a:r>
              <a:rPr lang="ru-RU" sz="2800" b="1" dirty="0" smtClean="0"/>
              <a:t> </a:t>
            </a:r>
          </a:p>
          <a:p>
            <a:r>
              <a:rPr lang="ru-RU" sz="2800" b="1" dirty="0"/>
              <a:t>	 </a:t>
            </a:r>
            <a:r>
              <a:rPr lang="ru-RU" sz="2800" b="1" dirty="0" smtClean="0"/>
              <a:t>     	    ↘     ↙</a:t>
            </a:r>
            <a:endParaRPr lang="en-US" sz="2800" b="1" dirty="0"/>
          </a:p>
          <a:p>
            <a:r>
              <a:rPr lang="ru-RU" sz="2800" b="1" dirty="0" smtClean="0"/>
              <a:t>                     	         </a:t>
            </a:r>
            <a:r>
              <a:rPr lang="en-US" sz="2800" b="1" dirty="0" smtClean="0"/>
              <a:t>D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208901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</a:t>
            </a:r>
            <a:r>
              <a:rPr lang="ru-RU" sz="3200" b="1" dirty="0" smtClean="0"/>
              <a:t>17. Множественное </a:t>
            </a:r>
            <a:r>
              <a:rPr lang="ru-RU" sz="3200" b="1" dirty="0"/>
              <a:t>наследование </a:t>
            </a:r>
            <a:r>
              <a:rPr lang="ru-RU" sz="3200" b="1" dirty="0" smtClean="0"/>
              <a:t> </a:t>
            </a:r>
            <a:endParaRPr lang="ru-RU" sz="32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8795" y="764704"/>
            <a:ext cx="878368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Неопределенность </a:t>
            </a:r>
            <a:endParaRPr lang="ru-RU" sz="2800" dirty="0"/>
          </a:p>
          <a:p>
            <a:r>
              <a:rPr lang="ru-RU" sz="2800" dirty="0" smtClean="0"/>
              <a:t>В </a:t>
            </a:r>
            <a:r>
              <a:rPr lang="ru-RU" sz="2800" dirty="0"/>
              <a:t>этом случае класс B фактически наследуется классом D3 дважды – через класс </a:t>
            </a:r>
            <a:r>
              <a:rPr lang="en-US" sz="2800" dirty="0" smtClean="0"/>
              <a:t>D</a:t>
            </a:r>
            <a:r>
              <a:rPr lang="ru-RU" sz="2800" dirty="0" smtClean="0"/>
              <a:t>1 </a:t>
            </a:r>
            <a:r>
              <a:rPr lang="ru-RU" sz="2800" dirty="0"/>
              <a:t>и </a:t>
            </a:r>
            <a:r>
              <a:rPr lang="en-US" sz="2800" dirty="0" smtClean="0"/>
              <a:t>D</a:t>
            </a:r>
            <a:r>
              <a:rPr lang="ru-RU" sz="2800" dirty="0" smtClean="0"/>
              <a:t>2</a:t>
            </a:r>
            <a:r>
              <a:rPr lang="ru-RU" sz="2800" dirty="0"/>
              <a:t>. Если в классе D3 необходимо использовать член класса B, это вызовет неоднозначность, поскольку в классе D3 имеется две копии класса B. </a:t>
            </a:r>
            <a:r>
              <a:rPr lang="ru-RU" sz="2800" dirty="0" smtClean="0"/>
              <a:t>	</a:t>
            </a:r>
            <a:endParaRPr lang="en-US" sz="2800" dirty="0" smtClean="0"/>
          </a:p>
          <a:p>
            <a:r>
              <a:rPr lang="ru-RU" sz="2800" dirty="0"/>
              <a:t>Пример множественного наследования вида: </a:t>
            </a:r>
          </a:p>
          <a:p>
            <a:r>
              <a:rPr lang="en-US" sz="2800" dirty="0" smtClean="0"/>
              <a:t>	</a:t>
            </a:r>
            <a:r>
              <a:rPr lang="en-US" sz="2800" b="1" dirty="0" smtClean="0"/>
              <a:t>	</a:t>
            </a:r>
            <a:r>
              <a:rPr lang="ru-RU" sz="2800" b="1" dirty="0" smtClean="0"/>
              <a:t>        </a:t>
            </a:r>
            <a:r>
              <a:rPr lang="en-US" sz="2800" b="1" dirty="0" smtClean="0"/>
              <a:t>B</a:t>
            </a:r>
            <a:r>
              <a:rPr lang="ru-RU" sz="2800" b="1" dirty="0" smtClean="0"/>
              <a:t>          </a:t>
            </a:r>
            <a:endParaRPr lang="en-US" sz="2800" b="1" dirty="0" smtClean="0"/>
          </a:p>
          <a:p>
            <a:r>
              <a:rPr lang="en-US" sz="2800" b="1" dirty="0"/>
              <a:t>	</a:t>
            </a:r>
            <a:r>
              <a:rPr lang="en-US" sz="2800" b="1" dirty="0" smtClean="0"/>
              <a:t>	</a:t>
            </a:r>
            <a:r>
              <a:rPr lang="ru-RU" sz="2800" b="1" dirty="0" smtClean="0"/>
              <a:t>   </a:t>
            </a:r>
            <a:r>
              <a:rPr lang="en-US" sz="2800" b="1" dirty="0" smtClean="0"/>
              <a:t>↙</a:t>
            </a:r>
            <a:r>
              <a:rPr lang="ru-RU" sz="2800" b="1" dirty="0" smtClean="0"/>
              <a:t>	</a:t>
            </a:r>
            <a:r>
              <a:rPr lang="en-US" sz="2800" b="1" dirty="0" smtClean="0"/>
              <a:t>  </a:t>
            </a:r>
            <a:r>
              <a:rPr lang="en-US" sz="2800" b="1" dirty="0"/>
              <a:t>↘ </a:t>
            </a:r>
            <a:endParaRPr lang="ru-RU" sz="2800" b="1" dirty="0" smtClean="0"/>
          </a:p>
          <a:p>
            <a:r>
              <a:rPr lang="ru-RU" sz="2800" b="1" dirty="0"/>
              <a:t>	</a:t>
            </a:r>
            <a:r>
              <a:rPr lang="ru-RU" sz="2800" b="1" dirty="0" smtClean="0"/>
              <a:t>	</a:t>
            </a:r>
            <a:r>
              <a:rPr lang="en-US" sz="2800" b="1" dirty="0" smtClean="0"/>
              <a:t>D1 </a:t>
            </a:r>
            <a:r>
              <a:rPr lang="ru-RU" sz="2800" b="1" dirty="0" smtClean="0"/>
              <a:t>     	   </a:t>
            </a:r>
            <a:r>
              <a:rPr lang="en-US" sz="2800" b="1" dirty="0" smtClean="0"/>
              <a:t>D2 </a:t>
            </a:r>
            <a:r>
              <a:rPr lang="ru-RU" sz="2800" b="1" dirty="0" smtClean="0"/>
              <a:t> </a:t>
            </a:r>
          </a:p>
          <a:p>
            <a:r>
              <a:rPr lang="ru-RU" sz="2800" b="1" dirty="0"/>
              <a:t>	 </a:t>
            </a:r>
            <a:r>
              <a:rPr lang="ru-RU" sz="2800" b="1" dirty="0" smtClean="0"/>
              <a:t>     	    ↘     ↙</a:t>
            </a:r>
            <a:endParaRPr lang="en-US" sz="2800" b="1" dirty="0"/>
          </a:p>
          <a:p>
            <a:r>
              <a:rPr lang="ru-RU" sz="2800" b="1" dirty="0" smtClean="0"/>
              <a:t>                     	         </a:t>
            </a:r>
            <a:r>
              <a:rPr lang="en-US" sz="2800" b="1" dirty="0" smtClean="0"/>
              <a:t>D</a:t>
            </a:r>
            <a:r>
              <a:rPr lang="ru-RU" sz="2800" b="1" dirty="0" smtClean="0"/>
              <a:t>3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202196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ПРИМЕР </a:t>
            </a:r>
            <a:r>
              <a:rPr lang="ru-RU" sz="3200" b="1" dirty="0" smtClean="0"/>
              <a:t>1</a:t>
            </a:r>
            <a:r>
              <a:rPr lang="en-US" sz="3200" b="1" dirty="0" smtClean="0"/>
              <a:t>8</a:t>
            </a:r>
            <a:r>
              <a:rPr lang="ru-RU" sz="3200" b="1" dirty="0" smtClean="0"/>
              <a:t>. </a:t>
            </a:r>
            <a:r>
              <a:rPr lang="ru-RU" sz="3200" b="1" dirty="0"/>
              <a:t>Виртуальный базовый класс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8795" y="764704"/>
            <a:ext cx="878368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Пример </a:t>
            </a:r>
            <a:r>
              <a:rPr lang="ru-RU" sz="2800" dirty="0"/>
              <a:t>множественного наследования вида: </a:t>
            </a:r>
          </a:p>
          <a:p>
            <a:r>
              <a:rPr lang="en-US" sz="2800" dirty="0" smtClean="0"/>
              <a:t>	</a:t>
            </a:r>
            <a:r>
              <a:rPr lang="en-US" sz="2800" b="1" dirty="0" smtClean="0"/>
              <a:t>	</a:t>
            </a:r>
            <a:r>
              <a:rPr lang="ru-RU" sz="2800" b="1" dirty="0" smtClean="0"/>
              <a:t>        </a:t>
            </a:r>
            <a:r>
              <a:rPr lang="ru-RU" sz="2800" b="1" dirty="0" smtClean="0"/>
              <a:t> </a:t>
            </a:r>
            <a:r>
              <a:rPr lang="en-US" sz="2800" b="1" dirty="0"/>
              <a:t>B</a:t>
            </a:r>
            <a:r>
              <a:rPr lang="ru-RU" sz="2800" b="1" dirty="0"/>
              <a:t>          </a:t>
            </a:r>
            <a:endParaRPr lang="en-US" sz="2800" b="1" dirty="0"/>
          </a:p>
          <a:p>
            <a:r>
              <a:rPr lang="en-US" sz="2800" b="1" dirty="0"/>
              <a:t>		</a:t>
            </a:r>
            <a:r>
              <a:rPr lang="ru-RU" sz="2800" b="1" dirty="0"/>
              <a:t>   </a:t>
            </a:r>
            <a:r>
              <a:rPr lang="en-US" sz="2800" b="1" dirty="0"/>
              <a:t>↙</a:t>
            </a:r>
            <a:r>
              <a:rPr lang="ru-RU" sz="2800" b="1" dirty="0"/>
              <a:t>	</a:t>
            </a:r>
            <a:r>
              <a:rPr lang="en-US" sz="2800" b="1" dirty="0"/>
              <a:t>  ↘ </a:t>
            </a:r>
            <a:endParaRPr lang="ru-RU" sz="2800" b="1" dirty="0" smtClean="0"/>
          </a:p>
          <a:p>
            <a:r>
              <a:rPr lang="ru-RU" sz="2800" b="1" dirty="0"/>
              <a:t>	</a:t>
            </a:r>
            <a:r>
              <a:rPr lang="ru-RU" sz="2800" b="1" dirty="0" smtClean="0"/>
              <a:t>	</a:t>
            </a:r>
            <a:r>
              <a:rPr lang="en-US" sz="2800" b="1" dirty="0" smtClean="0"/>
              <a:t>D1 </a:t>
            </a:r>
            <a:r>
              <a:rPr lang="ru-RU" sz="2800" b="1" dirty="0" smtClean="0"/>
              <a:t>     	   </a:t>
            </a:r>
            <a:r>
              <a:rPr lang="en-US" sz="2800" b="1" dirty="0" smtClean="0"/>
              <a:t>D2 </a:t>
            </a:r>
            <a:r>
              <a:rPr lang="ru-RU" sz="2800" b="1" dirty="0" smtClean="0"/>
              <a:t> </a:t>
            </a:r>
          </a:p>
          <a:p>
            <a:r>
              <a:rPr lang="ru-RU" sz="2800" b="1" dirty="0"/>
              <a:t>	 </a:t>
            </a:r>
            <a:r>
              <a:rPr lang="ru-RU" sz="2800" b="1" dirty="0" smtClean="0"/>
              <a:t>     	    ↘     ↙</a:t>
            </a:r>
            <a:endParaRPr lang="en-US" sz="2800" b="1" dirty="0"/>
          </a:p>
          <a:p>
            <a:r>
              <a:rPr lang="ru-RU" sz="2800" b="1" dirty="0" smtClean="0"/>
              <a:t>                     	         </a:t>
            </a:r>
            <a:r>
              <a:rPr lang="en-US" sz="2800" b="1" dirty="0" smtClean="0"/>
              <a:t>D</a:t>
            </a:r>
            <a:r>
              <a:rPr lang="ru-RU" sz="2800" b="1" dirty="0" smtClean="0"/>
              <a:t>3</a:t>
            </a:r>
            <a:endParaRPr lang="en-US" sz="2800" b="1" dirty="0" smtClean="0"/>
          </a:p>
          <a:p>
            <a:r>
              <a:rPr lang="ru-RU" sz="2800" dirty="0"/>
              <a:t>Решение неопределенности в предыдущим примере – объявление базового класса виртуальным.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72682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ПОЛИМОРФИЗМ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108795" y="548680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27322" y="922885"/>
            <a:ext cx="90352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/>
              <a:t>Полиморфизм </a:t>
            </a:r>
            <a:r>
              <a:rPr lang="ru-RU" sz="3000" dirty="0"/>
              <a:t>(многообразие форм) – принцип ООП. </a:t>
            </a:r>
          </a:p>
          <a:p>
            <a:r>
              <a:rPr lang="ru-RU" sz="3000" b="1" dirty="0"/>
              <a:t>Полиморфизм </a:t>
            </a:r>
            <a:r>
              <a:rPr lang="ru-RU" sz="3000" dirty="0"/>
              <a:t>– свойство различных объектов выполнять одно и то же действие (с одним и тем же названием) по-своему. </a:t>
            </a:r>
          </a:p>
          <a:p>
            <a:r>
              <a:rPr lang="ru-RU" sz="3000" b="1" dirty="0"/>
              <a:t>Полиморфизм </a:t>
            </a:r>
            <a:r>
              <a:rPr lang="ru-RU" sz="3000" dirty="0"/>
              <a:t>– возможность для объектов разных классов, связанных с помощью наследования, реагировать различным образом при обращении к одной и той же функции-члену. </a:t>
            </a:r>
            <a:endParaRPr lang="ru-RU" sz="30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019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19. Полиморфизм. Переопределение метода </a:t>
            </a:r>
            <a:r>
              <a:rPr lang="ru-RU" sz="2800" b="1" dirty="0" smtClean="0"/>
              <a:t>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8795" y="523220"/>
            <a:ext cx="9035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Базовый класс имеет метод </a:t>
            </a:r>
            <a:r>
              <a:rPr lang="ru-RU" sz="2800" dirty="0" err="1" smtClean="0"/>
              <a:t>get</a:t>
            </a:r>
            <a:r>
              <a:rPr lang="en-US" sz="2800" dirty="0" smtClean="0"/>
              <a:t>()</a:t>
            </a:r>
            <a:r>
              <a:rPr lang="ru-RU" sz="2800" dirty="0" smtClean="0"/>
              <a:t>. </a:t>
            </a:r>
            <a:r>
              <a:rPr lang="ru-RU" sz="2800" dirty="0"/>
              <a:t>Производный класс имеет свой метод </a:t>
            </a:r>
            <a:r>
              <a:rPr lang="ru-RU" sz="2800" dirty="0" err="1" smtClean="0"/>
              <a:t>get</a:t>
            </a:r>
            <a:r>
              <a:rPr lang="en-US" sz="2800" dirty="0" smtClean="0"/>
              <a:t>()</a:t>
            </a:r>
            <a:r>
              <a:rPr lang="ru-RU" sz="2800" dirty="0" smtClean="0"/>
              <a:t>. </a:t>
            </a:r>
            <a:endParaRPr lang="ru-RU" sz="28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477327"/>
            <a:ext cx="8784976" cy="526297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x =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get() {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 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y =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get() {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 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226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19. Полиморфизм. Переопределение метода </a:t>
            </a:r>
            <a:r>
              <a:rPr lang="ru-RU" sz="2800" b="1" dirty="0" smtClean="0"/>
              <a:t>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24209" y="620688"/>
            <a:ext cx="8840279" cy="5940088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 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b_ob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объект базового класса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объект производного класса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b_ob.setx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ru-RU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доступ к объекту базового </a:t>
            </a:r>
            <a:r>
              <a:rPr lang="en-US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        </a:t>
            </a:r>
            <a:r>
              <a:rPr lang="ru-RU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класса</a:t>
            </a:r>
            <a:endParaRPr lang="ru-RU" sz="22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base class x:"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b_ob.get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d_ob.setx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(99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доступ к объекту </a:t>
            </a:r>
            <a:r>
              <a:rPr lang="en-US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// </a:t>
            </a:r>
            <a:r>
              <a:rPr lang="ru-RU" sz="2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производного </a:t>
            </a:r>
            <a:r>
              <a:rPr lang="ru-RU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класса</a:t>
            </a:r>
            <a:endParaRPr lang="ru-RU" sz="22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d_ob.sety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(88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derived class y:"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d_ob.get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derived class x:"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d_ob.base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::get()&lt;&lt;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21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20. Указатель на объект производного класса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23528" y="2132856"/>
            <a:ext cx="8424936" cy="353943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 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x =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() { </a:t>
            </a:r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x; 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6310" y="564066"/>
            <a:ext cx="88569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Указатель</a:t>
            </a:r>
            <a:r>
              <a:rPr lang="ru-RU" sz="2800" dirty="0"/>
              <a:t>, объявленный в качестве указателя на базовый класс, может использоваться как указатель на любой класс, производный от этого базового класса.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84477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20. Указатель на объект производного класса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838" y="2348880"/>
            <a:ext cx="8536558" cy="267765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 :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 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sety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y =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get() {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 }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6310" y="564066"/>
            <a:ext cx="88569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Указатель</a:t>
            </a:r>
            <a:r>
              <a:rPr lang="ru-RU" sz="2800" dirty="0"/>
              <a:t>, объявленный в качестве указателя на базовый класс, может использоваться как указатель на любой класс, производный от этого базового класса.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82243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20. Указатель на объект производного класса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82060" y="533191"/>
            <a:ext cx="8954436" cy="624786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 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0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*p; </a:t>
            </a:r>
            <a:r>
              <a:rPr lang="ru-RU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указатель базового класса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0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b_ob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объект базового класса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0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объект производного класса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использование указателя p для доступа 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к 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объекту базового класса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&amp;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b_ob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p-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// доступ к объекту базового класса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base class x:"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0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p-&gt;get() &lt;&lt; 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использование указателя p для доступа 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к объекту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производного класса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 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&amp;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// указывает на объект производного класса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p-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(99);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// доступ к объекту производного класса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т.к. p нельзя использовать 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для инициализации y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, делаем это напрямую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d_ob.sety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(88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derived class x:"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0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p-&gt;get() &lt;&lt; 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derived class y:"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0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d_ob.get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()&lt;&lt; 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367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ВИРТУАЛЬНЫЕ ФУНКЦИИ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3914" y="620688"/>
            <a:ext cx="868057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2800" b="1" dirty="0"/>
              <a:t>Связывание</a:t>
            </a:r>
            <a:r>
              <a:rPr lang="ru-RU" sz="2800" dirty="0"/>
              <a:t> </a:t>
            </a:r>
            <a:r>
              <a:rPr lang="ru-RU" sz="2800" dirty="0" smtClean="0"/>
              <a:t>– сопоставление </a:t>
            </a:r>
            <a:r>
              <a:rPr lang="ru-RU" sz="2800" dirty="0"/>
              <a:t>вызова функции с телом функции. </a:t>
            </a:r>
            <a:r>
              <a:rPr lang="ru-RU" sz="2800" b="1" dirty="0"/>
              <a:t>Для обычных методов </a:t>
            </a:r>
            <a:r>
              <a:rPr lang="ru-RU" sz="2800" dirty="0"/>
              <a:t>связывание выполняется на этапе </a:t>
            </a:r>
            <a:r>
              <a:rPr lang="ru-RU" sz="2800" b="1" dirty="0"/>
              <a:t>трансляции</a:t>
            </a:r>
            <a:r>
              <a:rPr lang="ru-RU" sz="2800" dirty="0"/>
              <a:t> до запуска программы. Такое связывание называется </a:t>
            </a:r>
            <a:r>
              <a:rPr lang="ru-RU" sz="2800" b="1" dirty="0"/>
              <a:t>«ранним» </a:t>
            </a:r>
            <a:r>
              <a:rPr lang="ru-RU" sz="2800" dirty="0"/>
              <a:t>или </a:t>
            </a:r>
            <a:r>
              <a:rPr lang="ru-RU" sz="2800" b="1" dirty="0"/>
              <a:t>статическим</a:t>
            </a:r>
            <a:r>
              <a:rPr lang="ru-RU" sz="2800" dirty="0"/>
              <a:t>. </a:t>
            </a:r>
          </a:p>
          <a:p>
            <a:pPr>
              <a:spcAft>
                <a:spcPts val="1200"/>
              </a:spcAft>
            </a:pPr>
            <a:r>
              <a:rPr lang="ru-RU" sz="2800" b="1" dirty="0"/>
              <a:t>При наследовании обычного метода </a:t>
            </a:r>
            <a:r>
              <a:rPr lang="ru-RU" sz="2800" dirty="0"/>
              <a:t>его поведение не меняется в наследнике. Чтобы </a:t>
            </a:r>
            <a:r>
              <a:rPr lang="ru-RU" sz="2800" b="1" dirty="0"/>
              <a:t>добиться разного поведения методов базового класса</a:t>
            </a:r>
            <a:r>
              <a:rPr lang="ru-RU" sz="2800" dirty="0"/>
              <a:t> и классов–наследников необходимо объявить функцию-метод </a:t>
            </a:r>
            <a:r>
              <a:rPr lang="ru-RU" sz="2800" b="1" dirty="0"/>
              <a:t>виртуальной (</a:t>
            </a:r>
            <a:r>
              <a:rPr lang="ru-RU" sz="2800" b="1" dirty="0" err="1">
                <a:solidFill>
                  <a:srgbClr val="0000FF"/>
                </a:solidFill>
              </a:rPr>
              <a:t>virtual</a:t>
            </a:r>
            <a:r>
              <a:rPr lang="ru-RU" sz="2800" b="1" dirty="0"/>
              <a:t>)</a:t>
            </a:r>
            <a:r>
              <a:rPr lang="ru-RU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96425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ВИРТУАЛЬНЫЕ ФУНКЦИИ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3914" y="620688"/>
            <a:ext cx="8680574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2800" b="1" dirty="0" smtClean="0"/>
              <a:t>Виртуальной </a:t>
            </a:r>
            <a:r>
              <a:rPr lang="ru-RU" sz="2800" dirty="0"/>
              <a:t>называется функция-член класса, </a:t>
            </a:r>
            <a:r>
              <a:rPr lang="ru-RU" sz="2800" b="1" dirty="0"/>
              <a:t>вызов</a:t>
            </a:r>
            <a:r>
              <a:rPr lang="ru-RU" sz="2800" dirty="0"/>
              <a:t> (и выполняемый код) </a:t>
            </a:r>
            <a:r>
              <a:rPr lang="ru-RU" sz="2800" b="1" dirty="0"/>
              <a:t>которой зависит от типа объекта</a:t>
            </a:r>
            <a:r>
              <a:rPr lang="ru-RU" sz="2800" dirty="0"/>
              <a:t>, для которого она вызывается.</a:t>
            </a:r>
          </a:p>
          <a:p>
            <a:pPr>
              <a:spcAft>
                <a:spcPts val="1200"/>
              </a:spcAft>
            </a:pPr>
            <a:r>
              <a:rPr lang="ru-RU" sz="2800" b="1" dirty="0" smtClean="0"/>
              <a:t>Виртуальные </a:t>
            </a:r>
            <a:r>
              <a:rPr lang="ru-RU" sz="2800" b="1" dirty="0"/>
              <a:t>функции </a:t>
            </a:r>
            <a:r>
              <a:rPr lang="ru-RU" sz="2800" dirty="0"/>
              <a:t>обеспечивают механизм </a:t>
            </a:r>
            <a:r>
              <a:rPr lang="ru-RU" sz="2800" b="1" dirty="0"/>
              <a:t>«позднего» </a:t>
            </a:r>
            <a:r>
              <a:rPr lang="ru-RU" sz="2800" dirty="0"/>
              <a:t>или </a:t>
            </a:r>
            <a:r>
              <a:rPr lang="ru-RU" sz="2800" b="1" dirty="0"/>
              <a:t>динамического </a:t>
            </a:r>
            <a:r>
              <a:rPr lang="ru-RU" sz="2800" dirty="0"/>
              <a:t>связывания, которое </a:t>
            </a:r>
            <a:r>
              <a:rPr lang="ru-RU" sz="2800" b="1" dirty="0"/>
              <a:t>работает во время выполнения программы</a:t>
            </a:r>
            <a:r>
              <a:rPr lang="ru-RU" sz="2800" dirty="0"/>
              <a:t>. </a:t>
            </a:r>
          </a:p>
          <a:p>
            <a:pPr>
              <a:spcAft>
                <a:spcPts val="1200"/>
              </a:spcAft>
            </a:pPr>
            <a:r>
              <a:rPr lang="ru-RU" sz="2800" b="1" dirty="0"/>
              <a:t>Класс</a:t>
            </a:r>
            <a:r>
              <a:rPr lang="ru-RU" sz="2800" dirty="0"/>
              <a:t>, в котором определены </a:t>
            </a:r>
            <a:r>
              <a:rPr lang="ru-RU" sz="2800" b="1" dirty="0"/>
              <a:t>виртуальные функции </a:t>
            </a:r>
            <a:r>
              <a:rPr lang="ru-RU" sz="2800" dirty="0"/>
              <a:t>(хотя бы одна), называется </a:t>
            </a:r>
            <a:r>
              <a:rPr lang="ru-RU" sz="2800" b="1" dirty="0"/>
              <a:t>полиморфным</a:t>
            </a:r>
            <a:r>
              <a:rPr lang="ru-RU" sz="2800" dirty="0"/>
              <a:t>. </a:t>
            </a:r>
          </a:p>
          <a:p>
            <a:r>
              <a:rPr lang="ru-RU" sz="2800" dirty="0"/>
              <a:t>Ключевое слово </a:t>
            </a:r>
            <a:r>
              <a:rPr lang="ru-RU" sz="2800" b="1" dirty="0" err="1">
                <a:solidFill>
                  <a:srgbClr val="0000FF"/>
                </a:solidFill>
              </a:rPr>
              <a:t>virtual</a:t>
            </a:r>
            <a:r>
              <a:rPr lang="ru-RU" sz="2800" b="1" dirty="0"/>
              <a:t> </a:t>
            </a:r>
            <a:r>
              <a:rPr lang="ru-RU" sz="2800" dirty="0"/>
              <a:t>можно писать </a:t>
            </a:r>
            <a:r>
              <a:rPr lang="ru-RU" sz="2800" b="1" dirty="0"/>
              <a:t>только в базовом классе</a:t>
            </a:r>
            <a:r>
              <a:rPr lang="ru-RU" sz="2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8119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ВИРТУАЛЬНЫЕ ФУНКЦИИ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7504" y="620688"/>
            <a:ext cx="914501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2800" b="1" dirty="0"/>
              <a:t>Описание виртуальной функции </a:t>
            </a:r>
            <a:r>
              <a:rPr lang="ru-RU" sz="2800" dirty="0"/>
              <a:t>(обычно в базовом классе) имеет вид: </a:t>
            </a:r>
          </a:p>
          <a:p>
            <a:r>
              <a:rPr lang="en-US" sz="2600" b="1" dirty="0" smtClean="0">
                <a:solidFill>
                  <a:srgbClr val="0000FF"/>
                </a:solidFill>
              </a:rPr>
              <a:t>virtual</a:t>
            </a:r>
            <a:r>
              <a:rPr lang="en-US" sz="2600" b="1" dirty="0" smtClean="0"/>
              <a:t> </a:t>
            </a:r>
            <a:r>
              <a:rPr lang="ru-RU" sz="2600" dirty="0" smtClean="0"/>
              <a:t>тип имя-функции (</a:t>
            </a:r>
            <a:r>
              <a:rPr lang="ru-RU" sz="2600" dirty="0" err="1" smtClean="0"/>
              <a:t>список_формальных_параметров</a:t>
            </a:r>
            <a:r>
              <a:rPr lang="ru-RU" sz="2600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31383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21. Виртуальная функция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23528" y="1268760"/>
            <a:ext cx="8457011" cy="526297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x =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() {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 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y =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get() {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 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580038"/>
            <a:ext cx="842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Примере 20 метод </a:t>
            </a:r>
            <a:r>
              <a:rPr lang="ru-RU" sz="2800" dirty="0" err="1"/>
              <a:t>get</a:t>
            </a:r>
            <a:r>
              <a:rPr lang="ru-RU" sz="2800" dirty="0"/>
              <a:t>() объявим как виртуальный.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73777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0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21. Виртуальная функция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7140" y="524514"/>
            <a:ext cx="8650433" cy="637097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*p;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указатель базового класса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b_ob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объект базового класса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объект производного класса</a:t>
            </a:r>
            <a:endParaRPr lang="ru-RU" sz="22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&amp;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b_ob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p-&gt;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base class x:"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p-&gt;get()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&amp;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ru-RU" sz="24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p-&gt;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(99); 	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d_ob.sety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(88);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derived class x:"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p-&gt;get()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"Object of derived class y:"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d_ob.get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815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Правила описания и создания виртуальных функций</a:t>
            </a:r>
            <a:r>
              <a:rPr lang="ru-RU" sz="2800" dirty="0"/>
              <a:t>: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51520" y="580038"/>
            <a:ext cx="842493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smtClean="0"/>
              <a:t>Виртуальная </a:t>
            </a:r>
            <a:r>
              <a:rPr lang="ru-RU" sz="2800" dirty="0"/>
              <a:t>функция может быть </a:t>
            </a:r>
            <a:r>
              <a:rPr lang="ru-RU" sz="2800" b="1" dirty="0"/>
              <a:t>только методом </a:t>
            </a:r>
            <a:r>
              <a:rPr lang="ru-RU" sz="2800" dirty="0"/>
              <a:t>класса.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dirty="0"/>
              <a:t>Любую перегружаемую операцию-метод </a:t>
            </a:r>
            <a:r>
              <a:rPr lang="ru-RU" sz="2800" dirty="0"/>
              <a:t>класса можно сделать виртуальной.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/>
              <a:t>Виртуальная функция </a:t>
            </a:r>
            <a:r>
              <a:rPr lang="ru-RU" sz="2800" b="1" dirty="0"/>
              <a:t>наследуется</a:t>
            </a:r>
            <a:r>
              <a:rPr lang="ru-RU" sz="2800" dirty="0"/>
              <a:t>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/>
              <a:t>Виртуальная функция </a:t>
            </a:r>
            <a:r>
              <a:rPr lang="ru-RU" sz="2800" b="1" dirty="0"/>
              <a:t>может быть константной</a:t>
            </a:r>
            <a:r>
              <a:rPr lang="ru-RU" sz="28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Если в базовом классе определена виртуальная функция, то метод производного класса с таким же именем и прототипом </a:t>
            </a:r>
            <a:r>
              <a:rPr lang="ru-RU" sz="2800" b="1" dirty="0"/>
              <a:t>автоматически </a:t>
            </a:r>
            <a:r>
              <a:rPr lang="ru-RU" sz="2800" dirty="0"/>
              <a:t>является виртуальным и замещает функцию-метод базового класса. 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30712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Правила описания и создания виртуальных функций</a:t>
            </a:r>
            <a:r>
              <a:rPr lang="ru-RU" sz="2800" dirty="0"/>
              <a:t>: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06673" y="764704"/>
            <a:ext cx="842493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dirty="0" smtClean="0"/>
              <a:t>Статические </a:t>
            </a:r>
            <a:r>
              <a:rPr lang="ru-RU" sz="2800" b="1" dirty="0"/>
              <a:t>методы не могут </a:t>
            </a:r>
            <a:r>
              <a:rPr lang="ru-RU" sz="2800" dirty="0"/>
              <a:t>быть виртуальными.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dirty="0"/>
              <a:t>Конструкторы не могут </a:t>
            </a:r>
            <a:r>
              <a:rPr lang="ru-RU" sz="2800" dirty="0"/>
              <a:t>быть виртуальными.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Деструкторы могут </a:t>
            </a:r>
            <a:r>
              <a:rPr lang="ru-RU" sz="2800" dirty="0"/>
              <a:t>(чаще - должны) быть виртуальными. 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42473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Правила описания и создания виртуальных функций</a:t>
            </a:r>
            <a:r>
              <a:rPr lang="ru-RU" sz="2800" dirty="0"/>
              <a:t>: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06672" y="764704"/>
            <a:ext cx="882982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2800" b="1" dirty="0" smtClean="0"/>
              <a:t>	Внутри </a:t>
            </a:r>
            <a:r>
              <a:rPr lang="ru-RU" sz="2800" b="1" dirty="0"/>
              <a:t>конструкторов и деструкторов </a:t>
            </a:r>
            <a:r>
              <a:rPr lang="ru-RU" sz="2800" dirty="0"/>
              <a:t>динамическое связывание не работает, хотя вызов виртуальных функций не запрещен. В конструкторах и деструкторах всегда вызывается «родная» функция класса. </a:t>
            </a:r>
          </a:p>
          <a:p>
            <a:r>
              <a:rPr lang="ru-RU" sz="2800" dirty="0" smtClean="0"/>
              <a:t>	Виртуальные </a:t>
            </a:r>
            <a:r>
              <a:rPr lang="ru-RU" sz="2800" dirty="0"/>
              <a:t>методы </a:t>
            </a:r>
            <a:r>
              <a:rPr lang="ru-RU" sz="2800" b="1" dirty="0"/>
              <a:t>можно перегружать и переопределять </a:t>
            </a:r>
            <a:r>
              <a:rPr lang="ru-RU" sz="2800" dirty="0"/>
              <a:t>в наследниках с другим списком аргументов. Если виртуальная функция переопределена, она замещает (скрывает) родительские методы.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19938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22. Виртуальная функция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699792" y="634794"/>
            <a:ext cx="3456384" cy="13849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	</a:t>
            </a:r>
            <a:r>
              <a:rPr lang="en-US" sz="2800" dirty="0"/>
              <a:t> </a:t>
            </a:r>
            <a:r>
              <a:rPr lang="ru-RU" sz="2800" dirty="0" smtClean="0"/>
              <a:t>  </a:t>
            </a:r>
            <a:r>
              <a:rPr lang="en-US" sz="2800" dirty="0" smtClean="0"/>
              <a:t>base </a:t>
            </a:r>
            <a:endParaRPr lang="ru-RU" sz="2800" dirty="0" smtClean="0"/>
          </a:p>
          <a:p>
            <a:r>
              <a:rPr lang="ru-RU" sz="2800" dirty="0"/>
              <a:t>	</a:t>
            </a:r>
            <a:r>
              <a:rPr lang="ru-RU" sz="2800" dirty="0" smtClean="0"/>
              <a:t>↙      ↘</a:t>
            </a:r>
            <a:endParaRPr lang="en-US" sz="2800" dirty="0"/>
          </a:p>
          <a:p>
            <a:r>
              <a:rPr lang="en-US" sz="2800" dirty="0" smtClean="0"/>
              <a:t>derived1</a:t>
            </a:r>
            <a:r>
              <a:rPr lang="ru-RU" sz="2800" dirty="0" smtClean="0"/>
              <a:t> </a:t>
            </a:r>
            <a:r>
              <a:rPr lang="en-US" sz="2800" dirty="0" smtClean="0"/>
              <a:t> </a:t>
            </a:r>
            <a:r>
              <a:rPr lang="ru-RU" sz="2800" dirty="0" smtClean="0"/>
              <a:t>     </a:t>
            </a:r>
            <a:r>
              <a:rPr lang="en-US" sz="2800" dirty="0" smtClean="0"/>
              <a:t>derived2 </a:t>
            </a:r>
            <a:endParaRPr lang="ru-RU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323528" y="2276872"/>
            <a:ext cx="8640960" cy="415498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x) {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of base class: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086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22. Виртуальная функция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87314" y="643471"/>
            <a:ext cx="8640960" cy="6001643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derived1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derived1(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x) : base(x) {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derived1 class: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derived2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derived2(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x) : base(x) {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derived2 class: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116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22. Виртуальная функция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87314" y="643471"/>
            <a:ext cx="8640960" cy="563231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 *p;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derived1 d_ob1(10);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derived2 d_ob2(10);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 = &amp;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p-&gt;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функция </a:t>
            </a:r>
            <a:r>
              <a:rPr lang="en-US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класса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 = &amp;d_ob1;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p-&gt;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функция </a:t>
            </a:r>
            <a:r>
              <a:rPr lang="ru-RU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производного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// класса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derived1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 = &amp;d_ob2;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p-&gt;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функция </a:t>
            </a:r>
            <a:r>
              <a:rPr lang="ru-RU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производного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// класса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derived2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116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96" y="0"/>
            <a:ext cx="91085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/>
              <a:t>ПРИМЕР </a:t>
            </a:r>
            <a:r>
              <a:rPr lang="ru-RU" sz="2600" b="1" dirty="0" smtClean="0"/>
              <a:t>23. </a:t>
            </a:r>
            <a:r>
              <a:rPr lang="ru-RU" sz="2600" dirty="0" smtClean="0"/>
              <a:t>Иерархия наследования </a:t>
            </a:r>
            <a:r>
              <a:rPr lang="ru-RU" sz="2600" dirty="0"/>
              <a:t>виртуальных функций</a:t>
            </a:r>
            <a:endParaRPr lang="ru-RU" sz="2600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63025" y="620688"/>
            <a:ext cx="89644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/>
              <a:t>Иерархический </a:t>
            </a:r>
            <a:r>
              <a:rPr lang="ru-RU" sz="2600" dirty="0"/>
              <a:t>порядок наследования виртуальных функций</a:t>
            </a:r>
            <a:endParaRPr lang="ru-RU" sz="2600" dirty="0"/>
          </a:p>
        </p:txBody>
      </p:sp>
      <p:sp>
        <p:nvSpPr>
          <p:cNvPr id="6" name="TextBox 5"/>
          <p:cNvSpPr txBox="1"/>
          <p:nvPr/>
        </p:nvSpPr>
        <p:spPr>
          <a:xfrm>
            <a:off x="374372" y="3284984"/>
            <a:ext cx="85901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Виртуальные функции </a:t>
            </a:r>
            <a:r>
              <a:rPr lang="ru-RU" sz="2800" dirty="0"/>
              <a:t>имеют </a:t>
            </a:r>
            <a:r>
              <a:rPr lang="ru-RU" sz="2800" b="1" dirty="0"/>
              <a:t>иерархический порядок наследования</a:t>
            </a:r>
            <a:r>
              <a:rPr lang="ru-RU" sz="2800" dirty="0"/>
              <a:t>. </a:t>
            </a:r>
            <a:r>
              <a:rPr lang="ru-RU" sz="2800" dirty="0" smtClean="0"/>
              <a:t>Пусть в </a:t>
            </a:r>
            <a:r>
              <a:rPr lang="ru-RU" sz="2800" dirty="0"/>
              <a:t> </a:t>
            </a:r>
            <a:r>
              <a:rPr lang="ru-RU" sz="2800" dirty="0" smtClean="0"/>
              <a:t>классе </a:t>
            </a:r>
            <a:r>
              <a:rPr lang="ru-RU" sz="2800" i="1" dirty="0" smtClean="0"/>
              <a:t>derived</a:t>
            </a:r>
            <a:r>
              <a:rPr lang="ru-RU" sz="2800" dirty="0" smtClean="0"/>
              <a:t>2 отсутствует виртуальная функции. </a:t>
            </a:r>
            <a:r>
              <a:rPr lang="ru-RU" sz="2800" dirty="0"/>
              <a:t>В этом случае для объекта класса </a:t>
            </a:r>
            <a:r>
              <a:rPr lang="ru-RU" sz="2800" i="1" dirty="0"/>
              <a:t>derived</a:t>
            </a:r>
            <a:r>
              <a:rPr lang="ru-RU" sz="2800" dirty="0"/>
              <a:t>2 используется версия </a:t>
            </a:r>
            <a:r>
              <a:rPr lang="ru-RU" sz="2800" dirty="0" err="1"/>
              <a:t>функии</a:t>
            </a:r>
            <a:r>
              <a:rPr lang="ru-RU" sz="2800" dirty="0"/>
              <a:t>, определенная в базовом классе </a:t>
            </a:r>
            <a:r>
              <a:rPr lang="ru-RU" sz="2800" b="1" i="1" dirty="0" err="1"/>
              <a:t>base</a:t>
            </a:r>
            <a:r>
              <a:rPr lang="ru-RU" sz="2800" dirty="0"/>
              <a:t>.</a:t>
            </a:r>
            <a:endParaRPr lang="ru-R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879812" y="1382693"/>
            <a:ext cx="3456384" cy="13849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	</a:t>
            </a:r>
            <a:r>
              <a:rPr lang="en-US" sz="2800" dirty="0"/>
              <a:t> </a:t>
            </a:r>
            <a:r>
              <a:rPr lang="ru-RU" sz="2800" dirty="0" smtClean="0"/>
              <a:t>  </a:t>
            </a:r>
            <a:r>
              <a:rPr lang="en-US" sz="2800" dirty="0" smtClean="0"/>
              <a:t>base </a:t>
            </a:r>
            <a:endParaRPr lang="ru-RU" sz="2800" dirty="0" smtClean="0"/>
          </a:p>
          <a:p>
            <a:r>
              <a:rPr lang="ru-RU" sz="2800" dirty="0"/>
              <a:t>	</a:t>
            </a:r>
            <a:r>
              <a:rPr lang="ru-RU" sz="2800" dirty="0" smtClean="0"/>
              <a:t>↙      ↘</a:t>
            </a:r>
            <a:endParaRPr lang="en-US" sz="2800" dirty="0"/>
          </a:p>
          <a:p>
            <a:r>
              <a:rPr lang="en-US" sz="2800" dirty="0" smtClean="0"/>
              <a:t>derived1</a:t>
            </a:r>
            <a:r>
              <a:rPr lang="ru-RU" sz="2800" dirty="0" smtClean="0"/>
              <a:t> </a:t>
            </a:r>
            <a:r>
              <a:rPr lang="en-US" sz="2800" dirty="0" smtClean="0"/>
              <a:t> </a:t>
            </a:r>
            <a:r>
              <a:rPr lang="ru-RU" sz="2800" dirty="0" smtClean="0"/>
              <a:t>     </a:t>
            </a:r>
            <a:r>
              <a:rPr lang="en-US" sz="2800" dirty="0" smtClean="0"/>
              <a:t>derived2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43341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79512" y="908720"/>
            <a:ext cx="8640960" cy="483209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base(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x) {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x; }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8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base class: "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496" y="0"/>
            <a:ext cx="91085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/>
              <a:t>ПРИМЕР </a:t>
            </a:r>
            <a:r>
              <a:rPr lang="ru-RU" sz="2600" b="1" dirty="0" smtClean="0"/>
              <a:t>23. </a:t>
            </a:r>
            <a:r>
              <a:rPr lang="ru-RU" sz="2600" dirty="0" smtClean="0"/>
              <a:t>Иерархия наследования </a:t>
            </a:r>
            <a:r>
              <a:rPr lang="ru-RU" sz="2600" dirty="0"/>
              <a:t>виртуальных функций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37271156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23528" y="764704"/>
            <a:ext cx="8640960" cy="526297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derived1 :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derived1(</a:t>
            </a:r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x) : base(x) { }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8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8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derived1 class: "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8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ru-RU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derived2 :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derived2(</a:t>
            </a:r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x) : base(x) { }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496" y="0"/>
            <a:ext cx="91085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/>
              <a:t>ПРИМЕР </a:t>
            </a:r>
            <a:r>
              <a:rPr lang="ru-RU" sz="2600" b="1" dirty="0" smtClean="0"/>
              <a:t>23. </a:t>
            </a:r>
            <a:r>
              <a:rPr lang="ru-RU" sz="2600" dirty="0" smtClean="0"/>
              <a:t>Иерархия наследования </a:t>
            </a:r>
            <a:r>
              <a:rPr lang="ru-RU" sz="2600" dirty="0"/>
              <a:t>виртуальных функций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3425541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7504" y="836712"/>
            <a:ext cx="8928992" cy="526297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*p;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derived1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d_ob1(10);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derived2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d_ob2(10);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&amp;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p-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функция </a:t>
            </a:r>
            <a:r>
              <a:rPr lang="ru-RU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базового класса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&amp;d_ob1;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p-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функция </a:t>
            </a:r>
            <a:r>
              <a:rPr lang="ru-RU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производного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// класса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derived1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&amp;d_ob2;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p-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функция </a:t>
            </a:r>
            <a:r>
              <a:rPr lang="ru-RU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базового класса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96" y="0"/>
            <a:ext cx="91085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/>
              <a:t>ПРИМЕР </a:t>
            </a:r>
            <a:r>
              <a:rPr lang="ru-RU" sz="2600" b="1" dirty="0" smtClean="0"/>
              <a:t>23. </a:t>
            </a:r>
            <a:r>
              <a:rPr lang="ru-RU" sz="2600" dirty="0" smtClean="0"/>
              <a:t>Иерархия наследования </a:t>
            </a:r>
            <a:r>
              <a:rPr lang="ru-RU" sz="2600" dirty="0"/>
              <a:t>виртуальных функций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943845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83914" y="3068960"/>
            <a:ext cx="8637325" cy="3046988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base class \n"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0"/>
            <a:ext cx="39604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/>
              <a:t>ПРИМЕР </a:t>
            </a:r>
            <a:r>
              <a:rPr lang="ru-RU" sz="2600" b="1" dirty="0" smtClean="0"/>
              <a:t>24. </a:t>
            </a:r>
            <a:endParaRPr lang="ru-RU" sz="2600" dirty="0"/>
          </a:p>
        </p:txBody>
      </p:sp>
      <p:sp>
        <p:nvSpPr>
          <p:cNvPr id="3" name="TextBox 2"/>
          <p:cNvSpPr txBox="1"/>
          <p:nvPr/>
        </p:nvSpPr>
        <p:spPr>
          <a:xfrm>
            <a:off x="165103" y="548680"/>
            <a:ext cx="85887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Виртуальная </a:t>
            </a:r>
            <a:r>
              <a:rPr lang="ru-RU" sz="2800" dirty="0"/>
              <a:t>функция при наследовании сохраняет свою виртуальную природу </a:t>
            </a:r>
            <a:endParaRPr lang="ru-RU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2177575" y="1700808"/>
            <a:ext cx="4563813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b="1" dirty="0"/>
              <a:t>base ← derived1 ←</a:t>
            </a:r>
            <a:r>
              <a:rPr lang="ru-RU" sz="2800" b="1" dirty="0"/>
              <a:t> </a:t>
            </a:r>
            <a:r>
              <a:rPr lang="en-US" sz="2800" b="1" dirty="0"/>
              <a:t>derived2 </a:t>
            </a:r>
          </a:p>
        </p:txBody>
      </p:sp>
    </p:spTree>
    <p:extLst>
      <p:ext uri="{BB962C8B-B14F-4D97-AF65-F5344CB8AC3E}">
        <p14:creationId xmlns:p14="http://schemas.microsoft.com/office/powerpoint/2010/main" val="2892916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79512" y="620688"/>
            <a:ext cx="8665884" cy="489364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derived1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derived1 class \n"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Класс derived1 наследуется классом derived2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derived2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derived1 {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derived2 class \n"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0"/>
            <a:ext cx="39604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/>
              <a:t>ПРИМЕР </a:t>
            </a:r>
            <a:r>
              <a:rPr lang="ru-RU" sz="2600" b="1" dirty="0" smtClean="0"/>
              <a:t>24. 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42728349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5496" y="620688"/>
            <a:ext cx="9036496" cy="563231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 *p;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derived1 d_ob1;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derived2 d_ob2;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 = &amp;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p-&gt;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//функция </a:t>
            </a:r>
            <a:r>
              <a:rPr lang="ru-RU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базового класса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 = &amp;d_ob1;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p-&gt;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функция </a:t>
            </a:r>
            <a:r>
              <a:rPr lang="ru-RU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производного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// класса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derived1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 = &amp;d_ob2;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p-&gt;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функция </a:t>
            </a:r>
            <a:r>
              <a:rPr lang="ru-RU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производного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// класса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derived2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0"/>
            <a:ext cx="39604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/>
              <a:t>ПРИМЕР </a:t>
            </a:r>
            <a:r>
              <a:rPr lang="ru-RU" sz="2600" b="1" dirty="0" smtClean="0"/>
              <a:t>24. 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731077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04664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51419" y="1919729"/>
            <a:ext cx="8713069" cy="489364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cstdlib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ctime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x) {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x;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base class: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0"/>
            <a:ext cx="8208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25. Позднее связывание</a:t>
            </a:r>
            <a:endParaRPr lang="ru-RU" sz="2600" dirty="0"/>
          </a:p>
        </p:txBody>
      </p:sp>
      <p:sp>
        <p:nvSpPr>
          <p:cNvPr id="6" name="TextBox 5"/>
          <p:cNvSpPr txBox="1"/>
          <p:nvPr/>
        </p:nvSpPr>
        <p:spPr>
          <a:xfrm>
            <a:off x="2879761" y="476672"/>
            <a:ext cx="3456384" cy="13849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	</a:t>
            </a:r>
            <a:r>
              <a:rPr lang="en-US" sz="2800" dirty="0"/>
              <a:t> </a:t>
            </a:r>
            <a:r>
              <a:rPr lang="ru-RU" sz="2800" dirty="0" smtClean="0"/>
              <a:t>  </a:t>
            </a:r>
            <a:r>
              <a:rPr lang="en-US" sz="2800" dirty="0" smtClean="0"/>
              <a:t>base </a:t>
            </a:r>
            <a:endParaRPr lang="ru-RU" sz="2800" dirty="0" smtClean="0"/>
          </a:p>
          <a:p>
            <a:r>
              <a:rPr lang="ru-RU" sz="2800" dirty="0"/>
              <a:t>	</a:t>
            </a:r>
            <a:r>
              <a:rPr lang="ru-RU" sz="2800" dirty="0" smtClean="0"/>
              <a:t>↙      ↘</a:t>
            </a:r>
            <a:endParaRPr lang="en-US" sz="2800" dirty="0"/>
          </a:p>
          <a:p>
            <a:r>
              <a:rPr lang="en-US" sz="2800" dirty="0" smtClean="0"/>
              <a:t>derived1</a:t>
            </a:r>
            <a:r>
              <a:rPr lang="ru-RU" sz="2800" dirty="0" smtClean="0"/>
              <a:t> </a:t>
            </a:r>
            <a:r>
              <a:rPr lang="en-US" sz="2800" dirty="0" smtClean="0"/>
              <a:t> </a:t>
            </a:r>
            <a:r>
              <a:rPr lang="ru-RU" sz="2800" dirty="0" smtClean="0"/>
              <a:t>     </a:t>
            </a:r>
            <a:r>
              <a:rPr lang="en-US" sz="2800" dirty="0" smtClean="0"/>
              <a:t>derived2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95434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5947" y="692696"/>
            <a:ext cx="8858541" cy="6001643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derived1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derived1(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x) : base(x) {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derived1 class: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derived2 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derived2(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x) : base(x) { 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derived2 class: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0"/>
            <a:ext cx="8208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25. Позднее связывание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3721252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5947" y="692696"/>
            <a:ext cx="8930549" cy="58785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srand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(time(NULL));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 *p;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derived1 d_ob1(10);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derived2 d_ob2(10);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&lt;10;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j = rand()%100;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((j%2)) p = &amp;d_ob1;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// если число 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нечетное </a:t>
            </a:r>
          </a:p>
          <a:p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	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				// использовать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объект </a:t>
            </a:r>
            <a:r>
              <a:rPr lang="en-US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d_ob1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= &amp;d_ob2;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// если число четное</a:t>
            </a:r>
          </a:p>
          <a:p>
            <a:r>
              <a:rPr lang="ru-RU" sz="2000" b="1" dirty="0">
                <a:solidFill>
                  <a:prstClr val="black"/>
                </a:solidFill>
                <a:cs typeface="Courier New" panose="02070309020205020404" pitchFamily="49" charset="0"/>
              </a:rPr>
              <a:t>			</a:t>
            </a:r>
            <a:r>
              <a:rPr lang="ru-RU" sz="2000" b="1" dirty="0" smtClean="0">
                <a:solidFill>
                  <a:prstClr val="black"/>
                </a:solidFill>
                <a:cs typeface="Courier New" panose="02070309020205020404" pitchFamily="49" charset="0"/>
              </a:rPr>
              <a:t>		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использовать объект </a:t>
            </a:r>
            <a:r>
              <a:rPr lang="en-US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d_ob2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p-&gt;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// вызов подходящей версии 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функции</a:t>
            </a:r>
            <a:endParaRPr lang="ru-RU" sz="2000" b="1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0"/>
            <a:ext cx="8208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25. Позднее связывание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9598721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АБСТРАКТНЫЕ </a:t>
            </a:r>
            <a:r>
              <a:rPr lang="ru-RU" sz="2800" b="1" dirty="0" smtClean="0"/>
              <a:t>КЛАССЫ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09488" y="764703"/>
            <a:ext cx="882982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2800" b="1" dirty="0" smtClean="0"/>
              <a:t>Чистой </a:t>
            </a:r>
            <a:r>
              <a:rPr lang="ru-RU" sz="2800" b="1" dirty="0"/>
              <a:t>виртуальной функцией </a:t>
            </a:r>
            <a:r>
              <a:rPr lang="ru-RU" sz="2800" dirty="0"/>
              <a:t>является виртуальная функция, у которой в ее объявлении тело определено как 0 (инициализатор =0). </a:t>
            </a:r>
          </a:p>
          <a:p>
            <a:endParaRPr lang="ru-RU" sz="2400" b="1" dirty="0" smtClean="0">
              <a:solidFill>
                <a:srgbClr val="0000FF"/>
              </a:solidFill>
            </a:endParaRPr>
          </a:p>
          <a:p>
            <a:r>
              <a:rPr lang="ru-RU" sz="2400" b="1" dirty="0" err="1" smtClean="0">
                <a:solidFill>
                  <a:srgbClr val="0000FF"/>
                </a:solidFill>
              </a:rPr>
              <a:t>virtual</a:t>
            </a:r>
            <a:r>
              <a:rPr lang="ru-RU" sz="2400" b="1" dirty="0" smtClean="0">
                <a:solidFill>
                  <a:srgbClr val="0000FF"/>
                </a:solidFill>
              </a:rPr>
              <a:t> </a:t>
            </a:r>
            <a:r>
              <a:rPr lang="ru-RU" sz="2400" dirty="0"/>
              <a:t>тип имя-функции (</a:t>
            </a:r>
            <a:r>
              <a:rPr lang="ru-RU" sz="2400" dirty="0" err="1"/>
              <a:t>список_формальных_параметров</a:t>
            </a:r>
            <a:r>
              <a:rPr lang="ru-RU" sz="2400" dirty="0"/>
              <a:t>) = 0; </a:t>
            </a:r>
          </a:p>
          <a:p>
            <a:endParaRPr lang="ru-RU" sz="2800" dirty="0" smtClean="0"/>
          </a:p>
          <a:p>
            <a:r>
              <a:rPr lang="ru-RU" sz="2800" b="1" dirty="0" smtClean="0"/>
              <a:t>Класс</a:t>
            </a:r>
            <a:r>
              <a:rPr lang="ru-RU" sz="2800" dirty="0"/>
              <a:t>, в котором есть </a:t>
            </a:r>
            <a:r>
              <a:rPr lang="ru-RU" sz="2800" b="1" dirty="0"/>
              <a:t>хотя бы одна чистая виртуальная функция</a:t>
            </a:r>
            <a:r>
              <a:rPr lang="ru-RU" sz="2800" dirty="0"/>
              <a:t>, называется </a:t>
            </a:r>
            <a:r>
              <a:rPr lang="ru-RU" sz="2800" b="1" dirty="0"/>
              <a:t>абстрактным</a:t>
            </a:r>
            <a:r>
              <a:rPr lang="ru-RU" sz="2800" dirty="0"/>
              <a:t>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110007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АБСТРАКТНЫЕ </a:t>
            </a:r>
            <a:r>
              <a:rPr lang="ru-RU" sz="2800" b="1" dirty="0" smtClean="0"/>
              <a:t>КЛАССЫ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09488" y="764703"/>
            <a:ext cx="882982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2800" b="1" dirty="0" smtClean="0"/>
              <a:t>Чисто виртуальные функции</a:t>
            </a:r>
            <a:r>
              <a:rPr lang="ru-RU" sz="2800" dirty="0" smtClean="0"/>
              <a:t> </a:t>
            </a:r>
            <a:r>
              <a:rPr lang="ru-RU" sz="2800" dirty="0"/>
              <a:t>применяются </a:t>
            </a:r>
            <a:r>
              <a:rPr lang="ru-RU" sz="2800" b="1" dirty="0"/>
              <a:t>в качестве базовых </a:t>
            </a:r>
            <a:r>
              <a:rPr lang="ru-RU" sz="2800" dirty="0"/>
              <a:t>в процессе наследования. </a:t>
            </a:r>
          </a:p>
          <a:p>
            <a:pPr>
              <a:spcAft>
                <a:spcPts val="1200"/>
              </a:spcAft>
            </a:pPr>
            <a:r>
              <a:rPr lang="ru-RU" sz="2800" dirty="0"/>
              <a:t>Их назначение – возможность другим классам унаследовать от них интерфейс и реализацию. </a:t>
            </a:r>
          </a:p>
          <a:p>
            <a:pPr>
              <a:spcAft>
                <a:spcPts val="1200"/>
              </a:spcAft>
            </a:pPr>
            <a:r>
              <a:rPr lang="ru-RU" sz="2800" b="1" dirty="0"/>
              <a:t>Классы</a:t>
            </a:r>
            <a:r>
              <a:rPr lang="ru-RU" sz="2800" dirty="0"/>
              <a:t>, объекты которых могут быть реализованы, называются </a:t>
            </a:r>
            <a:r>
              <a:rPr lang="ru-RU" sz="2800" b="1" dirty="0"/>
              <a:t>конкретными</a:t>
            </a:r>
            <a:r>
              <a:rPr lang="ru-RU" sz="2800" dirty="0"/>
              <a:t>. </a:t>
            </a:r>
          </a:p>
          <a:p>
            <a:r>
              <a:rPr lang="ru-RU" sz="2800" dirty="0"/>
              <a:t>Попытка создать объект абстрактного класса даст </a:t>
            </a:r>
            <a:r>
              <a:rPr lang="ru-RU" sz="2800" b="1" dirty="0"/>
              <a:t>синтаксическую ошибку</a:t>
            </a:r>
            <a:r>
              <a:rPr lang="ru-RU" sz="2800" dirty="0"/>
              <a:t>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018910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26. Абстрактный класс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14176" y="580292"/>
            <a:ext cx="6778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2800" dirty="0"/>
              <a:t>Базовый класс – абстрактный.</a:t>
            </a:r>
            <a:endParaRPr lang="ru-RU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79512" y="2276872"/>
            <a:ext cx="8650312" cy="341632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объявление абстрактного класса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base() {}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конструктор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~base () {}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деструктор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=0;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чисто 						// виртуальная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функция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22761" y="1340768"/>
            <a:ext cx="4563813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b="1" dirty="0"/>
              <a:t>base ← derived1 ←</a:t>
            </a:r>
            <a:r>
              <a:rPr lang="ru-RU" sz="2800" b="1" dirty="0"/>
              <a:t> </a:t>
            </a:r>
            <a:r>
              <a:rPr lang="en-US" sz="2800" b="1" dirty="0"/>
              <a:t>derived2 </a:t>
            </a:r>
          </a:p>
        </p:txBody>
      </p:sp>
    </p:spTree>
    <p:extLst>
      <p:ext uri="{BB962C8B-B14F-4D97-AF65-F5344CB8AC3E}">
        <p14:creationId xmlns:p14="http://schemas.microsoft.com/office/powerpoint/2010/main" val="22737356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26. Абстрактный класс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5496" y="836712"/>
            <a:ext cx="9001000" cy="526297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derived1: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{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derived1(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bx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x =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bx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~derived1 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"destructor Point1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done«</a:t>
            </a:r>
            <a:r>
              <a:rPr lang="ru-RU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() {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x =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x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3418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26. Абстрактный класс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5496" y="620688"/>
            <a:ext cx="9036496" cy="526297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derived2: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derived1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derived2(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bx,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by):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derived1(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bx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by;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~derived2 () {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"destructor Point2 done"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get() {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x =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x &lt;&lt;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y =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y &lt;&lt;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5473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26. Абстрактный класс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79512" y="620688"/>
            <a:ext cx="8650312" cy="452431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base *P;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 = </a:t>
            </a:r>
            <a:r>
              <a:rPr lang="ru-RU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!!! нельзя создать объект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абстрактного класса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 -&gt; get();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 =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derived1(1);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 -&gt; get();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1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 =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derived2(2,3);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 -&gt; get();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2 3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8016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</a:t>
            </a:r>
            <a:r>
              <a:rPr lang="ru-RU" sz="2800" b="1" dirty="0" smtClean="0"/>
              <a:t>27.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7524" y="620688"/>
            <a:ext cx="86409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Вызов </a:t>
            </a:r>
            <a:r>
              <a:rPr lang="ru-RU" sz="2800" dirty="0"/>
              <a:t>метода производного класса из метода базового класса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1446" y="1844824"/>
            <a:ext cx="3456384" cy="13849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	</a:t>
            </a:r>
            <a:r>
              <a:rPr lang="en-US" sz="2800" dirty="0"/>
              <a:t> </a:t>
            </a:r>
            <a:r>
              <a:rPr lang="ru-RU" sz="2800" dirty="0" smtClean="0"/>
              <a:t>  </a:t>
            </a:r>
            <a:r>
              <a:rPr lang="en-US" sz="2800" dirty="0" smtClean="0"/>
              <a:t>base </a:t>
            </a:r>
            <a:endParaRPr lang="ru-RU" sz="2800" dirty="0" smtClean="0"/>
          </a:p>
          <a:p>
            <a:r>
              <a:rPr lang="ru-RU" sz="2800" dirty="0"/>
              <a:t>	</a:t>
            </a:r>
            <a:r>
              <a:rPr lang="ru-RU" sz="2800" dirty="0" smtClean="0"/>
              <a:t>↙      ↘</a:t>
            </a:r>
            <a:endParaRPr lang="en-US" sz="2800" dirty="0"/>
          </a:p>
          <a:p>
            <a:r>
              <a:rPr lang="en-US" sz="2800" dirty="0" smtClean="0"/>
              <a:t>derived1</a:t>
            </a:r>
            <a:r>
              <a:rPr lang="ru-RU" sz="2800" dirty="0" smtClean="0"/>
              <a:t> </a:t>
            </a:r>
            <a:r>
              <a:rPr lang="en-US" sz="2800" dirty="0" smtClean="0"/>
              <a:t> </a:t>
            </a:r>
            <a:r>
              <a:rPr lang="ru-RU" sz="2800" dirty="0" smtClean="0"/>
              <a:t>     </a:t>
            </a:r>
            <a:r>
              <a:rPr lang="en-US" sz="2800" dirty="0" smtClean="0"/>
              <a:t>derived2 </a:t>
            </a:r>
            <a:endParaRPr lang="ru-R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521550" y="3861048"/>
            <a:ext cx="81729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 каждом классе определим свой метод </a:t>
            </a:r>
            <a:r>
              <a:rPr lang="ru-RU" sz="2800" i="1" dirty="0" err="1"/>
              <a:t>get</a:t>
            </a:r>
            <a:r>
              <a:rPr lang="ru-RU" sz="2800" dirty="0"/>
              <a:t>, который должен вызываться из метода </a:t>
            </a:r>
            <a:r>
              <a:rPr lang="ru-RU" sz="2800" i="1" dirty="0" err="1"/>
              <a:t>get_base</a:t>
            </a:r>
            <a:r>
              <a:rPr lang="ru-RU" sz="2800" i="1" dirty="0"/>
              <a:t> </a:t>
            </a:r>
            <a:r>
              <a:rPr lang="ru-RU" sz="2800" dirty="0"/>
              <a:t>базового класса. При вызове метода </a:t>
            </a:r>
            <a:r>
              <a:rPr lang="ru-RU" sz="2800" i="1" dirty="0" err="1"/>
              <a:t>get</a:t>
            </a:r>
            <a:r>
              <a:rPr lang="ru-RU" sz="2800" i="1" dirty="0"/>
              <a:t> </a:t>
            </a:r>
            <a:r>
              <a:rPr lang="ru-RU" sz="2800" dirty="0"/>
              <a:t>для объектов производных классов, происходит вызов метода </a:t>
            </a:r>
            <a:r>
              <a:rPr lang="ru-RU" sz="2800" i="1" dirty="0" err="1"/>
              <a:t>get</a:t>
            </a:r>
            <a:r>
              <a:rPr lang="ru-RU" sz="2800" i="1" dirty="0"/>
              <a:t> </a:t>
            </a:r>
            <a:r>
              <a:rPr lang="ru-RU" sz="2800" dirty="0"/>
              <a:t>базового (!) класса.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477147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</a:t>
            </a:r>
            <a:r>
              <a:rPr lang="ru-RU" sz="2800" b="1" dirty="0" smtClean="0"/>
              <a:t>27.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7524" y="620688"/>
            <a:ext cx="8640960" cy="612475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#include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A31515"/>
                </a:solidFill>
              </a:rPr>
              <a:t>&lt;</a:t>
            </a:r>
            <a:r>
              <a:rPr lang="en-US" sz="2800" dirty="0" err="1">
                <a:solidFill>
                  <a:srgbClr val="A31515"/>
                </a:solidFill>
              </a:rPr>
              <a:t>iostream</a:t>
            </a:r>
            <a:r>
              <a:rPr lang="en-US" sz="2800" dirty="0">
                <a:solidFill>
                  <a:srgbClr val="A31515"/>
                </a:solidFill>
              </a:rPr>
              <a:t>&gt;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</a:p>
          <a:p>
            <a:r>
              <a:rPr lang="en-US" sz="2800" dirty="0">
                <a:solidFill>
                  <a:srgbClr val="0000FF"/>
                </a:solidFill>
              </a:rPr>
              <a:t>using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0000FF"/>
                </a:solidFill>
              </a:rPr>
              <a:t>namespace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std</a:t>
            </a:r>
            <a:r>
              <a:rPr lang="en-US" sz="2800" dirty="0">
                <a:solidFill>
                  <a:prstClr val="black"/>
                </a:solidFill>
              </a:rPr>
              <a:t>;</a:t>
            </a:r>
          </a:p>
          <a:p>
            <a:r>
              <a:rPr lang="en-US" sz="2800" dirty="0">
                <a:solidFill>
                  <a:srgbClr val="0000FF"/>
                </a:solidFill>
              </a:rPr>
              <a:t>class</a:t>
            </a:r>
            <a:r>
              <a:rPr lang="en-US" sz="2800" dirty="0">
                <a:solidFill>
                  <a:prstClr val="black"/>
                </a:solidFill>
              </a:rPr>
              <a:t> base { </a:t>
            </a:r>
          </a:p>
          <a:p>
            <a:r>
              <a:rPr lang="en-US" sz="2800" dirty="0">
                <a:solidFill>
                  <a:srgbClr val="0000FF"/>
                </a:solidFill>
              </a:rPr>
              <a:t>protected</a:t>
            </a:r>
            <a:r>
              <a:rPr lang="en-US" sz="2800" dirty="0">
                <a:solidFill>
                  <a:prstClr val="black"/>
                </a:solidFill>
              </a:rPr>
              <a:t>:</a:t>
            </a:r>
          </a:p>
          <a:p>
            <a:r>
              <a:rPr lang="en-US" sz="2800" dirty="0">
                <a:solidFill>
                  <a:prstClr val="black"/>
                </a:solidFill>
              </a:rPr>
              <a:t>	</a:t>
            </a:r>
            <a:r>
              <a:rPr lang="en-US" sz="2800" dirty="0">
                <a:solidFill>
                  <a:srgbClr val="0000FF"/>
                </a:solidFill>
              </a:rPr>
              <a:t>double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x,y</a:t>
            </a:r>
            <a:r>
              <a:rPr lang="en-US" sz="2800" dirty="0">
                <a:solidFill>
                  <a:prstClr val="black"/>
                </a:solidFill>
              </a:rPr>
              <a:t>;</a:t>
            </a:r>
          </a:p>
          <a:p>
            <a:r>
              <a:rPr lang="en-US" sz="2800" dirty="0">
                <a:solidFill>
                  <a:srgbClr val="0000FF"/>
                </a:solidFill>
              </a:rPr>
              <a:t>public</a:t>
            </a:r>
            <a:r>
              <a:rPr lang="en-US" sz="2800" dirty="0">
                <a:solidFill>
                  <a:prstClr val="black"/>
                </a:solidFill>
              </a:rPr>
              <a:t>:</a:t>
            </a:r>
          </a:p>
          <a:p>
            <a:r>
              <a:rPr lang="en-US" sz="2800" dirty="0">
                <a:solidFill>
                  <a:prstClr val="black"/>
                </a:solidFill>
              </a:rPr>
              <a:t>	base(</a:t>
            </a:r>
            <a:r>
              <a:rPr lang="en-US" sz="2800" dirty="0">
                <a:solidFill>
                  <a:srgbClr val="0000FF"/>
                </a:solidFill>
              </a:rPr>
              <a:t>double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bx</a:t>
            </a:r>
            <a:r>
              <a:rPr lang="en-US" sz="2800" dirty="0">
                <a:solidFill>
                  <a:prstClr val="black"/>
                </a:solidFill>
              </a:rPr>
              <a:t> = 0, </a:t>
            </a:r>
            <a:r>
              <a:rPr lang="en-US" sz="2800" dirty="0">
                <a:solidFill>
                  <a:srgbClr val="0000FF"/>
                </a:solidFill>
              </a:rPr>
              <a:t>double</a:t>
            </a:r>
            <a:r>
              <a:rPr lang="en-US" sz="2800" dirty="0">
                <a:solidFill>
                  <a:prstClr val="black"/>
                </a:solidFill>
              </a:rPr>
              <a:t> by = 0) {x = </a:t>
            </a:r>
            <a:r>
              <a:rPr lang="en-US" sz="2800" dirty="0" err="1">
                <a:solidFill>
                  <a:prstClr val="black"/>
                </a:solidFill>
              </a:rPr>
              <a:t>bx</a:t>
            </a:r>
            <a:r>
              <a:rPr lang="en-US" sz="2800" dirty="0">
                <a:solidFill>
                  <a:prstClr val="black"/>
                </a:solidFill>
              </a:rPr>
              <a:t>; y = by; }</a:t>
            </a:r>
          </a:p>
          <a:p>
            <a:r>
              <a:rPr lang="en-US" sz="2800" dirty="0">
                <a:solidFill>
                  <a:prstClr val="black"/>
                </a:solidFill>
              </a:rPr>
              <a:t>	~base () { </a:t>
            </a:r>
            <a:r>
              <a:rPr lang="en-US" sz="2800" dirty="0" err="1">
                <a:solidFill>
                  <a:prstClr val="black"/>
                </a:solidFill>
              </a:rPr>
              <a:t>cout</a:t>
            </a:r>
            <a:r>
              <a:rPr lang="en-US" sz="2800" dirty="0">
                <a:solidFill>
                  <a:prstClr val="black"/>
                </a:solidFill>
              </a:rPr>
              <a:t> &lt;&lt; </a:t>
            </a:r>
            <a:r>
              <a:rPr lang="en-US" sz="2800" dirty="0">
                <a:solidFill>
                  <a:srgbClr val="A31515"/>
                </a:solidFill>
              </a:rPr>
              <a:t>"destructor base done"</a:t>
            </a:r>
            <a:r>
              <a:rPr lang="en-US" sz="2800" dirty="0">
                <a:solidFill>
                  <a:prstClr val="black"/>
                </a:solidFill>
              </a:rPr>
              <a:t>&lt;&lt;</a:t>
            </a:r>
            <a:r>
              <a:rPr lang="en-US" sz="2800" dirty="0" err="1">
                <a:solidFill>
                  <a:prstClr val="black"/>
                </a:solidFill>
              </a:rPr>
              <a:t>endl</a:t>
            </a:r>
            <a:r>
              <a:rPr lang="en-US" sz="2800" dirty="0">
                <a:solidFill>
                  <a:prstClr val="black"/>
                </a:solidFill>
              </a:rPr>
              <a:t>;}</a:t>
            </a:r>
          </a:p>
          <a:p>
            <a:r>
              <a:rPr lang="ru-RU" sz="2800" dirty="0">
                <a:solidFill>
                  <a:prstClr val="black"/>
                </a:solidFill>
              </a:rPr>
              <a:t>	</a:t>
            </a:r>
            <a:r>
              <a:rPr lang="ru-RU" sz="2800" dirty="0">
                <a:solidFill>
                  <a:srgbClr val="008000"/>
                </a:solidFill>
              </a:rPr>
              <a:t>// вызов метода </a:t>
            </a:r>
            <a:r>
              <a:rPr lang="ru-RU" sz="2800" dirty="0" err="1">
                <a:solidFill>
                  <a:srgbClr val="008000"/>
                </a:solidFill>
              </a:rPr>
              <a:t>Print</a:t>
            </a:r>
            <a:r>
              <a:rPr lang="ru-RU" sz="2800" dirty="0">
                <a:solidFill>
                  <a:srgbClr val="008000"/>
                </a:solidFill>
              </a:rPr>
              <a:t> из метода </a:t>
            </a:r>
            <a:r>
              <a:rPr lang="ru-RU" sz="2800" dirty="0" err="1">
                <a:solidFill>
                  <a:srgbClr val="008000"/>
                </a:solidFill>
              </a:rPr>
              <a:t>Print_B</a:t>
            </a:r>
            <a:endParaRPr lang="ru-RU" sz="2800" dirty="0">
              <a:solidFill>
                <a:srgbClr val="008000"/>
              </a:solidFill>
            </a:endParaRPr>
          </a:p>
          <a:p>
            <a:r>
              <a:rPr lang="en-US" sz="2800" dirty="0">
                <a:solidFill>
                  <a:prstClr val="black"/>
                </a:solidFill>
              </a:rPr>
              <a:t>	</a:t>
            </a:r>
            <a:r>
              <a:rPr lang="en-US" sz="2800" dirty="0">
                <a:solidFill>
                  <a:srgbClr val="0000FF"/>
                </a:solidFill>
              </a:rPr>
              <a:t>void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get_base</a:t>
            </a:r>
            <a:r>
              <a:rPr lang="en-US" sz="2800" dirty="0">
                <a:solidFill>
                  <a:prstClr val="black"/>
                </a:solidFill>
              </a:rPr>
              <a:t>() { </a:t>
            </a:r>
            <a:r>
              <a:rPr lang="en-US" sz="2800" dirty="0" err="1">
                <a:solidFill>
                  <a:prstClr val="black"/>
                </a:solidFill>
              </a:rPr>
              <a:t>cout</a:t>
            </a:r>
            <a:r>
              <a:rPr lang="en-US" sz="2800" dirty="0">
                <a:solidFill>
                  <a:prstClr val="black"/>
                </a:solidFill>
              </a:rPr>
              <a:t> &lt;&lt;</a:t>
            </a:r>
            <a:r>
              <a:rPr lang="en-US" sz="2800" dirty="0">
                <a:solidFill>
                  <a:srgbClr val="A31515"/>
                </a:solidFill>
              </a:rPr>
              <a:t>" base class "</a:t>
            </a:r>
            <a:r>
              <a:rPr lang="en-US" sz="2800" dirty="0">
                <a:solidFill>
                  <a:prstClr val="black"/>
                </a:solidFill>
              </a:rPr>
              <a:t>&lt;&lt;</a:t>
            </a:r>
            <a:r>
              <a:rPr lang="en-US" sz="2800" dirty="0" err="1">
                <a:solidFill>
                  <a:prstClr val="black"/>
                </a:solidFill>
              </a:rPr>
              <a:t>endl</a:t>
            </a:r>
            <a:r>
              <a:rPr lang="en-US" sz="2800" dirty="0">
                <a:solidFill>
                  <a:prstClr val="black"/>
                </a:solidFill>
              </a:rPr>
              <a:t>;</a:t>
            </a:r>
          </a:p>
          <a:p>
            <a:r>
              <a:rPr lang="en-US" sz="2800" dirty="0">
                <a:solidFill>
                  <a:prstClr val="black"/>
                </a:solidFill>
              </a:rPr>
              <a:t>	get();</a:t>
            </a:r>
          </a:p>
          <a:p>
            <a:r>
              <a:rPr lang="ru-RU" sz="2800" dirty="0">
                <a:solidFill>
                  <a:prstClr val="black"/>
                </a:solidFill>
              </a:rPr>
              <a:t>	}</a:t>
            </a:r>
          </a:p>
          <a:p>
            <a:r>
              <a:rPr lang="en-US" sz="2800" dirty="0">
                <a:solidFill>
                  <a:prstClr val="black"/>
                </a:solidFill>
              </a:rPr>
              <a:t>	</a:t>
            </a:r>
            <a:r>
              <a:rPr lang="en-US" sz="2800" dirty="0">
                <a:solidFill>
                  <a:srgbClr val="0000FF"/>
                </a:solidFill>
              </a:rPr>
              <a:t>void</a:t>
            </a:r>
            <a:r>
              <a:rPr lang="en-US" sz="2800" dirty="0">
                <a:solidFill>
                  <a:prstClr val="black"/>
                </a:solidFill>
              </a:rPr>
              <a:t> get () { </a:t>
            </a:r>
            <a:r>
              <a:rPr lang="en-US" sz="2800" dirty="0" err="1">
                <a:solidFill>
                  <a:prstClr val="black"/>
                </a:solidFill>
              </a:rPr>
              <a:t>cout</a:t>
            </a:r>
            <a:r>
              <a:rPr lang="en-US" sz="2800" dirty="0">
                <a:solidFill>
                  <a:prstClr val="black"/>
                </a:solidFill>
              </a:rPr>
              <a:t> &lt;&lt; </a:t>
            </a:r>
            <a:r>
              <a:rPr lang="en-US" sz="2800" dirty="0">
                <a:solidFill>
                  <a:srgbClr val="A31515"/>
                </a:solidFill>
              </a:rPr>
              <a:t>" x = "</a:t>
            </a:r>
            <a:r>
              <a:rPr lang="en-US" sz="2800" dirty="0">
                <a:solidFill>
                  <a:prstClr val="black"/>
                </a:solidFill>
              </a:rPr>
              <a:t>&lt;&lt; x &lt;&lt;</a:t>
            </a:r>
            <a:r>
              <a:rPr lang="en-US" sz="2800" dirty="0">
                <a:solidFill>
                  <a:srgbClr val="A31515"/>
                </a:solidFill>
              </a:rPr>
              <a:t>" y = "</a:t>
            </a:r>
            <a:r>
              <a:rPr lang="en-US" sz="2800" dirty="0">
                <a:solidFill>
                  <a:prstClr val="black"/>
                </a:solidFill>
              </a:rPr>
              <a:t>&lt;&lt; y &lt;&lt;</a:t>
            </a:r>
            <a:r>
              <a:rPr lang="en-US" sz="2800" dirty="0" err="1">
                <a:solidFill>
                  <a:prstClr val="black"/>
                </a:solidFill>
              </a:rPr>
              <a:t>endl</a:t>
            </a:r>
            <a:r>
              <a:rPr lang="en-US" sz="2800" dirty="0">
                <a:solidFill>
                  <a:prstClr val="black"/>
                </a:solidFill>
              </a:rPr>
              <a:t>;}</a:t>
            </a:r>
          </a:p>
          <a:p>
            <a:r>
              <a:rPr lang="ru-RU" sz="2800" dirty="0" smtClean="0">
                <a:solidFill>
                  <a:prstClr val="black"/>
                </a:solidFill>
              </a:rPr>
              <a:t>};</a:t>
            </a:r>
            <a:endParaRPr lang="ru-RU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9053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</a:t>
            </a:r>
            <a:r>
              <a:rPr lang="ru-RU" sz="2800" b="1" dirty="0" smtClean="0"/>
              <a:t>27.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7524" y="620688"/>
            <a:ext cx="8640960" cy="526297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</a:rPr>
              <a:t>class</a:t>
            </a:r>
            <a:r>
              <a:rPr lang="en-US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prstClr val="black"/>
                </a:solidFill>
              </a:rPr>
              <a:t>derived1: </a:t>
            </a:r>
            <a:r>
              <a:rPr lang="en-US" sz="2800" dirty="0">
                <a:solidFill>
                  <a:srgbClr val="0000FF"/>
                </a:solidFill>
              </a:rPr>
              <a:t>public</a:t>
            </a:r>
            <a:r>
              <a:rPr lang="en-US" sz="2800" dirty="0">
                <a:solidFill>
                  <a:prstClr val="black"/>
                </a:solidFill>
              </a:rPr>
              <a:t> base { </a:t>
            </a:r>
          </a:p>
          <a:p>
            <a:r>
              <a:rPr lang="en-US" sz="2800" dirty="0">
                <a:solidFill>
                  <a:prstClr val="black"/>
                </a:solidFill>
              </a:rPr>
              <a:t>	</a:t>
            </a:r>
            <a:r>
              <a:rPr lang="en-US" sz="2800" dirty="0">
                <a:solidFill>
                  <a:srgbClr val="0000FF"/>
                </a:solidFill>
              </a:rPr>
              <a:t>double</a:t>
            </a:r>
            <a:r>
              <a:rPr lang="en-US" sz="2800" dirty="0">
                <a:solidFill>
                  <a:prstClr val="black"/>
                </a:solidFill>
              </a:rPr>
              <a:t> z; </a:t>
            </a:r>
            <a:r>
              <a:rPr lang="en-US" sz="2800" dirty="0">
                <a:solidFill>
                  <a:srgbClr val="008000"/>
                </a:solidFill>
              </a:rPr>
              <a:t>// </a:t>
            </a:r>
            <a:r>
              <a:rPr lang="ru-RU" sz="2800" dirty="0">
                <a:solidFill>
                  <a:srgbClr val="008000"/>
                </a:solidFill>
              </a:rPr>
              <a:t>новое поле</a:t>
            </a:r>
          </a:p>
          <a:p>
            <a:r>
              <a:rPr lang="en-US" sz="2800" dirty="0">
                <a:solidFill>
                  <a:srgbClr val="0000FF"/>
                </a:solidFill>
              </a:rPr>
              <a:t>public</a:t>
            </a:r>
            <a:r>
              <a:rPr lang="en-US" sz="2800" dirty="0">
                <a:solidFill>
                  <a:prstClr val="black"/>
                </a:solidFill>
              </a:rPr>
              <a:t>: </a:t>
            </a:r>
          </a:p>
          <a:p>
            <a:r>
              <a:rPr lang="en-US" sz="2800" dirty="0">
                <a:solidFill>
                  <a:prstClr val="black"/>
                </a:solidFill>
              </a:rPr>
              <a:t>	derived1(</a:t>
            </a:r>
            <a:r>
              <a:rPr lang="en-US" sz="2800" dirty="0">
                <a:solidFill>
                  <a:srgbClr val="0000FF"/>
                </a:solidFill>
              </a:rPr>
              <a:t>double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bx,</a:t>
            </a:r>
            <a:r>
              <a:rPr lang="en-US" sz="2800" dirty="0" err="1">
                <a:solidFill>
                  <a:srgbClr val="0000FF"/>
                </a:solidFill>
              </a:rPr>
              <a:t>double</a:t>
            </a:r>
            <a:r>
              <a:rPr lang="en-US" sz="2800" dirty="0">
                <a:solidFill>
                  <a:prstClr val="black"/>
                </a:solidFill>
              </a:rPr>
              <a:t> by, </a:t>
            </a:r>
            <a:r>
              <a:rPr lang="en-US" sz="2800" dirty="0">
                <a:solidFill>
                  <a:srgbClr val="0000FF"/>
                </a:solidFill>
              </a:rPr>
              <a:t>double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bz</a:t>
            </a:r>
            <a:r>
              <a:rPr lang="en-US" sz="2800" dirty="0">
                <a:solidFill>
                  <a:prstClr val="black"/>
                </a:solidFill>
              </a:rPr>
              <a:t>):base(</a:t>
            </a:r>
            <a:r>
              <a:rPr lang="en-US" sz="2800" dirty="0" err="1">
                <a:solidFill>
                  <a:prstClr val="black"/>
                </a:solidFill>
              </a:rPr>
              <a:t>bx,by</a:t>
            </a:r>
            <a:r>
              <a:rPr lang="en-US" sz="2800" dirty="0">
                <a:solidFill>
                  <a:prstClr val="black"/>
                </a:solidFill>
              </a:rPr>
              <a:t>)</a:t>
            </a:r>
          </a:p>
          <a:p>
            <a:r>
              <a:rPr lang="en-US" sz="2800" dirty="0">
                <a:solidFill>
                  <a:prstClr val="black"/>
                </a:solidFill>
              </a:rPr>
              <a:t>	{z = </a:t>
            </a:r>
            <a:r>
              <a:rPr lang="en-US" sz="2800" dirty="0" err="1">
                <a:solidFill>
                  <a:prstClr val="black"/>
                </a:solidFill>
              </a:rPr>
              <a:t>bz</a:t>
            </a:r>
            <a:r>
              <a:rPr lang="en-US" sz="2800" dirty="0">
                <a:solidFill>
                  <a:prstClr val="black"/>
                </a:solidFill>
              </a:rPr>
              <a:t>; }</a:t>
            </a:r>
          </a:p>
          <a:p>
            <a:r>
              <a:rPr lang="en-US" sz="2800" dirty="0">
                <a:solidFill>
                  <a:prstClr val="black"/>
                </a:solidFill>
              </a:rPr>
              <a:t>	~derived1 (){ </a:t>
            </a:r>
            <a:r>
              <a:rPr lang="en-US" sz="2800" dirty="0" err="1">
                <a:solidFill>
                  <a:prstClr val="black"/>
                </a:solidFill>
              </a:rPr>
              <a:t>cout</a:t>
            </a:r>
            <a:r>
              <a:rPr lang="en-US" sz="2800" dirty="0">
                <a:solidFill>
                  <a:prstClr val="black"/>
                </a:solidFill>
              </a:rPr>
              <a:t> &lt;&lt; </a:t>
            </a:r>
            <a:r>
              <a:rPr lang="en-US" sz="2800" dirty="0">
                <a:solidFill>
                  <a:srgbClr val="A31515"/>
                </a:solidFill>
              </a:rPr>
              <a:t>"destructor derived1 done"</a:t>
            </a:r>
            <a:r>
              <a:rPr lang="en-US" sz="2800" dirty="0">
                <a:solidFill>
                  <a:prstClr val="black"/>
                </a:solidFill>
              </a:rPr>
              <a:t>&lt;&lt;</a:t>
            </a:r>
            <a:r>
              <a:rPr lang="en-US" sz="2800" dirty="0" err="1">
                <a:solidFill>
                  <a:prstClr val="black"/>
                </a:solidFill>
              </a:rPr>
              <a:t>endl</a:t>
            </a:r>
            <a:r>
              <a:rPr lang="en-US" sz="2800" dirty="0">
                <a:solidFill>
                  <a:prstClr val="black"/>
                </a:solidFill>
              </a:rPr>
              <a:t>;}</a:t>
            </a:r>
          </a:p>
          <a:p>
            <a:r>
              <a:rPr lang="ru-RU" sz="2800" dirty="0">
                <a:solidFill>
                  <a:prstClr val="black"/>
                </a:solidFill>
              </a:rPr>
              <a:t>	</a:t>
            </a:r>
            <a:r>
              <a:rPr lang="ru-RU" sz="2800" dirty="0">
                <a:solidFill>
                  <a:srgbClr val="008000"/>
                </a:solidFill>
              </a:rPr>
              <a:t>// метод переопределен</a:t>
            </a:r>
          </a:p>
          <a:p>
            <a:r>
              <a:rPr lang="en-US" sz="2800" dirty="0">
                <a:solidFill>
                  <a:prstClr val="black"/>
                </a:solidFill>
              </a:rPr>
              <a:t>	</a:t>
            </a:r>
            <a:r>
              <a:rPr lang="en-US" sz="2800" dirty="0">
                <a:solidFill>
                  <a:srgbClr val="0000FF"/>
                </a:solidFill>
              </a:rPr>
              <a:t>void</a:t>
            </a:r>
            <a:r>
              <a:rPr lang="en-US" sz="2800" dirty="0">
                <a:solidFill>
                  <a:prstClr val="black"/>
                </a:solidFill>
              </a:rPr>
              <a:t> get () { </a:t>
            </a:r>
            <a:r>
              <a:rPr lang="en-US" sz="2800" dirty="0" err="1">
                <a:solidFill>
                  <a:prstClr val="black"/>
                </a:solidFill>
              </a:rPr>
              <a:t>cout</a:t>
            </a:r>
            <a:r>
              <a:rPr lang="en-US" sz="2800" dirty="0">
                <a:solidFill>
                  <a:prstClr val="black"/>
                </a:solidFill>
              </a:rPr>
              <a:t>&lt;&lt;</a:t>
            </a:r>
            <a:r>
              <a:rPr lang="en-US" sz="2800" dirty="0">
                <a:solidFill>
                  <a:srgbClr val="A31515"/>
                </a:solidFill>
              </a:rPr>
              <a:t>" x = "</a:t>
            </a:r>
            <a:r>
              <a:rPr lang="en-US" sz="2800" dirty="0">
                <a:solidFill>
                  <a:prstClr val="black"/>
                </a:solidFill>
              </a:rPr>
              <a:t>&lt;&lt; x &lt;&lt;</a:t>
            </a:r>
            <a:r>
              <a:rPr lang="en-US" sz="2800" dirty="0">
                <a:solidFill>
                  <a:srgbClr val="A31515"/>
                </a:solidFill>
              </a:rPr>
              <a:t>" y = "</a:t>
            </a:r>
            <a:r>
              <a:rPr lang="en-US" sz="2800" dirty="0">
                <a:solidFill>
                  <a:prstClr val="black"/>
                </a:solidFill>
              </a:rPr>
              <a:t>&lt;&lt; y &lt;&lt;</a:t>
            </a:r>
            <a:r>
              <a:rPr lang="en-US" sz="2800" dirty="0">
                <a:solidFill>
                  <a:srgbClr val="A31515"/>
                </a:solidFill>
              </a:rPr>
              <a:t>" z = "</a:t>
            </a:r>
            <a:r>
              <a:rPr lang="en-US" sz="2800" dirty="0">
                <a:solidFill>
                  <a:prstClr val="black"/>
                </a:solidFill>
              </a:rPr>
              <a:t>&lt;&lt; z &lt;&lt;</a:t>
            </a:r>
            <a:r>
              <a:rPr lang="en-US" sz="2800" dirty="0" err="1">
                <a:solidFill>
                  <a:prstClr val="black"/>
                </a:solidFill>
              </a:rPr>
              <a:t>endl</a:t>
            </a:r>
            <a:r>
              <a:rPr lang="en-US" sz="2800" dirty="0">
                <a:solidFill>
                  <a:prstClr val="black"/>
                </a:solidFill>
              </a:rPr>
              <a:t>;}</a:t>
            </a:r>
          </a:p>
          <a:p>
            <a:r>
              <a:rPr lang="ru-RU" sz="2800" dirty="0" smtClean="0">
                <a:solidFill>
                  <a:prstClr val="black"/>
                </a:solidFill>
              </a:rPr>
              <a:t>};</a:t>
            </a:r>
            <a:endParaRPr lang="ru-RU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118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</a:t>
            </a:r>
            <a:r>
              <a:rPr lang="ru-RU" sz="2800" b="1" dirty="0" smtClean="0"/>
              <a:t>27.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7524" y="620688"/>
            <a:ext cx="8640960" cy="569386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</a:rPr>
              <a:t>class</a:t>
            </a:r>
            <a:r>
              <a:rPr lang="en-US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prstClr val="black"/>
                </a:solidFill>
              </a:rPr>
              <a:t>derived2: </a:t>
            </a:r>
            <a:r>
              <a:rPr lang="en-US" sz="2800" dirty="0">
                <a:solidFill>
                  <a:srgbClr val="0000FF"/>
                </a:solidFill>
              </a:rPr>
              <a:t>public</a:t>
            </a:r>
            <a:r>
              <a:rPr lang="en-US" sz="2800" dirty="0">
                <a:solidFill>
                  <a:prstClr val="black"/>
                </a:solidFill>
              </a:rPr>
              <a:t> base {</a:t>
            </a:r>
          </a:p>
          <a:p>
            <a:r>
              <a:rPr lang="en-US" sz="2800" dirty="0">
                <a:solidFill>
                  <a:prstClr val="black"/>
                </a:solidFill>
              </a:rPr>
              <a:t>	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a,b</a:t>
            </a:r>
            <a:r>
              <a:rPr lang="en-US" sz="2800" dirty="0">
                <a:solidFill>
                  <a:prstClr val="black"/>
                </a:solidFill>
              </a:rPr>
              <a:t>; </a:t>
            </a:r>
            <a:r>
              <a:rPr lang="en-US" sz="2800" dirty="0">
                <a:solidFill>
                  <a:srgbClr val="008000"/>
                </a:solidFill>
              </a:rPr>
              <a:t>// </a:t>
            </a:r>
            <a:r>
              <a:rPr lang="ru-RU" sz="2800" dirty="0">
                <a:solidFill>
                  <a:srgbClr val="008000"/>
                </a:solidFill>
              </a:rPr>
              <a:t>новые поля</a:t>
            </a:r>
          </a:p>
          <a:p>
            <a:r>
              <a:rPr lang="en-US" sz="2800" dirty="0">
                <a:solidFill>
                  <a:srgbClr val="0000FF"/>
                </a:solidFill>
              </a:rPr>
              <a:t>public</a:t>
            </a:r>
            <a:r>
              <a:rPr lang="en-US" sz="2800" dirty="0">
                <a:solidFill>
                  <a:prstClr val="black"/>
                </a:solidFill>
              </a:rPr>
              <a:t>: </a:t>
            </a:r>
            <a:r>
              <a:rPr lang="en-US" sz="2800" dirty="0">
                <a:solidFill>
                  <a:srgbClr val="008000"/>
                </a:solidFill>
              </a:rPr>
              <a:t>// </a:t>
            </a:r>
            <a:r>
              <a:rPr lang="ru-RU" sz="2800" dirty="0">
                <a:solidFill>
                  <a:srgbClr val="008000"/>
                </a:solidFill>
              </a:rPr>
              <a:t>конструктор</a:t>
            </a:r>
          </a:p>
          <a:p>
            <a:r>
              <a:rPr lang="en-US" sz="2800" dirty="0">
                <a:solidFill>
                  <a:prstClr val="black"/>
                </a:solidFill>
              </a:rPr>
              <a:t>	derived2(</a:t>
            </a:r>
            <a:r>
              <a:rPr lang="en-US" sz="2800" dirty="0">
                <a:solidFill>
                  <a:srgbClr val="0000FF"/>
                </a:solidFill>
              </a:rPr>
              <a:t>double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bx,</a:t>
            </a:r>
            <a:r>
              <a:rPr lang="en-US" sz="2800" dirty="0" err="1">
                <a:solidFill>
                  <a:srgbClr val="0000FF"/>
                </a:solidFill>
              </a:rPr>
              <a:t>double</a:t>
            </a:r>
            <a:r>
              <a:rPr lang="en-US" sz="2800" dirty="0">
                <a:solidFill>
                  <a:prstClr val="black"/>
                </a:solidFill>
              </a:rPr>
              <a:t> by, 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ba,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bb)</a:t>
            </a:r>
          </a:p>
          <a:p>
            <a:r>
              <a:rPr lang="en-US" sz="2800" dirty="0">
                <a:solidFill>
                  <a:prstClr val="black"/>
                </a:solidFill>
              </a:rPr>
              <a:t>		:base(</a:t>
            </a:r>
            <a:r>
              <a:rPr lang="en-US" sz="2800" dirty="0" err="1">
                <a:solidFill>
                  <a:prstClr val="black"/>
                </a:solidFill>
              </a:rPr>
              <a:t>bx,by</a:t>
            </a:r>
            <a:r>
              <a:rPr lang="en-US" sz="2800" dirty="0">
                <a:solidFill>
                  <a:prstClr val="black"/>
                </a:solidFill>
              </a:rPr>
              <a:t>)</a:t>
            </a:r>
          </a:p>
          <a:p>
            <a:r>
              <a:rPr lang="en-US" sz="2800" dirty="0">
                <a:solidFill>
                  <a:prstClr val="black"/>
                </a:solidFill>
              </a:rPr>
              <a:t>	{a = </a:t>
            </a:r>
            <a:r>
              <a:rPr lang="en-US" sz="2800" dirty="0" err="1">
                <a:solidFill>
                  <a:prstClr val="black"/>
                </a:solidFill>
              </a:rPr>
              <a:t>ba</a:t>
            </a:r>
            <a:r>
              <a:rPr lang="en-US" sz="2800" dirty="0">
                <a:solidFill>
                  <a:prstClr val="black"/>
                </a:solidFill>
              </a:rPr>
              <a:t>; b = bb; }</a:t>
            </a:r>
          </a:p>
          <a:p>
            <a:r>
              <a:rPr lang="en-US" sz="2800" dirty="0">
                <a:solidFill>
                  <a:prstClr val="black"/>
                </a:solidFill>
              </a:rPr>
              <a:t>	~derived2 () { </a:t>
            </a:r>
          </a:p>
          <a:p>
            <a:r>
              <a:rPr lang="en-US" sz="2800" dirty="0">
                <a:solidFill>
                  <a:prstClr val="black"/>
                </a:solidFill>
              </a:rPr>
              <a:t>		</a:t>
            </a:r>
            <a:r>
              <a:rPr lang="en-US" sz="2800" dirty="0" err="1">
                <a:solidFill>
                  <a:prstClr val="black"/>
                </a:solidFill>
              </a:rPr>
              <a:t>cout</a:t>
            </a:r>
            <a:r>
              <a:rPr lang="en-US" sz="2800" dirty="0">
                <a:solidFill>
                  <a:prstClr val="black"/>
                </a:solidFill>
              </a:rPr>
              <a:t> &lt;&lt; </a:t>
            </a:r>
            <a:r>
              <a:rPr lang="en-US" sz="2800" dirty="0">
                <a:solidFill>
                  <a:srgbClr val="A31515"/>
                </a:solidFill>
              </a:rPr>
              <a:t>"destructor derived2 done"</a:t>
            </a:r>
            <a:r>
              <a:rPr lang="en-US" sz="2800" dirty="0">
                <a:solidFill>
                  <a:prstClr val="black"/>
                </a:solidFill>
              </a:rPr>
              <a:t>&lt;&lt;</a:t>
            </a:r>
            <a:r>
              <a:rPr lang="en-US" sz="2800" dirty="0" err="1">
                <a:solidFill>
                  <a:prstClr val="black"/>
                </a:solidFill>
              </a:rPr>
              <a:t>endl</a:t>
            </a:r>
            <a:r>
              <a:rPr lang="en-US" sz="2800" dirty="0">
                <a:solidFill>
                  <a:prstClr val="black"/>
                </a:solidFill>
              </a:rPr>
              <a:t>;}</a:t>
            </a:r>
          </a:p>
          <a:p>
            <a:r>
              <a:rPr lang="ru-RU" sz="2800" dirty="0">
                <a:solidFill>
                  <a:prstClr val="black"/>
                </a:solidFill>
              </a:rPr>
              <a:t>	</a:t>
            </a:r>
            <a:r>
              <a:rPr lang="ru-RU" sz="2800" dirty="0">
                <a:solidFill>
                  <a:srgbClr val="008000"/>
                </a:solidFill>
              </a:rPr>
              <a:t>// метод переопределен</a:t>
            </a:r>
          </a:p>
          <a:p>
            <a:r>
              <a:rPr lang="en-US" sz="2800" dirty="0">
                <a:solidFill>
                  <a:prstClr val="black"/>
                </a:solidFill>
              </a:rPr>
              <a:t>	</a:t>
            </a:r>
            <a:r>
              <a:rPr lang="en-US" sz="2800" dirty="0">
                <a:solidFill>
                  <a:srgbClr val="0000FF"/>
                </a:solidFill>
              </a:rPr>
              <a:t>void</a:t>
            </a:r>
            <a:r>
              <a:rPr lang="en-US" sz="2800" dirty="0">
                <a:solidFill>
                  <a:prstClr val="black"/>
                </a:solidFill>
              </a:rPr>
              <a:t> get () { </a:t>
            </a:r>
          </a:p>
          <a:p>
            <a:r>
              <a:rPr lang="es-ES" sz="2800" dirty="0">
                <a:solidFill>
                  <a:prstClr val="black"/>
                </a:solidFill>
              </a:rPr>
              <a:t>		cout&lt;&lt;</a:t>
            </a:r>
            <a:r>
              <a:rPr lang="es-ES" sz="2800" dirty="0">
                <a:solidFill>
                  <a:srgbClr val="A31515"/>
                </a:solidFill>
              </a:rPr>
              <a:t>" x="</a:t>
            </a:r>
            <a:r>
              <a:rPr lang="es-ES" sz="2800" dirty="0">
                <a:solidFill>
                  <a:prstClr val="black"/>
                </a:solidFill>
              </a:rPr>
              <a:t>&lt;&lt;x&lt;&lt;</a:t>
            </a:r>
            <a:r>
              <a:rPr lang="es-ES" sz="2800" dirty="0">
                <a:solidFill>
                  <a:srgbClr val="A31515"/>
                </a:solidFill>
              </a:rPr>
              <a:t>" y="</a:t>
            </a:r>
            <a:r>
              <a:rPr lang="es-ES" sz="2800" dirty="0">
                <a:solidFill>
                  <a:prstClr val="black"/>
                </a:solidFill>
              </a:rPr>
              <a:t>&lt;&lt;y&lt;&lt;</a:t>
            </a:r>
            <a:r>
              <a:rPr lang="es-ES" sz="2800" dirty="0">
                <a:solidFill>
                  <a:srgbClr val="A31515"/>
                </a:solidFill>
              </a:rPr>
              <a:t>" a="</a:t>
            </a:r>
            <a:r>
              <a:rPr lang="es-ES" sz="2800" dirty="0">
                <a:solidFill>
                  <a:prstClr val="black"/>
                </a:solidFill>
              </a:rPr>
              <a:t>&lt;&lt;a&lt;&lt;</a:t>
            </a:r>
            <a:r>
              <a:rPr lang="es-ES" sz="2800" dirty="0">
                <a:solidFill>
                  <a:srgbClr val="A31515"/>
                </a:solidFill>
              </a:rPr>
              <a:t>" b="</a:t>
            </a:r>
            <a:r>
              <a:rPr lang="es-ES" sz="2800" dirty="0">
                <a:solidFill>
                  <a:prstClr val="black"/>
                </a:solidFill>
              </a:rPr>
              <a:t>&lt;&lt;b&lt;&lt;endl;}</a:t>
            </a:r>
          </a:p>
          <a:p>
            <a:r>
              <a:rPr lang="ru-RU" sz="2800" dirty="0" smtClean="0">
                <a:solidFill>
                  <a:prstClr val="black"/>
                </a:solidFill>
              </a:rPr>
              <a:t>};</a:t>
            </a:r>
            <a:endParaRPr lang="ru-RU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4256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</a:t>
            </a:r>
            <a:r>
              <a:rPr lang="ru-RU" sz="2800" b="1" dirty="0" smtClean="0"/>
              <a:t>27.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7524" y="620688"/>
            <a:ext cx="8640960" cy="3970318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prstClr val="black"/>
                </a:solidFill>
              </a:rPr>
              <a:t>main() {</a:t>
            </a:r>
          </a:p>
          <a:p>
            <a:r>
              <a:rPr lang="en-US" sz="2800" dirty="0">
                <a:solidFill>
                  <a:prstClr val="black"/>
                </a:solidFill>
              </a:rPr>
              <a:t>	base P1(1,2);</a:t>
            </a:r>
          </a:p>
          <a:p>
            <a:r>
              <a:rPr lang="en-US" sz="2800" dirty="0">
                <a:solidFill>
                  <a:prstClr val="black"/>
                </a:solidFill>
              </a:rPr>
              <a:t>	derived1 P2(3,4,5);</a:t>
            </a:r>
          </a:p>
          <a:p>
            <a:r>
              <a:rPr lang="en-US" sz="2800" dirty="0">
                <a:solidFill>
                  <a:prstClr val="black"/>
                </a:solidFill>
              </a:rPr>
              <a:t>	derived2 P3(6,7,8,9);</a:t>
            </a:r>
          </a:p>
          <a:p>
            <a:r>
              <a:rPr lang="en-US" sz="2800" dirty="0">
                <a:solidFill>
                  <a:prstClr val="black"/>
                </a:solidFill>
              </a:rPr>
              <a:t>	P1.get_base(); </a:t>
            </a:r>
            <a:r>
              <a:rPr lang="en-US" sz="2800" dirty="0">
                <a:solidFill>
                  <a:srgbClr val="008000"/>
                </a:solidFill>
              </a:rPr>
              <a:t>// 1 2</a:t>
            </a:r>
          </a:p>
          <a:p>
            <a:r>
              <a:rPr lang="en-US" sz="2800" dirty="0">
                <a:solidFill>
                  <a:prstClr val="black"/>
                </a:solidFill>
              </a:rPr>
              <a:t>	P2.get_base(); </a:t>
            </a:r>
            <a:r>
              <a:rPr lang="en-US" sz="2800" dirty="0">
                <a:solidFill>
                  <a:srgbClr val="008000"/>
                </a:solidFill>
              </a:rPr>
              <a:t>// 3 4 !!!</a:t>
            </a:r>
          </a:p>
          <a:p>
            <a:r>
              <a:rPr lang="en-US" sz="2800" dirty="0">
                <a:solidFill>
                  <a:prstClr val="black"/>
                </a:solidFill>
              </a:rPr>
              <a:t>	P3.get_base(); </a:t>
            </a:r>
            <a:r>
              <a:rPr lang="en-US" sz="2800" dirty="0">
                <a:solidFill>
                  <a:srgbClr val="008000"/>
                </a:solidFill>
              </a:rPr>
              <a:t>// 6 7 !!!</a:t>
            </a:r>
          </a:p>
          <a:p>
            <a:r>
              <a:rPr lang="en-US" sz="2800" dirty="0">
                <a:solidFill>
                  <a:prstClr val="black"/>
                </a:solidFill>
              </a:rPr>
              <a:t>	</a:t>
            </a:r>
            <a:r>
              <a:rPr lang="en-US" sz="2800" dirty="0">
                <a:solidFill>
                  <a:srgbClr val="0000FF"/>
                </a:solidFill>
              </a:rPr>
              <a:t>return</a:t>
            </a:r>
            <a:r>
              <a:rPr lang="en-US" sz="2800" dirty="0">
                <a:solidFill>
                  <a:prstClr val="black"/>
                </a:solidFill>
              </a:rPr>
              <a:t> 0;</a:t>
            </a:r>
          </a:p>
          <a:p>
            <a:r>
              <a:rPr lang="ru-RU" sz="2800" dirty="0">
                <a:solidFill>
                  <a:prstClr val="black"/>
                </a:solidFill>
              </a:rPr>
              <a:t>}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179507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ПРИМЕР </a:t>
            </a:r>
            <a:r>
              <a:rPr lang="ru-RU" sz="2800" b="1" dirty="0" smtClean="0"/>
              <a:t>28. 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13114" y="692696"/>
            <a:ext cx="865137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2800" b="1" dirty="0" smtClean="0"/>
              <a:t>Вызов </a:t>
            </a:r>
            <a:r>
              <a:rPr lang="ru-RU" sz="2800" b="1" dirty="0"/>
              <a:t>методов производных классов из метода базового класса Виртуальные функции </a:t>
            </a:r>
            <a:endParaRPr lang="ru-RU" sz="2800" dirty="0"/>
          </a:p>
          <a:p>
            <a:r>
              <a:rPr lang="ru-RU" sz="2800" dirty="0"/>
              <a:t>Пример тот же. Добавляем слово </a:t>
            </a:r>
            <a:r>
              <a:rPr lang="ru-RU" sz="2800" b="1" dirty="0" err="1">
                <a:solidFill>
                  <a:srgbClr val="0000FF"/>
                </a:solidFill>
              </a:rPr>
              <a:t>virtual</a:t>
            </a:r>
            <a:r>
              <a:rPr lang="ru-RU" sz="2800" b="1" dirty="0"/>
              <a:t> </a:t>
            </a:r>
            <a:r>
              <a:rPr lang="ru-RU" sz="2800" dirty="0"/>
              <a:t>для метода </a:t>
            </a:r>
            <a:endParaRPr lang="ru-RU" sz="2800" dirty="0" smtClean="0"/>
          </a:p>
          <a:p>
            <a:pPr>
              <a:spcAft>
                <a:spcPts val="1200"/>
              </a:spcAft>
            </a:pPr>
            <a:r>
              <a:rPr lang="en-US" sz="2800" i="1" dirty="0"/>
              <a:t>g</a:t>
            </a:r>
            <a:r>
              <a:rPr lang="ru-RU" sz="2800" i="1" dirty="0" err="1" smtClean="0"/>
              <a:t>et</a:t>
            </a:r>
            <a:r>
              <a:rPr lang="ru-RU" sz="2800" i="1" dirty="0" smtClean="0"/>
              <a:t>() </a:t>
            </a:r>
            <a:r>
              <a:rPr lang="ru-RU" sz="2800" dirty="0"/>
              <a:t>базового класса! </a:t>
            </a:r>
          </a:p>
          <a:p>
            <a:r>
              <a:rPr lang="ru-RU" sz="2800" dirty="0"/>
              <a:t>Для каждого объекта производных классов метод </a:t>
            </a:r>
            <a:r>
              <a:rPr lang="ru-RU" sz="2800" i="1" dirty="0" err="1" smtClean="0"/>
              <a:t>get_base</a:t>
            </a:r>
            <a:r>
              <a:rPr lang="ru-RU" sz="2800" i="1" dirty="0" smtClean="0"/>
              <a:t>() </a:t>
            </a:r>
            <a:r>
              <a:rPr lang="ru-RU" sz="2800" dirty="0"/>
              <a:t>вызывает соответствующий (!) метод </a:t>
            </a:r>
            <a:r>
              <a:rPr lang="ru-RU" sz="2800" i="1" dirty="0" err="1" smtClean="0"/>
              <a:t>get</a:t>
            </a:r>
            <a:r>
              <a:rPr lang="ru-RU" sz="2800" i="1" dirty="0" smtClean="0"/>
              <a:t>()</a:t>
            </a:r>
            <a:r>
              <a:rPr lang="ru-RU" sz="2800" dirty="0" smtClean="0"/>
              <a:t>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63917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Решить задачу</a:t>
            </a:r>
            <a:endParaRPr lang="ru-RU" sz="28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283914" y="476672"/>
            <a:ext cx="8680574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283914" y="692696"/>
            <a:ext cx="86805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Построить иерархию классов согласно схеме наследования. Каждый класс должен содержать инициализирующий конструктор и функцию </a:t>
            </a:r>
            <a:r>
              <a:rPr lang="en-US" sz="2800" b="1" i="1" dirty="0"/>
              <a:t>get </a:t>
            </a:r>
            <a:r>
              <a:rPr lang="ru-RU" sz="2800" dirty="0"/>
              <a:t>для вывода значений.</a:t>
            </a:r>
            <a:br>
              <a:rPr lang="ru-RU" sz="2800" dirty="0"/>
            </a:br>
            <a:r>
              <a:rPr lang="ru-RU" sz="2800" dirty="0"/>
              <a:t>Функция </a:t>
            </a:r>
            <a:r>
              <a:rPr lang="ru-RU" sz="2800" b="1" i="1" dirty="0" err="1"/>
              <a:t>main</a:t>
            </a:r>
            <a:r>
              <a:rPr lang="ru-RU" sz="2800" dirty="0"/>
              <a:t> должна иллюстрировать иерархию </a:t>
            </a:r>
            <a:r>
              <a:rPr lang="ru-RU" sz="2800"/>
              <a:t>наследования</a:t>
            </a:r>
            <a:r>
              <a:rPr lang="ru-RU" sz="2800" smtClean="0"/>
              <a:t>.</a:t>
            </a:r>
            <a:endParaRPr lang="ru-RU" sz="2800" dirty="0"/>
          </a:p>
        </p:txBody>
      </p:sp>
      <p:pic>
        <p:nvPicPr>
          <p:cNvPr id="9" name="Рисунок 8" descr="http://khpi-iip.mipk.kharkiv.edu/library/pgm/lab2/Pic/l1_10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149080"/>
            <a:ext cx="2066925" cy="1866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74631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1489</Words>
  <Application>Microsoft Office PowerPoint</Application>
  <PresentationFormat>Экран (4:3)</PresentationFormat>
  <Paragraphs>520</Paragraphs>
  <Slides>50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1" baseType="lpstr">
      <vt:lpstr>Тема Office</vt:lpstr>
      <vt:lpstr>Множественное наследование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Наследование</dc:title>
  <dc:creator>felix</dc:creator>
  <cp:lastModifiedBy>felix</cp:lastModifiedBy>
  <cp:revision>75</cp:revision>
  <dcterms:created xsi:type="dcterms:W3CDTF">2015-11-24T02:41:41Z</dcterms:created>
  <dcterms:modified xsi:type="dcterms:W3CDTF">2015-12-02T05:34:09Z</dcterms:modified>
</cp:coreProperties>
</file>