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3" r:id="rId6"/>
    <p:sldId id="258" r:id="rId7"/>
    <p:sldId id="259" r:id="rId8"/>
    <p:sldId id="267" r:id="rId9"/>
    <p:sldId id="268" r:id="rId10"/>
    <p:sldId id="269" r:id="rId11"/>
    <p:sldId id="260" r:id="rId12"/>
    <p:sldId id="270" r:id="rId13"/>
    <p:sldId id="271" r:id="rId14"/>
    <p:sldId id="272" r:id="rId15"/>
    <p:sldId id="273" r:id="rId16"/>
    <p:sldId id="261" r:id="rId17"/>
    <p:sldId id="274" r:id="rId18"/>
    <p:sldId id="275" r:id="rId19"/>
    <p:sldId id="264" r:id="rId20"/>
    <p:sldId id="262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7" r:id="rId30"/>
    <p:sldId id="288" r:id="rId31"/>
    <p:sldId id="285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6" r:id="rId49"/>
    <p:sldId id="305" r:id="rId50"/>
    <p:sldId id="307" r:id="rId51"/>
    <p:sldId id="308" r:id="rId52"/>
    <p:sldId id="286" r:id="rId53"/>
    <p:sldId id="310" r:id="rId54"/>
    <p:sldId id="311" r:id="rId55"/>
    <p:sldId id="282" r:id="rId5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60"/>
  </p:normalViewPr>
  <p:slideViewPr>
    <p:cSldViewPr>
      <p:cViewPr varScale="1">
        <p:scale>
          <a:sx n="105" d="100"/>
          <a:sy n="105" d="100"/>
        </p:scale>
        <p:origin x="-19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26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4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83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0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47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20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83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91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59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38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71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Наследование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25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574" y="50721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Простое наследование: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69881" y="1484784"/>
            <a:ext cx="847090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00FF"/>
                </a:solidFill>
              </a:rPr>
              <a:t>class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r>
              <a:rPr lang="ru-RU" sz="3200" dirty="0" err="1">
                <a:solidFill>
                  <a:prstClr val="black"/>
                </a:solidFill>
              </a:rPr>
              <a:t>имя_производного_Класса</a:t>
            </a:r>
            <a:r>
              <a:rPr lang="ru-RU" sz="3200" dirty="0">
                <a:solidFill>
                  <a:prstClr val="black"/>
                </a:solidFill>
              </a:rPr>
              <a:t>: </a:t>
            </a:r>
          </a:p>
          <a:p>
            <a:r>
              <a:rPr lang="ru-RU" sz="3200" dirty="0">
                <a:solidFill>
                  <a:prstClr val="black"/>
                </a:solidFill>
              </a:rPr>
              <a:t>	[спецификатор наследования] </a:t>
            </a:r>
            <a:r>
              <a:rPr lang="ru-RU" sz="3200" dirty="0" smtClean="0">
                <a:solidFill>
                  <a:prstClr val="black"/>
                </a:solidFill>
              </a:rPr>
              <a:t>			</a:t>
            </a:r>
            <a:r>
              <a:rPr lang="ru-RU" sz="3200" dirty="0" err="1" smtClean="0">
                <a:solidFill>
                  <a:prstClr val="black"/>
                </a:solidFill>
              </a:rPr>
              <a:t>имя_базового</a:t>
            </a:r>
            <a:r>
              <a:rPr lang="ru-RU" sz="3200" dirty="0" smtClean="0">
                <a:solidFill>
                  <a:prstClr val="black"/>
                </a:solidFill>
              </a:rPr>
              <a:t> </a:t>
            </a:r>
            <a:r>
              <a:rPr lang="ru-RU" sz="3200" dirty="0">
                <a:solidFill>
                  <a:prstClr val="black"/>
                </a:solidFill>
              </a:rPr>
              <a:t>класса </a:t>
            </a:r>
          </a:p>
          <a:p>
            <a:r>
              <a:rPr lang="ru-RU" sz="3200" dirty="0">
                <a:solidFill>
                  <a:prstClr val="black"/>
                </a:solidFill>
              </a:rPr>
              <a:t>{ </a:t>
            </a:r>
          </a:p>
          <a:p>
            <a:r>
              <a:rPr lang="ru-RU" sz="3200" dirty="0">
                <a:solidFill>
                  <a:prstClr val="black"/>
                </a:solidFill>
              </a:rPr>
              <a:t>	тело класса </a:t>
            </a:r>
          </a:p>
          <a:p>
            <a:r>
              <a:rPr lang="ru-RU" sz="3200" dirty="0">
                <a:solidFill>
                  <a:prstClr val="black"/>
                </a:solidFill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354668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7504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484784"/>
            <a:ext cx="8856984" cy="526297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endParaRPr lang="en-US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объявление базового класса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y;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by = 0)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{x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y = by;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Print()</a:t>
            </a:r>
          </a:p>
          <a:p>
            <a:r>
              <a:rPr lang="es-E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{cout &lt;&lt;</a:t>
            </a:r>
            <a:r>
              <a:rPr lang="es-E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x="</a:t>
            </a:r>
            <a:r>
              <a:rPr lang="es-E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&lt;&lt;x&lt;&lt;</a:t>
            </a:r>
            <a:r>
              <a:rPr lang="es-E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y="</a:t>
            </a:r>
            <a:r>
              <a:rPr lang="es-E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&lt;&lt;y&lt;&lt;endl;}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объявление класса наследника</a:t>
            </a:r>
          </a:p>
          <a:p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без новых полей и методов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Derived: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0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 1. Синтаксис объявления производного класса</a:t>
            </a:r>
            <a:endParaRPr lang="ru-R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15357" y="584775"/>
            <a:ext cx="8856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/>
              <a:t>Проверьте доступность элементов базового </a:t>
            </a:r>
            <a:r>
              <a:rPr lang="ru-RU" sz="2200" dirty="0" smtClean="0"/>
              <a:t>класса </a:t>
            </a:r>
            <a:r>
              <a:rPr lang="ru-RU" sz="2200" b="1" dirty="0" smtClean="0"/>
              <a:t>в производном</a:t>
            </a:r>
            <a:r>
              <a:rPr lang="ru-RU" sz="2200" dirty="0" smtClean="0"/>
              <a:t> классе, если </a:t>
            </a:r>
            <a:r>
              <a:rPr lang="ru-RU" sz="2200" b="1" dirty="0" smtClean="0"/>
              <a:t>спецификатор наследования </a:t>
            </a:r>
            <a:r>
              <a:rPr lang="ru-RU" sz="2200" dirty="0" smtClean="0"/>
              <a:t>будет </a:t>
            </a:r>
            <a:r>
              <a:rPr lang="en-US" sz="2200" b="1" dirty="0" smtClean="0">
                <a:solidFill>
                  <a:srgbClr val="0000FF"/>
                </a:solidFill>
              </a:rPr>
              <a:t>private</a:t>
            </a:r>
            <a:r>
              <a:rPr lang="ru-RU" sz="2200" dirty="0" smtClean="0">
                <a:solidFill>
                  <a:prstClr val="black"/>
                </a:solidFill>
              </a:rPr>
              <a:t>, </a:t>
            </a:r>
            <a:r>
              <a:rPr lang="en-US" sz="2200" b="1" dirty="0" smtClean="0">
                <a:solidFill>
                  <a:srgbClr val="0000FF"/>
                </a:solidFill>
              </a:rPr>
              <a:t>protecte</a:t>
            </a:r>
            <a:r>
              <a:rPr lang="en-US" sz="2200" b="1" dirty="0">
                <a:solidFill>
                  <a:srgbClr val="0000FF"/>
                </a:solidFill>
              </a:rPr>
              <a:t>d</a:t>
            </a:r>
            <a:r>
              <a:rPr lang="ru-RU" sz="2200" dirty="0" smtClean="0">
                <a:solidFill>
                  <a:srgbClr val="0000FF"/>
                </a:solidFill>
              </a:rPr>
              <a:t>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03631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795" y="0"/>
            <a:ext cx="8711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 1 Синтаксис объявления производного класса</a:t>
            </a:r>
            <a:endParaRPr lang="ru-RU" sz="2400" dirty="0" smtClean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692696"/>
            <a:ext cx="7272808" cy="563231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lvl="0"/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P1;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P1.set_xy();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P1.Print();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0 0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P1.set_xy(1,2);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P1.Print();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1 2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P2;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объект-наследник</a:t>
            </a:r>
          </a:p>
          <a:p>
            <a:pPr lvl="0"/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P2.set_xy();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доступен метод базового класса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P2.Print();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0 0</a:t>
            </a:r>
          </a:p>
          <a:p>
            <a:pPr lvl="0"/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P2.set_xy(1,2);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доступен метод базового класса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P2.Print();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1 2</a:t>
            </a:r>
          </a:p>
          <a:p>
            <a:pPr lvl="0"/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47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574" y="50721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Права доступа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69881" y="1484784"/>
            <a:ext cx="847090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b="1" dirty="0">
                <a:solidFill>
                  <a:prstClr val="black"/>
                </a:solidFill>
              </a:rPr>
              <a:t>Знание</a:t>
            </a:r>
            <a:r>
              <a:rPr lang="ru-RU" sz="3200" dirty="0">
                <a:solidFill>
                  <a:prstClr val="black"/>
                </a:solidFill>
              </a:rPr>
              <a:t> того, </a:t>
            </a:r>
            <a:r>
              <a:rPr lang="ru-RU" sz="3200" b="1" dirty="0">
                <a:solidFill>
                  <a:prstClr val="black"/>
                </a:solidFill>
              </a:rPr>
              <a:t>когда для объектов прои</a:t>
            </a:r>
            <a:r>
              <a:rPr lang="ru-RU" sz="3200" dirty="0">
                <a:solidFill>
                  <a:prstClr val="black"/>
                </a:solidFill>
              </a:rPr>
              <a:t>зводного класса </a:t>
            </a:r>
            <a:r>
              <a:rPr lang="ru-RU" sz="3200" b="1" dirty="0">
                <a:solidFill>
                  <a:prstClr val="black"/>
                </a:solidFill>
              </a:rPr>
              <a:t>могут быть использованы методы базового</a:t>
            </a:r>
            <a:r>
              <a:rPr lang="ru-RU" sz="3200" dirty="0">
                <a:solidFill>
                  <a:prstClr val="black"/>
                </a:solidFill>
              </a:rPr>
              <a:t> класса, </a:t>
            </a:r>
            <a:r>
              <a:rPr lang="ru-RU" sz="3200" b="1" dirty="0">
                <a:solidFill>
                  <a:prstClr val="black"/>
                </a:solidFill>
              </a:rPr>
              <a:t>называют правами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118775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574" y="50721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Спецификаторы наследования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69880" y="1052736"/>
            <a:ext cx="847090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/>
              <a:t>Спецификатор наследования </a:t>
            </a:r>
            <a:r>
              <a:rPr lang="ru-RU" sz="3200" dirty="0"/>
              <a:t>определяет </a:t>
            </a:r>
            <a:r>
              <a:rPr lang="ru-RU" sz="3200" b="1" dirty="0"/>
              <a:t>доступность элементов базового </a:t>
            </a:r>
            <a:r>
              <a:rPr lang="ru-RU" sz="3200" dirty="0"/>
              <a:t>класса </a:t>
            </a:r>
            <a:r>
              <a:rPr lang="ru-RU" sz="3200" b="1" dirty="0"/>
              <a:t>в производном</a:t>
            </a:r>
            <a:r>
              <a:rPr lang="ru-RU" sz="3200" dirty="0"/>
              <a:t> классе. </a:t>
            </a:r>
          </a:p>
          <a:p>
            <a:r>
              <a:rPr lang="ru-RU" sz="3200" dirty="0"/>
              <a:t>Если </a:t>
            </a:r>
            <a:r>
              <a:rPr lang="ru-RU" sz="3200" b="1" dirty="0"/>
              <a:t>спецификатор</a:t>
            </a:r>
            <a:r>
              <a:rPr lang="ru-RU" sz="3200" dirty="0"/>
              <a:t> наследования </a:t>
            </a:r>
            <a:r>
              <a:rPr lang="ru-RU" sz="3200" b="1" dirty="0"/>
              <a:t>не указан</a:t>
            </a:r>
            <a:r>
              <a:rPr lang="ru-RU" sz="3200" dirty="0"/>
              <a:t>, то </a:t>
            </a:r>
            <a:r>
              <a:rPr lang="ru-RU" sz="3200" b="1" dirty="0"/>
              <a:t>по умолчанию </a:t>
            </a:r>
            <a:r>
              <a:rPr lang="ru-RU" sz="3200" dirty="0"/>
              <a:t>базовый класс наследуется как </a:t>
            </a:r>
            <a:r>
              <a:rPr lang="ru-RU" sz="3200" b="1" dirty="0"/>
              <a:t>закрытый</a:t>
            </a:r>
            <a:r>
              <a:rPr lang="ru-RU" sz="3200" dirty="0"/>
              <a:t>. </a:t>
            </a:r>
          </a:p>
          <a:p>
            <a:r>
              <a:rPr lang="ru-RU" sz="3200" b="1" dirty="0"/>
              <a:t>Имеются 3 спецификатора наследования: </a:t>
            </a:r>
            <a:endParaRPr lang="ru-RU" sz="3200" dirty="0"/>
          </a:p>
          <a:p>
            <a:r>
              <a:rPr lang="en-US" sz="3200" dirty="0" smtClean="0">
                <a:solidFill>
                  <a:srgbClr val="0000FF"/>
                </a:solidFill>
              </a:rPr>
              <a:t>public</a:t>
            </a:r>
            <a:r>
              <a:rPr lang="en-US" sz="3200" dirty="0">
                <a:solidFill>
                  <a:prstClr val="black"/>
                </a:solidFill>
              </a:rPr>
              <a:t> (</a:t>
            </a:r>
            <a:r>
              <a:rPr lang="ru-RU" sz="3200" dirty="0">
                <a:solidFill>
                  <a:prstClr val="black"/>
                </a:solidFill>
              </a:rPr>
              <a:t>открытый) 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private</a:t>
            </a:r>
            <a:r>
              <a:rPr lang="en-US" sz="3200" dirty="0">
                <a:solidFill>
                  <a:prstClr val="black"/>
                </a:solidFill>
              </a:rPr>
              <a:t> (</a:t>
            </a:r>
            <a:r>
              <a:rPr lang="ru-RU" sz="3200" dirty="0">
                <a:solidFill>
                  <a:prstClr val="black"/>
                </a:solidFill>
              </a:rPr>
              <a:t>закрытый) 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protected</a:t>
            </a:r>
            <a:r>
              <a:rPr lang="en-US" sz="3200" dirty="0">
                <a:solidFill>
                  <a:prstClr val="black"/>
                </a:solidFill>
              </a:rPr>
              <a:t> (</a:t>
            </a:r>
            <a:r>
              <a:rPr lang="ru-RU" sz="3200" dirty="0">
                <a:solidFill>
                  <a:prstClr val="black"/>
                </a:solidFill>
              </a:rPr>
              <a:t>защищенный ) </a:t>
            </a:r>
          </a:p>
        </p:txBody>
      </p:sp>
    </p:spTree>
    <p:extLst>
      <p:ext uri="{BB962C8B-B14F-4D97-AF65-F5344CB8AC3E}">
        <p14:creationId xmlns:p14="http://schemas.microsoft.com/office/powerpoint/2010/main" val="318706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574" y="50721"/>
            <a:ext cx="8939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Спецификаторы наследования </a:t>
            </a:r>
            <a:r>
              <a:rPr lang="en-US" sz="4000" b="1" dirty="0" smtClean="0">
                <a:solidFill>
                  <a:srgbClr val="0000FF"/>
                </a:solidFill>
              </a:rPr>
              <a:t>public</a:t>
            </a:r>
            <a:r>
              <a:rPr lang="ru-RU" sz="4000" dirty="0" smtClean="0"/>
              <a:t>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69880" y="1052736"/>
            <a:ext cx="84709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Если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спецификатор наследования </a:t>
            </a:r>
            <a:r>
              <a:rPr lang="en-US" sz="3200" b="1" dirty="0" smtClean="0">
                <a:solidFill>
                  <a:srgbClr val="0000FF"/>
                </a:solidFill>
              </a:rPr>
              <a:t>public</a:t>
            </a:r>
            <a:r>
              <a:rPr lang="ru-RU" sz="3200" b="1" i="1" u="none" strike="noStrike" baseline="0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все открытые компоне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нты 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функции-члены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интерфейса базового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класса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открыты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в производном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классе, а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закрытые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–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закрыты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недоступны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. </a:t>
            </a:r>
            <a:endParaRPr lang="ru-RU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12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2 </a:t>
            </a:r>
            <a:r>
              <a:rPr lang="ru-RU" sz="3200" b="1" dirty="0"/>
              <a:t>Спецификатор наследования </a:t>
            </a:r>
            <a:r>
              <a:rPr lang="en-US" sz="3200" b="1" dirty="0">
                <a:solidFill>
                  <a:srgbClr val="0000FF"/>
                </a:solidFill>
              </a:rPr>
              <a:t>public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591107" y="1052736"/>
            <a:ext cx="8033793" cy="341632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setx(</a:t>
            </a:r>
            <a:r>
              <a:rPr lang="pt-B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{ x = n;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766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2 </a:t>
            </a:r>
            <a:r>
              <a:rPr lang="ru-RU" sz="3200" b="1" dirty="0"/>
              <a:t>Спецификатор наследования </a:t>
            </a:r>
            <a:r>
              <a:rPr lang="en-US" sz="3200" b="1" dirty="0">
                <a:solidFill>
                  <a:srgbClr val="0000FF"/>
                </a:solidFill>
              </a:rPr>
              <a:t>public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1052736"/>
            <a:ext cx="8964487" cy="452431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Класс наследуется как открытый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 :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sety(</a:t>
            </a:r>
            <a:r>
              <a:rPr lang="pt-B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{ y = n;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showy() 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y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ОШИБКА – поле х недоступно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void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showxy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y &lt;&lt;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но можно так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showy();}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81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2 </a:t>
            </a:r>
            <a:r>
              <a:rPr lang="ru-RU" sz="3200" b="1" dirty="0"/>
              <a:t>Спецификатор наследования </a:t>
            </a:r>
            <a:r>
              <a:rPr lang="en-US" sz="3200" b="1" dirty="0">
                <a:solidFill>
                  <a:srgbClr val="0000FF"/>
                </a:solidFill>
              </a:rPr>
              <a:t>public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1052736"/>
            <a:ext cx="9144000" cy="489364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 к членам базового класса через методы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ob.setx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ob.showx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 к членам производного класса через методы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ob.sety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ob.showy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ob.showxy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313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574" y="50721"/>
            <a:ext cx="8939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Спецификаторы наследования </a:t>
            </a:r>
            <a:r>
              <a:rPr lang="ru-RU" sz="4000" b="1" u="none" strike="noStrike" baseline="0" dirty="0" err="1" smtClean="0">
                <a:solidFill>
                  <a:srgbClr val="0000FF"/>
                </a:solidFill>
                <a:latin typeface="Times New Roman"/>
              </a:rPr>
              <a:t>private</a:t>
            </a:r>
            <a:endParaRPr lang="ru-RU" sz="4000" dirty="0" smtClean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69880" y="1052736"/>
            <a:ext cx="847090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Если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спецификатор наследования </a:t>
            </a:r>
            <a:r>
              <a:rPr lang="ru-RU" sz="3200" b="1" u="none" strike="noStrike" baseline="0" dirty="0" err="1" smtClean="0">
                <a:solidFill>
                  <a:srgbClr val="0000FF"/>
                </a:solidFill>
                <a:latin typeface="Times New Roman"/>
              </a:rPr>
              <a:t>private</a:t>
            </a:r>
            <a:r>
              <a:rPr lang="ru-RU" sz="3200" b="1" u="none" strike="noStrike" baseline="0" dirty="0" smtClean="0">
                <a:latin typeface="Times New Roman"/>
              </a:rPr>
              <a:t>,</a:t>
            </a:r>
            <a:r>
              <a:rPr lang="ru-RU" sz="3200" b="1" u="none" strike="noStrike" baseline="0" dirty="0" smtClean="0">
                <a:solidFill>
                  <a:srgbClr val="0000FF"/>
                </a:solidFill>
                <a:latin typeface="Times New Roman"/>
              </a:rPr>
              <a:t>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все открытые компоненты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функции-члены интерфейса базового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класса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закрыты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в производном классе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, также как 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закрытые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–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закрыты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недоступны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. Личные (</a:t>
            </a:r>
            <a:r>
              <a:rPr lang="ru-RU" sz="3200" b="1" i="0" u="none" strike="noStrike" baseline="0" dirty="0" err="1" smtClean="0">
                <a:solidFill>
                  <a:srgbClr val="0000FF"/>
                </a:solidFill>
                <a:latin typeface="Times New Roman"/>
              </a:rPr>
              <a:t>private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члены базового класса доступны в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производном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классе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только через вызов соответствующих функций-членов базового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класса.</a:t>
            </a:r>
            <a:endParaRPr lang="ru-RU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8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3 </a:t>
            </a:r>
            <a:r>
              <a:rPr lang="ru-RU" sz="3200" b="1" dirty="0"/>
              <a:t>Спецификатор наследования </a:t>
            </a:r>
            <a:r>
              <a:rPr lang="ru-RU" sz="3200" b="1" dirty="0" err="1" smtClean="0">
                <a:solidFill>
                  <a:srgbClr val="0000FF"/>
                </a:solidFill>
                <a:effectLst/>
                <a:ea typeface="Calibri"/>
                <a:cs typeface="Times New Roman"/>
              </a:rPr>
              <a:t>private</a:t>
            </a:r>
            <a:r>
              <a:rPr lang="en-US" sz="3200" b="1" dirty="0" smtClean="0">
                <a:solidFill>
                  <a:srgbClr val="0000FF"/>
                </a:solidFill>
              </a:rPr>
              <a:t> </a:t>
            </a:r>
            <a:endParaRPr lang="ru-RU" sz="3200" b="1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6004" y="1037163"/>
            <a:ext cx="8537341" cy="347633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Класс наследуется как закрытый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class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Derived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: </a:t>
            </a: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private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Base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{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int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 y;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public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: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void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en-US" sz="2400" b="1" dirty="0" err="1" smtClean="0">
                <a:effectLst/>
                <a:latin typeface="Courier New"/>
                <a:ea typeface="Calibri"/>
                <a:cs typeface="Times New Roman"/>
              </a:rPr>
              <a:t>sety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(</a:t>
            </a:r>
            <a:r>
              <a:rPr lang="en-US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int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 n) { y = n; }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void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 showy() { </a:t>
            </a:r>
            <a:r>
              <a:rPr lang="en-US" sz="2400" b="1" dirty="0" err="1" smtClean="0">
                <a:effectLst/>
                <a:latin typeface="Courier New"/>
                <a:ea typeface="Calibri"/>
                <a:cs typeface="Times New Roman"/>
              </a:rPr>
              <a:t>cout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 &lt;&lt; y &lt;&lt; </a:t>
            </a:r>
            <a:r>
              <a:rPr lang="en-US" sz="2400" b="1" dirty="0" err="1" smtClean="0">
                <a:effectLst/>
                <a:latin typeface="Courier New"/>
                <a:ea typeface="Calibri"/>
                <a:cs typeface="Times New Roman"/>
              </a:rPr>
              <a:t>endl</a:t>
            </a:r>
            <a:r>
              <a:rPr lang="en-US" sz="2400" b="1" dirty="0" smtClean="0">
                <a:effectLst/>
                <a:latin typeface="Courier New"/>
                <a:ea typeface="Calibri"/>
                <a:cs typeface="Times New Roman"/>
              </a:rPr>
              <a:t>; }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};</a:t>
            </a:r>
            <a:endParaRPr lang="ru-RU" sz="20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514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3 </a:t>
            </a:r>
            <a:r>
              <a:rPr lang="ru-RU" sz="3200" b="1" dirty="0"/>
              <a:t>Спецификатор наследования </a:t>
            </a:r>
            <a:r>
              <a:rPr lang="ru-RU" sz="3200" b="1" dirty="0" err="1" smtClean="0">
                <a:solidFill>
                  <a:srgbClr val="0000FF"/>
                </a:solidFill>
                <a:effectLst/>
                <a:ea typeface="Calibri"/>
                <a:cs typeface="Times New Roman"/>
              </a:rPr>
              <a:t>private</a:t>
            </a:r>
            <a:r>
              <a:rPr lang="en-US" sz="3200" b="1" dirty="0" smtClean="0">
                <a:solidFill>
                  <a:srgbClr val="0000FF"/>
                </a:solidFill>
              </a:rPr>
              <a:t>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692696"/>
            <a:ext cx="9144000" cy="602472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int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main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(){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Derived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ob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ОШИБКА - закрыто для производного класса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</a:t>
            </a:r>
            <a:r>
              <a:rPr lang="ru-RU" sz="2400" b="1" dirty="0" err="1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ob.setx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(10);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правильный доступ к члену производного класса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ob.sety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(20);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ОШИБКА - закрыто для производного класса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</a:t>
            </a:r>
            <a:r>
              <a:rPr lang="ru-RU" sz="2400" b="1" dirty="0" err="1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ob.showx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();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effectLst/>
                <a:latin typeface="Courier New"/>
                <a:ea typeface="Calibri"/>
                <a:cs typeface="Times New Roman"/>
              </a:rPr>
              <a:t>// правильный доступ к члену производного класса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ob.showy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();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return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0;</a:t>
            </a:r>
            <a:endParaRPr lang="ru-RU" sz="20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}</a:t>
            </a:r>
            <a:endParaRPr lang="ru-RU" sz="20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7010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4 </a:t>
            </a:r>
            <a:r>
              <a:rPr lang="ru-RU" sz="3200" b="1" dirty="0"/>
              <a:t>Спецификатор наследования </a:t>
            </a:r>
            <a:r>
              <a:rPr lang="ru-RU" sz="3200" b="1" dirty="0" err="1" smtClean="0">
                <a:solidFill>
                  <a:srgbClr val="0000FF"/>
                </a:solidFill>
                <a:effectLst/>
                <a:ea typeface="Calibri"/>
                <a:cs typeface="Times New Roman"/>
              </a:rPr>
              <a:t>private</a:t>
            </a:r>
            <a:r>
              <a:rPr lang="en-US" sz="3200" b="1" dirty="0" smtClean="0">
                <a:solidFill>
                  <a:srgbClr val="0000FF"/>
                </a:solidFill>
              </a:rPr>
              <a:t>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692696"/>
            <a:ext cx="9144000" cy="6001643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Класс наследуется как закрытый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 :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метод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доступен внутри класса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y = m;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метод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доступен внутри класса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y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75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4 </a:t>
            </a:r>
            <a:r>
              <a:rPr lang="ru-RU" sz="3200" b="1" dirty="0"/>
              <a:t>Спецификатор наследования </a:t>
            </a:r>
            <a:r>
              <a:rPr lang="ru-RU" sz="3200" b="1" dirty="0" err="1" smtClean="0">
                <a:solidFill>
                  <a:srgbClr val="0000FF"/>
                </a:solidFill>
                <a:effectLst/>
                <a:ea typeface="Calibri"/>
                <a:cs typeface="Times New Roman"/>
              </a:rPr>
              <a:t>private</a:t>
            </a:r>
            <a:r>
              <a:rPr lang="en-US" sz="3200" b="1" dirty="0" smtClean="0">
                <a:solidFill>
                  <a:srgbClr val="0000FF"/>
                </a:solidFill>
              </a:rPr>
              <a:t>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467543" y="1124744"/>
            <a:ext cx="8105801" cy="267765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ob.setxy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(10, 20);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ob.showxy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3" y="4149080"/>
            <a:ext cx="81058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0" u="none" strike="noStrike" baseline="0" dirty="0" smtClean="0">
                <a:solidFill>
                  <a:srgbClr val="000000"/>
                </a:solidFill>
              </a:rPr>
              <a:t>Базовый класс наследуется в производном классе как закрытый. В </a:t>
            </a:r>
            <a:r>
              <a:rPr lang="ru-RU" sz="2800" b="1" i="0" u="none" strike="noStrike" baseline="0" dirty="0" smtClean="0">
                <a:solidFill>
                  <a:srgbClr val="000000"/>
                </a:solidFill>
              </a:rPr>
              <a:t>программе недоступны методы базового </a:t>
            </a:r>
            <a:r>
              <a:rPr lang="ru-RU" sz="2800" i="0" u="none" strike="noStrike" baseline="0" dirty="0" smtClean="0">
                <a:solidFill>
                  <a:srgbClr val="000000"/>
                </a:solidFill>
              </a:rPr>
              <a:t>класса. В </a:t>
            </a:r>
            <a:r>
              <a:rPr lang="ru-RU" sz="2800" b="1" i="0" u="none" strike="noStrike" baseline="0" dirty="0" smtClean="0">
                <a:solidFill>
                  <a:srgbClr val="000000"/>
                </a:solidFill>
              </a:rPr>
              <a:t>производном классе доступны методы базового</a:t>
            </a:r>
            <a:r>
              <a:rPr lang="ru-RU" sz="2800" i="0" u="none" strike="noStrike" baseline="0" dirty="0" smtClean="0">
                <a:solidFill>
                  <a:srgbClr val="000000"/>
                </a:solidFill>
              </a:rPr>
              <a:t> класса.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09158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0721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Спецификаторы наследования </a:t>
            </a:r>
            <a:r>
              <a:rPr lang="ru-RU" sz="4000" b="1" u="none" strike="noStrike" baseline="0" dirty="0" err="1" smtClean="0">
                <a:solidFill>
                  <a:srgbClr val="0000FF"/>
                </a:solidFill>
                <a:latin typeface="Times New Roman"/>
              </a:rPr>
              <a:t>protected</a:t>
            </a:r>
            <a:endParaRPr lang="ru-RU" sz="4000" dirty="0" smtClean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36547" y="1052736"/>
            <a:ext cx="847090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Спецификатор наследования </a:t>
            </a:r>
            <a:r>
              <a:rPr lang="ru-RU" sz="3200" b="1" u="none" strike="noStrike" baseline="0" dirty="0" err="1" smtClean="0">
                <a:solidFill>
                  <a:srgbClr val="0000FF"/>
                </a:solidFill>
                <a:latin typeface="Times New Roman"/>
              </a:rPr>
              <a:t>protected</a:t>
            </a:r>
            <a:r>
              <a:rPr lang="ru-RU" sz="3200" b="1" i="1" u="none" strike="noStrike" baseline="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эквивалентен спецификатору </a:t>
            </a:r>
            <a:r>
              <a:rPr lang="ru-RU" sz="3200" b="1" u="none" strike="noStrike" baseline="0" dirty="0" err="1" smtClean="0">
                <a:solidFill>
                  <a:srgbClr val="0000FF"/>
                </a:solidFill>
                <a:latin typeface="Times New Roman"/>
              </a:rPr>
              <a:t>private</a:t>
            </a:r>
            <a:r>
              <a:rPr lang="ru-RU" sz="3200" b="1" u="none" strike="noStrike" baseline="0" dirty="0" smtClean="0">
                <a:solidFill>
                  <a:srgbClr val="0000FF"/>
                </a:solidFill>
                <a:latin typeface="Times New Roman"/>
              </a:rPr>
              <a:t>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с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единственным исключением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защищенные члены базового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класса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доступны для членов всех производных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классов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этого базового класса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вне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базового или производных классов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защищенные члены недоступны</a:t>
            </a:r>
            <a:r>
              <a:rPr lang="ru-RU" sz="3200" i="0" u="none" strike="noStrike" baseline="0" dirty="0" smtClean="0">
                <a:solidFill>
                  <a:srgbClr val="000000"/>
                </a:solidFill>
                <a:latin typeface="Times New Roman"/>
              </a:rPr>
              <a:t>.</a:t>
            </a:r>
            <a:endParaRPr lang="ru-RU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935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5 </a:t>
            </a:r>
            <a:r>
              <a:rPr lang="ru-RU" sz="3200" b="1" dirty="0"/>
              <a:t>Спецификатор доступа </a:t>
            </a:r>
            <a:r>
              <a:rPr lang="en-US" sz="3200" b="1" dirty="0">
                <a:solidFill>
                  <a:srgbClr val="0000FF"/>
                </a:solidFill>
              </a:rPr>
              <a:t>protected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631697"/>
            <a:ext cx="8784976" cy="489364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члены класса, закрытые по умолчанию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тоже закрытые члены класса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samp(</a:t>
            </a:r>
            <a:r>
              <a:rPr lang="pt-B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pt-B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m) { a = n; b = m;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 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8168" y="647690"/>
            <a:ext cx="8855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программе недоступно поле класса со спецификатором </a:t>
            </a:r>
            <a:r>
              <a:rPr lang="ru-RU" sz="2800" b="1" dirty="0" err="1">
                <a:solidFill>
                  <a:srgbClr val="0000FF"/>
                </a:solidFill>
              </a:rPr>
              <a:t>protected</a:t>
            </a:r>
            <a:endParaRPr lang="ru-RU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59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5 </a:t>
            </a:r>
            <a:r>
              <a:rPr lang="ru-RU" sz="3200" b="1" dirty="0"/>
              <a:t>Спецификатор доступа </a:t>
            </a:r>
            <a:r>
              <a:rPr lang="en-US" sz="3200" b="1" dirty="0">
                <a:solidFill>
                  <a:srgbClr val="0000FF"/>
                </a:solidFill>
              </a:rPr>
              <a:t>protected </a:t>
            </a:r>
            <a:endParaRPr lang="ru-RU" sz="3200" dirty="0" smtClean="0">
              <a:solidFill>
                <a:srgbClr val="0000FF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601797"/>
            <a:ext cx="8838637" cy="452431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(10, 20);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Ошибка! Переменная b защищена и поэтому закрыта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ob.b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99;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Правильно! Переменная c является открытым членом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30;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ob.geta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ob.getb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ob.c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8168" y="647690"/>
            <a:ext cx="8855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программе недоступно поле класса со спецификатором </a:t>
            </a:r>
            <a:r>
              <a:rPr lang="ru-RU" sz="2800" b="1" dirty="0" err="1">
                <a:solidFill>
                  <a:srgbClr val="0000FF"/>
                </a:solidFill>
              </a:rPr>
              <a:t>protected</a:t>
            </a:r>
            <a:endParaRPr lang="ru-RU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784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36547" y="507545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36547" y="1052736"/>
            <a:ext cx="84709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Доступность элементов базового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класса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из классов-наследников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изменяется в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зависимости от спецификаторов доступа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в базовом 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классе и </a:t>
            </a:r>
            <a:r>
              <a:rPr lang="ru-RU" sz="32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спецификатора наследования</a:t>
            </a:r>
            <a:r>
              <a:rPr lang="ru-RU" sz="32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. </a:t>
            </a:r>
            <a:endParaRPr lang="ru-RU" sz="32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072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ДОСТУП К ЭЛЕМЕНТАМ БАЗОВОГО КЛАССА В КЛАССЕ-НАСЛЕДНИКЕ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86088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072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ДОСТУП К ЭЛЕМЕНТАМ БАЗОВОГО КЛАССА В КЛАССЕ-НАСЛЕДНИКЕ </a:t>
            </a:r>
            <a:endParaRPr lang="ru-RU" sz="2400" dirty="0" smtClean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7504" y="51238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85" y="620688"/>
            <a:ext cx="860456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699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МЕХАНИЗМ НАСЛЕДОВАНИЯ </a:t>
            </a:r>
            <a:endParaRPr lang="ru-RU" sz="32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4" y="764704"/>
            <a:ext cx="9035205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Класс-потомок наследует структуру (элементы данных) и поведение (все методы) базового класса. </a:t>
            </a:r>
            <a:endParaRPr lang="ru-RU" sz="2400" dirty="0"/>
          </a:p>
          <a:p>
            <a:r>
              <a:rPr lang="ru-RU" sz="2400" b="1" dirty="0"/>
              <a:t>Возможности, предоставляемые механизмом наследования: 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Добавлять в производном классе данные, которые представляет базовый класс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Дополнять в производном классе функциональные возможности базового класса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Модифицировать в производном классе методы базового класса </a:t>
            </a:r>
          </a:p>
          <a:p>
            <a:endParaRPr lang="ru-RU" sz="2400" dirty="0"/>
          </a:p>
          <a:p>
            <a:r>
              <a:rPr lang="ru-RU" sz="2400" b="1" dirty="0"/>
              <a:t>Возможности, которых нет: 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Модифицировать в производном классе данные, представленные базовым классом (сохранив их идентификаторы)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8300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МЕХАНИЗМ НАСЛЕДОВАНИЯ </a:t>
            </a:r>
            <a:endParaRPr lang="ru-RU" sz="32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4" y="764704"/>
            <a:ext cx="9035205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Что происходит в порожденном классе: </a:t>
            </a:r>
            <a:endParaRPr lang="ru-RU" sz="2400" b="0" i="0" u="none" strike="noStrike" baseline="0" dirty="0" smtClean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Поля данных и методы– </a:t>
            </a:r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члены класса наследуются от базового класса. </a:t>
            </a: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Можно считать, что они описаны в порожденном классе. Однако, возможность доступа к ним из методов производного класса и извне этого класса определяется спецификатором доступа (</a:t>
            </a:r>
            <a:r>
              <a:rPr lang="ru-RU" sz="2400" b="0" i="0" u="none" strike="noStrike" baseline="0" dirty="0" err="1" smtClean="0">
                <a:solidFill>
                  <a:srgbClr val="000000"/>
                </a:solidFill>
                <a:latin typeface="Times New Roman"/>
              </a:rPr>
              <a:t>private</a:t>
            </a: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ru-RU" sz="2400" b="0" i="0" u="none" strike="noStrike" baseline="0" dirty="0" err="1" smtClean="0">
                <a:solidFill>
                  <a:srgbClr val="000000"/>
                </a:solidFill>
                <a:latin typeface="Times New Roman"/>
              </a:rPr>
              <a:t>protected</a:t>
            </a: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ru-RU" sz="2400" b="0" i="0" u="none" strike="noStrike" baseline="0" dirty="0" err="1" smtClean="0">
                <a:solidFill>
                  <a:srgbClr val="000000"/>
                </a:solidFill>
                <a:latin typeface="Times New Roman"/>
              </a:rPr>
              <a:t>public</a:t>
            </a: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) к членам в базовом классе и спецификатором доступа к базовому классу, задаваемому при описании производного класса.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В производном классе </a:t>
            </a:r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можно добавлять свои поля – члены класса</a:t>
            </a: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u="none" strike="noStrike" baseline="0" dirty="0" smtClean="0">
                <a:solidFill>
                  <a:srgbClr val="000000"/>
                </a:solidFill>
                <a:latin typeface="Times New Roman"/>
              </a:rPr>
              <a:t>В производном классе </a:t>
            </a:r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можно добавлять свои методы – члены класса. </a:t>
            </a:r>
            <a:endParaRPr lang="ru-RU" sz="2400" b="0" i="0" u="none" strike="noStrike" baseline="0" dirty="0" smtClean="0">
              <a:solidFill>
                <a:srgbClr val="000000"/>
              </a:solidFill>
              <a:latin typeface="Times New Roman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22945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МЕХАНИЗМ НАСЛЕДОВАНИЯ </a:t>
            </a:r>
            <a:endParaRPr lang="ru-RU" sz="32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4" y="764704"/>
            <a:ext cx="9035205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Что происходит в порожденном классе: </a:t>
            </a:r>
            <a:endParaRPr lang="ru-RU" sz="2400" b="0" i="0" u="none" strike="noStrike" baseline="0" dirty="0" smtClean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В </a:t>
            </a:r>
            <a:r>
              <a:rPr lang="ru-RU" sz="2400" dirty="0"/>
              <a:t>производном классе </a:t>
            </a:r>
            <a:r>
              <a:rPr lang="ru-RU" sz="2400" b="1" dirty="0"/>
              <a:t>можно переопределять методы </a:t>
            </a:r>
            <a:r>
              <a:rPr lang="ru-RU" sz="2400" dirty="0"/>
              <a:t>базового класса (сохраняя точное совпадение с исходным прототипом, то есть количество и типы аргументов и возвращаемый тип). Исключение: если возвращаемый тип является указателем или ссылкой на базовый класс, он может быть заменен указателем или ссылкой на порождаемый класс.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Вы в производном классе переопределили метод, </a:t>
            </a:r>
            <a:r>
              <a:rPr lang="ru-RU" sz="2400" b="1" dirty="0"/>
              <a:t>доступ </a:t>
            </a:r>
            <a:r>
              <a:rPr lang="ru-RU" sz="2400" dirty="0"/>
              <a:t>из него </a:t>
            </a:r>
            <a:r>
              <a:rPr lang="ru-RU" sz="2400" b="1" dirty="0"/>
              <a:t>к родительскому методу </a:t>
            </a:r>
            <a:r>
              <a:rPr lang="ru-RU" sz="2400" dirty="0"/>
              <a:t>можно получить, используя оператор ::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в классе-наследнике имя метода и его прототип совпадают с именем метода базового класса, то метод производного класса </a:t>
            </a:r>
            <a:r>
              <a:rPr lang="ru-RU" sz="2400" b="1" dirty="0"/>
              <a:t>скрывает </a:t>
            </a:r>
            <a:r>
              <a:rPr lang="ru-RU" sz="2400" dirty="0"/>
              <a:t>метод базового класса.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77327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МЕХАНИЗМ НАСЛЕДОВАНИЯ </a:t>
            </a:r>
            <a:endParaRPr lang="ru-RU" sz="32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4" y="764704"/>
            <a:ext cx="9035205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Что происходит в порожденном классе: </a:t>
            </a:r>
            <a:endParaRPr lang="ru-RU" sz="2400" b="0" i="0" u="none" strike="noStrike" baseline="0" dirty="0" smtClean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В </a:t>
            </a:r>
            <a:r>
              <a:rPr lang="ru-RU" sz="2400" dirty="0"/>
              <a:t>производном классе </a:t>
            </a:r>
            <a:r>
              <a:rPr lang="ru-RU" sz="2400" b="1" dirty="0"/>
              <a:t>можно переопределять методы </a:t>
            </a:r>
            <a:r>
              <a:rPr lang="ru-RU" sz="2400" dirty="0"/>
              <a:t>базового класса (сохраняя точное совпадение с исходным прототипом, то есть количество и типы аргументов и возвращаемый тип). Исключение: если возвращаемый тип является указателем или ссылкой на базовый класс, он может быть заменен указателем или ссылкой на порождаемый класс.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Вы в производном классе переопределили метод, </a:t>
            </a:r>
            <a:r>
              <a:rPr lang="ru-RU" sz="2400" b="1" dirty="0"/>
              <a:t>доступ </a:t>
            </a:r>
            <a:r>
              <a:rPr lang="ru-RU" sz="2400" dirty="0"/>
              <a:t>из него </a:t>
            </a:r>
            <a:r>
              <a:rPr lang="ru-RU" sz="2400" b="1" dirty="0"/>
              <a:t>к родительскому методу </a:t>
            </a:r>
            <a:r>
              <a:rPr lang="ru-RU" sz="2400" dirty="0"/>
              <a:t>можно получить, используя оператор ::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в классе-наследнике имя метода и его прототип совпадают с именем метода базового класса, то метод производного класса </a:t>
            </a:r>
            <a:r>
              <a:rPr lang="ru-RU" sz="2400" b="1" dirty="0"/>
              <a:t>скрывает </a:t>
            </a:r>
            <a:r>
              <a:rPr lang="ru-RU" sz="2400" dirty="0"/>
              <a:t>метод базового класса.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408326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МЕХАНИЗМ НАСЛЕДОВАНИЯ </a:t>
            </a:r>
            <a:endParaRPr lang="ru-RU" sz="32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4" y="764704"/>
            <a:ext cx="9035205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400" b="1" i="0" u="none" strike="noStrike" baseline="0" dirty="0" smtClean="0">
                <a:solidFill>
                  <a:srgbClr val="000000"/>
                </a:solidFill>
                <a:latin typeface="Times New Roman"/>
              </a:rPr>
              <a:t>Что происходит в порожденном классе: </a:t>
            </a:r>
            <a:endParaRPr lang="ru-RU" sz="2400" b="0" i="0" u="none" strike="noStrike" baseline="0" dirty="0" smtClean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smtClean="0"/>
              <a:t>Статические </a:t>
            </a:r>
            <a:r>
              <a:rPr lang="ru-RU" sz="2400" b="1" dirty="0"/>
              <a:t>поля </a:t>
            </a:r>
            <a:r>
              <a:rPr lang="ru-RU" sz="2400" dirty="0"/>
              <a:t>наследуются. Все потомки разделяют единственную копию статического поля. </a:t>
            </a:r>
            <a:r>
              <a:rPr lang="ru-RU" sz="2400" b="1" dirty="0"/>
              <a:t>Статические методы </a:t>
            </a:r>
            <a:r>
              <a:rPr lang="ru-RU" sz="2400" dirty="0"/>
              <a:t>наследуются.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Ограничений в наследовании вложенных классов нет: внешний класс может наследовать от вложенного и наоборот.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76605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Типы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4" y="764704"/>
            <a:ext cx="90352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Указатель </a:t>
            </a:r>
            <a:r>
              <a:rPr lang="ru-RU" sz="3600" b="1" dirty="0"/>
              <a:t>базового </a:t>
            </a:r>
            <a:r>
              <a:rPr lang="ru-RU" sz="3600" dirty="0"/>
              <a:t>класса </a:t>
            </a:r>
            <a:r>
              <a:rPr lang="ru-RU" sz="3600" b="1" dirty="0"/>
              <a:t>может указывать на объект любого класса</a:t>
            </a:r>
            <a:r>
              <a:rPr lang="ru-RU" sz="3600" dirty="0"/>
              <a:t>, </a:t>
            </a:r>
            <a:r>
              <a:rPr lang="ru-RU" sz="3600" b="1" dirty="0"/>
              <a:t>производного от этого базового</a:t>
            </a:r>
            <a:r>
              <a:rPr lang="ru-RU" sz="3600" dirty="0"/>
              <a:t>. Обратное неверно.</a:t>
            </a:r>
          </a:p>
        </p:txBody>
      </p:sp>
    </p:spTree>
    <p:extLst>
      <p:ext uri="{BB962C8B-B14F-4D97-AF65-F5344CB8AC3E}">
        <p14:creationId xmlns:p14="http://schemas.microsoft.com/office/powerpoint/2010/main" val="3543494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КОНСТРУКТОР </a:t>
            </a:r>
            <a:r>
              <a:rPr lang="ru-RU" sz="3200" b="1" dirty="0" smtClean="0"/>
              <a:t>ПРОИЗВОДНОГО </a:t>
            </a:r>
            <a:r>
              <a:rPr lang="ru-RU" sz="3200" b="1" dirty="0"/>
              <a:t>КЛАССА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3" y="616614"/>
            <a:ext cx="903520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Конструкторы и деструктор </a:t>
            </a:r>
            <a:r>
              <a:rPr lang="ru-RU" sz="2800" dirty="0"/>
              <a:t>базового класса в производном классе </a:t>
            </a:r>
            <a:r>
              <a:rPr lang="ru-RU" sz="2800" b="1" dirty="0"/>
              <a:t>не наследуются. </a:t>
            </a:r>
            <a:endParaRPr lang="ru-RU" sz="2800" dirty="0"/>
          </a:p>
          <a:p>
            <a:r>
              <a:rPr lang="ru-RU" sz="2800" b="1" dirty="0" smtClean="0"/>
              <a:t>1</a:t>
            </a:r>
            <a:r>
              <a:rPr lang="ru-RU" sz="2800" b="1" dirty="0"/>
              <a:t>. </a:t>
            </a:r>
            <a:r>
              <a:rPr lang="ru-RU" sz="2800" dirty="0"/>
              <a:t>Если в базовом классе нет конструкторов или есть конструктор без параметров</a:t>
            </a:r>
            <a:r>
              <a:rPr lang="ru-RU" sz="2800" dirty="0" smtClean="0"/>
              <a:t> </a:t>
            </a:r>
            <a:r>
              <a:rPr lang="ru-RU" sz="2800" dirty="0"/>
              <a:t>(или </a:t>
            </a:r>
            <a:r>
              <a:rPr lang="ru-RU" sz="2800" dirty="0" smtClean="0"/>
              <a:t>параметры присваиваются </a:t>
            </a:r>
            <a:r>
              <a:rPr lang="ru-RU" sz="2800" dirty="0"/>
              <a:t>по умолчанию), то в производном классе конструктор можно не писать – будет создан конструктор копирования и конструктор по умолчанию. </a:t>
            </a:r>
          </a:p>
          <a:p>
            <a:r>
              <a:rPr lang="ru-RU" sz="2800" b="1" dirty="0"/>
              <a:t>2. </a:t>
            </a:r>
            <a:r>
              <a:rPr lang="ru-RU" sz="2800" dirty="0"/>
              <a:t>Если в базовом классе все конструкторы с </a:t>
            </a:r>
            <a:r>
              <a:rPr lang="ru-RU" sz="2800" dirty="0" smtClean="0"/>
              <a:t>параметрами, </a:t>
            </a:r>
            <a:r>
              <a:rPr lang="ru-RU" sz="2800" dirty="0"/>
              <a:t>производный класс обязан иметь конструктор, в котором явно должен быть вызван конструктор базового класса. </a:t>
            </a:r>
          </a:p>
          <a:p>
            <a:r>
              <a:rPr lang="ru-RU" sz="2800" b="1" dirty="0"/>
              <a:t>3. </a:t>
            </a:r>
            <a:r>
              <a:rPr lang="ru-RU" sz="2800" dirty="0"/>
              <a:t>При создании объекта производного класса сначала вызывается конструктор базового класса – потом производного. </a:t>
            </a:r>
          </a:p>
        </p:txBody>
      </p:sp>
    </p:spTree>
    <p:extLst>
      <p:ext uri="{BB962C8B-B14F-4D97-AF65-F5344CB8AC3E}">
        <p14:creationId xmlns:p14="http://schemas.microsoft.com/office/powerpoint/2010/main" val="2482270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ДЕСТРУКТОР ПРОИЗВОДНОГО </a:t>
            </a:r>
            <a:r>
              <a:rPr lang="ru-RU" sz="3200" b="1" dirty="0"/>
              <a:t>КЛАССА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2" y="908720"/>
            <a:ext cx="90352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ru-RU" sz="3000" b="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ru-RU" sz="3000" dirty="0">
                <a:solidFill>
                  <a:srgbClr val="000000"/>
                </a:solidFill>
                <a:latin typeface="Times New Roman"/>
              </a:rPr>
              <a:t>При отсутствии деструктора в производном классе система создает деструктор по умолчанию. </a:t>
            </a:r>
          </a:p>
          <a:p>
            <a:r>
              <a:rPr lang="ru-RU" sz="3000" b="1" dirty="0">
                <a:solidFill>
                  <a:srgbClr val="000000"/>
                </a:solidFill>
                <a:latin typeface="Times New Roman"/>
              </a:rPr>
              <a:t>2. </a:t>
            </a:r>
            <a:r>
              <a:rPr lang="ru-RU" sz="3000" dirty="0">
                <a:solidFill>
                  <a:srgbClr val="000000"/>
                </a:solidFill>
                <a:latin typeface="Times New Roman"/>
              </a:rPr>
              <a:t>Деструктор базового класса вызывается в деструкторе производного класса автоматически. </a:t>
            </a:r>
          </a:p>
          <a:p>
            <a:r>
              <a:rPr lang="ru-RU" sz="3000" b="1" dirty="0">
                <a:solidFill>
                  <a:srgbClr val="000000"/>
                </a:solidFill>
                <a:latin typeface="Times New Roman"/>
              </a:rPr>
              <a:t>3. </a:t>
            </a:r>
            <a:r>
              <a:rPr lang="ru-RU" sz="3000" dirty="0">
                <a:solidFill>
                  <a:srgbClr val="000000"/>
                </a:solidFill>
                <a:latin typeface="Times New Roman"/>
              </a:rPr>
              <a:t>Деструкторы вызываются в порядке, обратном вызову конструкторов. </a:t>
            </a:r>
          </a:p>
        </p:txBody>
      </p:sp>
    </p:spTree>
    <p:extLst>
      <p:ext uri="{BB962C8B-B14F-4D97-AF65-F5344CB8AC3E}">
        <p14:creationId xmlns:p14="http://schemas.microsoft.com/office/powerpoint/2010/main" val="3234216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0000"/>
                </a:solidFill>
                <a:ea typeface="Calibri"/>
                <a:cs typeface="Courier New" panose="02070309020205020404" pitchFamily="49" charset="0"/>
              </a:rPr>
              <a:t>ПРИМЕР 8. Простое наследование.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87460" y="1461583"/>
            <a:ext cx="8849036" cy="538378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#</a:t>
            </a: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include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300" b="1" dirty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&lt;</a:t>
            </a:r>
            <a:r>
              <a:rPr lang="en-US" sz="2300" b="1" dirty="0" err="1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iostream</a:t>
            </a:r>
            <a:r>
              <a:rPr lang="en-US" sz="2300" b="1" dirty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&gt;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for </a:t>
            </a:r>
            <a:r>
              <a:rPr lang="en-US" sz="2300" b="1" dirty="0" err="1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cin</a:t>
            </a:r>
            <a:r>
              <a:rPr lang="en-US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300" b="1" dirty="0" err="1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cout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using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namespace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std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3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class</a:t>
            </a:r>
            <a:r>
              <a:rPr lang="ru-RU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ru-RU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Base</a:t>
            </a:r>
            <a:r>
              <a:rPr lang="ru-RU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{</a:t>
            </a:r>
            <a:r>
              <a:rPr lang="ru-RU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объявление класса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ru-RU" sz="23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double</a:t>
            </a:r>
            <a:r>
              <a:rPr lang="ru-RU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x, y;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public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: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Base(</a:t>
            </a: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double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bx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= 0, </a:t>
            </a: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double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by = 0) </a:t>
            </a:r>
            <a:r>
              <a:rPr lang="en-US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</a:t>
            </a:r>
            <a:r>
              <a:rPr lang="ru-RU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конструктор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{x = 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bx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 y = by; }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~Base() </a:t>
            </a:r>
            <a:r>
              <a:rPr lang="en-US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</a:t>
            </a:r>
            <a:r>
              <a:rPr lang="ru-RU" sz="23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деструктор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{ 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cout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&lt;&lt; </a:t>
            </a:r>
            <a:r>
              <a:rPr lang="en-US" sz="2300" b="1" dirty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"destructor base class "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&lt;&lt;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endl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;}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en-US" sz="23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void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Print()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{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cout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&lt;&lt;</a:t>
            </a:r>
            <a:r>
              <a:rPr lang="en-US" sz="2300" b="1" dirty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" x="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&lt;&lt;x&lt;&lt;</a:t>
            </a:r>
            <a:r>
              <a:rPr lang="en-US" sz="2300" b="1" dirty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" y="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&lt;&lt;y&lt;&lt;</a:t>
            </a:r>
            <a:r>
              <a:rPr lang="en-US" sz="23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endl</a:t>
            </a:r>
            <a:r>
              <a:rPr lang="en-US" sz="23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;}</a:t>
            </a:r>
            <a:endParaRPr lang="ru-RU" sz="23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300" b="1" dirty="0" smtClean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7947" y="548680"/>
            <a:ext cx="8888549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ea typeface="Calibri"/>
                <a:cs typeface="Courier New" panose="02070309020205020404" pitchFamily="49" charset="0"/>
              </a:rPr>
              <a:t>Конструктор, деструктор в базовом классе</a:t>
            </a:r>
            <a:endParaRPr lang="ru-RU" sz="2400" b="1" dirty="0"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ea typeface="Calibri"/>
                <a:cs typeface="Courier New" panose="02070309020205020404" pitchFamily="49" charset="0"/>
              </a:rPr>
              <a:t>Объявление класса наследника без конструктора</a:t>
            </a:r>
            <a:r>
              <a:rPr lang="ru-RU" sz="2400" b="1" dirty="0" smtClean="0">
                <a:solidFill>
                  <a:srgbClr val="000000"/>
                </a:solidFill>
                <a:ea typeface="Calibri"/>
                <a:cs typeface="Courier New" panose="02070309020205020404" pitchFamily="49" charset="0"/>
              </a:rPr>
              <a:t>.</a:t>
            </a:r>
            <a:endParaRPr lang="ru-RU" sz="2400" b="1" dirty="0">
              <a:ea typeface="Calibri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28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5496" y="692696"/>
            <a:ext cx="9035205" cy="518911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объявление класса наследника без конструктора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class</a:t>
            </a:r>
            <a:r>
              <a:rPr lang="ru-RU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Derived</a:t>
            </a:r>
            <a:r>
              <a:rPr lang="ru-RU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: 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public</a:t>
            </a:r>
            <a:r>
              <a:rPr lang="ru-RU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{};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main() {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Base P1;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P1.Print();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0 0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Base P2(1,2);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P2.Print();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1 2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Derived P3;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P3.Print();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 0 0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//Point2 P4(1,2); // !!!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невозможно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//P4.Print ();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b="1" dirty="0" smtClean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4208" y="0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0000"/>
                </a:solidFill>
                <a:ea typeface="Calibri"/>
                <a:cs typeface="Courier New" panose="02070309020205020404" pitchFamily="49" charset="0"/>
              </a:rPr>
              <a:t>ПРИМЕР 8. Простое наследование.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371308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Объявление </a:t>
            </a:r>
            <a:r>
              <a:rPr lang="ru-RU" sz="3200" b="1" dirty="0"/>
              <a:t>конструктора производного класса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7322" y="922885"/>
            <a:ext cx="903520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Расширенный синтаксис объявления конструктора производного класса </a:t>
            </a:r>
            <a:endParaRPr lang="ru-RU" sz="3200" dirty="0"/>
          </a:p>
          <a:p>
            <a:endParaRPr lang="ru-RU" sz="2800" i="1" dirty="0" smtClean="0"/>
          </a:p>
          <a:p>
            <a:r>
              <a:rPr lang="ru-RU" sz="2800" i="1" dirty="0" err="1" smtClean="0"/>
              <a:t>Конструктор_производного_класса</a:t>
            </a:r>
            <a:r>
              <a:rPr lang="ru-RU" sz="2800" i="1" dirty="0" smtClean="0"/>
              <a:t>(</a:t>
            </a:r>
            <a:r>
              <a:rPr lang="ru-RU" sz="2800" i="1" dirty="0" err="1" smtClean="0"/>
              <a:t>список_параметров</a:t>
            </a:r>
            <a:r>
              <a:rPr lang="ru-RU" sz="2800" i="1" dirty="0" smtClean="0"/>
              <a:t>):  </a:t>
            </a:r>
            <a:r>
              <a:rPr lang="ru-RU" sz="2800" i="1" dirty="0" err="1" smtClean="0"/>
              <a:t>базовый_класс</a:t>
            </a:r>
            <a:r>
              <a:rPr lang="ru-RU" sz="2800" i="1" dirty="0" smtClean="0"/>
              <a:t>(</a:t>
            </a:r>
            <a:r>
              <a:rPr lang="ru-RU" sz="2800" i="1" dirty="0" err="1" smtClean="0"/>
              <a:t>список_параметров</a:t>
            </a:r>
            <a:r>
              <a:rPr lang="ru-RU" sz="2800" i="1" dirty="0" smtClean="0"/>
              <a:t>)  </a:t>
            </a:r>
            <a:endParaRPr lang="ru-RU" sz="2800" dirty="0"/>
          </a:p>
          <a:p>
            <a:r>
              <a:rPr lang="ru-RU" sz="2800" i="1" dirty="0"/>
              <a:t>{ </a:t>
            </a:r>
            <a:endParaRPr lang="ru-RU" sz="2800" i="1" dirty="0" smtClean="0"/>
          </a:p>
          <a:p>
            <a:r>
              <a:rPr lang="ru-RU" sz="2800" i="1" dirty="0" smtClean="0"/>
              <a:t>	тело </a:t>
            </a:r>
            <a:r>
              <a:rPr lang="ru-RU" sz="2800" i="1" dirty="0"/>
              <a:t>конструктора производного </a:t>
            </a:r>
            <a:r>
              <a:rPr lang="ru-RU" sz="2800" i="1" dirty="0" smtClean="0"/>
              <a:t>класса</a:t>
            </a:r>
          </a:p>
          <a:p>
            <a:r>
              <a:rPr lang="ru-RU" sz="2800" i="1" dirty="0" smtClean="0"/>
              <a:t>} </a:t>
            </a:r>
            <a:endParaRPr lang="ru-RU" sz="28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6451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9. Конструктор и деструктор при наследовании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64306" y="548680"/>
            <a:ext cx="9035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Порядок вызова конструкторов и деструкторов при наследовании. Конструкторы вызываются в порядке наследования. Деструкторы – в обратном порядке. </a:t>
            </a:r>
            <a:endParaRPr lang="ru-RU" sz="28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322" y="2060848"/>
            <a:ext cx="8909174" cy="449353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6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ru-RU" sz="26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base class \n"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~base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 </a:t>
            </a:r>
            <a:endParaRPr lang="ru-RU" sz="26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base class\n"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6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1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9. Конструктор и деструктор при наследовании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8795" y="764704"/>
            <a:ext cx="8927702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~derived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derived class \n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44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10.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47667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18058" y="1847721"/>
            <a:ext cx="8927702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6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base() { 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base class\n"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~base() { 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base class\n"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1" y="476672"/>
            <a:ext cx="89857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Передача аргумента конструктору производного </a:t>
            </a:r>
            <a:r>
              <a:rPr lang="ru-RU" sz="2600" b="1" dirty="0" smtClean="0"/>
              <a:t>класса</a:t>
            </a:r>
          </a:p>
          <a:p>
            <a:r>
              <a:rPr lang="ru-RU" sz="2600" dirty="0"/>
              <a:t>Конструкторы вызываются в порядке наследования. Деструкторы – в обратном порядке. </a:t>
            </a:r>
            <a:r>
              <a:rPr lang="ru-RU" sz="2600" b="1" dirty="0" smtClean="0"/>
              <a:t> </a:t>
            </a:r>
            <a:endParaRPr lang="ru-RU" sz="2600" b="1" dirty="0"/>
          </a:p>
        </p:txBody>
      </p:sp>
    </p:spTree>
    <p:extLst>
      <p:ext uri="{BB962C8B-B14F-4D97-AF65-F5344CB8AC3E}">
        <p14:creationId xmlns:p14="http://schemas.microsoft.com/office/powerpoint/2010/main" val="793509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10.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8794" y="764704"/>
            <a:ext cx="8927702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j = n;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~derived()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showj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j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790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10.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51521" y="836712"/>
            <a:ext cx="8321824" cy="224676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59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11.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40466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80158" y="1225689"/>
            <a:ext cx="8963842" cy="563231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base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~base() { 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base class\n"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showi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95" y="372243"/>
            <a:ext cx="89224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Синтаксис вызова конструктора базового класса из конструктора производного класса</a:t>
            </a:r>
          </a:p>
        </p:txBody>
      </p:sp>
    </p:spTree>
    <p:extLst>
      <p:ext uri="{BB962C8B-B14F-4D97-AF65-F5344CB8AC3E}">
        <p14:creationId xmlns:p14="http://schemas.microsoft.com/office/powerpoint/2010/main" val="149597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11.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91826" y="666078"/>
            <a:ext cx="9016678" cy="563231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: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 {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передача аргумента в базовый класс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j = n;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~derived()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showj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j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73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11.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6695" y="620688"/>
            <a:ext cx="8783685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01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12.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27322" y="40466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6312" y="1412776"/>
            <a:ext cx="8970184" cy="529375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6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ru-RU" sz="2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объявление базового класса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</a:t>
            </a:r>
            <a:r>
              <a:rPr lang="en-US" sz="2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  <a:r>
              <a:rPr lang="en-US" sz="2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конструктор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base class\n"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n;</a:t>
            </a: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~base()</a:t>
            </a:r>
            <a:r>
              <a:rPr lang="en-US" sz="2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base class\n"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showi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06" y="509877"/>
            <a:ext cx="8909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Передача </a:t>
            </a:r>
            <a:r>
              <a:rPr lang="ru-RU" sz="2800" dirty="0"/>
              <a:t>аргументов в конструктор базового класса из конструктора производного класса</a:t>
            </a:r>
            <a:r>
              <a:rPr lang="ru-RU" sz="2800" dirty="0" smtClean="0"/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213028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12.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27322" y="40466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96504" y="545540"/>
            <a:ext cx="9047496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//объявление класса наследника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m) : base(m)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передача аргумента в базовый класс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j = n;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~derived()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derived class\n"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showj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j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80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322" y="0"/>
            <a:ext cx="890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12.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27322" y="40466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27322" y="518799"/>
            <a:ext cx="8783685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(10, 20);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02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7323" y="692696"/>
            <a:ext cx="87651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Пример иерархии вида: </a:t>
            </a:r>
            <a:r>
              <a:rPr lang="ru-RU" sz="3200" dirty="0" smtClean="0"/>
              <a:t> </a:t>
            </a:r>
            <a:r>
              <a:rPr lang="en-US" sz="3200" dirty="0" smtClean="0"/>
              <a:t>B1 </a:t>
            </a:r>
            <a:r>
              <a:rPr lang="ru-RU" sz="3200" dirty="0" smtClean="0"/>
              <a:t> </a:t>
            </a:r>
            <a:r>
              <a:rPr lang="en-US" sz="3200" dirty="0" smtClean="0"/>
              <a:t>←</a:t>
            </a:r>
            <a:r>
              <a:rPr lang="ru-RU" sz="3200" dirty="0" smtClean="0"/>
              <a:t> </a:t>
            </a:r>
            <a:r>
              <a:rPr lang="en-US" sz="3200" dirty="0" smtClean="0"/>
              <a:t>D1</a:t>
            </a:r>
            <a:r>
              <a:rPr lang="ru-RU" sz="3200" dirty="0" smtClean="0"/>
              <a:t>  </a:t>
            </a:r>
            <a:r>
              <a:rPr lang="en-US" sz="3200" dirty="0" smtClean="0"/>
              <a:t>← </a:t>
            </a:r>
            <a:r>
              <a:rPr lang="ru-RU" sz="3200" dirty="0" smtClean="0"/>
              <a:t> </a:t>
            </a:r>
            <a:r>
              <a:rPr lang="en-US" sz="3200" dirty="0" smtClean="0"/>
              <a:t>D2 </a:t>
            </a:r>
            <a:endParaRPr lang="en-US" sz="3200" dirty="0"/>
          </a:p>
          <a:p>
            <a:r>
              <a:rPr lang="ru-RU" sz="3200" dirty="0"/>
              <a:t>Конструкторы вызываются в порядке наследования. Деструкторы – в обратном порядке. </a:t>
            </a:r>
            <a:endParaRPr lang="ru-RU" sz="30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795" y="2924944"/>
            <a:ext cx="8927701" cy="35394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B1 { 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объявление базового класса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B1(</a:t>
            </a:r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{ a = x; }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конструктор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4619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8795" y="692696"/>
            <a:ext cx="8927701" cy="483209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Прямое наследование базового класса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D1 :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B1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передача переменной y классу B1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D1(</a:t>
            </a:r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y) : B1(y) {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конструктор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 = x;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27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25403" y="627067"/>
            <a:ext cx="8927702" cy="618630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Прямое наследование производного класса</a:t>
            </a:r>
          </a:p>
          <a:p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и косвенное наследование базового класса</a:t>
            </a:r>
          </a:p>
          <a:p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D2 : 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D1 {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передача аргументов классу </a:t>
            </a:r>
            <a:r>
              <a:rPr lang="en-US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D1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D2(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 : D1(y, z)  { </a:t>
            </a:r>
            <a:r>
              <a:rPr lang="en-US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конструктор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 = x;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Поскольку базовые классы наследуются как открытые, класс D2 имеет доступ к открытым элементам классов B1 и D1 */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show() {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c &lt;&lt; </a:t>
            </a:r>
            <a:r>
              <a:rPr lang="en-US" sz="2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2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945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8794" y="692696"/>
            <a:ext cx="8927702" cy="397031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D2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2, 3);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функции </a:t>
            </a:r>
            <a:r>
              <a:rPr lang="ru-RU" sz="28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и </a:t>
            </a:r>
            <a:r>
              <a:rPr lang="ru-RU" sz="28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здесь тоже открыты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obj.geta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8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obj.getb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8645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14. </a:t>
            </a:r>
            <a:r>
              <a:rPr lang="ru-RU" sz="3200" b="1" dirty="0" smtClean="0"/>
              <a:t>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Пример множественного наследования вида: </a:t>
            </a:r>
          </a:p>
          <a:p>
            <a:r>
              <a:rPr lang="ru-RU" sz="2800" dirty="0" smtClean="0"/>
              <a:t>               	</a:t>
            </a:r>
            <a:r>
              <a:rPr lang="en-US" sz="2800" b="1" dirty="0" smtClean="0"/>
              <a:t>B1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B2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9046566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15. 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Конструктор и деструктор при множественном наследовании </a:t>
            </a:r>
            <a:endParaRPr lang="ru-RU" sz="2800" dirty="0"/>
          </a:p>
          <a:p>
            <a:r>
              <a:rPr lang="ru-RU" sz="2800" dirty="0"/>
              <a:t>Порядок вызова конструкторов и деструкторов при множественном наследовании: </a:t>
            </a:r>
            <a:r>
              <a:rPr lang="ru-RU" sz="2800" dirty="0" smtClean="0"/>
              <a:t>               	</a:t>
            </a:r>
          </a:p>
          <a:p>
            <a:r>
              <a:rPr lang="ru-RU" sz="2800" b="1" dirty="0"/>
              <a:t>	</a:t>
            </a:r>
            <a:r>
              <a:rPr lang="ru-RU" sz="2800" b="1" dirty="0" smtClean="0"/>
              <a:t>	</a:t>
            </a:r>
            <a:r>
              <a:rPr lang="en-US" sz="2800" b="1" dirty="0" smtClean="0"/>
              <a:t>B1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B2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925045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16. 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Неопределенность </a:t>
            </a:r>
            <a:endParaRPr lang="ru-RU" sz="2800" dirty="0"/>
          </a:p>
          <a:p>
            <a:r>
              <a:rPr lang="ru-RU" sz="2800" dirty="0" smtClean="0"/>
              <a:t>В </a:t>
            </a:r>
            <a:r>
              <a:rPr lang="ru-RU" sz="2800" dirty="0"/>
              <a:t>каждом базовом классе есть свой метод </a:t>
            </a:r>
            <a:r>
              <a:rPr lang="ru-RU" sz="2800" dirty="0" err="1"/>
              <a:t>Print</a:t>
            </a:r>
            <a:r>
              <a:rPr lang="ru-RU" sz="2800" dirty="0"/>
              <a:t>. В производном классе такой метод отсутствует. При вызове метода </a:t>
            </a:r>
            <a:r>
              <a:rPr lang="ru-RU" sz="2800" dirty="0" err="1"/>
              <a:t>Print</a:t>
            </a:r>
            <a:r>
              <a:rPr lang="ru-RU" sz="2800" dirty="0"/>
              <a:t> из производного класса возникает неопределенность!</a:t>
            </a:r>
            <a:r>
              <a:rPr lang="ru-RU" sz="2800" dirty="0" smtClean="0"/>
              <a:t>               </a:t>
            </a:r>
          </a:p>
          <a:p>
            <a:r>
              <a:rPr lang="ru-RU" sz="2800" dirty="0"/>
              <a:t>Пример множественного наследования вида: </a:t>
            </a:r>
          </a:p>
          <a:p>
            <a:r>
              <a:rPr lang="ru-RU" sz="2800" dirty="0" smtClean="0"/>
              <a:t>	           	</a:t>
            </a:r>
            <a:r>
              <a:rPr lang="en-US" sz="2800" b="1" dirty="0" smtClean="0"/>
              <a:t>B1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B2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208901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17. 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Неопределенность </a:t>
            </a:r>
            <a:endParaRPr lang="ru-RU" sz="2800" dirty="0"/>
          </a:p>
          <a:p>
            <a:r>
              <a:rPr lang="ru-RU" sz="2800" dirty="0" smtClean="0"/>
              <a:t>В </a:t>
            </a:r>
            <a:r>
              <a:rPr lang="ru-RU" sz="2800" dirty="0"/>
              <a:t>этом случае класс B фактически наследуется классом D3 дважды – через класс </a:t>
            </a:r>
            <a:r>
              <a:rPr lang="en-US" sz="2800" dirty="0" smtClean="0"/>
              <a:t>D</a:t>
            </a:r>
            <a:r>
              <a:rPr lang="ru-RU" sz="2800" dirty="0" smtClean="0"/>
              <a:t>1 </a:t>
            </a:r>
            <a:r>
              <a:rPr lang="ru-RU" sz="2800" dirty="0"/>
              <a:t>и </a:t>
            </a:r>
            <a:r>
              <a:rPr lang="en-US" sz="2800" dirty="0" smtClean="0"/>
              <a:t>D</a:t>
            </a:r>
            <a:r>
              <a:rPr lang="ru-RU" sz="2800" dirty="0" smtClean="0"/>
              <a:t>2</a:t>
            </a:r>
            <a:r>
              <a:rPr lang="ru-RU" sz="2800" dirty="0"/>
              <a:t>. Если в классе D3 необходимо использовать член класса B, это вызовет неоднозначность, поскольку в классе D3 имеется две копии класса B. </a:t>
            </a:r>
            <a:r>
              <a:rPr lang="ru-RU" sz="2800" dirty="0" smtClean="0"/>
              <a:t>	</a:t>
            </a:r>
            <a:endParaRPr lang="en-US" sz="2800" dirty="0" smtClean="0"/>
          </a:p>
          <a:p>
            <a:r>
              <a:rPr lang="ru-RU" sz="2800" dirty="0"/>
              <a:t>Пример множественного наследования вида: </a:t>
            </a:r>
          </a:p>
          <a:p>
            <a:r>
              <a:rPr lang="en-US" sz="2800" dirty="0" smtClean="0"/>
              <a:t>	</a:t>
            </a:r>
            <a:r>
              <a:rPr lang="en-US" sz="2800" b="1" dirty="0" smtClean="0"/>
              <a:t>	  B</a:t>
            </a:r>
            <a:r>
              <a:rPr lang="ru-RU" sz="2800" b="1" dirty="0" smtClean="0"/>
              <a:t>           </a:t>
            </a:r>
            <a:r>
              <a:rPr lang="en-US" sz="2800" b="1" dirty="0" smtClean="0"/>
              <a:t>B</a:t>
            </a:r>
          </a:p>
          <a:p>
            <a:r>
              <a:rPr lang="en-US" sz="2800" b="1" dirty="0"/>
              <a:t>	</a:t>
            </a:r>
            <a:r>
              <a:rPr lang="en-US" sz="2800" b="1" dirty="0" smtClean="0"/>
              <a:t>	 ↓</a:t>
            </a:r>
            <a:r>
              <a:rPr lang="ru-RU" sz="2800" b="1" dirty="0" smtClean="0"/>
              <a:t>	</a:t>
            </a:r>
            <a:r>
              <a:rPr lang="en-US" sz="2800" b="1" dirty="0" smtClean="0"/>
              <a:t>   ↓</a:t>
            </a:r>
            <a:endParaRPr lang="ru-RU" sz="2800" b="1" dirty="0" smtClean="0"/>
          </a:p>
          <a:p>
            <a:r>
              <a:rPr lang="ru-RU" sz="2800" b="1" dirty="0"/>
              <a:t>	</a:t>
            </a:r>
            <a:r>
              <a:rPr lang="ru-RU" sz="2800" b="1" dirty="0" smtClean="0"/>
              <a:t>	</a:t>
            </a:r>
            <a:r>
              <a:rPr lang="en-US" sz="2800" b="1" dirty="0" smtClean="0"/>
              <a:t>D1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D2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r>
              <a:rPr lang="ru-RU" sz="2800" b="1" dirty="0" smtClean="0"/>
              <a:t>3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021969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</a:t>
            </a:r>
            <a:r>
              <a:rPr lang="en-US" sz="3200" b="1" dirty="0" smtClean="0"/>
              <a:t>8</a:t>
            </a:r>
            <a:r>
              <a:rPr lang="ru-RU" sz="3200" b="1" dirty="0" smtClean="0"/>
              <a:t>. </a:t>
            </a:r>
            <a:r>
              <a:rPr lang="ru-RU" sz="3200" b="1" dirty="0"/>
              <a:t>Виртуальный базовый класс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Пример </a:t>
            </a:r>
            <a:r>
              <a:rPr lang="ru-RU" sz="2800" dirty="0"/>
              <a:t>множественного наследования вида: </a:t>
            </a:r>
          </a:p>
          <a:p>
            <a:r>
              <a:rPr lang="en-US" sz="2800" dirty="0" smtClean="0"/>
              <a:t>	</a:t>
            </a:r>
            <a:r>
              <a:rPr lang="en-US" sz="2800" b="1" dirty="0" smtClean="0"/>
              <a:t>	  B</a:t>
            </a:r>
            <a:r>
              <a:rPr lang="ru-RU" sz="2800" b="1" dirty="0" smtClean="0"/>
              <a:t>           </a:t>
            </a:r>
            <a:r>
              <a:rPr lang="en-US" sz="2800" b="1" dirty="0" smtClean="0"/>
              <a:t>B</a:t>
            </a:r>
          </a:p>
          <a:p>
            <a:r>
              <a:rPr lang="en-US" sz="2800" b="1" dirty="0"/>
              <a:t>	</a:t>
            </a:r>
            <a:r>
              <a:rPr lang="en-US" sz="2800" b="1" dirty="0" smtClean="0"/>
              <a:t>	 ↓</a:t>
            </a:r>
            <a:r>
              <a:rPr lang="ru-RU" sz="2800" b="1" dirty="0" smtClean="0"/>
              <a:t>	</a:t>
            </a:r>
            <a:r>
              <a:rPr lang="en-US" sz="2800" b="1" dirty="0" smtClean="0"/>
              <a:t>   ↓</a:t>
            </a:r>
            <a:endParaRPr lang="ru-RU" sz="2800" b="1" dirty="0" smtClean="0"/>
          </a:p>
          <a:p>
            <a:r>
              <a:rPr lang="ru-RU" sz="2800" b="1" dirty="0"/>
              <a:t>	</a:t>
            </a:r>
            <a:r>
              <a:rPr lang="ru-RU" sz="2800" b="1" dirty="0" smtClean="0"/>
              <a:t>	</a:t>
            </a:r>
            <a:r>
              <a:rPr lang="en-US" sz="2800" b="1" dirty="0" smtClean="0"/>
              <a:t>D1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D2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r>
              <a:rPr lang="ru-RU" sz="2800" b="1" dirty="0" smtClean="0"/>
              <a:t>3</a:t>
            </a:r>
            <a:endParaRPr lang="en-US" sz="2800" b="1" dirty="0" smtClean="0"/>
          </a:p>
          <a:p>
            <a:r>
              <a:rPr lang="ru-RU" sz="2800" dirty="0"/>
              <a:t>Решение неопределенности в предыдущим примере – объявление базового класса виртуальным.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726823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ПОЛИМОРФИЗМ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7322" y="922885"/>
            <a:ext cx="90352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/>
              <a:t>Полиморфизм </a:t>
            </a:r>
            <a:r>
              <a:rPr lang="ru-RU" sz="3000" dirty="0"/>
              <a:t>(многообразие форм) – принцип ООП. </a:t>
            </a:r>
          </a:p>
          <a:p>
            <a:r>
              <a:rPr lang="ru-RU" sz="3000" b="1" dirty="0"/>
              <a:t>Полиморфизм </a:t>
            </a:r>
            <a:r>
              <a:rPr lang="ru-RU" sz="3000" dirty="0"/>
              <a:t>– свойство различных объектов выполнять одно и то же действие (с одним и тем же названием) по-своему. </a:t>
            </a:r>
          </a:p>
          <a:p>
            <a:r>
              <a:rPr lang="ru-RU" sz="3000" b="1" dirty="0"/>
              <a:t>Полиморфизм </a:t>
            </a:r>
            <a:r>
              <a:rPr lang="ru-RU" sz="3000" dirty="0"/>
              <a:t>– возможность для объектов разных классов, связанных с помощью наследования, реагировать различным образом при обращении к одной и той же функции-члену. </a:t>
            </a:r>
            <a:endParaRPr lang="ru-RU" sz="3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01970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19. Полиморфизм. Переопределение метода </a:t>
            </a:r>
            <a:r>
              <a:rPr lang="ru-RU" sz="2800" b="1" dirty="0" smtClean="0"/>
              <a:t>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5" y="523220"/>
            <a:ext cx="9035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Базовый класс имеет метод </a:t>
            </a:r>
            <a:r>
              <a:rPr lang="ru-RU" sz="2800" dirty="0" err="1" smtClean="0"/>
              <a:t>get</a:t>
            </a:r>
            <a:r>
              <a:rPr lang="en-US" sz="2800" dirty="0" smtClean="0"/>
              <a:t>()</a:t>
            </a:r>
            <a:r>
              <a:rPr lang="ru-RU" sz="2800" dirty="0" smtClean="0"/>
              <a:t>. </a:t>
            </a:r>
            <a:r>
              <a:rPr lang="ru-RU" sz="2800" dirty="0"/>
              <a:t>Производный класс имеет свой метод </a:t>
            </a:r>
            <a:r>
              <a:rPr lang="ru-RU" sz="2800" dirty="0" err="1" smtClean="0"/>
              <a:t>get</a:t>
            </a:r>
            <a:r>
              <a:rPr lang="en-US" sz="2800" dirty="0" smtClean="0"/>
              <a:t>()</a:t>
            </a:r>
            <a:r>
              <a:rPr lang="ru-RU" sz="2800" dirty="0" smtClean="0"/>
              <a:t>. </a:t>
            </a:r>
            <a:endParaRPr lang="ru-RU" sz="28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477327"/>
            <a:ext cx="87849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x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y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2269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19. Полиморфизм. Переопределение метода </a:t>
            </a:r>
            <a:r>
              <a:rPr lang="ru-RU" sz="2800" b="1" dirty="0" smtClean="0"/>
              <a:t>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52201" y="620688"/>
            <a:ext cx="9144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 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базового класса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производного класса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b_ob.setx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 к объекту базового </a:t>
            </a:r>
            <a:r>
              <a:rPr lang="en-US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     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класса</a:t>
            </a:r>
            <a:endParaRPr lang="ru-RU" sz="22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base class x:"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b_ob.get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d_ob.setx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(99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 к объекту производного </a:t>
            </a:r>
            <a:r>
              <a:rPr lang="en-US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класса</a:t>
            </a:r>
            <a:endParaRPr lang="ru-RU" sz="22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d_ob.sety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(88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y:"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d_ob.get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x:"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d_ob.base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::get()&lt;&lt;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215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8801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1611</Words>
  <Application>Microsoft Office PowerPoint</Application>
  <PresentationFormat>Экран (4:3)</PresentationFormat>
  <Paragraphs>489</Paragraphs>
  <Slides>55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56" baseType="lpstr">
      <vt:lpstr>Тема Office</vt:lpstr>
      <vt:lpstr>Наследование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Наследование</dc:title>
  <dc:creator>felix</dc:creator>
  <cp:lastModifiedBy>felix</cp:lastModifiedBy>
  <cp:revision>43</cp:revision>
  <dcterms:created xsi:type="dcterms:W3CDTF">2015-11-24T02:41:41Z</dcterms:created>
  <dcterms:modified xsi:type="dcterms:W3CDTF">2015-12-02T03:00:43Z</dcterms:modified>
</cp:coreProperties>
</file>