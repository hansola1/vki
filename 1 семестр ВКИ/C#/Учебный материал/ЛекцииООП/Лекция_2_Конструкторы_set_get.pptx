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4" r:id="rId5"/>
    <p:sldId id="265" r:id="rId6"/>
    <p:sldId id="267" r:id="rId7"/>
    <p:sldId id="275" r:id="rId8"/>
    <p:sldId id="266" r:id="rId9"/>
    <p:sldId id="272" r:id="rId10"/>
    <p:sldId id="279" r:id="rId11"/>
    <p:sldId id="273" r:id="rId12"/>
    <p:sldId id="283" r:id="rId13"/>
    <p:sldId id="274" r:id="rId14"/>
    <p:sldId id="276" r:id="rId15"/>
    <p:sldId id="277" r:id="rId16"/>
    <p:sldId id="278" r:id="rId17"/>
    <p:sldId id="258" r:id="rId18"/>
    <p:sldId id="262" r:id="rId19"/>
    <p:sldId id="263" r:id="rId20"/>
    <p:sldId id="260" r:id="rId21"/>
    <p:sldId id="280" r:id="rId22"/>
    <p:sldId id="268" r:id="rId23"/>
    <p:sldId id="269" r:id="rId24"/>
    <p:sldId id="270" r:id="rId25"/>
    <p:sldId id="271" r:id="rId26"/>
    <p:sldId id="281" r:id="rId27"/>
    <p:sldId id="282" r:id="rId28"/>
  </p:sldIdLst>
  <p:sldSz cx="9144000" cy="6858000" type="screen4x3"/>
  <p:notesSz cx="6858000" cy="9144000"/>
  <p:embeddedFontLst>
    <p:embeddedFont>
      <p:font typeface="Calibri" pitchFamily="34" charset="0"/>
      <p:regular r:id="rId29"/>
      <p:bold r:id="rId30"/>
      <p:italic r:id="rId31"/>
      <p:boldItalic r:id="rId3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AD9A-8023-4464-8886-39CC70F73784}" type="datetimeFigureOut">
              <a:rPr lang="ru-RU" smtClean="0"/>
              <a:pPr/>
              <a:t>12.04.2017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FF68F-C8E8-4396-84F8-C166372BD19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926657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AD9A-8023-4464-8886-39CC70F73784}" type="datetimeFigureOut">
              <a:rPr lang="ru-RU" smtClean="0"/>
              <a:pPr/>
              <a:t>12.04.2017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FF68F-C8E8-4396-84F8-C166372BD19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003563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AD9A-8023-4464-8886-39CC70F73784}" type="datetimeFigureOut">
              <a:rPr lang="ru-RU" smtClean="0"/>
              <a:pPr/>
              <a:t>12.04.2017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FF68F-C8E8-4396-84F8-C166372BD19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445486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AD9A-8023-4464-8886-39CC70F73784}" type="datetimeFigureOut">
              <a:rPr lang="ru-RU" smtClean="0"/>
              <a:pPr/>
              <a:t>12.04.2017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FF68F-C8E8-4396-84F8-C166372BD19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915052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AD9A-8023-4464-8886-39CC70F73784}" type="datetimeFigureOut">
              <a:rPr lang="ru-RU" smtClean="0"/>
              <a:pPr/>
              <a:t>12.04.2017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FF68F-C8E8-4396-84F8-C166372BD19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57514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AD9A-8023-4464-8886-39CC70F73784}" type="datetimeFigureOut">
              <a:rPr lang="ru-RU" smtClean="0"/>
              <a:pPr/>
              <a:t>12.04.2017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FF68F-C8E8-4396-84F8-C166372BD19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953547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AD9A-8023-4464-8886-39CC70F73784}" type="datetimeFigureOut">
              <a:rPr lang="ru-RU" smtClean="0"/>
              <a:pPr/>
              <a:t>12.04.2017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FF68F-C8E8-4396-84F8-C166372BD19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786375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AD9A-8023-4464-8886-39CC70F73784}" type="datetimeFigureOut">
              <a:rPr lang="ru-RU" smtClean="0"/>
              <a:pPr/>
              <a:t>12.04.2017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FF68F-C8E8-4396-84F8-C166372BD19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129171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AD9A-8023-4464-8886-39CC70F73784}" type="datetimeFigureOut">
              <a:rPr lang="ru-RU" smtClean="0"/>
              <a:pPr/>
              <a:t>12.04.2017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FF68F-C8E8-4396-84F8-C166372BD19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724357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AD9A-8023-4464-8886-39CC70F73784}" type="datetimeFigureOut">
              <a:rPr lang="ru-RU" smtClean="0"/>
              <a:pPr/>
              <a:t>12.04.2017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FF68F-C8E8-4396-84F8-C166372BD19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998794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AD9A-8023-4464-8886-39CC70F73784}" type="datetimeFigureOut">
              <a:rPr lang="ru-RU" smtClean="0"/>
              <a:pPr/>
              <a:t>12.04.2017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FF68F-C8E8-4396-84F8-C166372BD19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959873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AAD9A-8023-4464-8886-39CC70F73784}" type="datetimeFigureOut">
              <a:rPr lang="ru-RU" smtClean="0"/>
              <a:pPr/>
              <a:t>12.04.2017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FF68F-C8E8-4396-84F8-C166372BD19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180382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1357298"/>
            <a:ext cx="7772400" cy="1885543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chemeClr val="accent1">
                    <a:lumMod val="75000"/>
                  </a:schemeClr>
                </a:solidFill>
              </a:rPr>
              <a:t>Конструкторы. Деструктор. Методы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get() </a:t>
            </a:r>
            <a:r>
              <a:rPr lang="ru-RU" b="1" dirty="0" smtClean="0">
                <a:solidFill>
                  <a:schemeClr val="accent1">
                    <a:lumMod val="75000"/>
                  </a:schemeClr>
                </a:solidFill>
              </a:rPr>
              <a:t>и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 set()</a:t>
            </a:r>
            <a:b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ru-RU" sz="3100" b="1" dirty="0" smtClean="0">
                <a:solidFill>
                  <a:schemeClr val="accent1">
                    <a:lumMod val="75000"/>
                  </a:schemeClr>
                </a:solidFill>
              </a:rPr>
              <a:t>Лекция </a:t>
            </a:r>
            <a:r>
              <a:rPr lang="en-US" sz="3100" b="1" dirty="0" smtClean="0">
                <a:solidFill>
                  <a:schemeClr val="accent1">
                    <a:lumMod val="75000"/>
                  </a:schemeClr>
                </a:solidFill>
              </a:rPr>
              <a:t>2</a:t>
            </a:r>
            <a:endParaRPr lang="ru-RU" sz="31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1987624" y="4365625"/>
            <a:ext cx="6400800" cy="1414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2400" b="1" dirty="0" smtClean="0">
                <a:solidFill>
                  <a:schemeClr val="accent1">
                    <a:lumMod val="75000"/>
                  </a:schemeClr>
                </a:solidFill>
              </a:rPr>
              <a:t>доцент</a:t>
            </a:r>
            <a:r>
              <a:rPr lang="ru-RU" sz="24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ru-RU" sz="24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r">
              <a:defRPr/>
            </a:pPr>
            <a:r>
              <a:rPr lang="ru-RU" sz="2400" b="1" dirty="0" smtClean="0">
                <a:solidFill>
                  <a:schemeClr val="accent1">
                    <a:lumMod val="75000"/>
                  </a:schemeClr>
                </a:solidFill>
              </a:rPr>
              <a:t>Высшего колледжа информатики НГУ </a:t>
            </a:r>
          </a:p>
          <a:p>
            <a:pPr algn="r">
              <a:defRPr/>
            </a:pPr>
            <a:r>
              <a:rPr lang="ru-RU" sz="2400" b="1" dirty="0" smtClean="0">
                <a:solidFill>
                  <a:schemeClr val="accent1">
                    <a:lumMod val="75000"/>
                  </a:schemeClr>
                </a:solidFill>
              </a:rPr>
              <a:t>Наталия Викторовна </a:t>
            </a:r>
            <a:r>
              <a:rPr lang="ru-RU" sz="2400" b="1" dirty="0" err="1" smtClean="0">
                <a:solidFill>
                  <a:schemeClr val="accent1">
                    <a:lumMod val="75000"/>
                  </a:schemeClr>
                </a:solidFill>
              </a:rPr>
              <a:t>Голкова</a:t>
            </a:r>
            <a:endParaRPr lang="ru-RU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62331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44450"/>
            <a:ext cx="87487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Tx/>
              <a:buNone/>
            </a:pPr>
            <a:r>
              <a:rPr lang="ru-RU" altLang="ru-RU" sz="3600" b="1" dirty="0" smtClean="0">
                <a:latin typeface="Arial" charset="0"/>
              </a:rPr>
              <a:t>Задача</a:t>
            </a:r>
            <a:endParaRPr lang="ru-RU" altLang="ru-RU" sz="3600" b="1" dirty="0">
              <a:latin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1052736"/>
            <a:ext cx="830123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800" dirty="0"/>
              <a:t>Создать класс </a:t>
            </a:r>
            <a:r>
              <a:rPr lang="en-US" sz="2800" dirty="0"/>
              <a:t>Point</a:t>
            </a:r>
            <a:r>
              <a:rPr lang="ru-RU" sz="2800" dirty="0"/>
              <a:t>.  В классе </a:t>
            </a:r>
            <a:r>
              <a:rPr lang="en-US" sz="2800" dirty="0"/>
              <a:t>Point</a:t>
            </a:r>
            <a:r>
              <a:rPr lang="ru-RU" sz="2800" dirty="0"/>
              <a:t> создать методы:</a:t>
            </a:r>
          </a:p>
          <a:p>
            <a:r>
              <a:rPr lang="en-US" sz="2800" b="1" dirty="0"/>
              <a:t>Point</a:t>
            </a:r>
            <a:r>
              <a:rPr lang="ru-RU" sz="2800" b="1" dirty="0"/>
              <a:t>() - </a:t>
            </a:r>
            <a:r>
              <a:rPr lang="ru-RU" sz="2800" dirty="0"/>
              <a:t>конструктор по умолчанию, без параметров   </a:t>
            </a:r>
          </a:p>
          <a:p>
            <a:r>
              <a:rPr lang="en-US" sz="2800" b="1" dirty="0"/>
              <a:t>Point</a:t>
            </a:r>
            <a:r>
              <a:rPr lang="ru-RU" sz="2800" b="1" dirty="0"/>
              <a:t>(</a:t>
            </a:r>
            <a:r>
              <a:rPr lang="en-US" sz="2800" b="1" dirty="0"/>
              <a:t>float </a:t>
            </a:r>
            <a:r>
              <a:rPr lang="en-US" sz="2800" b="1" dirty="0" err="1"/>
              <a:t>pX</a:t>
            </a:r>
            <a:r>
              <a:rPr lang="ru-RU" sz="2800" b="1" dirty="0"/>
              <a:t>,</a:t>
            </a:r>
            <a:r>
              <a:rPr lang="en-US" sz="2800" b="1" dirty="0"/>
              <a:t>float </a:t>
            </a:r>
            <a:r>
              <a:rPr lang="en-US" sz="2800" b="1" dirty="0" err="1"/>
              <a:t>pY</a:t>
            </a:r>
            <a:r>
              <a:rPr lang="ru-RU" sz="2800" b="1" dirty="0"/>
              <a:t>)</a:t>
            </a:r>
            <a:r>
              <a:rPr lang="ru-RU" sz="2800" dirty="0"/>
              <a:t> - конструктор по умолчанию с параметром  </a:t>
            </a:r>
          </a:p>
          <a:p>
            <a:r>
              <a:rPr lang="ru-RU" sz="2800" b="1" dirty="0" err="1"/>
              <a:t>Point</a:t>
            </a:r>
            <a:r>
              <a:rPr lang="ru-RU" sz="2800" b="1" dirty="0"/>
              <a:t>(</a:t>
            </a:r>
            <a:r>
              <a:rPr lang="ru-RU" sz="2800" b="1" dirty="0" err="1"/>
              <a:t>const</a:t>
            </a:r>
            <a:r>
              <a:rPr lang="ru-RU" sz="2800" b="1" dirty="0"/>
              <a:t> </a:t>
            </a:r>
            <a:r>
              <a:rPr lang="ru-RU" sz="2800" b="1" dirty="0" err="1"/>
              <a:t>Point</a:t>
            </a:r>
            <a:r>
              <a:rPr lang="ru-RU" sz="2800" b="1" dirty="0"/>
              <a:t> &amp;</a:t>
            </a:r>
            <a:r>
              <a:rPr lang="ru-RU" sz="2800" b="1" dirty="0" err="1"/>
              <a:t>pointCopy</a:t>
            </a:r>
            <a:r>
              <a:rPr lang="ru-RU" sz="2800" b="1" dirty="0"/>
              <a:t>) </a:t>
            </a:r>
            <a:r>
              <a:rPr lang="ru-RU" sz="2800" dirty="0"/>
              <a:t>-  конструктор копирования</a:t>
            </a:r>
          </a:p>
          <a:p>
            <a:r>
              <a:rPr lang="ru-RU" sz="2800" b="1" dirty="0"/>
              <a:t>~</a:t>
            </a:r>
            <a:r>
              <a:rPr lang="en-US" sz="2800" b="1" dirty="0"/>
              <a:t>Point</a:t>
            </a:r>
            <a:r>
              <a:rPr lang="ru-RU" sz="2800" b="1" dirty="0"/>
              <a:t>() – </a:t>
            </a:r>
            <a:r>
              <a:rPr lang="ru-RU" sz="2800" dirty="0"/>
              <a:t>деструктор</a:t>
            </a:r>
          </a:p>
          <a:p>
            <a:r>
              <a:rPr lang="en-US" sz="2800" b="1" dirty="0"/>
              <a:t>float </a:t>
            </a:r>
            <a:r>
              <a:rPr lang="en-US" sz="2800" b="1" dirty="0" err="1"/>
              <a:t>getX</a:t>
            </a:r>
            <a:r>
              <a:rPr lang="en-US" sz="2800" b="1" dirty="0" smtClean="0"/>
              <a:t>() </a:t>
            </a:r>
            <a:r>
              <a:rPr lang="ru-RU" sz="2800" b="1" dirty="0" err="1" smtClean="0"/>
              <a:t>const</a:t>
            </a:r>
            <a:r>
              <a:rPr lang="en-US" sz="2800" dirty="0" smtClean="0"/>
              <a:t> </a:t>
            </a:r>
            <a:r>
              <a:rPr lang="en-US" sz="2800" dirty="0"/>
              <a:t>- </a:t>
            </a:r>
            <a:r>
              <a:rPr lang="ru-RU" sz="2800" dirty="0"/>
              <a:t>метод</a:t>
            </a:r>
            <a:r>
              <a:rPr lang="en-US" sz="2800" dirty="0"/>
              <a:t> </a:t>
            </a:r>
            <a:r>
              <a:rPr lang="en-US" sz="2800" dirty="0" err="1"/>
              <a:t>getX</a:t>
            </a:r>
            <a:r>
              <a:rPr lang="en-US" sz="2800" dirty="0"/>
              <a:t>() </a:t>
            </a:r>
            <a:endParaRPr lang="ru-RU" sz="2800" dirty="0"/>
          </a:p>
          <a:p>
            <a:r>
              <a:rPr lang="en-US" sz="2800" b="1" dirty="0"/>
              <a:t>float </a:t>
            </a:r>
            <a:r>
              <a:rPr lang="en-US" sz="2800" b="1" dirty="0" err="1"/>
              <a:t>getY</a:t>
            </a:r>
            <a:r>
              <a:rPr lang="en-US" sz="2800" b="1" dirty="0"/>
              <a:t>()</a:t>
            </a:r>
            <a:r>
              <a:rPr lang="en-US" sz="2800" dirty="0"/>
              <a:t> </a:t>
            </a:r>
            <a:r>
              <a:rPr lang="ru-RU" sz="2800" b="1" dirty="0" err="1" smtClean="0"/>
              <a:t>const</a:t>
            </a:r>
            <a:r>
              <a:rPr lang="en-US" sz="2800" b="1" dirty="0" smtClean="0"/>
              <a:t> </a:t>
            </a:r>
            <a:r>
              <a:rPr lang="en-US" sz="2800" dirty="0" smtClean="0"/>
              <a:t>- </a:t>
            </a:r>
            <a:r>
              <a:rPr lang="ru-RU" sz="2800" dirty="0"/>
              <a:t>метод</a:t>
            </a:r>
            <a:r>
              <a:rPr lang="en-US" sz="2800" dirty="0"/>
              <a:t> </a:t>
            </a:r>
            <a:r>
              <a:rPr lang="en-US" sz="2800" dirty="0" err="1"/>
              <a:t>getY</a:t>
            </a:r>
            <a:r>
              <a:rPr lang="en-US" sz="2800" dirty="0"/>
              <a:t>() </a:t>
            </a:r>
            <a:endParaRPr lang="ru-RU" sz="2800" dirty="0"/>
          </a:p>
          <a:p>
            <a:r>
              <a:rPr lang="en-US" sz="2800" b="1" dirty="0"/>
              <a:t>void set(float </a:t>
            </a:r>
            <a:r>
              <a:rPr lang="en-US" sz="2800" b="1" dirty="0" err="1"/>
              <a:t>pX,float</a:t>
            </a:r>
            <a:r>
              <a:rPr lang="en-US" sz="2800" b="1" dirty="0"/>
              <a:t> </a:t>
            </a:r>
            <a:r>
              <a:rPr lang="en-US" sz="2800" b="1" dirty="0" err="1"/>
              <a:t>pY</a:t>
            </a:r>
            <a:r>
              <a:rPr lang="en-US" sz="2800" b="1" dirty="0"/>
              <a:t>)</a:t>
            </a:r>
            <a:r>
              <a:rPr lang="en-US" sz="2800" dirty="0"/>
              <a:t>  – </a:t>
            </a:r>
            <a:r>
              <a:rPr lang="ru-RU" sz="2800" dirty="0"/>
              <a:t>метод</a:t>
            </a:r>
            <a:r>
              <a:rPr lang="en-US" sz="2800" dirty="0"/>
              <a:t> set()</a:t>
            </a:r>
            <a:endParaRPr lang="ru-RU" sz="2800" dirty="0"/>
          </a:p>
          <a:p>
            <a:r>
              <a:rPr lang="en-US" sz="2800" b="1" dirty="0"/>
              <a:t>void print(const </a:t>
            </a:r>
            <a:r>
              <a:rPr lang="en-US" sz="2800" b="1" dirty="0" err="1"/>
              <a:t>int</a:t>
            </a:r>
            <a:r>
              <a:rPr lang="en-US" sz="2800" b="1" dirty="0"/>
              <a:t> n </a:t>
            </a:r>
            <a:r>
              <a:rPr lang="en-US" sz="2800" b="1" dirty="0" smtClean="0"/>
              <a:t>) </a:t>
            </a:r>
            <a:r>
              <a:rPr lang="ru-RU" sz="2800" b="1" dirty="0" err="1" smtClean="0"/>
              <a:t>const</a:t>
            </a:r>
            <a:r>
              <a:rPr lang="en-US" sz="2800" b="1" dirty="0" smtClean="0"/>
              <a:t> </a:t>
            </a:r>
            <a:r>
              <a:rPr lang="en-US" sz="2800" b="1" dirty="0"/>
              <a:t>-</a:t>
            </a:r>
            <a:r>
              <a:rPr lang="en-US" sz="2800" dirty="0"/>
              <a:t> </a:t>
            </a:r>
            <a:r>
              <a:rPr lang="ru-RU" sz="2800" dirty="0"/>
              <a:t>вывод на экран</a:t>
            </a:r>
            <a:r>
              <a:rPr lang="en-US" sz="2800" dirty="0"/>
              <a:t> (</a:t>
            </a:r>
            <a:r>
              <a:rPr lang="ru-RU" sz="2800" dirty="0"/>
              <a:t>дисплей</a:t>
            </a:r>
            <a:r>
              <a:rPr lang="en-US" sz="2800" dirty="0"/>
              <a:t>).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xmlns="" val="73063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Группа 33"/>
          <p:cNvGrpSpPr/>
          <p:nvPr/>
        </p:nvGrpSpPr>
        <p:grpSpPr>
          <a:xfrm>
            <a:off x="184081" y="-99392"/>
            <a:ext cx="8959919" cy="6829445"/>
            <a:chOff x="184081" y="-99392"/>
            <a:chExt cx="8959919" cy="6829445"/>
          </a:xfrm>
        </p:grpSpPr>
        <p:sp>
          <p:nvSpPr>
            <p:cNvPr id="2" name="Line 2"/>
            <p:cNvSpPr>
              <a:spLocks noChangeShapeType="1"/>
            </p:cNvSpPr>
            <p:nvPr/>
          </p:nvSpPr>
          <p:spPr bwMode="auto">
            <a:xfrm>
              <a:off x="376238" y="548680"/>
              <a:ext cx="8464550" cy="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u-RU" dirty="0"/>
            </a:p>
          </p:txBody>
        </p:sp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95288" y="-99392"/>
              <a:ext cx="8748712" cy="646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hangingPunct="0">
                <a:spcBef>
                  <a:spcPct val="50000"/>
                </a:spcBef>
                <a:buFontTx/>
                <a:buNone/>
              </a:pPr>
              <a:r>
                <a:rPr lang="ru-RU" altLang="ru-RU" sz="3600" b="1" dirty="0" smtClean="0">
                  <a:latin typeface="Arial" charset="0"/>
                </a:rPr>
                <a:t>Программа</a:t>
              </a:r>
              <a:endParaRPr lang="ru-RU" altLang="ru-RU" sz="3600" b="1" dirty="0">
                <a:latin typeface="Arial" charset="0"/>
              </a:endParaRPr>
            </a:p>
          </p:txBody>
        </p:sp>
        <p:sp>
          <p:nvSpPr>
            <p:cNvPr id="5" name="Прямоугольник 4"/>
            <p:cNvSpPr/>
            <p:nvPr/>
          </p:nvSpPr>
          <p:spPr>
            <a:xfrm>
              <a:off x="184081" y="620688"/>
              <a:ext cx="8959919" cy="6109365"/>
            </a:xfrm>
            <a:prstGeom prst="rect">
              <a:avLst/>
            </a:prstGeom>
            <a:solidFill>
              <a:srgbClr val="FFFF66"/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3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#include</a:t>
              </a:r>
              <a:r>
                <a:rPr lang="en-US" sz="23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300" b="1" dirty="0" smtClean="0">
                  <a:solidFill>
                    <a:srgbClr val="A3151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</a:t>
              </a:r>
              <a:r>
                <a:rPr lang="en-US" sz="2300" b="1" dirty="0" err="1" smtClean="0">
                  <a:solidFill>
                    <a:srgbClr val="A3151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iostream</a:t>
              </a:r>
              <a:r>
                <a:rPr lang="en-US" sz="2300" b="1" dirty="0" smtClean="0">
                  <a:solidFill>
                    <a:srgbClr val="A3151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</a:p>
            <a:p>
              <a:r>
                <a:rPr lang="en-US" sz="23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using</a:t>
              </a:r>
              <a:r>
                <a:rPr lang="en-US" sz="23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3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namespace</a:t>
              </a:r>
              <a:r>
                <a:rPr lang="en-US" sz="23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300" b="1" dirty="0" err="1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std</a:t>
              </a:r>
              <a:r>
                <a:rPr lang="en-US" sz="23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</a:p>
            <a:p>
              <a:endParaRPr lang="en-US" sz="23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23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class</a:t>
              </a:r>
              <a:r>
                <a:rPr lang="en-US" sz="23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3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Point {  </a:t>
              </a:r>
            </a:p>
            <a:p>
              <a:r>
                <a:rPr lang="ru-RU" sz="23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</a:t>
              </a:r>
              <a:r>
                <a:rPr lang="ru-RU" sz="2300" b="1" dirty="0" err="1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float</a:t>
              </a:r>
              <a:r>
                <a:rPr lang="ru-RU" sz="23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x; </a:t>
              </a:r>
              <a:r>
                <a:rPr lang="ru-RU" sz="2300" b="1" dirty="0" smtClean="0">
                  <a:solidFill>
                    <a:srgbClr val="00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// координата по оси ОХ, поле данных </a:t>
              </a:r>
            </a:p>
            <a:p>
              <a:r>
                <a:rPr lang="ru-RU" sz="23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</a:t>
              </a:r>
              <a:r>
                <a:rPr lang="ru-RU" sz="2300" b="1" dirty="0" err="1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float</a:t>
              </a:r>
              <a:r>
                <a:rPr lang="ru-RU" sz="23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y; </a:t>
              </a:r>
              <a:r>
                <a:rPr lang="ru-RU" sz="2300" b="1" dirty="0" smtClean="0">
                  <a:solidFill>
                    <a:srgbClr val="00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// координата по оси ОY, поле данных</a:t>
              </a:r>
            </a:p>
            <a:p>
              <a:r>
                <a:rPr lang="en-US" sz="23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public</a:t>
              </a:r>
              <a:r>
                <a:rPr lang="en-US" sz="23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:	</a:t>
              </a:r>
            </a:p>
            <a:p>
              <a:r>
                <a:rPr lang="ru-RU" sz="23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</a:t>
              </a:r>
              <a:r>
                <a:rPr lang="fr-FR" sz="23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</a:t>
              </a:r>
              <a:r>
                <a:rPr lang="fr-FR" sz="23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sz="23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print(</a:t>
              </a:r>
              <a:r>
                <a:rPr lang="fr-FR" sz="23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const</a:t>
              </a:r>
              <a:r>
                <a:rPr lang="fr-FR" sz="23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sz="23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fr-FR" sz="23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n </a:t>
              </a:r>
              <a:r>
                <a:rPr lang="fr-FR" sz="23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  <a:r>
                <a:rPr lang="ru-RU" sz="23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3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{</a:t>
              </a:r>
              <a:r>
                <a:rPr lang="fr-FR" sz="2300" b="1" dirty="0" smtClean="0">
                  <a:solidFill>
                    <a:srgbClr val="00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// метод print()</a:t>
              </a:r>
            </a:p>
            <a:p>
              <a:r>
                <a:rPr lang="en-US" sz="23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	</a:t>
              </a:r>
              <a:r>
                <a:rPr lang="en-US" sz="2300" b="1" dirty="0" err="1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cout</a:t>
              </a:r>
              <a:r>
                <a:rPr lang="en-US" sz="23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3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&lt;&lt;</a:t>
              </a:r>
              <a:r>
                <a:rPr lang="en-US" sz="2300" b="1" dirty="0" smtClean="0">
                  <a:solidFill>
                    <a:srgbClr val="A3151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"I'm point "</a:t>
              </a:r>
              <a:r>
                <a:rPr lang="en-US" sz="23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&lt;&lt; n &lt;&lt; </a:t>
              </a:r>
              <a:r>
                <a:rPr lang="en-US" sz="2300" b="1" dirty="0" err="1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endl</a:t>
              </a:r>
              <a:r>
                <a:rPr lang="en-US" sz="23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</a:p>
            <a:p>
              <a:r>
                <a:rPr lang="es-ES" sz="23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</a:t>
              </a:r>
              <a:r>
                <a:rPr lang="ru-RU" sz="23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 </a:t>
              </a:r>
              <a:endParaRPr lang="ru-RU" sz="23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ru-RU" sz="23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};</a:t>
              </a:r>
              <a:endParaRPr lang="ru-RU" sz="23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ru-RU" sz="23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2300" b="1" dirty="0" err="1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sz="23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main() {</a:t>
              </a:r>
            </a:p>
            <a:p>
              <a:r>
                <a:rPr lang="en-US" sz="23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Point </a:t>
              </a:r>
              <a:r>
                <a:rPr lang="en-US" sz="2300" b="1" dirty="0" err="1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firstPoint</a:t>
              </a:r>
              <a:r>
                <a:rPr lang="en-US" sz="23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</a:p>
            <a:p>
              <a:r>
                <a:rPr lang="en-US" sz="23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</a:t>
              </a:r>
              <a:r>
                <a:rPr lang="en-US" sz="2300" b="1" dirty="0" err="1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firstPoint.print</a:t>
              </a:r>
              <a:r>
                <a:rPr lang="en-US" sz="23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(1);</a:t>
              </a:r>
            </a:p>
            <a:p>
              <a:r>
                <a:rPr lang="en-US" sz="23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</a:t>
              </a:r>
              <a:r>
                <a:rPr lang="en-US" sz="23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return</a:t>
              </a:r>
              <a:r>
                <a:rPr lang="en-US" sz="23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3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0;</a:t>
              </a:r>
            </a:p>
            <a:p>
              <a:r>
                <a:rPr lang="ru-RU" sz="23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  <a:endParaRPr lang="ru-RU" sz="23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755651" y="1948904"/>
              <a:ext cx="2087538" cy="76001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>
                <a:solidFill>
                  <a:schemeClr val="tx1"/>
                </a:solidFill>
              </a:endParaRPr>
            </a:p>
          </p:txBody>
        </p:sp>
        <p:cxnSp>
          <p:nvCxnSpPr>
            <p:cNvPr id="7" name="Прямая со стрелкой 6"/>
            <p:cNvCxnSpPr>
              <a:endCxn id="6" idx="7"/>
            </p:cNvCxnSpPr>
            <p:nvPr/>
          </p:nvCxnSpPr>
          <p:spPr>
            <a:xfrm flipH="1">
              <a:off x="2537476" y="1517104"/>
              <a:ext cx="1458238" cy="54310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8" name="TextBox 4"/>
            <p:cNvSpPr txBox="1">
              <a:spLocks noChangeArrowheads="1"/>
            </p:cNvSpPr>
            <p:nvPr/>
          </p:nvSpPr>
          <p:spPr bwMode="auto">
            <a:xfrm>
              <a:off x="3995713" y="1228179"/>
              <a:ext cx="2376487" cy="3698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1800" b="1"/>
                <a:t>Поля класса</a:t>
              </a:r>
            </a:p>
          </p:txBody>
        </p:sp>
        <p:sp>
          <p:nvSpPr>
            <p:cNvPr id="9" name="TextBox 8"/>
            <p:cNvSpPr txBox="1">
              <a:spLocks noChangeArrowheads="1"/>
            </p:cNvSpPr>
            <p:nvPr/>
          </p:nvSpPr>
          <p:spPr bwMode="auto">
            <a:xfrm>
              <a:off x="5795912" y="2772668"/>
              <a:ext cx="2376488" cy="3683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1800" b="1"/>
                <a:t>Методы класса</a:t>
              </a:r>
            </a:p>
          </p:txBody>
        </p:sp>
        <p:sp>
          <p:nvSpPr>
            <p:cNvPr id="10" name="Овал 9"/>
            <p:cNvSpPr/>
            <p:nvPr/>
          </p:nvSpPr>
          <p:spPr>
            <a:xfrm>
              <a:off x="1043609" y="2931606"/>
              <a:ext cx="4320504" cy="64141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>
                <a:solidFill>
                  <a:schemeClr val="tx1"/>
                </a:solidFill>
              </a:endParaRPr>
            </a:p>
          </p:txBody>
        </p:sp>
        <p:cxnSp>
          <p:nvCxnSpPr>
            <p:cNvPr id="11" name="Прямая со стрелкой 10"/>
            <p:cNvCxnSpPr>
              <a:stCxn id="9" idx="1"/>
              <a:endCxn id="10" idx="7"/>
            </p:cNvCxnSpPr>
            <p:nvPr/>
          </p:nvCxnSpPr>
          <p:spPr>
            <a:xfrm flipH="1">
              <a:off x="4731390" y="2956818"/>
              <a:ext cx="1064522" cy="6872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Овал 23"/>
            <p:cNvSpPr/>
            <p:nvPr/>
          </p:nvSpPr>
          <p:spPr>
            <a:xfrm>
              <a:off x="899592" y="5589240"/>
              <a:ext cx="3817441" cy="36036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b="1">
                <a:solidFill>
                  <a:schemeClr val="tx1"/>
                </a:solidFill>
              </a:endParaRPr>
            </a:p>
          </p:txBody>
        </p:sp>
        <p:cxnSp>
          <p:nvCxnSpPr>
            <p:cNvPr id="25" name="Прямая со стрелкой 24"/>
            <p:cNvCxnSpPr>
              <a:stCxn id="26" idx="1"/>
              <a:endCxn id="24" idx="6"/>
            </p:cNvCxnSpPr>
            <p:nvPr/>
          </p:nvCxnSpPr>
          <p:spPr>
            <a:xfrm flipH="1" flipV="1">
              <a:off x="4717033" y="5769421"/>
              <a:ext cx="935037" cy="49897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>
              <a:spLocks noChangeArrowheads="1"/>
            </p:cNvSpPr>
            <p:nvPr/>
          </p:nvSpPr>
          <p:spPr bwMode="auto">
            <a:xfrm>
              <a:off x="5652070" y="6083449"/>
              <a:ext cx="2881313" cy="3698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1800" b="1"/>
                <a:t>Вызов метода экземпляра</a:t>
              </a:r>
            </a:p>
          </p:txBody>
        </p:sp>
        <p:sp>
          <p:nvSpPr>
            <p:cNvPr id="27" name="Овал 26"/>
            <p:cNvSpPr/>
            <p:nvPr/>
          </p:nvSpPr>
          <p:spPr>
            <a:xfrm>
              <a:off x="2053208" y="5229200"/>
              <a:ext cx="2303462" cy="36036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b="1">
                <a:solidFill>
                  <a:schemeClr val="tx1"/>
                </a:solidFill>
              </a:endParaRPr>
            </a:p>
          </p:txBody>
        </p:sp>
        <p:sp>
          <p:nvSpPr>
            <p:cNvPr id="28" name="TextBox 19"/>
            <p:cNvSpPr txBox="1">
              <a:spLocks noChangeArrowheads="1"/>
            </p:cNvSpPr>
            <p:nvPr/>
          </p:nvSpPr>
          <p:spPr bwMode="auto">
            <a:xfrm>
              <a:off x="5004370" y="5151586"/>
              <a:ext cx="4032126" cy="3698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1800" b="1"/>
                <a:t>Экземпляр – переменная типа класса</a:t>
              </a:r>
            </a:p>
          </p:txBody>
        </p:sp>
        <p:cxnSp>
          <p:nvCxnSpPr>
            <p:cNvPr id="31" name="Прямая со стрелкой 30"/>
            <p:cNvCxnSpPr>
              <a:endCxn id="27" idx="6"/>
            </p:cNvCxnSpPr>
            <p:nvPr/>
          </p:nvCxnSpPr>
          <p:spPr>
            <a:xfrm flipH="1">
              <a:off x="4356670" y="5367486"/>
              <a:ext cx="647701" cy="41896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56903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Группа 33"/>
          <p:cNvGrpSpPr/>
          <p:nvPr/>
        </p:nvGrpSpPr>
        <p:grpSpPr>
          <a:xfrm>
            <a:off x="184081" y="-99392"/>
            <a:ext cx="8959919" cy="6952555"/>
            <a:chOff x="184081" y="-99392"/>
            <a:chExt cx="8959919" cy="6952555"/>
          </a:xfrm>
        </p:grpSpPr>
        <p:sp>
          <p:nvSpPr>
            <p:cNvPr id="2" name="Line 2"/>
            <p:cNvSpPr>
              <a:spLocks noChangeShapeType="1"/>
            </p:cNvSpPr>
            <p:nvPr/>
          </p:nvSpPr>
          <p:spPr bwMode="auto">
            <a:xfrm>
              <a:off x="376238" y="548680"/>
              <a:ext cx="8464550" cy="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u-RU" dirty="0"/>
            </a:p>
          </p:txBody>
        </p:sp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95288" y="-99392"/>
              <a:ext cx="8748712" cy="646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hangingPunct="0">
                <a:spcBef>
                  <a:spcPct val="50000"/>
                </a:spcBef>
                <a:buFontTx/>
                <a:buNone/>
              </a:pPr>
              <a:r>
                <a:rPr lang="ru-RU" altLang="ru-RU" sz="3600" b="1" dirty="0" smtClean="0">
                  <a:latin typeface="Arial" charset="0"/>
                </a:rPr>
                <a:t>Метод </a:t>
              </a:r>
              <a:r>
                <a:rPr lang="en-US" altLang="ru-RU" sz="3600" b="1" dirty="0" smtClean="0">
                  <a:latin typeface="Arial" charset="0"/>
                </a:rPr>
                <a:t>print </a:t>
              </a:r>
              <a:r>
                <a:rPr lang="ru-RU" altLang="ru-RU" sz="3600" b="1" dirty="0" smtClean="0">
                  <a:latin typeface="Arial" charset="0"/>
                </a:rPr>
                <a:t> вне класса  </a:t>
              </a:r>
              <a:r>
                <a:rPr lang="en-US" altLang="ru-RU" sz="3600" b="1" dirty="0" smtClean="0">
                  <a:latin typeface="Arial" charset="0"/>
                </a:rPr>
                <a:t>Point</a:t>
              </a:r>
              <a:endParaRPr lang="ru-RU" altLang="ru-RU" sz="3600" b="1" dirty="0">
                <a:latin typeface="Arial" charset="0"/>
              </a:endParaRPr>
            </a:p>
          </p:txBody>
        </p:sp>
        <p:sp>
          <p:nvSpPr>
            <p:cNvPr id="5" name="Прямоугольник 4"/>
            <p:cNvSpPr/>
            <p:nvPr/>
          </p:nvSpPr>
          <p:spPr>
            <a:xfrm>
              <a:off x="184081" y="620688"/>
              <a:ext cx="8959919" cy="6232475"/>
            </a:xfrm>
            <a:prstGeom prst="rect">
              <a:avLst/>
            </a:prstGeom>
            <a:solidFill>
              <a:srgbClr val="FFFF66"/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#include</a:t>
              </a:r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400" b="1" dirty="0" smtClean="0">
                  <a:solidFill>
                    <a:srgbClr val="A3151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</a:t>
              </a:r>
              <a:r>
                <a:rPr lang="en-US" sz="2400" b="1" dirty="0" err="1" smtClean="0">
                  <a:solidFill>
                    <a:srgbClr val="A3151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iostream</a:t>
              </a:r>
              <a:r>
                <a:rPr lang="en-US" sz="2400" b="1" dirty="0" smtClean="0">
                  <a:solidFill>
                    <a:srgbClr val="A3151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</a:p>
            <a:p>
              <a:pPr>
                <a:spcAft>
                  <a:spcPts val="600"/>
                </a:spcAft>
              </a:pPr>
              <a:r>
                <a:rPr lang="en-US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using</a:t>
              </a:r>
              <a:r>
                <a:rPr lang="en-US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namespace</a:t>
              </a:r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400" b="1" dirty="0" err="1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std</a:t>
              </a:r>
              <a:r>
                <a:rPr lang="en-US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</a:p>
            <a:p>
              <a:r>
                <a:rPr lang="en-US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class</a:t>
              </a:r>
              <a:r>
                <a:rPr lang="en-US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Point {  </a:t>
              </a:r>
            </a:p>
            <a:p>
              <a:r>
                <a:rPr lang="ru-RU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</a:t>
              </a:r>
              <a:r>
                <a:rPr lang="ru-RU" sz="2400" b="1" dirty="0" err="1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float</a:t>
              </a:r>
              <a:r>
                <a:rPr lang="ru-RU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x; </a:t>
              </a:r>
              <a:r>
                <a:rPr lang="ru-RU" sz="2000" b="1" dirty="0" smtClean="0">
                  <a:solidFill>
                    <a:srgbClr val="00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// координата по оси ОХ, поле данных </a:t>
              </a:r>
            </a:p>
            <a:p>
              <a:r>
                <a:rPr lang="ru-RU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</a:t>
              </a:r>
              <a:r>
                <a:rPr lang="ru-RU" sz="2400" b="1" dirty="0" err="1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float</a:t>
              </a:r>
              <a:r>
                <a:rPr lang="ru-RU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y; </a:t>
              </a:r>
              <a:r>
                <a:rPr lang="ru-RU" sz="2000" b="1" dirty="0" smtClean="0">
                  <a:solidFill>
                    <a:srgbClr val="00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// координата по оси ОY, поле данных</a:t>
              </a:r>
            </a:p>
            <a:p>
              <a:r>
                <a:rPr lang="en-US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public</a:t>
              </a:r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:	</a:t>
              </a:r>
            </a:p>
            <a:p>
              <a:r>
                <a:rPr lang="ru-RU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</a:t>
              </a:r>
              <a:r>
                <a:rPr lang="fr-FR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</a:t>
              </a:r>
              <a:r>
                <a:rPr lang="fr-FR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print(</a:t>
              </a:r>
              <a:r>
                <a:rPr lang="fr-FR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const</a:t>
              </a:r>
              <a:r>
                <a:rPr lang="fr-FR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fr-FR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n </a:t>
              </a:r>
              <a:r>
                <a:rPr lang="fr-FR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  <a:r>
                <a:rPr lang="fr-FR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const</a:t>
              </a:r>
              <a:r>
                <a:rPr lang="fr-FR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; </a:t>
              </a:r>
              <a:r>
                <a:rPr lang="fr-FR" sz="1600" b="1" dirty="0" smtClean="0">
                  <a:solidFill>
                    <a:srgbClr val="00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//метод print()</a:t>
              </a:r>
            </a:p>
            <a:p>
              <a:pPr>
                <a:spcAft>
                  <a:spcPts val="600"/>
                </a:spcAft>
              </a:pPr>
              <a:r>
                <a:rPr lang="ru-RU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};</a:t>
              </a:r>
              <a:endPara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fr-FR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</a:t>
              </a:r>
              <a:r>
                <a:rPr lang="fr-FR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print(</a:t>
              </a:r>
              <a:r>
                <a:rPr lang="fr-FR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const</a:t>
              </a:r>
              <a:r>
                <a:rPr lang="fr-FR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fr-FR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n </a:t>
              </a:r>
              <a:r>
                <a:rPr lang="fr-FR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  <a:r>
                <a:rPr lang="fr-FR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const</a:t>
              </a:r>
              <a:r>
                <a:rPr lang="fr-FR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{</a:t>
              </a:r>
              <a:r>
                <a:rPr lang="fr-FR" sz="2400" b="1" dirty="0" smtClean="0">
                  <a:solidFill>
                    <a:srgbClr val="00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// метод print()</a:t>
              </a:r>
            </a:p>
            <a:p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</a:t>
              </a:r>
              <a:r>
                <a:rPr lang="en-US" sz="2400" b="1" dirty="0" err="1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cout</a:t>
              </a:r>
              <a:r>
                <a:rPr lang="en-US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&lt;&lt;</a:t>
              </a:r>
              <a:r>
                <a:rPr lang="en-US" sz="2400" b="1" dirty="0" smtClean="0">
                  <a:solidFill>
                    <a:srgbClr val="A3151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"I'm point "</a:t>
              </a:r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&lt;&lt; n &lt;&lt; </a:t>
              </a:r>
              <a:r>
                <a:rPr lang="en-US" sz="2400" b="1" dirty="0" err="1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endl</a:t>
              </a:r>
              <a:r>
                <a:rPr lang="en-US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  <a:endParaRPr lang="es-E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spcAft>
                  <a:spcPts val="600"/>
                </a:spcAft>
              </a:pPr>
              <a:r>
                <a:rPr lang="ru-RU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 </a:t>
              </a:r>
              <a:endPara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2400" b="1" dirty="0" err="1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main() {</a:t>
              </a:r>
            </a:p>
            <a:p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Point </a:t>
              </a:r>
              <a:r>
                <a:rPr lang="en-US" sz="2400" b="1" dirty="0" err="1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firstPoint</a:t>
              </a:r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</a:p>
            <a:p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</a:t>
              </a:r>
              <a:r>
                <a:rPr lang="en-US" sz="2400" b="1" dirty="0" err="1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firstPoint.print</a:t>
              </a:r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(1);</a:t>
              </a:r>
            </a:p>
            <a:p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</a:t>
              </a:r>
              <a:r>
                <a:rPr lang="en-US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return</a:t>
              </a:r>
              <a:r>
                <a:rPr lang="en-US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0;</a:t>
              </a:r>
            </a:p>
            <a:p>
              <a:r>
                <a:rPr lang="ru-RU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  <a:endParaRPr lang="ru-RU" sz="24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20" name="Овал 19"/>
          <p:cNvSpPr/>
          <p:nvPr/>
        </p:nvSpPr>
        <p:spPr bwMode="auto">
          <a:xfrm>
            <a:off x="107504" y="3542159"/>
            <a:ext cx="2160587" cy="5762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21" name="TextBox 3"/>
          <p:cNvSpPr txBox="1">
            <a:spLocks noChangeArrowheads="1"/>
          </p:cNvSpPr>
          <p:nvPr/>
        </p:nvSpPr>
        <p:spPr bwMode="auto">
          <a:xfrm>
            <a:off x="2412189" y="3284984"/>
            <a:ext cx="3961177" cy="646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3600" b="1" dirty="0">
                <a:solidFill>
                  <a:srgbClr val="FF0000"/>
                </a:solidFill>
              </a:rPr>
              <a:t>Ошибка! </a:t>
            </a:r>
            <a:r>
              <a:rPr lang="en-US" altLang="ru-RU" sz="3600" b="1" dirty="0">
                <a:solidFill>
                  <a:srgbClr val="FF0000"/>
                </a:solidFill>
              </a:rPr>
              <a:t>Error!</a:t>
            </a:r>
            <a:endParaRPr lang="ru-RU" altLang="ru-RU" sz="3600" b="1" dirty="0">
              <a:solidFill>
                <a:srgbClr val="FF0000"/>
              </a:solidFill>
            </a:endParaRPr>
          </a:p>
        </p:txBody>
      </p:sp>
      <p:cxnSp>
        <p:nvCxnSpPr>
          <p:cNvPr id="22" name="Прямая со стрелкой 21"/>
          <p:cNvCxnSpPr/>
          <p:nvPr/>
        </p:nvCxnSpPr>
        <p:spPr bwMode="auto">
          <a:xfrm flipH="1">
            <a:off x="1188591" y="3542159"/>
            <a:ext cx="1295400" cy="28892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74473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Группа 33"/>
          <p:cNvGrpSpPr/>
          <p:nvPr/>
        </p:nvGrpSpPr>
        <p:grpSpPr>
          <a:xfrm>
            <a:off x="184081" y="-99392"/>
            <a:ext cx="8959919" cy="6952555"/>
            <a:chOff x="184081" y="-99392"/>
            <a:chExt cx="8959919" cy="6952555"/>
          </a:xfrm>
        </p:grpSpPr>
        <p:sp>
          <p:nvSpPr>
            <p:cNvPr id="2" name="Line 2"/>
            <p:cNvSpPr>
              <a:spLocks noChangeShapeType="1"/>
            </p:cNvSpPr>
            <p:nvPr/>
          </p:nvSpPr>
          <p:spPr bwMode="auto">
            <a:xfrm>
              <a:off x="376238" y="548680"/>
              <a:ext cx="8464550" cy="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u-RU" dirty="0"/>
            </a:p>
          </p:txBody>
        </p:sp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95288" y="-99392"/>
              <a:ext cx="8748712" cy="646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hangingPunct="0">
                <a:spcBef>
                  <a:spcPct val="50000"/>
                </a:spcBef>
                <a:buFontTx/>
                <a:buNone/>
              </a:pPr>
              <a:r>
                <a:rPr lang="ru-RU" altLang="ru-RU" sz="3600" b="1" dirty="0" smtClean="0">
                  <a:latin typeface="Arial" charset="0"/>
                </a:rPr>
                <a:t>Метод </a:t>
              </a:r>
              <a:r>
                <a:rPr lang="en-US" altLang="ru-RU" sz="3600" b="1" dirty="0" smtClean="0">
                  <a:latin typeface="Arial" charset="0"/>
                </a:rPr>
                <a:t>print </a:t>
              </a:r>
              <a:r>
                <a:rPr lang="ru-RU" altLang="ru-RU" sz="3600" b="1" dirty="0" smtClean="0">
                  <a:latin typeface="Arial" charset="0"/>
                </a:rPr>
                <a:t> вне класса  </a:t>
              </a:r>
              <a:r>
                <a:rPr lang="en-US" altLang="ru-RU" sz="3600" b="1" dirty="0" smtClean="0">
                  <a:latin typeface="Arial" charset="0"/>
                </a:rPr>
                <a:t>Point</a:t>
              </a:r>
              <a:endParaRPr lang="ru-RU" altLang="ru-RU" sz="3600" b="1" dirty="0">
                <a:latin typeface="Arial" charset="0"/>
              </a:endParaRPr>
            </a:p>
          </p:txBody>
        </p:sp>
        <p:sp>
          <p:nvSpPr>
            <p:cNvPr id="5" name="Прямоугольник 4"/>
            <p:cNvSpPr/>
            <p:nvPr/>
          </p:nvSpPr>
          <p:spPr>
            <a:xfrm>
              <a:off x="184081" y="620688"/>
              <a:ext cx="8959919" cy="6232475"/>
            </a:xfrm>
            <a:prstGeom prst="rect">
              <a:avLst/>
            </a:prstGeom>
            <a:solidFill>
              <a:srgbClr val="FFFF66"/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#include</a:t>
              </a:r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400" b="1" dirty="0" smtClean="0">
                  <a:solidFill>
                    <a:srgbClr val="A3151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</a:t>
              </a:r>
              <a:r>
                <a:rPr lang="en-US" sz="2400" b="1" dirty="0" err="1" smtClean="0">
                  <a:solidFill>
                    <a:srgbClr val="A3151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iostream</a:t>
              </a:r>
              <a:r>
                <a:rPr lang="en-US" sz="2400" b="1" dirty="0" smtClean="0">
                  <a:solidFill>
                    <a:srgbClr val="A3151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</a:p>
            <a:p>
              <a:pPr>
                <a:spcAft>
                  <a:spcPts val="600"/>
                </a:spcAft>
              </a:pPr>
              <a:r>
                <a:rPr lang="en-US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using</a:t>
              </a:r>
              <a:r>
                <a:rPr lang="en-US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namespace</a:t>
              </a:r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400" b="1" dirty="0" err="1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std</a:t>
              </a:r>
              <a:r>
                <a:rPr lang="en-US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</a:p>
            <a:p>
              <a:r>
                <a:rPr lang="en-US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class</a:t>
              </a:r>
              <a:r>
                <a:rPr lang="en-US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Point {  </a:t>
              </a:r>
            </a:p>
            <a:p>
              <a:r>
                <a:rPr lang="ru-RU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</a:t>
              </a:r>
              <a:r>
                <a:rPr lang="ru-RU" sz="2400" b="1" dirty="0" err="1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float</a:t>
              </a:r>
              <a:r>
                <a:rPr lang="ru-RU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x; </a:t>
              </a:r>
              <a:r>
                <a:rPr lang="ru-RU" sz="2000" b="1" dirty="0" smtClean="0">
                  <a:solidFill>
                    <a:srgbClr val="00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// координата по оси ОХ, поле данных </a:t>
              </a:r>
            </a:p>
            <a:p>
              <a:r>
                <a:rPr lang="ru-RU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</a:t>
              </a:r>
              <a:r>
                <a:rPr lang="ru-RU" sz="2400" b="1" dirty="0" err="1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float</a:t>
              </a:r>
              <a:r>
                <a:rPr lang="ru-RU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y; </a:t>
              </a:r>
              <a:r>
                <a:rPr lang="ru-RU" sz="2000" b="1" dirty="0" smtClean="0">
                  <a:solidFill>
                    <a:srgbClr val="00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// координата по оси ОY, поле данных</a:t>
              </a:r>
            </a:p>
            <a:p>
              <a:r>
                <a:rPr lang="en-US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public</a:t>
              </a:r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:	</a:t>
              </a:r>
            </a:p>
            <a:p>
              <a:r>
                <a:rPr lang="ru-RU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</a:t>
              </a:r>
              <a:r>
                <a:rPr lang="fr-FR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</a:t>
              </a:r>
              <a:r>
                <a:rPr lang="fr-FR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print(</a:t>
              </a:r>
              <a:r>
                <a:rPr lang="fr-FR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const</a:t>
              </a:r>
              <a:r>
                <a:rPr lang="fr-FR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fr-FR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n </a:t>
              </a:r>
              <a:r>
                <a:rPr lang="fr-FR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  <a:r>
                <a:rPr lang="fr-FR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const</a:t>
              </a:r>
              <a:r>
                <a:rPr lang="fr-FR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; </a:t>
              </a:r>
              <a:r>
                <a:rPr lang="fr-FR" sz="1600" b="1" dirty="0" smtClean="0">
                  <a:solidFill>
                    <a:srgbClr val="00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//метод print()</a:t>
              </a:r>
            </a:p>
            <a:p>
              <a:pPr>
                <a:spcAft>
                  <a:spcPts val="600"/>
                </a:spcAft>
              </a:pPr>
              <a:r>
                <a:rPr lang="ru-RU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};</a:t>
              </a:r>
              <a:endPara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fr-FR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</a:t>
              </a:r>
              <a:r>
                <a:rPr lang="fr-FR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Point::</a:t>
              </a:r>
              <a:r>
                <a:rPr lang="fr-FR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print(</a:t>
              </a:r>
              <a:r>
                <a:rPr lang="fr-FR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const</a:t>
              </a:r>
              <a:r>
                <a:rPr lang="fr-FR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fr-FR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fr-FR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n </a:t>
              </a:r>
              <a:r>
                <a:rPr lang="fr-FR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  <a:r>
                <a:rPr lang="fr-FR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const</a:t>
              </a:r>
              <a:r>
                <a:rPr lang="fr-FR" sz="16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{</a:t>
              </a:r>
              <a:r>
                <a:rPr lang="fr-FR" sz="1600" b="1" dirty="0" smtClean="0">
                  <a:solidFill>
                    <a:srgbClr val="00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//метод print()</a:t>
              </a:r>
            </a:p>
            <a:p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</a:t>
              </a:r>
              <a:r>
                <a:rPr lang="en-US" sz="2400" b="1" dirty="0" err="1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cout</a:t>
              </a:r>
              <a:r>
                <a:rPr lang="en-US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&lt;&lt;</a:t>
              </a:r>
              <a:r>
                <a:rPr lang="en-US" sz="2400" b="1" dirty="0" smtClean="0">
                  <a:solidFill>
                    <a:srgbClr val="A3151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"I'm point "</a:t>
              </a:r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&lt;&lt; n &lt;&lt; </a:t>
              </a:r>
              <a:r>
                <a:rPr lang="en-US" sz="2400" b="1" dirty="0" err="1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endl</a:t>
              </a:r>
              <a:r>
                <a:rPr lang="en-US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  <a:endParaRPr lang="es-E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spcAft>
                  <a:spcPts val="600"/>
                </a:spcAft>
              </a:pPr>
              <a:r>
                <a:rPr lang="ru-RU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 </a:t>
              </a:r>
              <a:endPara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2400" b="1" dirty="0" err="1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main() {</a:t>
              </a:r>
            </a:p>
            <a:p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Point </a:t>
              </a:r>
              <a:r>
                <a:rPr lang="en-US" sz="2400" b="1" dirty="0" err="1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firstPoint</a:t>
              </a:r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</a:p>
            <a:p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</a:t>
              </a:r>
              <a:r>
                <a:rPr lang="en-US" sz="2400" b="1" dirty="0" err="1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firstPoint.print</a:t>
              </a:r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(1);</a:t>
              </a:r>
            </a:p>
            <a:p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</a:t>
              </a:r>
              <a:r>
                <a:rPr lang="en-US" sz="2400" b="1" dirty="0" smtClean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return</a:t>
              </a:r>
              <a:r>
                <a:rPr lang="en-US" sz="2400" b="1" dirty="0" smtClean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0;</a:t>
              </a:r>
            </a:p>
            <a:p>
              <a:r>
                <a:rPr lang="ru-RU" sz="2400" b="1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  <a:endParaRPr lang="ru-RU" sz="24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20" name="Овал 19"/>
          <p:cNvSpPr/>
          <p:nvPr/>
        </p:nvSpPr>
        <p:spPr bwMode="auto">
          <a:xfrm>
            <a:off x="1114450" y="3542159"/>
            <a:ext cx="2376487" cy="7509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21" name="TextBox 3"/>
          <p:cNvSpPr txBox="1">
            <a:spLocks noChangeArrowheads="1"/>
          </p:cNvSpPr>
          <p:nvPr/>
        </p:nvSpPr>
        <p:spPr bwMode="auto">
          <a:xfrm>
            <a:off x="4571263" y="3140968"/>
            <a:ext cx="3961177" cy="646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3600" b="1" dirty="0" smtClean="0">
                <a:solidFill>
                  <a:srgbClr val="FF0000"/>
                </a:solidFill>
              </a:rPr>
              <a:t>Правильно! </a:t>
            </a:r>
            <a:endParaRPr lang="ru-RU" altLang="ru-RU" sz="3600" dirty="0">
              <a:solidFill>
                <a:srgbClr val="FFC000"/>
              </a:solidFill>
            </a:endParaRPr>
          </a:p>
        </p:txBody>
      </p:sp>
      <p:cxnSp>
        <p:nvCxnSpPr>
          <p:cNvPr id="22" name="Прямая со стрелкой 21"/>
          <p:cNvCxnSpPr/>
          <p:nvPr/>
        </p:nvCxnSpPr>
        <p:spPr bwMode="auto">
          <a:xfrm flipH="1">
            <a:off x="3347665" y="3398143"/>
            <a:ext cx="1295400" cy="28892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153275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700808"/>
            <a:ext cx="858926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Конструкторы это методы класса. Конструкторы записывают в поля начальные данные.</a:t>
            </a:r>
          </a:p>
          <a:p>
            <a:r>
              <a:rPr lang="ru-RU" altLang="ru-RU" sz="3200" b="1" dirty="0" smtClean="0"/>
              <a:t>Имя конструктора должно совпадать с именем класса. </a:t>
            </a: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395288" y="980207"/>
            <a:ext cx="8229600" cy="936625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3200" b="1" dirty="0" smtClean="0">
                <a:solidFill>
                  <a:schemeClr val="accent1">
                    <a:lumMod val="50000"/>
                  </a:schemeClr>
                </a:solidFill>
              </a:rPr>
              <a:t>Конструктор </a:t>
            </a:r>
            <a:r>
              <a:rPr lang="ru-RU" sz="3200" dirty="0" smtClean="0">
                <a:solidFill>
                  <a:schemeClr val="accent1">
                    <a:lumMod val="50000"/>
                  </a:schemeClr>
                </a:solidFill>
              </a:rPr>
              <a:t>(от слова </a:t>
            </a:r>
            <a:r>
              <a:rPr lang="ru-RU" sz="3200" dirty="0" err="1" smtClean="0">
                <a:solidFill>
                  <a:schemeClr val="accent1">
                    <a:lumMod val="50000"/>
                  </a:schemeClr>
                </a:solidFill>
              </a:rPr>
              <a:t>construct</a:t>
            </a:r>
            <a:r>
              <a:rPr lang="ru-RU" sz="3200" dirty="0" smtClean="0">
                <a:solidFill>
                  <a:schemeClr val="accent1">
                    <a:lumMod val="50000"/>
                  </a:schemeClr>
                </a:solidFill>
              </a:rPr>
              <a:t> — создавать)</a:t>
            </a:r>
            <a:endParaRPr lang="ru-RU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376238" y="83671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95288" y="46583"/>
            <a:ext cx="87487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Tx/>
              <a:buNone/>
            </a:pPr>
            <a:r>
              <a:rPr lang="ru-RU" altLang="ru-RU" sz="3600" b="1" dirty="0" smtClean="0">
                <a:latin typeface="Arial" charset="0"/>
              </a:rPr>
              <a:t>Конструкторы</a:t>
            </a:r>
            <a:endParaRPr lang="ru-RU" altLang="ru-RU" sz="3600" b="1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82431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376238" y="83671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95288" y="46583"/>
            <a:ext cx="874871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None/>
            </a:pPr>
            <a:r>
              <a:rPr lang="ru-RU" altLang="ru-RU" b="1" dirty="0" smtClean="0"/>
              <a:t>Имя конструктора совпадает с именем класса.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0" y="1190357"/>
            <a:ext cx="9143999" cy="5262979"/>
          </a:xfrm>
          <a:prstGeom prst="rect">
            <a:avLst/>
          </a:prstGeom>
          <a:solidFill>
            <a:srgbClr val="FFFF66"/>
          </a:solidFill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Point {  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 </a:t>
            </a:r>
            <a:endParaRPr lang="ru-RU" sz="24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y; </a:t>
            </a:r>
            <a:endParaRPr lang="ru-RU" sz="24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	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	</a:t>
            </a:r>
            <a:r>
              <a:rPr lang="ru-RU" sz="20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//конструктор по умолчанию, без параметра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pX,</a:t>
            </a:r>
            <a:r>
              <a:rPr lang="ru-RU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	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//конструктор с параметром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Point(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Point &amp;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pointCopy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	</a:t>
            </a:r>
            <a:r>
              <a:rPr lang="en-US" sz="16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</a:t>
            </a:r>
            <a:r>
              <a:rPr lang="ru-RU" sz="16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конструктор копирования</a:t>
            </a:r>
            <a:endParaRPr lang="fr-FR" sz="1600" b="1" dirty="0" smtClean="0">
              <a:solidFill>
                <a:srgbClr val="008000"/>
              </a:solidFill>
              <a:cs typeface="Courier New" panose="02070309020205020404" pitchFamily="49" charset="0"/>
            </a:endParaRP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ru-RU" sz="24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ru-RU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  <a:r>
              <a:rPr lang="ru-RU" sz="2200" b="1" dirty="0" smtClean="0">
                <a:cs typeface="Courier New" panose="02070309020205020404" pitchFamily="49" charset="0"/>
              </a:rPr>
              <a:t>()        </a:t>
            </a:r>
            <a:r>
              <a:rPr lang="ru-RU" sz="22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//конструктор по умолчанию, без параметра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:x(0)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,y(0)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flipH="1">
            <a:off x="2699792" y="1958553"/>
            <a:ext cx="608012" cy="7143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TextBox 27"/>
          <p:cNvSpPr txBox="1">
            <a:spLocks noChangeArrowheads="1"/>
          </p:cNvSpPr>
          <p:nvPr/>
        </p:nvSpPr>
        <p:spPr bwMode="auto">
          <a:xfrm>
            <a:off x="3312567" y="1772816"/>
            <a:ext cx="25923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800" b="1"/>
              <a:t>поля данных</a:t>
            </a:r>
          </a:p>
        </p:txBody>
      </p:sp>
      <p:sp>
        <p:nvSpPr>
          <p:cNvPr id="10" name="Овал 9"/>
          <p:cNvSpPr/>
          <p:nvPr/>
        </p:nvSpPr>
        <p:spPr bwMode="auto">
          <a:xfrm>
            <a:off x="1403648" y="4453806"/>
            <a:ext cx="1296144" cy="4873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2800" b="1"/>
          </a:p>
        </p:txBody>
      </p:sp>
      <p:cxnSp>
        <p:nvCxnSpPr>
          <p:cNvPr id="11" name="Прямая со стрелкой 10"/>
          <p:cNvCxnSpPr/>
          <p:nvPr/>
        </p:nvCxnSpPr>
        <p:spPr bwMode="auto">
          <a:xfrm flipH="1">
            <a:off x="2167769" y="4168751"/>
            <a:ext cx="820738" cy="2667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988192" y="3933056"/>
            <a:ext cx="38160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800" b="1"/>
              <a:t>Имя конструктора</a:t>
            </a:r>
          </a:p>
        </p:txBody>
      </p:sp>
      <p:sp>
        <p:nvSpPr>
          <p:cNvPr id="13" name="Овал 12"/>
          <p:cNvSpPr/>
          <p:nvPr/>
        </p:nvSpPr>
        <p:spPr bwMode="auto">
          <a:xfrm>
            <a:off x="1043608" y="1159099"/>
            <a:ext cx="1203705" cy="4873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2800" b="1"/>
          </a:p>
        </p:txBody>
      </p:sp>
      <p:cxnSp>
        <p:nvCxnSpPr>
          <p:cNvPr id="14" name="Прямая со стрелкой 13"/>
          <p:cNvCxnSpPr/>
          <p:nvPr/>
        </p:nvCxnSpPr>
        <p:spPr bwMode="auto">
          <a:xfrm flipH="1">
            <a:off x="2247313" y="1267049"/>
            <a:ext cx="882650" cy="1333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TextBox 20"/>
          <p:cNvSpPr txBox="1">
            <a:spLocks noChangeArrowheads="1"/>
          </p:cNvSpPr>
          <p:nvPr/>
        </p:nvSpPr>
        <p:spPr bwMode="auto">
          <a:xfrm>
            <a:off x="3129648" y="1052736"/>
            <a:ext cx="20904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800" b="1" dirty="0"/>
              <a:t>Имя класса</a:t>
            </a:r>
          </a:p>
        </p:txBody>
      </p:sp>
    </p:spTree>
    <p:extLst>
      <p:ext uri="{BB962C8B-B14F-4D97-AF65-F5344CB8AC3E}">
        <p14:creationId xmlns:p14="http://schemas.microsoft.com/office/powerpoint/2010/main" xmlns="" val="1243829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83671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46583"/>
            <a:ext cx="87487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Tx/>
              <a:buNone/>
            </a:pPr>
            <a:r>
              <a:rPr lang="ru-RU" altLang="ru-RU" sz="3600" b="1" dirty="0" smtClean="0">
                <a:latin typeface="Arial" charset="0"/>
              </a:rPr>
              <a:t>Конструктор без параметров</a:t>
            </a:r>
            <a:endParaRPr lang="ru-RU" altLang="ru-RU" sz="3600" b="1" dirty="0">
              <a:latin typeface="Arial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51520" y="1340768"/>
            <a:ext cx="8748712" cy="2554545"/>
          </a:xfrm>
          <a:prstGeom prst="rect">
            <a:avLst/>
          </a:prstGeom>
          <a:solidFill>
            <a:srgbClr val="FFFF66"/>
          </a:solidFill>
        </p:spPr>
        <p:txBody>
          <a:bodyPr wrap="square">
            <a:spAutoFit/>
          </a:bodyPr>
          <a:lstStyle/>
          <a:p>
            <a:r>
              <a:rPr lang="ru-RU" sz="32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  <a:r>
              <a:rPr lang="ru-RU" sz="3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ru-RU" sz="32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  <a:r>
              <a:rPr lang="ru-RU" sz="3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ru-RU" sz="20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//конструктор по умолчанию, без параметра</a:t>
            </a:r>
          </a:p>
          <a:p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:x(0)</a:t>
            </a:r>
          </a:p>
          <a:p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,y(0)</a:t>
            </a:r>
          </a:p>
          <a:p>
            <a:r>
              <a:rPr lang="ru-RU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ru-RU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616" y="4797152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 smtClean="0"/>
              <a:t>В поля </a:t>
            </a:r>
            <a:r>
              <a:rPr lang="en-US" sz="3600" b="1" dirty="0" smtClean="0"/>
              <a:t>X </a:t>
            </a:r>
            <a:r>
              <a:rPr lang="ru-RU" sz="3600" b="1" dirty="0" smtClean="0"/>
              <a:t> и </a:t>
            </a:r>
            <a:r>
              <a:rPr lang="en-US" sz="3600" b="1" dirty="0" smtClean="0"/>
              <a:t>Y</a:t>
            </a:r>
            <a:r>
              <a:rPr lang="ru-RU" sz="3600" b="1" dirty="0" smtClean="0"/>
              <a:t> присваиваются нули</a:t>
            </a: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xmlns="" val="3605399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83671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46583"/>
            <a:ext cx="87487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Tx/>
              <a:buNone/>
            </a:pPr>
            <a:r>
              <a:rPr lang="ru-RU" altLang="ru-RU" sz="3600" b="1" dirty="0" smtClean="0">
                <a:latin typeface="Arial" charset="0"/>
              </a:rPr>
              <a:t>Конструктор с параметрами</a:t>
            </a:r>
            <a:endParaRPr lang="ru-RU" altLang="ru-RU" sz="3600" b="1" dirty="0">
              <a:latin typeface="Arial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51520" y="1340768"/>
            <a:ext cx="8748712" cy="2554545"/>
          </a:xfrm>
          <a:prstGeom prst="rect">
            <a:avLst/>
          </a:prstGeom>
          <a:solidFill>
            <a:srgbClr val="FFFF66"/>
          </a:solidFill>
        </p:spPr>
        <p:txBody>
          <a:bodyPr wrap="square">
            <a:spAutoFit/>
          </a:bodyPr>
          <a:lstStyle/>
          <a:p>
            <a:r>
              <a:rPr lang="ru-RU" sz="32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  <a:r>
              <a:rPr lang="ru-RU" sz="3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ru-RU" sz="32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  <a:r>
              <a:rPr lang="ru-RU" sz="3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32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ru-RU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32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pX,</a:t>
            </a:r>
            <a:r>
              <a:rPr lang="ru-RU" sz="32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ru-RU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32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ru-RU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	</a:t>
            </a:r>
            <a:endParaRPr lang="ru-RU" sz="3200" b="1" dirty="0" smtClean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:x(</a:t>
            </a:r>
            <a:r>
              <a:rPr lang="en-US" sz="32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pX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,y(</a:t>
            </a:r>
            <a:r>
              <a:rPr lang="en-US" sz="32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ru-RU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ru-RU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616" y="4797152"/>
            <a:ext cx="72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/>
              <a:t>В поля </a:t>
            </a:r>
            <a:r>
              <a:rPr lang="en-US" sz="3600" b="1" dirty="0" smtClean="0"/>
              <a:t>X </a:t>
            </a:r>
            <a:r>
              <a:rPr lang="ru-RU" sz="3600" b="1" dirty="0" smtClean="0"/>
              <a:t> и </a:t>
            </a:r>
            <a:r>
              <a:rPr lang="en-US" sz="3600" b="1" dirty="0" smtClean="0"/>
              <a:t>Y</a:t>
            </a:r>
            <a:r>
              <a:rPr lang="ru-RU" sz="3600" b="1" dirty="0" smtClean="0"/>
              <a:t> присваиваются переданные числа</a:t>
            </a: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xmlns="" val="3518980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83671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46583"/>
            <a:ext cx="87487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Tx/>
              <a:buNone/>
            </a:pPr>
            <a:r>
              <a:rPr lang="ru-RU" altLang="ru-RU" sz="3600" b="1" dirty="0" smtClean="0">
                <a:latin typeface="Arial" charset="0"/>
              </a:rPr>
              <a:t>Конструктор с параметрами</a:t>
            </a:r>
            <a:endParaRPr lang="ru-RU" altLang="ru-RU" sz="3600" b="1" dirty="0">
              <a:latin typeface="Arial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51520" y="1340768"/>
            <a:ext cx="8748712" cy="3982629"/>
          </a:xfrm>
          <a:prstGeom prst="rect">
            <a:avLst/>
          </a:prstGeom>
          <a:solidFill>
            <a:srgbClr val="FFFF66"/>
          </a:solidFill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200" b="1" dirty="0" err="1">
                <a:latin typeface="Courier New"/>
                <a:ea typeface="Calibri"/>
                <a:cs typeface="Times New Roman"/>
              </a:rPr>
              <a:t>Massiv</a:t>
            </a:r>
            <a:r>
              <a:rPr lang="en-US" sz="3200" b="1" dirty="0">
                <a:latin typeface="Courier New"/>
                <a:ea typeface="Calibri"/>
                <a:cs typeface="Times New Roman"/>
              </a:rPr>
              <a:t>::</a:t>
            </a:r>
            <a:r>
              <a:rPr lang="en-US" sz="3200" b="1" dirty="0" err="1">
                <a:latin typeface="Courier New"/>
                <a:ea typeface="Calibri"/>
                <a:cs typeface="Times New Roman"/>
              </a:rPr>
              <a:t>Massiv</a:t>
            </a:r>
            <a:r>
              <a:rPr lang="en-US" sz="3200" b="1" dirty="0">
                <a:latin typeface="Courier New"/>
                <a:ea typeface="Calibri"/>
                <a:cs typeface="Times New Roman"/>
              </a:rPr>
              <a:t>(</a:t>
            </a:r>
            <a:r>
              <a:rPr lang="en-US" sz="3200" b="1" dirty="0" err="1">
                <a:solidFill>
                  <a:srgbClr val="0000FF"/>
                </a:solidFill>
                <a:latin typeface="Courier New"/>
                <a:ea typeface="Calibri"/>
                <a:cs typeface="Times New Roman"/>
              </a:rPr>
              <a:t>int</a:t>
            </a:r>
            <a:r>
              <a:rPr lang="en-US" sz="3200" b="1" dirty="0">
                <a:latin typeface="Courier New"/>
                <a:ea typeface="Calibri"/>
                <a:cs typeface="Times New Roman"/>
              </a:rPr>
              <a:t> n) {</a:t>
            </a:r>
            <a:endParaRPr lang="ru-RU" sz="24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200" b="1" dirty="0">
                <a:latin typeface="Courier New"/>
                <a:ea typeface="Calibri"/>
                <a:cs typeface="Times New Roman"/>
              </a:rPr>
              <a:t>	size = n; </a:t>
            </a:r>
            <a:endParaRPr lang="ru-RU" sz="24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200" b="1" dirty="0">
                <a:latin typeface="Courier New"/>
                <a:ea typeface="Calibri"/>
                <a:cs typeface="Times New Roman"/>
              </a:rPr>
              <a:t>	a = </a:t>
            </a:r>
            <a:r>
              <a:rPr lang="en-US" sz="3200" b="1" dirty="0">
                <a:solidFill>
                  <a:srgbClr val="0000FF"/>
                </a:solidFill>
                <a:latin typeface="Courier New"/>
                <a:ea typeface="Calibri"/>
                <a:cs typeface="Times New Roman"/>
              </a:rPr>
              <a:t>new</a:t>
            </a:r>
            <a:r>
              <a:rPr lang="en-US" sz="3200" b="1" dirty="0">
                <a:latin typeface="Courier New"/>
                <a:ea typeface="Calibri"/>
                <a:cs typeface="Times New Roman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latin typeface="Courier New"/>
                <a:ea typeface="Calibri"/>
                <a:cs typeface="Times New Roman"/>
              </a:rPr>
              <a:t>int</a:t>
            </a:r>
            <a:r>
              <a:rPr lang="en-US" sz="3200" b="1" dirty="0">
                <a:latin typeface="Courier New"/>
                <a:ea typeface="Calibri"/>
                <a:cs typeface="Times New Roman"/>
              </a:rPr>
              <a:t>[size];</a:t>
            </a:r>
            <a:endParaRPr lang="ru-RU" sz="24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200" b="1" dirty="0">
                <a:latin typeface="Courier New"/>
                <a:ea typeface="Calibri"/>
                <a:cs typeface="Times New Roman"/>
              </a:rPr>
              <a:t>	</a:t>
            </a:r>
            <a:r>
              <a:rPr lang="en-US" sz="3200" b="1" dirty="0">
                <a:solidFill>
                  <a:srgbClr val="0000FF"/>
                </a:solidFill>
                <a:latin typeface="Courier New"/>
                <a:ea typeface="Calibri"/>
                <a:cs typeface="Times New Roman"/>
              </a:rPr>
              <a:t>for</a:t>
            </a:r>
            <a:r>
              <a:rPr lang="en-US" sz="3200" b="1" dirty="0">
                <a:latin typeface="Courier New"/>
                <a:ea typeface="Calibri"/>
                <a:cs typeface="Times New Roman"/>
              </a:rPr>
              <a:t>(</a:t>
            </a:r>
            <a:r>
              <a:rPr lang="en-US" sz="3200" b="1" dirty="0" err="1">
                <a:solidFill>
                  <a:srgbClr val="0000FF"/>
                </a:solidFill>
                <a:latin typeface="Courier New"/>
                <a:ea typeface="Calibri"/>
                <a:cs typeface="Times New Roman"/>
              </a:rPr>
              <a:t>int</a:t>
            </a:r>
            <a:r>
              <a:rPr lang="en-US" sz="3200" b="1" dirty="0">
                <a:latin typeface="Courier New"/>
                <a:ea typeface="Calibri"/>
                <a:cs typeface="Times New Roman"/>
              </a:rPr>
              <a:t> </a:t>
            </a:r>
            <a:r>
              <a:rPr lang="en-US" sz="3200" b="1" dirty="0" err="1">
                <a:latin typeface="Courier New"/>
                <a:ea typeface="Calibri"/>
                <a:cs typeface="Times New Roman"/>
              </a:rPr>
              <a:t>i</a:t>
            </a:r>
            <a:r>
              <a:rPr lang="en-US" sz="3200" b="1" dirty="0">
                <a:latin typeface="Courier New"/>
                <a:ea typeface="Calibri"/>
                <a:cs typeface="Times New Roman"/>
              </a:rPr>
              <a:t> = 0; </a:t>
            </a:r>
            <a:r>
              <a:rPr lang="en-US" sz="3200" b="1" dirty="0" err="1">
                <a:latin typeface="Courier New"/>
                <a:ea typeface="Calibri"/>
                <a:cs typeface="Times New Roman"/>
              </a:rPr>
              <a:t>i</a:t>
            </a:r>
            <a:r>
              <a:rPr lang="en-US" sz="3200" b="1" dirty="0">
                <a:latin typeface="Courier New"/>
                <a:ea typeface="Calibri"/>
                <a:cs typeface="Times New Roman"/>
              </a:rPr>
              <a:t> &lt; size; </a:t>
            </a:r>
            <a:r>
              <a:rPr lang="en-US" sz="3200" b="1" dirty="0" err="1">
                <a:latin typeface="Courier New"/>
                <a:ea typeface="Calibri"/>
                <a:cs typeface="Times New Roman"/>
              </a:rPr>
              <a:t>i</a:t>
            </a:r>
            <a:r>
              <a:rPr lang="en-US" sz="3200" b="1" dirty="0">
                <a:latin typeface="Courier New"/>
                <a:ea typeface="Calibri"/>
                <a:cs typeface="Times New Roman"/>
              </a:rPr>
              <a:t>++) { </a:t>
            </a:r>
            <a:endParaRPr lang="ru-RU" sz="24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200" b="1" dirty="0">
                <a:latin typeface="Courier New"/>
                <a:ea typeface="Calibri"/>
                <a:cs typeface="Times New Roman"/>
              </a:rPr>
              <a:t>		a[</a:t>
            </a:r>
            <a:r>
              <a:rPr lang="en-US" sz="3200" b="1" dirty="0" err="1">
                <a:latin typeface="Courier New"/>
                <a:ea typeface="Calibri"/>
                <a:cs typeface="Times New Roman"/>
              </a:rPr>
              <a:t>i</a:t>
            </a:r>
            <a:r>
              <a:rPr lang="en-US" sz="3200" b="1" dirty="0">
                <a:latin typeface="Courier New"/>
                <a:ea typeface="Calibri"/>
                <a:cs typeface="Times New Roman"/>
              </a:rPr>
              <a:t>] = 0;</a:t>
            </a:r>
            <a:endParaRPr lang="ru-RU" sz="24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200" b="1" dirty="0">
                <a:latin typeface="Courier New"/>
                <a:ea typeface="Calibri"/>
                <a:cs typeface="Times New Roman"/>
              </a:rPr>
              <a:t>	}</a:t>
            </a:r>
            <a:endParaRPr lang="ru-RU" sz="2400" b="1" dirty="0">
              <a:ea typeface="Calibri"/>
              <a:cs typeface="Times New Roman"/>
            </a:endParaRPr>
          </a:p>
          <a:p>
            <a:r>
              <a:rPr lang="en-US" sz="3200" b="1" dirty="0">
                <a:latin typeface="Courier New"/>
                <a:ea typeface="Calibri"/>
              </a:rPr>
              <a:t>}</a:t>
            </a:r>
            <a:endParaRPr lang="ru-RU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06975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692696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46583"/>
            <a:ext cx="87487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Tx/>
              <a:buNone/>
            </a:pPr>
            <a:r>
              <a:rPr lang="ru-RU" altLang="ru-RU" sz="3600" b="1" dirty="0" smtClean="0">
                <a:latin typeface="Arial" charset="0"/>
              </a:rPr>
              <a:t>Конструктор копирования</a:t>
            </a:r>
            <a:endParaRPr lang="ru-RU" altLang="ru-RU" sz="3600" b="1" dirty="0">
              <a:latin typeface="Arial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51520" y="1542271"/>
            <a:ext cx="8748712" cy="2246769"/>
          </a:xfrm>
          <a:prstGeom prst="rect">
            <a:avLst/>
          </a:prstGeom>
          <a:solidFill>
            <a:srgbClr val="FFFF66"/>
          </a:solidFill>
        </p:spPr>
        <p:txBody>
          <a:bodyPr wrap="square">
            <a:spAutoFit/>
          </a:bodyPr>
          <a:lstStyle/>
          <a:p>
            <a:r>
              <a:rPr lang="fr-FR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Point::Point(</a:t>
            </a:r>
            <a:r>
              <a:rPr lang="fr-FR" sz="28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fr-FR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Point &amp;pointCopy)	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x(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pointCopy.x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y(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pointCopy.y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8112" y="5157192"/>
            <a:ext cx="72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/>
              <a:t>В поля </a:t>
            </a:r>
            <a:r>
              <a:rPr lang="en-US" sz="3600" b="1" dirty="0" smtClean="0"/>
              <a:t>X </a:t>
            </a:r>
            <a:r>
              <a:rPr lang="ru-RU" sz="3600" b="1" dirty="0" smtClean="0"/>
              <a:t> и </a:t>
            </a:r>
            <a:r>
              <a:rPr lang="en-US" sz="3600" b="1" dirty="0" smtClean="0"/>
              <a:t>Y</a:t>
            </a:r>
            <a:r>
              <a:rPr lang="ru-RU" sz="3600" b="1" dirty="0" smtClean="0"/>
              <a:t> присваивается копия переданного объекта</a:t>
            </a:r>
            <a:endParaRPr lang="ru-RU" sz="3600" b="1" dirty="0"/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3851920" y="764704"/>
            <a:ext cx="51897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dirty="0" smtClean="0"/>
              <a:t>Параметр </a:t>
            </a:r>
            <a:r>
              <a:rPr lang="ru-RU" altLang="ru-RU" sz="2400" dirty="0"/>
              <a:t>экземпляра (объект) класса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5076056" y="1156493"/>
            <a:ext cx="1512168" cy="54431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flipV="1">
            <a:off x="2843808" y="1916833"/>
            <a:ext cx="2880320" cy="208823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TextBox 15"/>
          <p:cNvSpPr txBox="1">
            <a:spLocks noChangeArrowheads="1"/>
          </p:cNvSpPr>
          <p:nvPr/>
        </p:nvSpPr>
        <p:spPr bwMode="auto">
          <a:xfrm>
            <a:off x="755650" y="4005064"/>
            <a:ext cx="7705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dirty="0"/>
              <a:t>Ссылка на объект. </a:t>
            </a:r>
            <a:r>
              <a:rPr lang="ru-RU" altLang="ru-RU" sz="2400" b="1" dirty="0"/>
              <a:t>Можно</a:t>
            </a:r>
            <a:r>
              <a:rPr lang="ru-RU" altLang="ru-RU" sz="2400" dirty="0"/>
              <a:t> обращаться к полям класса</a:t>
            </a:r>
          </a:p>
        </p:txBody>
      </p:sp>
    </p:spTree>
    <p:extLst>
      <p:ext uri="{BB962C8B-B14F-4D97-AF65-F5344CB8AC3E}">
        <p14:creationId xmlns:p14="http://schemas.microsoft.com/office/powerpoint/2010/main" xmlns="" val="3660764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83671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46583"/>
            <a:ext cx="87487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Tx/>
              <a:buNone/>
            </a:pPr>
            <a:r>
              <a:rPr lang="ru-RU" altLang="ru-RU" sz="3600" b="1" dirty="0" smtClean="0">
                <a:latin typeface="Arial" charset="0"/>
              </a:rPr>
              <a:t>Конструктор копирования</a:t>
            </a:r>
            <a:endParaRPr lang="ru-RU" altLang="ru-RU" sz="3600" b="1" dirty="0">
              <a:latin typeface="Arial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519906" y="1124744"/>
            <a:ext cx="8177213" cy="4830762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800" dirty="0">
                <a:latin typeface="+mn-lt"/>
                <a:cs typeface="+mn-cs"/>
              </a:rPr>
              <a:t>Конструктор копирования нужен для создания копии экземпляра (объекта) класса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800" dirty="0">
                <a:latin typeface="+mn-lt"/>
                <a:cs typeface="+mn-cs"/>
              </a:rPr>
              <a:t>Случаи создания копии: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800" dirty="0">
                <a:latin typeface="+mn-lt"/>
                <a:cs typeface="+mn-cs"/>
              </a:rPr>
              <a:t>когда мы передаем объект методу в виде параметра;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800" dirty="0">
                <a:latin typeface="+mn-lt"/>
                <a:cs typeface="+mn-cs"/>
              </a:rPr>
              <a:t>когда метод должен вернуть экземпляр (объект) класса в результате своей работы;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800" dirty="0">
                <a:latin typeface="+mn-lt"/>
                <a:cs typeface="+mn-cs"/>
              </a:rPr>
              <a:t>когда мы в главной функции </a:t>
            </a:r>
            <a:r>
              <a:rPr lang="en-US" sz="2800" dirty="0">
                <a:latin typeface="+mn-lt"/>
                <a:cs typeface="+mn-cs"/>
              </a:rPr>
              <a:t>main()</a:t>
            </a:r>
            <a:r>
              <a:rPr lang="ru-RU" sz="2800" dirty="0">
                <a:latin typeface="+mn-lt"/>
                <a:cs typeface="+mn-cs"/>
              </a:rPr>
              <a:t> один объект класса инициализируем другим объектом класса.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2800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34222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83671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46583"/>
            <a:ext cx="87487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3600" b="1" dirty="0">
                <a:solidFill>
                  <a:srgbClr val="FF0000"/>
                </a:solidFill>
              </a:rPr>
              <a:t>Важно запомнить: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298" y="980728"/>
            <a:ext cx="8208963" cy="517064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3000" dirty="0" smtClean="0">
                <a:latin typeface="+mn-lt"/>
                <a:cs typeface="+mn-cs"/>
              </a:rPr>
              <a:t>конструктор </a:t>
            </a:r>
            <a:r>
              <a:rPr lang="ru-RU" sz="3000" b="1" dirty="0" smtClean="0">
                <a:latin typeface="+mn-lt"/>
                <a:cs typeface="+mn-cs"/>
              </a:rPr>
              <a:t>всегда</a:t>
            </a:r>
            <a:r>
              <a:rPr lang="ru-RU" sz="3000" dirty="0" smtClean="0">
                <a:latin typeface="+mn-lt"/>
                <a:cs typeface="+mn-cs"/>
              </a:rPr>
              <a:t> </a:t>
            </a:r>
            <a:r>
              <a:rPr lang="ru-RU" sz="3000" dirty="0">
                <a:latin typeface="+mn-lt"/>
                <a:cs typeface="+mn-cs"/>
              </a:rPr>
              <a:t>объявляем в разделе </a:t>
            </a:r>
            <a:r>
              <a:rPr lang="ru-RU" sz="3000" b="1" dirty="0" err="1">
                <a:latin typeface="+mn-lt"/>
                <a:cs typeface="+mn-cs"/>
              </a:rPr>
              <a:t>public</a:t>
            </a:r>
            <a:r>
              <a:rPr lang="ru-RU" sz="3000" dirty="0">
                <a:latin typeface="+mn-lt"/>
                <a:cs typeface="+mn-cs"/>
              </a:rPr>
              <a:t>;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3000" dirty="0" smtClean="0"/>
              <a:t>у </a:t>
            </a:r>
            <a:r>
              <a:rPr lang="ru-RU" sz="3000" dirty="0" smtClean="0">
                <a:latin typeface="+mn-lt"/>
                <a:cs typeface="+mn-cs"/>
              </a:rPr>
              <a:t>конструктора нет  типа, даже— </a:t>
            </a:r>
            <a:r>
              <a:rPr lang="ru-RU" sz="3000" b="1" dirty="0" err="1">
                <a:latin typeface="+mn-lt"/>
                <a:cs typeface="+mn-cs"/>
              </a:rPr>
              <a:t>void</a:t>
            </a:r>
            <a:r>
              <a:rPr lang="ru-RU" sz="3000" dirty="0">
                <a:latin typeface="+mn-lt"/>
                <a:cs typeface="+mn-cs"/>
              </a:rPr>
              <a:t>!!!;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3000" b="1" dirty="0">
                <a:latin typeface="+mn-lt"/>
                <a:cs typeface="+mn-cs"/>
              </a:rPr>
              <a:t>имя класса </a:t>
            </a:r>
            <a:r>
              <a:rPr lang="ru-RU" sz="3000" dirty="0">
                <a:latin typeface="+mn-lt"/>
                <a:cs typeface="+mn-cs"/>
              </a:rPr>
              <a:t>и </a:t>
            </a:r>
            <a:r>
              <a:rPr lang="ru-RU" sz="3000" b="1" dirty="0" smtClean="0">
                <a:latin typeface="+mn-lt"/>
                <a:cs typeface="+mn-cs"/>
              </a:rPr>
              <a:t>имя конструктора - </a:t>
            </a:r>
            <a:r>
              <a:rPr lang="ru-RU" sz="3000" dirty="0" smtClean="0">
                <a:latin typeface="+mn-lt"/>
                <a:cs typeface="+mn-cs"/>
              </a:rPr>
              <a:t>одинаковые;</a:t>
            </a:r>
            <a:endParaRPr lang="ru-RU" sz="3000" dirty="0">
              <a:latin typeface="+mn-lt"/>
              <a:cs typeface="+mn-cs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3000" dirty="0" smtClean="0"/>
              <a:t>Если </a:t>
            </a:r>
            <a:r>
              <a:rPr lang="ru-RU" sz="3000" dirty="0"/>
              <a:t>это </a:t>
            </a:r>
            <a:r>
              <a:rPr lang="ru-RU" sz="3000" dirty="0" smtClean="0"/>
              <a:t>нужно, то в</a:t>
            </a:r>
            <a:r>
              <a:rPr lang="ru-RU" sz="3000" dirty="0" smtClean="0">
                <a:latin typeface="+mn-lt"/>
                <a:cs typeface="+mn-cs"/>
              </a:rPr>
              <a:t> </a:t>
            </a:r>
            <a:r>
              <a:rPr lang="ru-RU" sz="3000" dirty="0">
                <a:latin typeface="+mn-lt"/>
                <a:cs typeface="+mn-cs"/>
              </a:rPr>
              <a:t>классе можно создавать </a:t>
            </a:r>
            <a:r>
              <a:rPr lang="ru-RU" sz="3000" b="1" dirty="0">
                <a:latin typeface="+mn-lt"/>
                <a:cs typeface="+mn-cs"/>
              </a:rPr>
              <a:t>несколько </a:t>
            </a:r>
            <a:r>
              <a:rPr lang="ru-RU" sz="3000" dirty="0" smtClean="0">
                <a:latin typeface="+mn-lt"/>
                <a:cs typeface="+mn-cs"/>
              </a:rPr>
              <a:t>конструкторов. </a:t>
            </a:r>
            <a:r>
              <a:rPr lang="ru-RU" sz="3000" b="1" dirty="0">
                <a:latin typeface="+mn-lt"/>
                <a:cs typeface="+mn-cs"/>
              </a:rPr>
              <a:t>Имена</a:t>
            </a:r>
            <a:r>
              <a:rPr lang="ru-RU" sz="3000" dirty="0">
                <a:latin typeface="+mn-lt"/>
                <a:cs typeface="+mn-cs"/>
              </a:rPr>
              <a:t> </a:t>
            </a:r>
            <a:r>
              <a:rPr lang="ru-RU" sz="3000" dirty="0" smtClean="0">
                <a:latin typeface="+mn-lt"/>
                <a:cs typeface="+mn-cs"/>
              </a:rPr>
              <a:t>конструкторов будут </a:t>
            </a:r>
            <a:r>
              <a:rPr lang="ru-RU" sz="3000" b="1" dirty="0">
                <a:latin typeface="+mn-lt"/>
                <a:cs typeface="+mn-cs"/>
              </a:rPr>
              <a:t>одинаковыми</a:t>
            </a:r>
            <a:r>
              <a:rPr lang="ru-RU" sz="3000" dirty="0">
                <a:latin typeface="+mn-lt"/>
                <a:cs typeface="+mn-cs"/>
              </a:rPr>
              <a:t>.  Различаются </a:t>
            </a:r>
            <a:r>
              <a:rPr lang="ru-RU" sz="3000" dirty="0" smtClean="0">
                <a:latin typeface="+mn-lt"/>
                <a:cs typeface="+mn-cs"/>
              </a:rPr>
              <a:t>конструкторы </a:t>
            </a:r>
            <a:r>
              <a:rPr lang="ru-RU" sz="3000" b="1" dirty="0" smtClean="0">
                <a:latin typeface="+mn-lt"/>
                <a:cs typeface="+mn-cs"/>
              </a:rPr>
              <a:t>по</a:t>
            </a:r>
            <a:r>
              <a:rPr lang="ru-RU" sz="3000" dirty="0" smtClean="0">
                <a:latin typeface="+mn-lt"/>
                <a:cs typeface="+mn-cs"/>
              </a:rPr>
              <a:t> </a:t>
            </a:r>
            <a:r>
              <a:rPr lang="ru-RU" sz="3000" dirty="0">
                <a:latin typeface="+mn-lt"/>
                <a:cs typeface="+mn-cs"/>
              </a:rPr>
              <a:t>передаваемым </a:t>
            </a:r>
            <a:r>
              <a:rPr lang="ru-RU" sz="3000" b="1" dirty="0">
                <a:latin typeface="+mn-lt"/>
                <a:cs typeface="+mn-cs"/>
              </a:rPr>
              <a:t>параметрам</a:t>
            </a:r>
            <a:r>
              <a:rPr lang="ru-RU" sz="3000" dirty="0">
                <a:latin typeface="+mn-lt"/>
                <a:cs typeface="+mn-cs"/>
              </a:rPr>
              <a:t> . Если </a:t>
            </a:r>
            <a:r>
              <a:rPr lang="ru-RU" sz="3000" b="1" dirty="0">
                <a:latin typeface="+mn-lt"/>
                <a:cs typeface="+mn-cs"/>
              </a:rPr>
              <a:t>параметры не передаем </a:t>
            </a:r>
            <a:r>
              <a:rPr lang="ru-RU" sz="3000" dirty="0">
                <a:latin typeface="+mn-lt"/>
                <a:cs typeface="+mn-cs"/>
              </a:rPr>
              <a:t>в конструктор, то </a:t>
            </a:r>
            <a:r>
              <a:rPr lang="ru-RU" sz="3000" b="1" dirty="0">
                <a:latin typeface="+mn-lt"/>
                <a:cs typeface="+mn-cs"/>
              </a:rPr>
              <a:t>конструктор по </a:t>
            </a:r>
            <a:r>
              <a:rPr lang="ru-RU" sz="3000" b="1" dirty="0" smtClean="0">
                <a:latin typeface="+mn-lt"/>
                <a:cs typeface="+mn-cs"/>
              </a:rPr>
              <a:t>умолчанию без параметров</a:t>
            </a:r>
            <a:r>
              <a:rPr lang="ru-RU" sz="3000" dirty="0" smtClean="0">
                <a:latin typeface="+mn-lt"/>
                <a:cs typeface="+mn-cs"/>
              </a:rPr>
              <a:t>;</a:t>
            </a:r>
            <a:endParaRPr lang="ru-RU" sz="3000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02931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288" y="1064784"/>
            <a:ext cx="80645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2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Деструктор (от слова </a:t>
            </a:r>
            <a:r>
              <a:rPr lang="ru-RU" sz="3200" b="1" dirty="0" err="1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destruct</a:t>
            </a:r>
            <a:r>
              <a:rPr lang="ru-RU" sz="32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 — разрушать)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169552" y="1700808"/>
            <a:ext cx="8642350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3600" b="1" dirty="0"/>
              <a:t>Деструктор</a:t>
            </a:r>
            <a:r>
              <a:rPr lang="ru-RU" altLang="ru-RU" sz="3600" dirty="0"/>
              <a:t> </a:t>
            </a:r>
            <a:r>
              <a:rPr lang="ru-RU" altLang="ru-RU" sz="3600" dirty="0" smtClean="0"/>
              <a:t>— это </a:t>
            </a:r>
            <a:r>
              <a:rPr lang="ru-RU" altLang="ru-RU" sz="3600" b="1" dirty="0"/>
              <a:t>метод </a:t>
            </a:r>
            <a:r>
              <a:rPr lang="ru-RU" altLang="ru-RU" sz="3600" dirty="0"/>
              <a:t>класса, который </a:t>
            </a:r>
            <a:r>
              <a:rPr lang="ru-RU" altLang="ru-RU" sz="3600" b="1" dirty="0"/>
              <a:t>уничтожает элементы </a:t>
            </a:r>
            <a:r>
              <a:rPr lang="ru-RU" altLang="ru-RU" sz="3600" b="1" dirty="0" smtClean="0"/>
              <a:t>класса в конце работы программы</a:t>
            </a:r>
            <a:r>
              <a:rPr lang="ru-RU" altLang="ru-RU" sz="3600" dirty="0" smtClean="0"/>
              <a:t>. </a:t>
            </a:r>
            <a:endParaRPr lang="ru-RU" altLang="ru-RU" sz="36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3600" dirty="0"/>
              <a:t>Если</a:t>
            </a:r>
            <a:r>
              <a:rPr lang="ru-RU" altLang="ru-RU" sz="3600" b="1" dirty="0"/>
              <a:t> в конструкторе</a:t>
            </a:r>
            <a:r>
              <a:rPr lang="ru-RU" altLang="ru-RU" sz="3600" dirty="0"/>
              <a:t> при создании объекта </a:t>
            </a:r>
            <a:r>
              <a:rPr lang="ru-RU" altLang="ru-RU" sz="3600" dirty="0" smtClean="0"/>
              <a:t>была </a:t>
            </a:r>
            <a:r>
              <a:rPr lang="ru-RU" altLang="ru-RU" sz="3600" b="1" dirty="0"/>
              <a:t>динамически</a:t>
            </a:r>
            <a:r>
              <a:rPr lang="ru-RU" altLang="ru-RU" sz="3600" dirty="0"/>
              <a:t> </a:t>
            </a:r>
            <a:r>
              <a:rPr lang="ru-RU" altLang="ru-RU" sz="3600" b="1" dirty="0" smtClean="0"/>
              <a:t>выделена память </a:t>
            </a:r>
            <a:r>
              <a:rPr lang="ru-RU" altLang="ru-RU" sz="3600" dirty="0"/>
              <a:t>(функцией </a:t>
            </a:r>
            <a:r>
              <a:rPr lang="en-US" altLang="ru-RU" sz="3600" b="1" dirty="0"/>
              <a:t>new</a:t>
            </a:r>
            <a:r>
              <a:rPr lang="en-US" altLang="ru-RU" sz="3600" dirty="0"/>
              <a:t>)</a:t>
            </a:r>
            <a:r>
              <a:rPr lang="ru-RU" altLang="ru-RU" sz="3600" dirty="0"/>
              <a:t>, то</a:t>
            </a:r>
            <a:r>
              <a:rPr lang="ru-RU" altLang="ru-RU" sz="3600" b="1" dirty="0"/>
              <a:t> </a:t>
            </a:r>
            <a:r>
              <a:rPr lang="ru-RU" altLang="ru-RU" sz="3600" dirty="0" smtClean="0"/>
              <a:t>в конке программы память нужно очистить. Для этого нужен метод  </a:t>
            </a:r>
            <a:r>
              <a:rPr lang="ru-RU" altLang="ru-RU" sz="3600" b="1" dirty="0"/>
              <a:t>деструктор</a:t>
            </a:r>
            <a:r>
              <a:rPr lang="en-US" altLang="ru-RU" sz="3600" b="1" dirty="0"/>
              <a:t> </a:t>
            </a:r>
            <a:r>
              <a:rPr lang="en-US" altLang="ru-RU" sz="3600" b="1" dirty="0" smtClean="0"/>
              <a:t>(</a:t>
            </a:r>
            <a:r>
              <a:rPr lang="ru-RU" altLang="ru-RU" sz="3600" dirty="0" smtClean="0"/>
              <a:t>в деструкторе функция</a:t>
            </a:r>
            <a:r>
              <a:rPr lang="ru-RU" altLang="ru-RU" sz="3600" b="1" dirty="0" smtClean="0"/>
              <a:t> </a:t>
            </a:r>
            <a:r>
              <a:rPr lang="en-US" altLang="ru-RU" sz="3600" b="1" dirty="0"/>
              <a:t>delete)</a:t>
            </a:r>
            <a:r>
              <a:rPr lang="ru-RU" altLang="ru-RU" sz="3600" dirty="0"/>
              <a:t>.  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76238" y="83671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 dirty="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95288" y="46583"/>
            <a:ext cx="87487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Tx/>
              <a:buNone/>
            </a:pPr>
            <a:r>
              <a:rPr lang="ru-RU" altLang="ru-RU" sz="3600" b="1" dirty="0" smtClean="0">
                <a:latin typeface="Arial" charset="0"/>
              </a:rPr>
              <a:t>Деструктор</a:t>
            </a:r>
            <a:endParaRPr lang="ru-RU" altLang="ru-RU" sz="3600" b="1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49561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83671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46583"/>
            <a:ext cx="87487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Tx/>
              <a:buNone/>
            </a:pPr>
            <a:r>
              <a:rPr lang="ru-RU" altLang="ru-RU" sz="3600" b="1" dirty="0" smtClean="0">
                <a:latin typeface="Arial" charset="0"/>
              </a:rPr>
              <a:t>Деструктор</a:t>
            </a:r>
            <a:endParaRPr lang="ru-RU" altLang="ru-RU" sz="3600" b="1" dirty="0">
              <a:latin typeface="Arial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87567" y="1963668"/>
            <a:ext cx="8840788" cy="1292662"/>
          </a:xfrm>
          <a:prstGeom prst="rect">
            <a:avLst/>
          </a:prstGeom>
          <a:solidFill>
            <a:srgbClr val="FFFF66"/>
          </a:solidFill>
        </p:spPr>
        <p:txBody>
          <a:bodyPr wrap="square">
            <a:spAutoFit/>
          </a:bodyPr>
          <a:lstStyle/>
          <a:p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Point::~Point() {</a:t>
            </a:r>
            <a:r>
              <a:rPr lang="en-US" sz="26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sz="26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деструктор </a:t>
            </a:r>
          </a:p>
          <a:p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6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6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"This is destructor!"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7962" y="3619484"/>
            <a:ext cx="77241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Пример деструктора класса </a:t>
            </a:r>
            <a:r>
              <a:rPr lang="en-US" sz="3200" b="1" dirty="0" err="1" smtClean="0"/>
              <a:t>Massiv</a:t>
            </a:r>
            <a:endParaRPr lang="ru-RU" sz="3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87567" y="1052736"/>
            <a:ext cx="77241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Пример деструктора класса </a:t>
            </a:r>
            <a:r>
              <a:rPr lang="en-US" sz="3200" b="1" dirty="0" smtClean="0"/>
              <a:t>Point</a:t>
            </a:r>
            <a:endParaRPr lang="ru-RU" sz="3200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07504" y="4463495"/>
            <a:ext cx="8948843" cy="1917833"/>
          </a:xfrm>
          <a:prstGeom prst="rect">
            <a:avLst/>
          </a:prstGeom>
          <a:solidFill>
            <a:srgbClr val="FFFF66"/>
          </a:solidFill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600" b="1" dirty="0" err="1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Massiv</a:t>
            </a:r>
            <a:r>
              <a:rPr lang="en-US" sz="26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::~</a:t>
            </a:r>
            <a:r>
              <a:rPr lang="en-US" sz="2600" b="1" dirty="0" err="1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Massiv</a:t>
            </a:r>
            <a:r>
              <a:rPr lang="en-US" sz="26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() {</a:t>
            </a:r>
            <a:endParaRPr lang="ru-RU" sz="26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6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	</a:t>
            </a:r>
            <a:r>
              <a:rPr lang="en-US" sz="2600" b="1" dirty="0">
                <a:solidFill>
                  <a:srgbClr val="0000F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delete</a:t>
            </a:r>
            <a:r>
              <a:rPr lang="en-US" sz="26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[] a;</a:t>
            </a:r>
            <a:endParaRPr lang="ru-RU" sz="26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6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	</a:t>
            </a:r>
            <a:r>
              <a:rPr lang="en-US" sz="2600" b="1" dirty="0" err="1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cout</a:t>
            </a:r>
            <a:r>
              <a:rPr lang="en-US" sz="26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&lt;&lt; </a:t>
            </a:r>
            <a:r>
              <a:rPr lang="en-US" sz="2600" b="1" dirty="0">
                <a:solidFill>
                  <a:srgbClr val="A31515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"This is destructor</a:t>
            </a:r>
            <a:r>
              <a:rPr lang="en-US" sz="2600" b="1" dirty="0" smtClean="0">
                <a:solidFill>
                  <a:srgbClr val="A31515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!" </a:t>
            </a:r>
            <a:r>
              <a:rPr lang="en-US" sz="2600" b="1" dirty="0" smtClean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&lt;&lt; </a:t>
            </a:r>
            <a:r>
              <a:rPr lang="en-US" sz="2600" b="1" dirty="0" err="1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endl</a:t>
            </a:r>
            <a:r>
              <a:rPr lang="en-US" sz="26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;</a:t>
            </a:r>
            <a:endParaRPr lang="ru-RU" sz="26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6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}</a:t>
            </a:r>
            <a:endParaRPr lang="ru-RU" sz="26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2848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83671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46583"/>
            <a:ext cx="87487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3600" b="1" dirty="0">
                <a:solidFill>
                  <a:srgbClr val="FF0000"/>
                </a:solidFill>
              </a:rPr>
              <a:t>Важно запомнить: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7439" y="1052736"/>
            <a:ext cx="7777163" cy="424731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3000" b="1" dirty="0"/>
              <a:t>Д</a:t>
            </a:r>
            <a:r>
              <a:rPr lang="ru-RU" sz="3000" b="1" dirty="0" smtClean="0">
                <a:latin typeface="+mn-lt"/>
                <a:cs typeface="+mn-cs"/>
              </a:rPr>
              <a:t>еструктор</a:t>
            </a:r>
            <a:r>
              <a:rPr lang="ru-RU" sz="3000" dirty="0" smtClean="0">
                <a:latin typeface="+mn-lt"/>
                <a:cs typeface="+mn-cs"/>
              </a:rPr>
              <a:t>  </a:t>
            </a:r>
            <a:r>
              <a:rPr lang="ru-RU" sz="3000" dirty="0">
                <a:latin typeface="+mn-lt"/>
                <a:cs typeface="+mn-cs"/>
              </a:rPr>
              <a:t>объявляем в разделе </a:t>
            </a:r>
            <a:r>
              <a:rPr lang="ru-RU" sz="3000" b="1" dirty="0" err="1">
                <a:latin typeface="+mn-lt"/>
                <a:cs typeface="+mn-cs"/>
              </a:rPr>
              <a:t>public</a:t>
            </a:r>
            <a:r>
              <a:rPr lang="ru-RU" sz="3000" dirty="0">
                <a:latin typeface="+mn-lt"/>
                <a:cs typeface="+mn-cs"/>
              </a:rPr>
              <a:t>;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3000" b="1" dirty="0" smtClean="0">
                <a:latin typeface="+mn-lt"/>
                <a:cs typeface="+mn-cs"/>
              </a:rPr>
              <a:t>У</a:t>
            </a:r>
            <a:r>
              <a:rPr lang="ru-RU" sz="3000" dirty="0" smtClean="0">
                <a:latin typeface="+mn-lt"/>
                <a:cs typeface="+mn-cs"/>
              </a:rPr>
              <a:t> </a:t>
            </a:r>
            <a:r>
              <a:rPr lang="ru-RU" sz="3000" b="1" dirty="0" smtClean="0"/>
              <a:t>деструктора </a:t>
            </a:r>
            <a:r>
              <a:rPr lang="ru-RU" sz="3000" dirty="0" smtClean="0">
                <a:latin typeface="+mn-lt"/>
                <a:cs typeface="+mn-cs"/>
              </a:rPr>
              <a:t>нет  типа, даже </a:t>
            </a:r>
            <a:r>
              <a:rPr lang="ru-RU" sz="3000" dirty="0">
                <a:latin typeface="+mn-lt"/>
                <a:cs typeface="+mn-cs"/>
              </a:rPr>
              <a:t>— </a:t>
            </a:r>
            <a:r>
              <a:rPr lang="ru-RU" sz="3000" b="1" dirty="0" err="1">
                <a:latin typeface="+mn-lt"/>
                <a:cs typeface="+mn-cs"/>
              </a:rPr>
              <a:t>void</a:t>
            </a:r>
            <a:r>
              <a:rPr lang="ru-RU" sz="3000" dirty="0">
                <a:latin typeface="+mn-lt"/>
                <a:cs typeface="+mn-cs"/>
              </a:rPr>
              <a:t>!!!;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3000" dirty="0"/>
              <a:t>Д</a:t>
            </a:r>
            <a:r>
              <a:rPr lang="ru-RU" sz="3000" dirty="0" smtClean="0">
                <a:latin typeface="+mn-lt"/>
                <a:cs typeface="+mn-cs"/>
              </a:rPr>
              <a:t>еструктору </a:t>
            </a:r>
            <a:r>
              <a:rPr lang="ru-RU" sz="3000" b="1" dirty="0">
                <a:solidFill>
                  <a:srgbClr val="FF0000"/>
                </a:solidFill>
                <a:latin typeface="+mn-lt"/>
                <a:cs typeface="+mn-cs"/>
              </a:rPr>
              <a:t>нельзя</a:t>
            </a:r>
            <a:r>
              <a:rPr lang="ru-RU" sz="3000" dirty="0">
                <a:latin typeface="+mn-lt"/>
                <a:cs typeface="+mn-cs"/>
              </a:rPr>
              <a:t> </a:t>
            </a:r>
            <a:r>
              <a:rPr lang="ru-RU" sz="3000" b="1" dirty="0">
                <a:latin typeface="+mn-lt"/>
                <a:cs typeface="+mn-cs"/>
              </a:rPr>
              <a:t>передавать</a:t>
            </a:r>
            <a:r>
              <a:rPr lang="ru-RU" sz="3000" dirty="0">
                <a:latin typeface="+mn-lt"/>
                <a:cs typeface="+mn-cs"/>
              </a:rPr>
              <a:t> никаких </a:t>
            </a:r>
            <a:r>
              <a:rPr lang="ru-RU" sz="3000" b="1" dirty="0">
                <a:latin typeface="+mn-lt"/>
                <a:cs typeface="+mn-cs"/>
              </a:rPr>
              <a:t>параметров</a:t>
            </a:r>
            <a:r>
              <a:rPr lang="ru-RU" sz="3000" dirty="0">
                <a:latin typeface="+mn-lt"/>
                <a:cs typeface="+mn-cs"/>
              </a:rPr>
              <a:t>;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3000" b="1" dirty="0"/>
              <a:t>И</a:t>
            </a:r>
            <a:r>
              <a:rPr lang="ru-RU" sz="3000" b="1" dirty="0" smtClean="0"/>
              <a:t>мя </a:t>
            </a:r>
            <a:r>
              <a:rPr lang="ru-RU" sz="3000" b="1" dirty="0"/>
              <a:t>класса </a:t>
            </a:r>
            <a:r>
              <a:rPr lang="ru-RU" sz="3000" dirty="0">
                <a:latin typeface="+mn-lt"/>
                <a:cs typeface="+mn-cs"/>
              </a:rPr>
              <a:t>и </a:t>
            </a:r>
            <a:r>
              <a:rPr lang="ru-RU" sz="3000" b="1" dirty="0" smtClean="0">
                <a:latin typeface="+mn-lt"/>
                <a:cs typeface="+mn-cs"/>
              </a:rPr>
              <a:t>имя деструктора </a:t>
            </a:r>
            <a:r>
              <a:rPr lang="ru-RU" sz="3000" dirty="0" smtClean="0">
                <a:latin typeface="+mn-lt"/>
                <a:cs typeface="+mn-cs"/>
              </a:rPr>
              <a:t>одинаковые </a:t>
            </a:r>
            <a:r>
              <a:rPr lang="ru-RU" sz="3000" dirty="0">
                <a:latin typeface="+mn-lt"/>
                <a:cs typeface="+mn-cs"/>
              </a:rPr>
              <a:t>с приставкой </a:t>
            </a:r>
            <a:r>
              <a:rPr lang="ru-RU" sz="3000" b="1" dirty="0">
                <a:latin typeface="+mn-lt"/>
                <a:cs typeface="+mn-cs"/>
              </a:rPr>
              <a:t>~</a:t>
            </a:r>
            <a:r>
              <a:rPr lang="ru-RU" sz="3000" dirty="0">
                <a:latin typeface="+mn-lt"/>
                <a:cs typeface="+mn-cs"/>
              </a:rPr>
              <a:t> ;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3000" dirty="0" smtClean="0">
                <a:latin typeface="+mn-lt"/>
                <a:cs typeface="+mn-cs"/>
              </a:rPr>
              <a:t>В </a:t>
            </a:r>
            <a:r>
              <a:rPr lang="ru-RU" sz="3000" b="1" dirty="0">
                <a:latin typeface="+mn-lt"/>
                <a:cs typeface="+mn-cs"/>
              </a:rPr>
              <a:t>классе</a:t>
            </a:r>
            <a:r>
              <a:rPr lang="ru-RU" sz="3000" dirty="0">
                <a:latin typeface="+mn-lt"/>
                <a:cs typeface="+mn-cs"/>
              </a:rPr>
              <a:t> может быть объявлен </a:t>
            </a:r>
            <a:r>
              <a:rPr lang="ru-RU" sz="3000" b="1" dirty="0">
                <a:solidFill>
                  <a:srgbClr val="FF0000"/>
                </a:solidFill>
                <a:latin typeface="+mn-lt"/>
                <a:cs typeface="+mn-cs"/>
              </a:rPr>
              <a:t>только один </a:t>
            </a:r>
            <a:r>
              <a:rPr lang="ru-RU" sz="3000" b="1" dirty="0">
                <a:latin typeface="+mn-lt"/>
                <a:cs typeface="+mn-cs"/>
              </a:rPr>
              <a:t>деструктор</a:t>
            </a:r>
            <a:r>
              <a:rPr lang="ru-RU" sz="3000" dirty="0">
                <a:latin typeface="+mn-lt"/>
                <a:cs typeface="+mn-cs"/>
              </a:rPr>
              <a:t>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3000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04351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62068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-27384"/>
            <a:ext cx="87487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Tx/>
              <a:buNone/>
            </a:pPr>
            <a:r>
              <a:rPr lang="ru-RU" altLang="ru-RU" sz="3600" b="1" dirty="0" smtClean="0">
                <a:latin typeface="Arial" charset="0"/>
              </a:rPr>
              <a:t>Интерфейс класса </a:t>
            </a:r>
            <a:r>
              <a:rPr lang="en-US" altLang="ru-RU" sz="3600" b="1" dirty="0" smtClean="0">
                <a:latin typeface="Arial" charset="0"/>
              </a:rPr>
              <a:t>Point</a:t>
            </a:r>
            <a:endParaRPr lang="ru-RU" altLang="ru-RU" sz="3600" b="1" dirty="0">
              <a:latin typeface="Arial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44525" y="841350"/>
            <a:ext cx="8891971" cy="5570756"/>
          </a:xfrm>
          <a:prstGeom prst="rect">
            <a:avLst/>
          </a:prstGeom>
          <a:solidFill>
            <a:srgbClr val="FFFF66"/>
          </a:solidFill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Point {  </a:t>
            </a:r>
          </a:p>
          <a:p>
            <a:r>
              <a:rPr lang="ru-RU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	</a:t>
            </a:r>
            <a:r>
              <a:rPr lang="ru-RU" sz="24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 можно не писать, будет по умолчанию </a:t>
            </a:r>
            <a:r>
              <a:rPr lang="ru-RU" sz="2400" b="1" dirty="0" err="1" smtClean="0">
                <a:solidFill>
                  <a:srgbClr val="008000"/>
                </a:solidFill>
                <a:cs typeface="Courier New" panose="02070309020205020404" pitchFamily="49" charset="0"/>
              </a:rPr>
              <a:t>private</a:t>
            </a:r>
            <a:r>
              <a:rPr lang="ru-RU" sz="24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: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 </a:t>
            </a:r>
            <a:r>
              <a:rPr lang="ru-RU" sz="24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 координата по оси ОХ, поле данных 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y; </a:t>
            </a:r>
            <a:r>
              <a:rPr lang="ru-RU" sz="24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 координата по оси ОY, поле данных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	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 </a:t>
            </a:r>
            <a:r>
              <a:rPr lang="ru-RU" sz="20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//конструктор по умолчанию, без параметра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pX,</a:t>
            </a:r>
            <a:r>
              <a:rPr lang="ru-RU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	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//конструктор с параметрами</a:t>
            </a:r>
            <a:endParaRPr lang="en-US" b="1" dirty="0" smtClean="0">
              <a:solidFill>
                <a:srgbClr val="008000"/>
              </a:solidFill>
              <a:cs typeface="Courier New" panose="02070309020205020404" pitchFamily="49" charset="0"/>
            </a:endParaRPr>
          </a:p>
          <a:p>
            <a:r>
              <a:rPr lang="en-US" sz="20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	//</a:t>
            </a:r>
            <a:r>
              <a:rPr lang="ru-RU" sz="2000" b="1" dirty="0">
                <a:solidFill>
                  <a:srgbClr val="008000"/>
                </a:solidFill>
                <a:cs typeface="Courier New" panose="02070309020205020404" pitchFamily="49" charset="0"/>
              </a:rPr>
              <a:t>конструктор копирования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Point(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Point &amp;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pointCopy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~Point();		</a:t>
            </a:r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деструктор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getX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fr-FR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const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метод </a:t>
            </a:r>
            <a:r>
              <a:rPr lang="en-US" sz="24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getX</a:t>
            </a:r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getY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fr-FR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const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метод </a:t>
            </a:r>
            <a:r>
              <a:rPr lang="en-US" sz="24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getY</a:t>
            </a:r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set(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pX,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20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 </a:t>
            </a:r>
            <a:r>
              <a:rPr lang="en-US" sz="2000" b="1" dirty="0" err="1" smtClean="0">
                <a:solidFill>
                  <a:srgbClr val="008000"/>
                </a:solidFill>
                <a:cs typeface="Courier New" panose="02070309020205020404" pitchFamily="49" charset="0"/>
              </a:rPr>
              <a:t>метод</a:t>
            </a:r>
            <a:r>
              <a:rPr lang="en-US" sz="20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 set() </a:t>
            </a:r>
          </a:p>
          <a:p>
            <a:r>
              <a:rPr lang="fr-FR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FR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fr-FR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print(</a:t>
            </a:r>
            <a:r>
              <a:rPr lang="fr-FR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fr-FR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 </a:t>
            </a:r>
            <a:r>
              <a:rPr lang="fr-FR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fr-FR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const</a:t>
            </a:r>
            <a:r>
              <a:rPr lang="fr-FR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fr-FR" sz="16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//метод print()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49073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44525" y="1035888"/>
            <a:ext cx="8891971" cy="5570756"/>
          </a:xfrm>
          <a:prstGeom prst="rect">
            <a:avLst/>
          </a:prstGeom>
          <a:solidFill>
            <a:srgbClr val="FFFF66"/>
          </a:solidFill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Point { 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	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 </a:t>
            </a:r>
            <a:r>
              <a:rPr lang="ru-RU" sz="20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//конструктор по умолчанию, без параметра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pX,</a:t>
            </a:r>
            <a:r>
              <a:rPr lang="ru-RU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	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//конструктор с параметрами</a:t>
            </a:r>
            <a:endParaRPr lang="en-US" b="1" dirty="0" smtClean="0">
              <a:solidFill>
                <a:srgbClr val="008000"/>
              </a:solidFill>
              <a:cs typeface="Courier New" panose="02070309020205020404" pitchFamily="49" charset="0"/>
            </a:endParaRPr>
          </a:p>
          <a:p>
            <a:r>
              <a:rPr lang="en-US" sz="20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	//</a:t>
            </a:r>
            <a:r>
              <a:rPr lang="ru-RU" sz="2000" b="1" dirty="0">
                <a:solidFill>
                  <a:srgbClr val="008000"/>
                </a:solidFill>
                <a:cs typeface="Courier New" panose="02070309020205020404" pitchFamily="49" charset="0"/>
              </a:rPr>
              <a:t>конструктор копирования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Point(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Point &amp;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pointCopy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~Point();		</a:t>
            </a:r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деструктор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getX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fr-FR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const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метод </a:t>
            </a:r>
            <a:r>
              <a:rPr lang="en-US" sz="24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getX</a:t>
            </a:r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getY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fr-FR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const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метод </a:t>
            </a:r>
            <a:r>
              <a:rPr lang="en-US" sz="24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getY</a:t>
            </a:r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set(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pX,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20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 </a:t>
            </a:r>
            <a:r>
              <a:rPr lang="en-US" sz="2000" b="1" dirty="0" err="1" smtClean="0">
                <a:solidFill>
                  <a:srgbClr val="008000"/>
                </a:solidFill>
                <a:cs typeface="Courier New" panose="02070309020205020404" pitchFamily="49" charset="0"/>
              </a:rPr>
              <a:t>метод</a:t>
            </a:r>
            <a:r>
              <a:rPr lang="en-US" sz="20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 set() </a:t>
            </a:r>
          </a:p>
          <a:p>
            <a:r>
              <a:rPr lang="fr-FR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FR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fr-FR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print(</a:t>
            </a:r>
            <a:r>
              <a:rPr lang="fr-FR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fr-FR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 </a:t>
            </a:r>
            <a:r>
              <a:rPr lang="fr-FR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fr-FR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const</a:t>
            </a:r>
            <a:r>
              <a:rPr lang="fr-FR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fr-FR" sz="16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//метод print()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x; </a:t>
            </a:r>
            <a:r>
              <a:rPr lang="ru-RU" sz="2400" b="1" dirty="0">
                <a:solidFill>
                  <a:srgbClr val="008000"/>
                </a:solidFill>
                <a:cs typeface="Courier New" panose="02070309020205020404" pitchFamily="49" charset="0"/>
              </a:rPr>
              <a:t>// координата по оси ОХ, поле данных 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y; </a:t>
            </a:r>
            <a:r>
              <a:rPr lang="ru-RU" sz="2400" b="1" dirty="0">
                <a:solidFill>
                  <a:srgbClr val="008000"/>
                </a:solidFill>
                <a:cs typeface="Courier New" panose="02070309020205020404" pitchFamily="49" charset="0"/>
              </a:rPr>
              <a:t>// координата по оси ОY, поле данных</a:t>
            </a:r>
          </a:p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   </a:t>
            </a:r>
            <a:r>
              <a:rPr lang="en-US" sz="2400" b="1" dirty="0" smtClean="0">
                <a:solidFill>
                  <a:srgbClr val="FF0000"/>
                </a:solidFill>
              </a:rPr>
              <a:t>ERROR </a:t>
            </a:r>
            <a:r>
              <a:rPr lang="ru-RU" sz="2400" b="1" dirty="0"/>
              <a:t>нарушена инкапсуляция</a:t>
            </a:r>
            <a:endParaRPr lang="fr-FR" sz="2400" dirty="0">
              <a:solidFill>
                <a:srgbClr val="008000"/>
              </a:solidFill>
            </a:endParaRP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62068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-27384"/>
            <a:ext cx="87487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Tx/>
              <a:buNone/>
            </a:pPr>
            <a:r>
              <a:rPr lang="ru-RU" altLang="ru-RU" sz="3600" b="1" dirty="0" smtClean="0">
                <a:latin typeface="Arial" charset="0"/>
              </a:rPr>
              <a:t>Интерфейс класса </a:t>
            </a:r>
            <a:r>
              <a:rPr lang="en-US" altLang="ru-RU" sz="3600" b="1" dirty="0" smtClean="0">
                <a:latin typeface="Arial" charset="0"/>
              </a:rPr>
              <a:t>Point</a:t>
            </a:r>
            <a:endParaRPr lang="ru-RU" altLang="ru-RU" sz="3600" b="1" dirty="0">
              <a:latin typeface="Arial" charset="0"/>
            </a:endParaRPr>
          </a:p>
        </p:txBody>
      </p:sp>
      <p:sp>
        <p:nvSpPr>
          <p:cNvPr id="6" name="Полилиния 5"/>
          <p:cNvSpPr/>
          <p:nvPr/>
        </p:nvSpPr>
        <p:spPr>
          <a:xfrm>
            <a:off x="971600" y="4941168"/>
            <a:ext cx="1667269" cy="1209368"/>
          </a:xfrm>
          <a:custGeom>
            <a:avLst/>
            <a:gdLst>
              <a:gd name="connsiteX0" fmla="*/ 103940 w 1667269"/>
              <a:gd name="connsiteY0" fmla="*/ 191729 h 1209368"/>
              <a:gd name="connsiteX1" fmla="*/ 177682 w 1667269"/>
              <a:gd name="connsiteY1" fmla="*/ 176981 h 1209368"/>
              <a:gd name="connsiteX2" fmla="*/ 266172 w 1667269"/>
              <a:gd name="connsiteY2" fmla="*/ 147484 h 1209368"/>
              <a:gd name="connsiteX3" fmla="*/ 398907 w 1667269"/>
              <a:gd name="connsiteY3" fmla="*/ 103239 h 1209368"/>
              <a:gd name="connsiteX4" fmla="*/ 443152 w 1667269"/>
              <a:gd name="connsiteY4" fmla="*/ 88491 h 1209368"/>
              <a:gd name="connsiteX5" fmla="*/ 502146 w 1667269"/>
              <a:gd name="connsiteY5" fmla="*/ 73742 h 1209368"/>
              <a:gd name="connsiteX6" fmla="*/ 531643 w 1667269"/>
              <a:gd name="connsiteY6" fmla="*/ 29497 h 1209368"/>
              <a:gd name="connsiteX7" fmla="*/ 575888 w 1667269"/>
              <a:gd name="connsiteY7" fmla="*/ 14749 h 1209368"/>
              <a:gd name="connsiteX8" fmla="*/ 870856 w 1667269"/>
              <a:gd name="connsiteY8" fmla="*/ 0 h 1209368"/>
              <a:gd name="connsiteX9" fmla="*/ 1342804 w 1667269"/>
              <a:gd name="connsiteY9" fmla="*/ 14749 h 1209368"/>
              <a:gd name="connsiteX10" fmla="*/ 1431294 w 1667269"/>
              <a:gd name="connsiteY10" fmla="*/ 44245 h 1209368"/>
              <a:gd name="connsiteX11" fmla="*/ 1460791 w 1667269"/>
              <a:gd name="connsiteY11" fmla="*/ 88491 h 1209368"/>
              <a:gd name="connsiteX12" fmla="*/ 1505036 w 1667269"/>
              <a:gd name="connsiteY12" fmla="*/ 117987 h 1209368"/>
              <a:gd name="connsiteX13" fmla="*/ 1519785 w 1667269"/>
              <a:gd name="connsiteY13" fmla="*/ 162232 h 1209368"/>
              <a:gd name="connsiteX14" fmla="*/ 1564030 w 1667269"/>
              <a:gd name="connsiteY14" fmla="*/ 176981 h 1209368"/>
              <a:gd name="connsiteX15" fmla="*/ 1608275 w 1667269"/>
              <a:gd name="connsiteY15" fmla="*/ 206478 h 1209368"/>
              <a:gd name="connsiteX16" fmla="*/ 1637772 w 1667269"/>
              <a:gd name="connsiteY16" fmla="*/ 324465 h 1209368"/>
              <a:gd name="connsiteX17" fmla="*/ 1667269 w 1667269"/>
              <a:gd name="connsiteY17" fmla="*/ 427703 h 1209368"/>
              <a:gd name="connsiteX18" fmla="*/ 1652520 w 1667269"/>
              <a:gd name="connsiteY18" fmla="*/ 634181 h 1209368"/>
              <a:gd name="connsiteX19" fmla="*/ 1637772 w 1667269"/>
              <a:gd name="connsiteY19" fmla="*/ 722671 h 1209368"/>
              <a:gd name="connsiteX20" fmla="*/ 1608275 w 1667269"/>
              <a:gd name="connsiteY20" fmla="*/ 1091381 h 1209368"/>
              <a:gd name="connsiteX21" fmla="*/ 1564030 w 1667269"/>
              <a:gd name="connsiteY21" fmla="*/ 1179871 h 1209368"/>
              <a:gd name="connsiteX22" fmla="*/ 1460791 w 1667269"/>
              <a:gd name="connsiteY22" fmla="*/ 1209368 h 1209368"/>
              <a:gd name="connsiteX23" fmla="*/ 664378 w 1667269"/>
              <a:gd name="connsiteY23" fmla="*/ 1179871 h 1209368"/>
              <a:gd name="connsiteX24" fmla="*/ 561140 w 1667269"/>
              <a:gd name="connsiteY24" fmla="*/ 1150374 h 1209368"/>
              <a:gd name="connsiteX25" fmla="*/ 516894 w 1667269"/>
              <a:gd name="connsiteY25" fmla="*/ 1120878 h 1209368"/>
              <a:gd name="connsiteX26" fmla="*/ 428404 w 1667269"/>
              <a:gd name="connsiteY26" fmla="*/ 1091381 h 1209368"/>
              <a:gd name="connsiteX27" fmla="*/ 384159 w 1667269"/>
              <a:gd name="connsiteY27" fmla="*/ 1076632 h 1209368"/>
              <a:gd name="connsiteX28" fmla="*/ 339914 w 1667269"/>
              <a:gd name="connsiteY28" fmla="*/ 1061884 h 1209368"/>
              <a:gd name="connsiteX29" fmla="*/ 266172 w 1667269"/>
              <a:gd name="connsiteY29" fmla="*/ 973394 h 1209368"/>
              <a:gd name="connsiteX30" fmla="*/ 221927 w 1667269"/>
              <a:gd name="connsiteY30" fmla="*/ 943897 h 1209368"/>
              <a:gd name="connsiteX31" fmla="*/ 148185 w 1667269"/>
              <a:gd name="connsiteY31" fmla="*/ 811162 h 1209368"/>
              <a:gd name="connsiteX32" fmla="*/ 89191 w 1667269"/>
              <a:gd name="connsiteY32" fmla="*/ 722671 h 1209368"/>
              <a:gd name="connsiteX33" fmla="*/ 74443 w 1667269"/>
              <a:gd name="connsiteY33" fmla="*/ 678426 h 1209368"/>
              <a:gd name="connsiteX34" fmla="*/ 44946 w 1667269"/>
              <a:gd name="connsiteY34" fmla="*/ 634181 h 1209368"/>
              <a:gd name="connsiteX35" fmla="*/ 15449 w 1667269"/>
              <a:gd name="connsiteY35" fmla="*/ 545691 h 1209368"/>
              <a:gd name="connsiteX36" fmla="*/ 15449 w 1667269"/>
              <a:gd name="connsiteY36" fmla="*/ 250723 h 1209368"/>
              <a:gd name="connsiteX37" fmla="*/ 103940 w 1667269"/>
              <a:gd name="connsiteY37" fmla="*/ 191729 h 1209368"/>
              <a:gd name="connsiteX38" fmla="*/ 103940 w 1667269"/>
              <a:gd name="connsiteY38" fmla="*/ 191729 h 1209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667269" h="1209368">
                <a:moveTo>
                  <a:pt x="103940" y="191729"/>
                </a:moveTo>
                <a:cubicBezTo>
                  <a:pt x="128521" y="186813"/>
                  <a:pt x="153498" y="183577"/>
                  <a:pt x="177682" y="176981"/>
                </a:cubicBezTo>
                <a:cubicBezTo>
                  <a:pt x="207679" y="168800"/>
                  <a:pt x="236675" y="157316"/>
                  <a:pt x="266172" y="147484"/>
                </a:cubicBezTo>
                <a:lnTo>
                  <a:pt x="398907" y="103239"/>
                </a:lnTo>
                <a:cubicBezTo>
                  <a:pt x="413655" y="98323"/>
                  <a:pt x="428070" y="92262"/>
                  <a:pt x="443152" y="88491"/>
                </a:cubicBezTo>
                <a:lnTo>
                  <a:pt x="502146" y="73742"/>
                </a:lnTo>
                <a:cubicBezTo>
                  <a:pt x="511978" y="58994"/>
                  <a:pt x="517802" y="40570"/>
                  <a:pt x="531643" y="29497"/>
                </a:cubicBezTo>
                <a:cubicBezTo>
                  <a:pt x="543782" y="19786"/>
                  <a:pt x="560400" y="16096"/>
                  <a:pt x="575888" y="14749"/>
                </a:cubicBezTo>
                <a:cubicBezTo>
                  <a:pt x="673963" y="6221"/>
                  <a:pt x="772533" y="4916"/>
                  <a:pt x="870856" y="0"/>
                </a:cubicBezTo>
                <a:cubicBezTo>
                  <a:pt x="1028172" y="4916"/>
                  <a:pt x="1185899" y="2362"/>
                  <a:pt x="1342804" y="14749"/>
                </a:cubicBezTo>
                <a:cubicBezTo>
                  <a:pt x="1373800" y="17196"/>
                  <a:pt x="1431294" y="44245"/>
                  <a:pt x="1431294" y="44245"/>
                </a:cubicBezTo>
                <a:cubicBezTo>
                  <a:pt x="1441126" y="58994"/>
                  <a:pt x="1448257" y="75957"/>
                  <a:pt x="1460791" y="88491"/>
                </a:cubicBezTo>
                <a:cubicBezTo>
                  <a:pt x="1473325" y="101025"/>
                  <a:pt x="1493963" y="104146"/>
                  <a:pt x="1505036" y="117987"/>
                </a:cubicBezTo>
                <a:cubicBezTo>
                  <a:pt x="1514748" y="130126"/>
                  <a:pt x="1508792" y="151239"/>
                  <a:pt x="1519785" y="162232"/>
                </a:cubicBezTo>
                <a:cubicBezTo>
                  <a:pt x="1530778" y="173225"/>
                  <a:pt x="1550125" y="170028"/>
                  <a:pt x="1564030" y="176981"/>
                </a:cubicBezTo>
                <a:cubicBezTo>
                  <a:pt x="1579884" y="184908"/>
                  <a:pt x="1593527" y="196646"/>
                  <a:pt x="1608275" y="206478"/>
                </a:cubicBezTo>
                <a:cubicBezTo>
                  <a:pt x="1618107" y="245807"/>
                  <a:pt x="1624953" y="286006"/>
                  <a:pt x="1637772" y="324465"/>
                </a:cubicBezTo>
                <a:cubicBezTo>
                  <a:pt x="1658930" y="387939"/>
                  <a:pt x="1648749" y="353628"/>
                  <a:pt x="1667269" y="427703"/>
                </a:cubicBezTo>
                <a:cubicBezTo>
                  <a:pt x="1662353" y="496529"/>
                  <a:pt x="1659386" y="565522"/>
                  <a:pt x="1652520" y="634181"/>
                </a:cubicBezTo>
                <a:cubicBezTo>
                  <a:pt x="1649544" y="663936"/>
                  <a:pt x="1640157" y="692863"/>
                  <a:pt x="1637772" y="722671"/>
                </a:cubicBezTo>
                <a:cubicBezTo>
                  <a:pt x="1625860" y="871566"/>
                  <a:pt x="1636990" y="962159"/>
                  <a:pt x="1608275" y="1091381"/>
                </a:cubicBezTo>
                <a:cubicBezTo>
                  <a:pt x="1602498" y="1117378"/>
                  <a:pt x="1585531" y="1162670"/>
                  <a:pt x="1564030" y="1179871"/>
                </a:cubicBezTo>
                <a:cubicBezTo>
                  <a:pt x="1554410" y="1187567"/>
                  <a:pt x="1464649" y="1208404"/>
                  <a:pt x="1460791" y="1209368"/>
                </a:cubicBezTo>
                <a:cubicBezTo>
                  <a:pt x="1321701" y="1206277"/>
                  <a:pt x="902549" y="1216513"/>
                  <a:pt x="664378" y="1179871"/>
                </a:cubicBezTo>
                <a:cubicBezTo>
                  <a:pt x="650722" y="1177770"/>
                  <a:pt x="578275" y="1158941"/>
                  <a:pt x="561140" y="1150374"/>
                </a:cubicBezTo>
                <a:cubicBezTo>
                  <a:pt x="545286" y="1142447"/>
                  <a:pt x="533092" y="1128077"/>
                  <a:pt x="516894" y="1120878"/>
                </a:cubicBezTo>
                <a:cubicBezTo>
                  <a:pt x="488481" y="1108250"/>
                  <a:pt x="457901" y="1101213"/>
                  <a:pt x="428404" y="1091381"/>
                </a:cubicBezTo>
                <a:lnTo>
                  <a:pt x="384159" y="1076632"/>
                </a:lnTo>
                <a:lnTo>
                  <a:pt x="339914" y="1061884"/>
                </a:lnTo>
                <a:cubicBezTo>
                  <a:pt x="310911" y="1018379"/>
                  <a:pt x="308756" y="1008881"/>
                  <a:pt x="266172" y="973394"/>
                </a:cubicBezTo>
                <a:cubicBezTo>
                  <a:pt x="252555" y="962046"/>
                  <a:pt x="236675" y="953729"/>
                  <a:pt x="221927" y="943897"/>
                </a:cubicBezTo>
                <a:cubicBezTo>
                  <a:pt x="169379" y="786254"/>
                  <a:pt x="225454" y="910508"/>
                  <a:pt x="148185" y="811162"/>
                </a:cubicBezTo>
                <a:cubicBezTo>
                  <a:pt x="126420" y="783179"/>
                  <a:pt x="89191" y="722671"/>
                  <a:pt x="89191" y="722671"/>
                </a:cubicBezTo>
                <a:cubicBezTo>
                  <a:pt x="84275" y="707923"/>
                  <a:pt x="81395" y="692331"/>
                  <a:pt x="74443" y="678426"/>
                </a:cubicBezTo>
                <a:cubicBezTo>
                  <a:pt x="66516" y="662572"/>
                  <a:pt x="52145" y="650379"/>
                  <a:pt x="44946" y="634181"/>
                </a:cubicBezTo>
                <a:cubicBezTo>
                  <a:pt x="32318" y="605769"/>
                  <a:pt x="15449" y="545691"/>
                  <a:pt x="15449" y="545691"/>
                </a:cubicBezTo>
                <a:cubicBezTo>
                  <a:pt x="10728" y="493760"/>
                  <a:pt x="-16820" y="310651"/>
                  <a:pt x="15449" y="250723"/>
                </a:cubicBezTo>
                <a:cubicBezTo>
                  <a:pt x="32256" y="219509"/>
                  <a:pt x="70308" y="202939"/>
                  <a:pt x="103940" y="191729"/>
                </a:cubicBezTo>
                <a:lnTo>
                  <a:pt x="103940" y="191729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/>
          <p:cNvCxnSpPr/>
          <p:nvPr/>
        </p:nvCxnSpPr>
        <p:spPr>
          <a:xfrm flipH="1" flipV="1">
            <a:off x="2703300" y="6021289"/>
            <a:ext cx="716572" cy="4694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901894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62068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-27384"/>
            <a:ext cx="87487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Tx/>
              <a:buNone/>
            </a:pPr>
            <a:r>
              <a:rPr lang="ru-RU" altLang="ru-RU" sz="3600" b="1" dirty="0" smtClean="0">
                <a:latin typeface="Arial" charset="0"/>
              </a:rPr>
              <a:t>Интерфейс класса </a:t>
            </a:r>
            <a:r>
              <a:rPr lang="en-US" altLang="ru-RU" sz="3600" b="1" dirty="0" smtClean="0">
                <a:latin typeface="Arial" charset="0"/>
              </a:rPr>
              <a:t>Point</a:t>
            </a:r>
            <a:endParaRPr lang="ru-RU" altLang="ru-RU" sz="3600" b="1" dirty="0">
              <a:latin typeface="Arial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44525" y="836712"/>
            <a:ext cx="8891971" cy="5570756"/>
          </a:xfrm>
          <a:prstGeom prst="rect">
            <a:avLst/>
          </a:prstGeom>
          <a:solidFill>
            <a:srgbClr val="FFFF66"/>
          </a:solidFill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Point {  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	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 </a:t>
            </a:r>
            <a:r>
              <a:rPr lang="ru-RU" sz="20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//конструктор по умолчанию, без параметра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pX,</a:t>
            </a:r>
            <a:r>
              <a:rPr lang="ru-RU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	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//конструктор с параметрами</a:t>
            </a:r>
            <a:endParaRPr lang="en-US" b="1" dirty="0" smtClean="0">
              <a:solidFill>
                <a:srgbClr val="008000"/>
              </a:solidFill>
              <a:cs typeface="Courier New" panose="02070309020205020404" pitchFamily="49" charset="0"/>
            </a:endParaRPr>
          </a:p>
          <a:p>
            <a:r>
              <a:rPr lang="en-US" sz="20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	//</a:t>
            </a:r>
            <a:r>
              <a:rPr lang="ru-RU" sz="2000" b="1" dirty="0">
                <a:solidFill>
                  <a:srgbClr val="008000"/>
                </a:solidFill>
                <a:cs typeface="Courier New" panose="02070309020205020404" pitchFamily="49" charset="0"/>
              </a:rPr>
              <a:t>конструктор копирования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Point(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Point &amp;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pointCopy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~Point();		</a:t>
            </a:r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деструктор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getX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fr-FR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const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метод </a:t>
            </a:r>
            <a:r>
              <a:rPr lang="en-US" sz="24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getX</a:t>
            </a:r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getY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fr-FR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const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метод </a:t>
            </a:r>
            <a:r>
              <a:rPr lang="en-US" sz="24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getY</a:t>
            </a:r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set(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pX,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20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 </a:t>
            </a:r>
            <a:r>
              <a:rPr lang="en-US" sz="2000" b="1" dirty="0" err="1" smtClean="0">
                <a:solidFill>
                  <a:srgbClr val="008000"/>
                </a:solidFill>
                <a:cs typeface="Courier New" panose="02070309020205020404" pitchFamily="49" charset="0"/>
              </a:rPr>
              <a:t>метод</a:t>
            </a:r>
            <a:r>
              <a:rPr lang="en-US" sz="2000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 set() </a:t>
            </a:r>
          </a:p>
          <a:p>
            <a:r>
              <a:rPr lang="fr-FR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FR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fr-FR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print(</a:t>
            </a:r>
            <a:r>
              <a:rPr lang="fr-FR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fr-FR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 </a:t>
            </a:r>
            <a:r>
              <a:rPr lang="fr-FR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fr-FR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const</a:t>
            </a:r>
            <a:r>
              <a:rPr lang="fr-FR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fr-FR" sz="16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//метод print()</a:t>
            </a:r>
          </a:p>
          <a:p>
            <a:r>
              <a:rPr lang="ru-RU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x; </a:t>
            </a:r>
            <a:r>
              <a:rPr lang="ru-RU" sz="2400" b="1" dirty="0">
                <a:solidFill>
                  <a:srgbClr val="008000"/>
                </a:solidFill>
                <a:cs typeface="Courier New" panose="02070309020205020404" pitchFamily="49" charset="0"/>
              </a:rPr>
              <a:t>// координата по оси ОХ, поле данных 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y; </a:t>
            </a:r>
            <a:r>
              <a:rPr lang="ru-RU" sz="2400" b="1" dirty="0">
                <a:solidFill>
                  <a:srgbClr val="008000"/>
                </a:solidFill>
                <a:cs typeface="Courier New" panose="02070309020205020404" pitchFamily="49" charset="0"/>
              </a:rPr>
              <a:t>// координата по оси ОY, поле данных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94348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44450"/>
            <a:ext cx="87487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None/>
              <a:defRPr/>
            </a:pPr>
            <a:r>
              <a:rPr lang="ru-RU" sz="3600" b="1" dirty="0">
                <a:latin typeface="+mj-lt"/>
              </a:rPr>
              <a:t>Инкапсуляция</a:t>
            </a:r>
          </a:p>
        </p:txBody>
      </p:sp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376238" y="980728"/>
            <a:ext cx="8301037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b="1" dirty="0"/>
              <a:t>Модификаторы доступа: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b="1" i="1" dirty="0" smtClean="0">
                <a:solidFill>
                  <a:srgbClr val="00B0F0"/>
                </a:solidFill>
              </a:rPr>
              <a:t>private</a:t>
            </a:r>
            <a:r>
              <a:rPr lang="ru-RU" altLang="ru-RU" b="1" i="1" dirty="0">
                <a:solidFill>
                  <a:srgbClr val="00B0F0"/>
                </a:solidFill>
              </a:rPr>
              <a:t>:</a:t>
            </a:r>
            <a:r>
              <a:rPr lang="en-US" altLang="ru-RU" b="1" i="1" dirty="0" smtClean="0">
                <a:solidFill>
                  <a:srgbClr val="00B0F0"/>
                </a:solidFill>
              </a:rPr>
              <a:t> </a:t>
            </a:r>
            <a:r>
              <a:rPr lang="en-US" altLang="ru-RU" dirty="0" smtClean="0"/>
              <a:t>	</a:t>
            </a:r>
            <a:r>
              <a:rPr lang="ru-RU" altLang="ru-RU" dirty="0" smtClean="0"/>
              <a:t>Закрытые переменные и методы. Они доступны только методам внутри этого класса</a:t>
            </a:r>
            <a:r>
              <a:rPr lang="en-US" altLang="ru-RU" dirty="0" smtClean="0"/>
              <a:t>.</a:t>
            </a:r>
            <a:endParaRPr lang="ru-RU" altLang="ru-RU" dirty="0" smtClean="0"/>
          </a:p>
          <a:p>
            <a:pPr eaLnBrk="1" hangingPunct="1">
              <a:spcBef>
                <a:spcPct val="0"/>
              </a:spcBef>
              <a:buNone/>
            </a:pPr>
            <a:r>
              <a:rPr lang="en-US" altLang="ru-RU" b="1" i="1" dirty="0">
                <a:solidFill>
                  <a:srgbClr val="00B0F0"/>
                </a:solidFill>
              </a:rPr>
              <a:t>protected:</a:t>
            </a:r>
            <a:r>
              <a:rPr lang="ru-RU" altLang="ru-RU" b="1" i="1" dirty="0">
                <a:solidFill>
                  <a:srgbClr val="00B0F0"/>
                </a:solidFill>
              </a:rPr>
              <a:t> </a:t>
            </a:r>
            <a:r>
              <a:rPr lang="ru-RU" altLang="ru-RU" dirty="0" smtClean="0"/>
              <a:t>Разрешает </a:t>
            </a:r>
            <a:r>
              <a:rPr lang="ru-RU" altLang="ru-RU" dirty="0"/>
              <a:t>доступ только методам объектов данного класса и классам </a:t>
            </a:r>
            <a:r>
              <a:rPr lang="ru-RU" altLang="ru-RU" dirty="0" smtClean="0"/>
              <a:t>наследников.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ru-RU" b="1" i="1" dirty="0" smtClean="0">
                <a:solidFill>
                  <a:srgbClr val="00B0F0"/>
                </a:solidFill>
              </a:rPr>
              <a:t>public</a:t>
            </a:r>
            <a:r>
              <a:rPr lang="ru-RU" altLang="ru-RU" b="1" i="1" dirty="0" smtClean="0">
                <a:solidFill>
                  <a:srgbClr val="00B0F0"/>
                </a:solidFill>
              </a:rPr>
              <a:t>:</a:t>
            </a:r>
            <a:r>
              <a:rPr lang="en-US" altLang="ru-RU" dirty="0"/>
              <a:t>	</a:t>
            </a:r>
            <a:r>
              <a:rPr lang="ru-RU" altLang="ru-RU" dirty="0" smtClean="0"/>
              <a:t>Открытые переменные и методы. Они доступны методам другого класса, функции </a:t>
            </a:r>
            <a:r>
              <a:rPr lang="en-US" altLang="ru-RU" dirty="0" smtClean="0"/>
              <a:t>main()</a:t>
            </a:r>
            <a:endParaRPr lang="ru-RU" altLang="ru-RU" dirty="0" smtClean="0"/>
          </a:p>
        </p:txBody>
      </p:sp>
    </p:spTree>
    <p:extLst>
      <p:ext uri="{BB962C8B-B14F-4D97-AF65-F5344CB8AC3E}">
        <p14:creationId xmlns:p14="http://schemas.microsoft.com/office/powerpoint/2010/main" xmlns="" val="1487313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612329" y="66774"/>
            <a:ext cx="4103687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4400" b="1" dirty="0"/>
              <a:t>Инкапсуляция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684213" y="1557338"/>
            <a:ext cx="7991475" cy="403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ru-RU" altLang="ru-RU" dirty="0"/>
              <a:t>Инкапсуляция </a:t>
            </a:r>
            <a:r>
              <a:rPr lang="ru-RU" altLang="ru-RU" dirty="0" smtClean="0"/>
              <a:t>скрывает информацию </a:t>
            </a:r>
            <a:r>
              <a:rPr lang="ru-RU" altLang="ru-RU" dirty="0"/>
              <a:t>к которой </a:t>
            </a:r>
            <a:r>
              <a:rPr lang="ru-RU" altLang="ru-RU" dirty="0" smtClean="0"/>
              <a:t>нет прямого доступа </a:t>
            </a:r>
            <a:r>
              <a:rPr lang="ru-RU" altLang="ru-RU" dirty="0"/>
              <a:t>из других классов</a:t>
            </a:r>
          </a:p>
          <a:p>
            <a:pPr eaLnBrk="1" hangingPunct="1">
              <a:spcBef>
                <a:spcPct val="0"/>
              </a:spcBef>
            </a:pPr>
            <a:r>
              <a:rPr lang="ru-RU" altLang="ru-RU" dirty="0"/>
              <a:t>Абстракция и инкапсуляция дополняют друг друга: абстрагирование направлено на наблюдаемое поведение объекта, а инкапсуляция занимается внутренним устройством.</a:t>
            </a: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67195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47667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-99392"/>
            <a:ext cx="87487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None/>
              <a:defRPr/>
            </a:pPr>
            <a:r>
              <a:rPr lang="ru-RU" sz="3600" b="1" dirty="0">
                <a:latin typeface="+mj-lt"/>
              </a:rPr>
              <a:t>Инкапсуляция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616" y="620688"/>
            <a:ext cx="9124950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341" y="3645024"/>
            <a:ext cx="4144963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949176" y="5229200"/>
            <a:ext cx="2918968" cy="1546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61879" y="3645024"/>
            <a:ext cx="2730500" cy="185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8001291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4763" y="0"/>
            <a:ext cx="914876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Овал 3"/>
          <p:cNvSpPr/>
          <p:nvPr/>
        </p:nvSpPr>
        <p:spPr>
          <a:xfrm>
            <a:off x="1331913" y="1268413"/>
            <a:ext cx="360362" cy="431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5" name="Прямая со стрелкой 4"/>
          <p:cNvCxnSpPr>
            <a:endCxn id="4" idx="0"/>
          </p:cNvCxnSpPr>
          <p:nvPr/>
        </p:nvCxnSpPr>
        <p:spPr>
          <a:xfrm flipH="1">
            <a:off x="1511300" y="836613"/>
            <a:ext cx="1116013" cy="431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627313" y="692150"/>
            <a:ext cx="6048375" cy="461963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solidFill>
                  <a:schemeClr val="bg1"/>
                </a:solidFill>
              </a:rPr>
              <a:t>Внутри класса инициализировать нельзя</a:t>
            </a:r>
          </a:p>
        </p:txBody>
      </p:sp>
      <p:sp>
        <p:nvSpPr>
          <p:cNvPr id="7" name="Овал 6"/>
          <p:cNvSpPr/>
          <p:nvPr/>
        </p:nvSpPr>
        <p:spPr>
          <a:xfrm>
            <a:off x="468313" y="3789363"/>
            <a:ext cx="2519362" cy="5762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8" name="Прямая со стрелкой 7"/>
          <p:cNvCxnSpPr>
            <a:endCxn id="7" idx="6"/>
          </p:cNvCxnSpPr>
          <p:nvPr/>
        </p:nvCxnSpPr>
        <p:spPr>
          <a:xfrm flipH="1">
            <a:off x="2987675" y="3573463"/>
            <a:ext cx="1079500" cy="50323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067175" y="3141663"/>
            <a:ext cx="4608513" cy="15684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solidFill>
                  <a:schemeClr val="bg1"/>
                </a:solidFill>
              </a:rPr>
              <a:t>Ошибка инициализации. Переменные </a:t>
            </a:r>
            <a:r>
              <a:rPr lang="en-US" altLang="ru-RU" sz="2400">
                <a:solidFill>
                  <a:schemeClr val="bg1"/>
                </a:solidFill>
              </a:rPr>
              <a:t>x </a:t>
            </a:r>
            <a:r>
              <a:rPr lang="ru-RU" altLang="ru-RU" sz="2400">
                <a:solidFill>
                  <a:schemeClr val="bg1"/>
                </a:solidFill>
              </a:rPr>
              <a:t>и </a:t>
            </a:r>
            <a:r>
              <a:rPr lang="en-US" altLang="ru-RU" sz="2400">
                <a:solidFill>
                  <a:schemeClr val="bg1"/>
                </a:solidFill>
              </a:rPr>
              <a:t>y</a:t>
            </a:r>
            <a:r>
              <a:rPr lang="ru-RU" altLang="ru-RU" sz="2400">
                <a:solidFill>
                  <a:schemeClr val="bg1"/>
                </a:solidFill>
              </a:rPr>
              <a:t> </a:t>
            </a:r>
            <a:r>
              <a:rPr lang="en-US" altLang="ru-RU" sz="2400" i="1">
                <a:solidFill>
                  <a:schemeClr val="bg1"/>
                </a:solidFill>
              </a:rPr>
              <a:t>private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i="1">
                <a:solidFill>
                  <a:schemeClr val="bg1"/>
                </a:solidFill>
              </a:rPr>
              <a:t>Нет доступа к переменным </a:t>
            </a:r>
            <a:r>
              <a:rPr lang="en-US" altLang="ru-RU" sz="2400" i="1">
                <a:solidFill>
                  <a:schemeClr val="bg1"/>
                </a:solidFill>
              </a:rPr>
              <a:t>x </a:t>
            </a:r>
            <a:r>
              <a:rPr lang="ru-RU" altLang="ru-RU" sz="2400" i="1">
                <a:solidFill>
                  <a:schemeClr val="bg1"/>
                </a:solidFill>
              </a:rPr>
              <a:t>и </a:t>
            </a:r>
            <a:r>
              <a:rPr lang="en-US" altLang="ru-RU" sz="2400" i="1">
                <a:solidFill>
                  <a:schemeClr val="bg1"/>
                </a:solidFill>
              </a:rPr>
              <a:t>y</a:t>
            </a:r>
            <a:r>
              <a:rPr lang="ru-RU" altLang="ru-RU" sz="2400" i="1">
                <a:solidFill>
                  <a:schemeClr val="bg1"/>
                </a:solidFill>
              </a:rPr>
              <a:t> из </a:t>
            </a:r>
            <a:r>
              <a:rPr lang="en-US" altLang="ru-RU" sz="2400" i="1">
                <a:solidFill>
                  <a:schemeClr val="bg1"/>
                </a:solidFill>
              </a:rPr>
              <a:t>main()</a:t>
            </a:r>
            <a:r>
              <a:rPr lang="ru-RU" altLang="ru-RU" sz="2400" i="1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21265262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875" y="0"/>
            <a:ext cx="9128125" cy="674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Овал 2"/>
          <p:cNvSpPr/>
          <p:nvPr/>
        </p:nvSpPr>
        <p:spPr>
          <a:xfrm>
            <a:off x="2124075" y="6092825"/>
            <a:ext cx="2232025" cy="431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5435600" y="6092825"/>
            <a:ext cx="3457575" cy="5762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3214148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75656" y="2420888"/>
            <a:ext cx="6552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 smtClean="0">
                <a:latin typeface="+mj-lt"/>
              </a:rPr>
              <a:t>Методы </a:t>
            </a:r>
            <a:r>
              <a:rPr lang="en-US" sz="4400" b="1" dirty="0" smtClean="0">
                <a:latin typeface="+mj-lt"/>
              </a:rPr>
              <a:t>set()</a:t>
            </a:r>
            <a:r>
              <a:rPr lang="ru-RU" sz="4400" b="1" dirty="0">
                <a:latin typeface="+mj-lt"/>
              </a:rPr>
              <a:t> </a:t>
            </a:r>
            <a:r>
              <a:rPr lang="ru-RU" sz="4400" b="1" dirty="0" smtClean="0">
                <a:latin typeface="+mj-lt"/>
              </a:rPr>
              <a:t>и </a:t>
            </a:r>
            <a:r>
              <a:rPr lang="en-US" sz="4400" b="1" dirty="0" smtClean="0">
                <a:latin typeface="+mj-lt"/>
              </a:rPr>
              <a:t>get() </a:t>
            </a:r>
            <a:endParaRPr lang="ru-RU" sz="4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61144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612329" y="66774"/>
            <a:ext cx="4103687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4400" b="1" dirty="0" smtClean="0"/>
              <a:t>Метод </a:t>
            </a:r>
            <a:r>
              <a:rPr lang="en-US" altLang="ru-RU" sz="4400" b="1" dirty="0" smtClean="0"/>
              <a:t>set()</a:t>
            </a:r>
            <a:endParaRPr lang="ru-RU" altLang="ru-RU" sz="4400" b="1" dirty="0"/>
          </a:p>
        </p:txBody>
      </p:sp>
      <p:sp>
        <p:nvSpPr>
          <p:cNvPr id="3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12329" y="881927"/>
            <a:ext cx="8228459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b="1" dirty="0" smtClean="0"/>
              <a:t>Метод </a:t>
            </a:r>
            <a:r>
              <a:rPr lang="en-US" altLang="ru-RU" b="1" dirty="0" smtClean="0"/>
              <a:t>set()</a:t>
            </a:r>
            <a:r>
              <a:rPr lang="ru-RU" altLang="ru-RU" b="1" dirty="0" smtClean="0"/>
              <a:t> – этот метод </a:t>
            </a:r>
            <a:r>
              <a:rPr lang="ru-RU" altLang="ru-RU" b="1" dirty="0" err="1" smtClean="0"/>
              <a:t>переприсваевает</a:t>
            </a:r>
            <a:r>
              <a:rPr lang="ru-RU" altLang="ru-RU" b="1" dirty="0" smtClean="0"/>
              <a:t> поля данных класса</a:t>
            </a:r>
            <a:endParaRPr lang="ru-RU" alt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2586462"/>
            <a:ext cx="8352928" cy="2074414"/>
          </a:xfrm>
          <a:prstGeom prst="rect">
            <a:avLst/>
          </a:prstGeom>
          <a:solidFill>
            <a:srgbClr val="FFFF66"/>
          </a:solidFill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void</a:t>
            </a:r>
            <a:r>
              <a:rPr lang="en-US" sz="28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Point::set(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float</a:t>
            </a:r>
            <a:r>
              <a:rPr lang="en-US" sz="28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pX,</a:t>
            </a:r>
            <a:r>
              <a:rPr lang="en-US" sz="2800" b="1" dirty="0" err="1">
                <a:solidFill>
                  <a:srgbClr val="0000F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float</a:t>
            </a:r>
            <a:r>
              <a:rPr lang="en-US" sz="28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pY</a:t>
            </a:r>
            <a:r>
              <a:rPr lang="en-US" sz="28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) {	</a:t>
            </a:r>
            <a:r>
              <a:rPr lang="en-US" sz="2800" b="1" dirty="0" smtClean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x </a:t>
            </a:r>
            <a:r>
              <a:rPr lang="en-US" sz="28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= </a:t>
            </a:r>
            <a:r>
              <a:rPr lang="en-US" sz="2800" b="1" dirty="0" err="1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pX</a:t>
            </a:r>
            <a:r>
              <a:rPr lang="en-US" sz="28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;</a:t>
            </a:r>
            <a:endParaRPr lang="ru-RU" sz="28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	</a:t>
            </a:r>
            <a:r>
              <a:rPr lang="en-US" sz="2800" b="1" dirty="0" smtClean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y </a:t>
            </a:r>
            <a:r>
              <a:rPr lang="en-US" sz="28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= </a:t>
            </a:r>
            <a:r>
              <a:rPr lang="en-US" sz="2800" b="1" dirty="0" err="1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pY</a:t>
            </a:r>
            <a:r>
              <a:rPr lang="en-US" sz="28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;</a:t>
            </a:r>
            <a:endParaRPr lang="ru-RU" sz="28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}</a:t>
            </a:r>
            <a:endParaRPr lang="ru-RU" sz="28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36017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562903" y="33180"/>
            <a:ext cx="4103687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4400" b="1" dirty="0" smtClean="0"/>
              <a:t>Метод</a:t>
            </a:r>
            <a:r>
              <a:rPr lang="ru-RU" altLang="ru-RU" sz="4400" b="1" dirty="0"/>
              <a:t>ы</a:t>
            </a:r>
            <a:r>
              <a:rPr lang="ru-RU" altLang="ru-RU" sz="4400" b="1" dirty="0" smtClean="0"/>
              <a:t> </a:t>
            </a:r>
            <a:r>
              <a:rPr lang="en-US" altLang="ru-RU" sz="4400" b="1" dirty="0"/>
              <a:t>g</a:t>
            </a:r>
            <a:r>
              <a:rPr lang="en-US" altLang="ru-RU" sz="4400" b="1" dirty="0" smtClean="0"/>
              <a:t>et()</a:t>
            </a:r>
            <a:endParaRPr lang="ru-RU" altLang="ru-RU" sz="4400" b="1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12329" y="881927"/>
            <a:ext cx="8228459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b="1" dirty="0" smtClean="0"/>
              <a:t>Методы </a:t>
            </a:r>
            <a:r>
              <a:rPr lang="en-US" altLang="ru-RU" b="1" dirty="0" smtClean="0"/>
              <a:t>get()</a:t>
            </a:r>
            <a:r>
              <a:rPr lang="ru-RU" altLang="ru-RU" b="1" dirty="0" smtClean="0"/>
              <a:t> показывают чему равны поля класса. Методы </a:t>
            </a:r>
            <a:r>
              <a:rPr lang="en-US" altLang="ru-RU" b="1" dirty="0"/>
              <a:t>get()</a:t>
            </a:r>
            <a:r>
              <a:rPr lang="ru-RU" altLang="ru-RU" b="1" dirty="0"/>
              <a:t> </a:t>
            </a:r>
            <a:r>
              <a:rPr lang="ru-RU" altLang="ru-RU" b="1" dirty="0" smtClean="0"/>
              <a:t>константные методы.</a:t>
            </a:r>
            <a:endParaRPr lang="ru-RU" alt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72469" y="2132856"/>
            <a:ext cx="8512042" cy="3808735"/>
          </a:xfrm>
          <a:prstGeom prst="rect">
            <a:avLst/>
          </a:prstGeom>
          <a:solidFill>
            <a:srgbClr val="FFFF66"/>
          </a:solidFill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000" b="1" dirty="0">
                <a:solidFill>
                  <a:srgbClr val="0000F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float</a:t>
            </a:r>
            <a:r>
              <a:rPr lang="en-US" sz="30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Point::</a:t>
            </a:r>
            <a:r>
              <a:rPr lang="en-US" sz="3000" b="1" dirty="0" err="1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getX</a:t>
            </a:r>
            <a:r>
              <a:rPr lang="en-US" sz="30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()</a:t>
            </a:r>
            <a:r>
              <a:rPr lang="en-US" sz="3000" b="1" dirty="0" err="1">
                <a:solidFill>
                  <a:srgbClr val="0000F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const</a:t>
            </a:r>
            <a:r>
              <a:rPr lang="en-US" sz="30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{			</a:t>
            </a:r>
            <a:r>
              <a:rPr lang="en-US" sz="3000" b="1" dirty="0">
                <a:solidFill>
                  <a:srgbClr val="0000F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return</a:t>
            </a:r>
            <a:r>
              <a:rPr lang="en-US" sz="30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x;</a:t>
            </a:r>
            <a:endParaRPr lang="ru-RU" sz="30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0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}</a:t>
            </a:r>
            <a:endParaRPr lang="ru-RU" sz="30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0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 </a:t>
            </a:r>
            <a:endParaRPr lang="ru-RU" sz="30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000" b="1" dirty="0">
                <a:solidFill>
                  <a:srgbClr val="0000F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float</a:t>
            </a:r>
            <a:r>
              <a:rPr lang="en-US" sz="30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Point::</a:t>
            </a:r>
            <a:r>
              <a:rPr lang="en-US" sz="3000" b="1" dirty="0" err="1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getY</a:t>
            </a:r>
            <a:r>
              <a:rPr lang="en-US" sz="30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()</a:t>
            </a:r>
            <a:r>
              <a:rPr lang="en-US" sz="3000" b="1" dirty="0" err="1">
                <a:solidFill>
                  <a:srgbClr val="0000F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const</a:t>
            </a:r>
            <a:r>
              <a:rPr lang="en-US" sz="30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{	</a:t>
            </a:r>
            <a:endParaRPr lang="ru-RU" sz="30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0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		</a:t>
            </a:r>
            <a:r>
              <a:rPr lang="en-US" sz="3000" b="1" dirty="0">
                <a:solidFill>
                  <a:srgbClr val="0000F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return</a:t>
            </a:r>
            <a:r>
              <a:rPr lang="en-US" sz="30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y;</a:t>
            </a:r>
            <a:endParaRPr lang="ru-RU" sz="30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000" b="1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}</a:t>
            </a:r>
            <a:endParaRPr lang="ru-RU" sz="3000" b="1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614746" y="6033454"/>
            <a:ext cx="6157265" cy="70791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Arial" charset="0"/>
              </a:rPr>
              <a:t>Константный метод. Это </a:t>
            </a:r>
            <a:r>
              <a:rPr lang="ru-RU" altLang="ru-RU" sz="2000" dirty="0" smtClean="0">
                <a:latin typeface="Arial" charset="0"/>
              </a:rPr>
              <a:t>значит </a:t>
            </a:r>
            <a:r>
              <a:rPr lang="ru-RU" altLang="ru-RU" sz="2000" b="1" dirty="0" smtClean="0">
                <a:latin typeface="Arial" charset="0"/>
              </a:rPr>
              <a:t>нельзя</a:t>
            </a:r>
            <a:r>
              <a:rPr lang="ru-RU" altLang="ru-RU" sz="2000" dirty="0" smtClean="0">
                <a:latin typeface="Arial" charset="0"/>
              </a:rPr>
              <a:t> </a:t>
            </a:r>
            <a:r>
              <a:rPr lang="ru-RU" altLang="ru-RU" sz="2000" b="1" dirty="0">
                <a:latin typeface="Arial" charset="0"/>
              </a:rPr>
              <a:t>менять</a:t>
            </a:r>
            <a:r>
              <a:rPr lang="ru-RU" altLang="ru-RU" sz="2000" dirty="0">
                <a:latin typeface="Arial" charset="0"/>
              </a:rPr>
              <a:t> </a:t>
            </a:r>
            <a:r>
              <a:rPr lang="ru-RU" altLang="ru-RU" sz="2000" b="1" dirty="0">
                <a:latin typeface="Arial" charset="0"/>
              </a:rPr>
              <a:t>значения </a:t>
            </a:r>
            <a:r>
              <a:rPr lang="ru-RU" altLang="ru-RU" sz="2000" b="1" dirty="0" smtClean="0">
                <a:latin typeface="Arial" charset="0"/>
              </a:rPr>
              <a:t>полей </a:t>
            </a:r>
            <a:r>
              <a:rPr lang="ru-RU" altLang="ru-RU" sz="2000" b="1" dirty="0">
                <a:latin typeface="Arial" charset="0"/>
              </a:rPr>
              <a:t>класса</a:t>
            </a:r>
            <a:r>
              <a:rPr lang="ru-RU" altLang="ru-RU" sz="2000" dirty="0">
                <a:latin typeface="Arial" charset="0"/>
              </a:rPr>
              <a:t>. </a:t>
            </a:r>
          </a:p>
        </p:txBody>
      </p:sp>
      <p:cxnSp>
        <p:nvCxnSpPr>
          <p:cNvPr id="8" name="Прямая со стрелкой 7"/>
          <p:cNvCxnSpPr/>
          <p:nvPr/>
        </p:nvCxnSpPr>
        <p:spPr bwMode="auto">
          <a:xfrm flipV="1">
            <a:off x="4090413" y="4797152"/>
            <a:ext cx="1201667" cy="123630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8390175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681</Words>
  <Application>Microsoft Office PowerPoint</Application>
  <PresentationFormat>Экран (4:3)</PresentationFormat>
  <Paragraphs>227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Arial</vt:lpstr>
      <vt:lpstr>Calibri</vt:lpstr>
      <vt:lpstr>Courier New</vt:lpstr>
      <vt:lpstr>Times New Roman</vt:lpstr>
      <vt:lpstr>Тема Office</vt:lpstr>
      <vt:lpstr>Конструкторы. Деструктор. Методы get() и set() Лекция 2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Объектно-ориентированное программирование</dc:title>
  <dc:creator>admin</dc:creator>
  <cp:lastModifiedBy>kiryakinax</cp:lastModifiedBy>
  <cp:revision>49</cp:revision>
  <dcterms:created xsi:type="dcterms:W3CDTF">2015-10-10T21:07:19Z</dcterms:created>
  <dcterms:modified xsi:type="dcterms:W3CDTF">2017-04-12T03:25:37Z</dcterms:modified>
</cp:coreProperties>
</file>