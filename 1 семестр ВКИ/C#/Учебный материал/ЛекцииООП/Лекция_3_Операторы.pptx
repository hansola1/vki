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503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1366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7354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3034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3854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258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7310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9882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2207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3199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8654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9B542-E775-44AC-A795-0B8A335A4702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E9F03-13BB-45C2-B0F1-8428F1CC62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6600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2636912"/>
            <a:ext cx="7993062" cy="9848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 b="1" dirty="0" smtClean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Перегрузка </a:t>
            </a:r>
            <a:r>
              <a:rPr lang="ru-RU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функций (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function overloading</a:t>
            </a:r>
            <a:r>
              <a:rPr lang="ru-RU" sz="3000" b="1" dirty="0" smtClean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)</a:t>
            </a:r>
            <a:endParaRPr lang="en-US" sz="3000" b="1" dirty="0" smtClean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</a:rPr>
              <a:t>Лекция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3</a:t>
            </a:r>
            <a:endParaRPr lang="ru-RU" sz="3000" b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1915616" y="4365625"/>
            <a:ext cx="6400800" cy="14144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chemeClr val="tx1"/>
                </a:solidFill>
              </a:rPr>
              <a:t>доцент</a:t>
            </a:r>
            <a:endParaRPr lang="ru-RU" sz="2000" b="1" dirty="0" smtClean="0">
              <a:solidFill>
                <a:schemeClr val="tx1"/>
              </a:solidFill>
            </a:endParaRPr>
          </a:p>
          <a:p>
            <a:pPr algn="r" fontAlgn="auto"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chemeClr val="tx1"/>
                </a:solidFill>
              </a:rPr>
              <a:t>Высшего колледжа информатики НГУ </a:t>
            </a:r>
          </a:p>
          <a:p>
            <a:pPr algn="r" fontAlgn="auto"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chemeClr val="tx1"/>
                </a:solidFill>
              </a:rPr>
              <a:t>Наталия Викторовна </a:t>
            </a:r>
            <a:r>
              <a:rPr lang="ru-RU" sz="2000" b="1" dirty="0" err="1" smtClean="0">
                <a:solidFill>
                  <a:schemeClr val="tx1"/>
                </a:solidFill>
              </a:rPr>
              <a:t>Голкова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801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410225" y="3755456"/>
            <a:ext cx="8050207" cy="1366528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Point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();		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	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Point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(</a:t>
            </a:r>
            <a:r>
              <a:rPr lang="ru-RU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float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pX,</a:t>
            </a:r>
            <a:r>
              <a:rPr lang="ru-RU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float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ru-RU" sz="2400" b="1" dirty="0" err="1" smtClean="0">
                <a:effectLst/>
                <a:latin typeface="Courier New"/>
                <a:ea typeface="Calibri"/>
                <a:cs typeface="Times New Roman"/>
              </a:rPr>
              <a:t>pY</a:t>
            </a:r>
            <a:r>
              <a:rPr lang="ru-RU" sz="2400" b="1" dirty="0" smtClean="0">
                <a:effectLst/>
                <a:latin typeface="Courier New"/>
                <a:ea typeface="Calibri"/>
                <a:cs typeface="Times New Roman"/>
              </a:rPr>
              <a:t>);	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effectLst/>
                <a:latin typeface="Courier New"/>
                <a:ea typeface="Calibri"/>
              </a:rPr>
              <a:t>	</a:t>
            </a:r>
            <a:r>
              <a:rPr lang="ru-RU" sz="2400" b="1" dirty="0" err="1" smtClean="0">
                <a:effectLst/>
                <a:latin typeface="Courier New"/>
                <a:ea typeface="Calibri"/>
              </a:rPr>
              <a:t>Point</a:t>
            </a:r>
            <a:r>
              <a:rPr lang="ru-RU" sz="2400" b="1" dirty="0" smtClean="0">
                <a:effectLst/>
                <a:latin typeface="Courier New"/>
                <a:ea typeface="Calibri"/>
              </a:rPr>
              <a:t>(</a:t>
            </a:r>
            <a:r>
              <a:rPr lang="ru-RU" sz="2400" b="1" dirty="0" err="1" smtClean="0">
                <a:solidFill>
                  <a:srgbClr val="0000FF"/>
                </a:solidFill>
                <a:effectLst/>
                <a:latin typeface="Courier New"/>
                <a:ea typeface="Calibri"/>
              </a:rPr>
              <a:t>const</a:t>
            </a:r>
            <a:r>
              <a:rPr lang="ru-RU" sz="2400" b="1" dirty="0" smtClean="0">
                <a:effectLst/>
                <a:latin typeface="Courier New"/>
                <a:ea typeface="Calibri"/>
              </a:rPr>
              <a:t> </a:t>
            </a:r>
            <a:r>
              <a:rPr lang="ru-RU" sz="2400" b="1" dirty="0" err="1" smtClean="0">
                <a:effectLst/>
                <a:latin typeface="Courier New"/>
                <a:ea typeface="Calibri"/>
              </a:rPr>
              <a:t>Point</a:t>
            </a:r>
            <a:r>
              <a:rPr lang="ru-RU" sz="2400" b="1" dirty="0" smtClean="0">
                <a:effectLst/>
                <a:latin typeface="Courier New"/>
                <a:ea typeface="Calibri"/>
              </a:rPr>
              <a:t> &amp;</a:t>
            </a:r>
            <a:r>
              <a:rPr lang="ru-RU" sz="2400" b="1" dirty="0" err="1" smtClean="0">
                <a:effectLst/>
                <a:latin typeface="Courier New"/>
                <a:ea typeface="Calibri"/>
              </a:rPr>
              <a:t>pointCopy</a:t>
            </a:r>
            <a:r>
              <a:rPr lang="ru-RU" sz="2400" b="1" dirty="0" smtClean="0">
                <a:effectLst/>
                <a:latin typeface="Courier New"/>
                <a:ea typeface="Calibri"/>
              </a:rPr>
              <a:t>);</a:t>
            </a:r>
            <a:endParaRPr lang="ru-RU" sz="2400" b="1" dirty="0"/>
          </a:p>
        </p:txBody>
      </p:sp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95536" y="134400"/>
            <a:ext cx="7993062" cy="554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Перегрузка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функций (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function overloading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)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395536" y="908720"/>
            <a:ext cx="835183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/>
              <a:t>Если </a:t>
            </a:r>
            <a:r>
              <a:rPr lang="ru-RU" altLang="ru-RU" sz="2400" b="1" dirty="0"/>
              <a:t>две </a:t>
            </a:r>
            <a:r>
              <a:rPr lang="ru-RU" altLang="ru-RU" sz="2400" b="1" dirty="0" smtClean="0"/>
              <a:t>или больше </a:t>
            </a:r>
            <a:r>
              <a:rPr lang="ru-RU" altLang="ru-RU" sz="2400" b="1" dirty="0"/>
              <a:t>функций </a:t>
            </a:r>
            <a:r>
              <a:rPr lang="ru-RU" altLang="ru-RU" sz="2400" dirty="0"/>
              <a:t>имеют </a:t>
            </a:r>
            <a:r>
              <a:rPr lang="ru-RU" altLang="ru-RU" sz="2400" b="1" dirty="0"/>
              <a:t>одинаковое </a:t>
            </a:r>
            <a:r>
              <a:rPr lang="ru-RU" altLang="ru-RU" sz="2400" b="1" dirty="0" smtClean="0"/>
              <a:t>имя, то </a:t>
            </a:r>
            <a:r>
              <a:rPr lang="ru-RU" altLang="ru-RU" sz="2400" dirty="0" smtClean="0"/>
              <a:t>говорят</a:t>
            </a:r>
            <a:r>
              <a:rPr lang="ru-RU" altLang="ru-RU" sz="2400" dirty="0"/>
              <a:t>, что </a:t>
            </a:r>
            <a:r>
              <a:rPr lang="ru-RU" altLang="ru-RU" sz="2400" b="1" dirty="0"/>
              <a:t>они перегружены</a:t>
            </a:r>
            <a:r>
              <a:rPr lang="ru-RU" altLang="ru-RU" sz="2400" dirty="0"/>
              <a:t>. Перегруженные функции </a:t>
            </a:r>
            <a:r>
              <a:rPr lang="ru-RU" altLang="ru-RU" sz="2400" b="1" dirty="0"/>
              <a:t>отличаются</a:t>
            </a:r>
            <a:r>
              <a:rPr lang="ru-RU" altLang="ru-RU" sz="2400" dirty="0"/>
              <a:t> </a:t>
            </a:r>
            <a:r>
              <a:rPr lang="ru-RU" altLang="ru-RU" sz="2400" b="1" dirty="0" smtClean="0"/>
              <a:t>типом. </a:t>
            </a:r>
            <a:r>
              <a:rPr lang="ru-RU" altLang="ru-RU" sz="2400" dirty="0" smtClean="0"/>
              <a:t>Перегруженные функции </a:t>
            </a:r>
            <a:r>
              <a:rPr lang="ru-RU" altLang="ru-RU" sz="2400" b="1" dirty="0" smtClean="0"/>
              <a:t>отличаются количеством параметров. </a:t>
            </a:r>
            <a:r>
              <a:rPr lang="ru-RU" altLang="ru-RU" sz="2400" dirty="0" smtClean="0"/>
              <a:t>Перегруженные функции </a:t>
            </a:r>
            <a:r>
              <a:rPr lang="ru-RU" altLang="ru-RU" sz="2400" b="1" dirty="0" smtClean="0"/>
              <a:t>отличаются</a:t>
            </a:r>
            <a:r>
              <a:rPr lang="ru-RU" altLang="ru-RU" sz="2400" dirty="0" smtClean="0"/>
              <a:t> </a:t>
            </a:r>
            <a:r>
              <a:rPr lang="ru-RU" altLang="ru-RU" sz="2400" b="1" dirty="0" smtClean="0"/>
              <a:t>типом и количеством параметров. </a:t>
            </a:r>
            <a:r>
              <a:rPr lang="ru-RU" altLang="ru-RU" sz="2400" b="1" dirty="0" smtClean="0">
                <a:solidFill>
                  <a:srgbClr val="FF0000"/>
                </a:solidFill>
              </a:rPr>
              <a:t>Компилятор</a:t>
            </a:r>
            <a:r>
              <a:rPr lang="ru-RU" altLang="ru-RU" sz="2400" dirty="0" smtClean="0"/>
              <a:t> </a:t>
            </a:r>
            <a:r>
              <a:rPr lang="ru-RU" altLang="ru-RU" sz="2400" b="1" dirty="0">
                <a:solidFill>
                  <a:srgbClr val="FF0000"/>
                </a:solidFill>
              </a:rPr>
              <a:t>автоматически</a:t>
            </a:r>
            <a:r>
              <a:rPr lang="ru-RU" altLang="ru-RU" sz="2400" dirty="0"/>
              <a:t> выбирает  вызов нужной функции.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/>
              <a:t>Например: конструкторы – перегруженные функции. 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flipV="1">
            <a:off x="1763688" y="4077072"/>
            <a:ext cx="720080" cy="15121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1763688" y="4581128"/>
            <a:ext cx="1872208" cy="10081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1763688" y="5121984"/>
            <a:ext cx="3096344" cy="4672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367004" y="5589240"/>
            <a:ext cx="8732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dirty="0"/>
              <a:t>Различаются передаваемыми параметрами</a:t>
            </a:r>
          </a:p>
        </p:txBody>
      </p:sp>
    </p:spTree>
    <p:extLst>
      <p:ext uri="{BB962C8B-B14F-4D97-AF65-F5344CB8AC3E}">
        <p14:creationId xmlns:p14="http://schemas.microsoft.com/office/powerpoint/2010/main" xmlns="" val="241257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325250" y="134400"/>
            <a:ext cx="8515538" cy="6456826"/>
            <a:chOff x="325250" y="134400"/>
            <a:chExt cx="8515538" cy="6456826"/>
          </a:xfrm>
        </p:grpSpPr>
        <p:sp>
          <p:nvSpPr>
            <p:cNvPr id="2" name="Line 2"/>
            <p:cNvSpPr>
              <a:spLocks noChangeShapeType="1"/>
            </p:cNvSpPr>
            <p:nvPr/>
          </p:nvSpPr>
          <p:spPr bwMode="auto">
            <a:xfrm>
              <a:off x="376238" y="795338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5536" y="134400"/>
              <a:ext cx="7993062" cy="5540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3000" b="1" dirty="0" smtClean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Перегрузка </a:t>
              </a:r>
              <a:r>
                <a:rPr lang="ru-RU" sz="3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функций (</a:t>
              </a:r>
              <a:r>
                <a:rPr lang="en-US" sz="3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function overloading</a:t>
              </a:r>
              <a:r>
                <a:rPr lang="ru-RU" sz="3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)</a:t>
              </a:r>
            </a:p>
          </p:txBody>
        </p:sp>
        <p:sp>
          <p:nvSpPr>
            <p:cNvPr id="13" name="TextBox 2"/>
            <p:cNvSpPr txBox="1">
              <a:spLocks noChangeArrowheads="1"/>
            </p:cNvSpPr>
            <p:nvPr/>
          </p:nvSpPr>
          <p:spPr bwMode="auto">
            <a:xfrm>
              <a:off x="325250" y="908720"/>
              <a:ext cx="8493356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800" dirty="0"/>
                <a:t>Например, метод </a:t>
              </a:r>
              <a:r>
                <a:rPr lang="en-US" altLang="ru-RU" sz="2800" dirty="0"/>
                <a:t>set() </a:t>
              </a:r>
              <a:r>
                <a:rPr lang="ru-RU" altLang="ru-RU" sz="2800" dirty="0"/>
                <a:t>перегружен. Мы можем вводить </a:t>
              </a:r>
              <a:r>
                <a:rPr lang="en-US" altLang="ru-RU" sz="2800" dirty="0"/>
                <a:t>x = </a:t>
              </a:r>
              <a:r>
                <a:rPr lang="ru-RU" altLang="ru-RU" sz="2800" dirty="0" smtClean="0"/>
                <a:t>3,2 или</a:t>
              </a:r>
              <a:r>
                <a:rPr lang="en-US" altLang="ru-RU" sz="2800" dirty="0" smtClean="0"/>
                <a:t> </a:t>
              </a:r>
              <a:r>
                <a:rPr lang="en-US" altLang="ru-RU" sz="2800" dirty="0"/>
                <a:t>x = 3.7</a:t>
              </a:r>
              <a:r>
                <a:rPr lang="ru-RU" altLang="ru-RU" sz="2800" dirty="0"/>
                <a:t>, а метод </a:t>
              </a:r>
              <a:r>
                <a:rPr lang="en-US" altLang="ru-RU" sz="2800" dirty="0"/>
                <a:t>set() </a:t>
              </a:r>
              <a:r>
                <a:rPr lang="ru-RU" altLang="ru-RU" sz="2800" dirty="0"/>
                <a:t>будет округлять</a:t>
              </a:r>
            </a:p>
          </p:txBody>
        </p:sp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643" y="2316991"/>
              <a:ext cx="8402618" cy="4274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3"/>
            <p:cNvSpPr txBox="1">
              <a:spLocks noChangeArrowheads="1"/>
            </p:cNvSpPr>
            <p:nvPr/>
          </p:nvSpPr>
          <p:spPr bwMode="auto">
            <a:xfrm>
              <a:off x="5140775" y="3789040"/>
              <a:ext cx="3672270" cy="101571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000"/>
                <a:t>X = 3.7;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000"/>
                <a:t> a = (int)(3.7+0.5) =  (int)(4.2) = 4;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000"/>
            </a:p>
          </p:txBody>
        </p:sp>
        <p:sp>
          <p:nvSpPr>
            <p:cNvPr id="16" name="TextBox 6"/>
            <p:cNvSpPr txBox="1">
              <a:spLocks noChangeArrowheads="1"/>
            </p:cNvSpPr>
            <p:nvPr/>
          </p:nvSpPr>
          <p:spPr bwMode="auto">
            <a:xfrm>
              <a:off x="5148110" y="5244187"/>
              <a:ext cx="3672270" cy="101571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000"/>
                <a:t>X = 3.2;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000"/>
                <a:t> a = (int)(3.2+0.5) =  (int)(3.7) = 3;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000"/>
            </a:p>
          </p:txBody>
        </p:sp>
      </p:grpSp>
    </p:spTree>
    <p:extLst>
      <p:ext uri="{BB962C8B-B14F-4D97-AF65-F5344CB8AC3E}">
        <p14:creationId xmlns:p14="http://schemas.microsoft.com/office/powerpoint/2010/main" xmlns="" val="321956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540966" y="147357"/>
            <a:ext cx="33829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dirty="0">
                <a:latin typeface="+mn-lt"/>
                <a:cs typeface="+mn-cs"/>
              </a:rPr>
              <a:t>Указатель 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this</a:t>
            </a:r>
            <a:endParaRPr lang="ru-RU" sz="3600" b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313097" y="905813"/>
            <a:ext cx="8637587" cy="27392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latin typeface="+mn-lt"/>
                <a:cs typeface="+mn-cs"/>
              </a:rPr>
              <a:t>Указатель </a:t>
            </a:r>
            <a:r>
              <a:rPr lang="ru-RU" sz="2400" b="1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this</a:t>
            </a:r>
            <a:r>
              <a:rPr lang="ru-RU" sz="2400" dirty="0">
                <a:latin typeface="+mn-lt"/>
                <a:cs typeface="+mn-cs"/>
              </a:rPr>
              <a:t> — это указатель на адрес объекта класса.  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this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ru-RU" sz="2400" dirty="0" smtClean="0">
                <a:latin typeface="+mn-lt"/>
                <a:cs typeface="+mn-cs"/>
              </a:rPr>
              <a:t>скрытый первый параметр </a:t>
            </a:r>
            <a:r>
              <a:rPr lang="ru-RU" sz="2400" dirty="0">
                <a:latin typeface="+mn-lt"/>
                <a:cs typeface="+mn-cs"/>
              </a:rPr>
              <a:t>любого метода класса. </a:t>
            </a:r>
            <a:endParaRPr lang="ru-RU" sz="2400" dirty="0" smtClean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latin typeface="+mn-lt"/>
                <a:cs typeface="+mn-cs"/>
              </a:rPr>
              <a:t>Тип </a:t>
            </a:r>
            <a:r>
              <a:rPr lang="ru-RU" sz="2400" b="1" dirty="0">
                <a:latin typeface="+mn-lt"/>
                <a:cs typeface="+mn-cs"/>
              </a:rPr>
              <a:t>указателя </a:t>
            </a:r>
            <a:r>
              <a:rPr lang="ru-RU" sz="2400" dirty="0">
                <a:latin typeface="+mn-lt"/>
                <a:cs typeface="+mn-cs"/>
              </a:rPr>
              <a:t>-  это </a:t>
            </a:r>
            <a:r>
              <a:rPr lang="ru-RU" sz="2400" b="1" dirty="0">
                <a:latin typeface="+mn-lt"/>
                <a:cs typeface="+mn-cs"/>
              </a:rPr>
              <a:t>имя класса</a:t>
            </a:r>
            <a:r>
              <a:rPr lang="ru-RU" sz="2400" dirty="0">
                <a:latin typeface="+mn-lt"/>
                <a:cs typeface="+mn-cs"/>
              </a:rPr>
              <a:t>.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this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ru-RU" sz="2400" dirty="0">
                <a:latin typeface="+mn-lt"/>
                <a:cs typeface="+mn-cs"/>
              </a:rPr>
              <a:t>можно использовать для доступа к методам и полям объекта. Имя поля и параметра </a:t>
            </a:r>
            <a:r>
              <a:rPr lang="ru-RU" sz="2400" b="1" dirty="0">
                <a:latin typeface="+mn-lt"/>
                <a:cs typeface="+mn-cs"/>
              </a:rPr>
              <a:t>одинаковые</a:t>
            </a:r>
            <a:r>
              <a:rPr lang="ru-RU" sz="2400" dirty="0">
                <a:latin typeface="+mn-lt"/>
                <a:cs typeface="+mn-cs"/>
              </a:rPr>
              <a:t>. Чтобы не запутаться в </a:t>
            </a:r>
            <a:r>
              <a:rPr lang="ru-RU" sz="2400" dirty="0" smtClean="0">
                <a:latin typeface="+mn-lt"/>
                <a:cs typeface="+mn-cs"/>
              </a:rPr>
              <a:t>именах поля класса и параметре метода,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this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ru-RU" sz="2400" dirty="0">
                <a:latin typeface="+mn-lt"/>
                <a:cs typeface="+mn-cs"/>
              </a:rPr>
              <a:t>указывает на поле класса. Это значит полю класса = значение параметра </a:t>
            </a:r>
            <a:r>
              <a:rPr lang="ru-RU" sz="28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а</a:t>
            </a:r>
            <a:endParaRPr lang="ru-RU" sz="2400" dirty="0">
              <a:latin typeface="+mn-lt"/>
              <a:cs typeface="+mn-cs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3837" y="3887336"/>
            <a:ext cx="7199055" cy="1813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Прямая со стрелкой 5"/>
          <p:cNvCxnSpPr>
            <a:endCxn id="12" idx="3"/>
          </p:cNvCxnSpPr>
          <p:nvPr/>
        </p:nvCxnSpPr>
        <p:spPr bwMode="auto">
          <a:xfrm flipV="1">
            <a:off x="900113" y="5118100"/>
            <a:ext cx="2627312" cy="5826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 bwMode="auto">
          <a:xfrm flipV="1">
            <a:off x="6727825" y="4508500"/>
            <a:ext cx="144463" cy="12620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 bwMode="auto">
          <a:xfrm flipH="1" flipV="1">
            <a:off x="4997450" y="5056188"/>
            <a:ext cx="1730375" cy="6826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5179707" y="5739191"/>
            <a:ext cx="3672260" cy="101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/>
              <a:t>Параметр метода  </a:t>
            </a:r>
            <a:r>
              <a:rPr lang="en-US" altLang="ru-RU" sz="2800"/>
              <a:t>set()</a:t>
            </a:r>
            <a:endParaRPr lang="ru-RU" altLang="ru-RU" sz="2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/>
              <a:t>Приоритет </a:t>
            </a:r>
            <a:r>
              <a:rPr lang="ru-RU" altLang="ru-RU" b="1"/>
              <a:t>а</a:t>
            </a:r>
            <a:r>
              <a:rPr lang="ru-RU" altLang="ru-RU" sz="2800"/>
              <a:t> выше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249238" y="5473700"/>
            <a:ext cx="4178300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dirty="0">
                <a:latin typeface="+mn-lt"/>
                <a:cs typeface="+mn-cs"/>
              </a:rPr>
              <a:t>Поле класса.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t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his </a:t>
            </a:r>
            <a:r>
              <a:rPr lang="ru-RU" sz="2800" dirty="0">
                <a:latin typeface="+mn-lt"/>
                <a:cs typeface="+mn-cs"/>
              </a:rPr>
              <a:t>указывает на поле класса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ru-RU" sz="2800" dirty="0">
                <a:latin typeface="+mn-lt"/>
                <a:cs typeface="+mn-cs"/>
              </a:rPr>
              <a:t>  </a:t>
            </a:r>
          </a:p>
        </p:txBody>
      </p:sp>
      <p:sp>
        <p:nvSpPr>
          <p:cNvPr id="11" name="Овал 10"/>
          <p:cNvSpPr/>
          <p:nvPr/>
        </p:nvSpPr>
        <p:spPr bwMode="auto">
          <a:xfrm>
            <a:off x="6407150" y="3895725"/>
            <a:ext cx="757238" cy="6127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2" name="Овал 11"/>
          <p:cNvSpPr/>
          <p:nvPr/>
        </p:nvSpPr>
        <p:spPr bwMode="auto">
          <a:xfrm>
            <a:off x="3417888" y="4594225"/>
            <a:ext cx="755650" cy="614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 bwMode="auto">
          <a:xfrm>
            <a:off x="1475656" y="2780928"/>
            <a:ext cx="2297832" cy="17275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 bwMode="auto">
          <a:xfrm>
            <a:off x="1475656" y="2780928"/>
            <a:ext cx="4931494" cy="111479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8876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Группа 34"/>
          <p:cNvGrpSpPr/>
          <p:nvPr/>
        </p:nvGrpSpPr>
        <p:grpSpPr>
          <a:xfrm>
            <a:off x="376238" y="131389"/>
            <a:ext cx="8464550" cy="5948089"/>
            <a:chOff x="376238" y="131389"/>
            <a:chExt cx="8464550" cy="5948089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395536" y="4005064"/>
              <a:ext cx="8136904" cy="2074414"/>
            </a:xfrm>
            <a:prstGeom prst="rect">
              <a:avLst/>
            </a:prstGeom>
            <a:solidFill>
              <a:srgbClr val="FFFF99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2800" b="1" dirty="0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void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 Point::set(</a:t>
              </a:r>
              <a:r>
                <a:rPr lang="en-US" sz="2800" b="1" dirty="0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float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 </a:t>
              </a:r>
              <a:r>
                <a:rPr lang="en-US" sz="2800" b="1" dirty="0" err="1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x,</a:t>
              </a:r>
              <a:r>
                <a:rPr lang="en-US" sz="2800" b="1" dirty="0" err="1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float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 y) {			</a:t>
              </a:r>
              <a:r>
                <a:rPr lang="en-US" sz="2800" b="1" dirty="0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this-&gt;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x = x;</a:t>
              </a:r>
              <a:endParaRPr lang="ru-RU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endParaRPr>
            </a:p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		</a:t>
              </a:r>
              <a:r>
                <a:rPr lang="en-US" sz="2800" b="1" dirty="0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this-&gt;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y = y;</a:t>
              </a:r>
              <a:endParaRPr lang="ru-RU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endParaRPr>
            </a:p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}</a:t>
              </a:r>
              <a:endParaRPr lang="ru-RU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endParaRP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395536" y="1556792"/>
              <a:ext cx="8136904" cy="2074414"/>
            </a:xfrm>
            <a:prstGeom prst="rect">
              <a:avLst/>
            </a:prstGeom>
            <a:solidFill>
              <a:srgbClr val="FFFF99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2800" b="1" dirty="0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void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 Point::set(</a:t>
              </a:r>
              <a:r>
                <a:rPr lang="en-US" sz="2800" b="1" dirty="0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float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 </a:t>
              </a:r>
              <a:r>
                <a:rPr lang="en-US" sz="2800" b="1" dirty="0" err="1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pX,</a:t>
              </a:r>
              <a:r>
                <a:rPr lang="en-US" sz="2800" b="1" dirty="0" err="1" smtClean="0">
                  <a:solidFill>
                    <a:srgbClr val="0000FF"/>
                  </a:solidFill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float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 </a:t>
              </a:r>
              <a:r>
                <a:rPr lang="en-US" sz="2800" b="1" dirty="0" err="1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pY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) {		x = </a:t>
              </a:r>
              <a:r>
                <a:rPr lang="en-US" sz="2800" b="1" dirty="0" err="1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pX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;</a:t>
              </a:r>
              <a:endParaRPr lang="ru-RU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endParaRPr>
            </a:p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		y = </a:t>
              </a:r>
              <a:r>
                <a:rPr lang="en-US" sz="2800" b="1" dirty="0" err="1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pY</a:t>
              </a: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;</a:t>
              </a:r>
              <a:endParaRPr lang="ru-RU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endParaRPr>
            </a:p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2800" b="1" dirty="0" smtClean="0">
                  <a:effectLst/>
                  <a:latin typeface="Courier New" panose="02070309020205020404" pitchFamily="49" charset="0"/>
                  <a:ea typeface="Calibri"/>
                  <a:cs typeface="Courier New" panose="02070309020205020404" pitchFamily="49" charset="0"/>
                </a:rPr>
                <a:t>}</a:t>
              </a:r>
              <a:endParaRPr lang="ru-RU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 bwMode="auto">
            <a:xfrm>
              <a:off x="539700" y="131389"/>
              <a:ext cx="3024188" cy="64611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3600" b="1" dirty="0">
                  <a:latin typeface="+mn-lt"/>
                  <a:cs typeface="+mn-cs"/>
                </a:rPr>
                <a:t>Пример </a:t>
              </a:r>
              <a:r>
                <a:rPr lang="en-US" sz="3600" b="1" dirty="0">
                  <a:solidFill>
                    <a:schemeClr val="accent1">
                      <a:lumMod val="75000"/>
                    </a:schemeClr>
                  </a:solidFill>
                  <a:latin typeface="+mn-lt"/>
                  <a:cs typeface="+mn-cs"/>
                </a:rPr>
                <a:t>this</a:t>
              </a:r>
              <a:endParaRPr lang="ru-RU" sz="3600" b="1" dirty="0">
                <a:latin typeface="+mn-lt"/>
                <a:cs typeface="+mn-cs"/>
              </a:endParaRPr>
            </a:p>
          </p:txBody>
        </p:sp>
        <p:cxnSp>
          <p:nvCxnSpPr>
            <p:cNvPr id="6" name="Прямая со стрелкой 5"/>
            <p:cNvCxnSpPr/>
            <p:nvPr/>
          </p:nvCxnSpPr>
          <p:spPr bwMode="auto">
            <a:xfrm flipH="1" flipV="1">
              <a:off x="3563888" y="2492896"/>
              <a:ext cx="2233070" cy="86409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 стрелкой 6"/>
            <p:cNvCxnSpPr/>
            <p:nvPr/>
          </p:nvCxnSpPr>
          <p:spPr bwMode="auto">
            <a:xfrm flipH="1" flipV="1">
              <a:off x="2483768" y="2492898"/>
              <a:ext cx="3313190" cy="86409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13"/>
            <p:cNvSpPr txBox="1">
              <a:spLocks noChangeArrowheads="1"/>
            </p:cNvSpPr>
            <p:nvPr/>
          </p:nvSpPr>
          <p:spPr bwMode="auto">
            <a:xfrm>
              <a:off x="5887666" y="2759334"/>
              <a:ext cx="2376267" cy="831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dirty="0"/>
                <a:t>Разные имена переменных</a:t>
              </a:r>
            </a:p>
          </p:txBody>
        </p:sp>
        <p:cxnSp>
          <p:nvCxnSpPr>
            <p:cNvPr id="9" name="Прямая со стрелкой 8"/>
            <p:cNvCxnSpPr/>
            <p:nvPr/>
          </p:nvCxnSpPr>
          <p:spPr bwMode="auto">
            <a:xfrm flipH="1" flipV="1">
              <a:off x="4680423" y="4879100"/>
              <a:ext cx="1763786" cy="62766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/>
            <p:nvPr/>
          </p:nvCxnSpPr>
          <p:spPr bwMode="auto">
            <a:xfrm flipH="1" flipV="1">
              <a:off x="3749060" y="4970191"/>
              <a:ext cx="2695148" cy="53657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29"/>
            <p:cNvSpPr txBox="1">
              <a:spLocks noChangeArrowheads="1"/>
            </p:cNvSpPr>
            <p:nvPr/>
          </p:nvSpPr>
          <p:spPr bwMode="auto">
            <a:xfrm>
              <a:off x="6444208" y="4879100"/>
              <a:ext cx="1962664" cy="1200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dirty="0"/>
                <a:t>Одинаковые имена переменных</a:t>
              </a:r>
            </a:p>
          </p:txBody>
        </p:sp>
        <p:sp>
          <p:nvSpPr>
            <p:cNvPr id="12" name="Line 2"/>
            <p:cNvSpPr>
              <a:spLocks noChangeShapeType="1"/>
            </p:cNvSpPr>
            <p:nvPr/>
          </p:nvSpPr>
          <p:spPr bwMode="auto">
            <a:xfrm>
              <a:off x="376238" y="795338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xmlns="" val="3138223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832" y="1268760"/>
            <a:ext cx="8640763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571500" indent="-5715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this </a:t>
            </a:r>
            <a:r>
              <a:rPr lang="ru-RU" sz="4000" dirty="0" smtClean="0">
                <a:latin typeface="+mn-lt"/>
                <a:cs typeface="+mn-cs"/>
              </a:rPr>
              <a:t>является зарезервированным словом С++;</a:t>
            </a:r>
          </a:p>
          <a:p>
            <a:pPr marL="571500" indent="-5715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ru-RU" sz="40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this</a:t>
            </a:r>
            <a:r>
              <a:rPr lang="ru-RU" sz="4000" dirty="0" smtClean="0">
                <a:latin typeface="+mn-lt"/>
                <a:cs typeface="+mn-cs"/>
              </a:rPr>
              <a:t> можно использовать явно в методах-элементах класса;</a:t>
            </a:r>
          </a:p>
          <a:p>
            <a:pPr marL="571500" indent="-5715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t</a:t>
            </a:r>
            <a:r>
              <a:rPr lang="ru-RU" sz="40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his</a:t>
            </a:r>
            <a:r>
              <a:rPr lang="ru-RU" sz="4000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ru-RU" sz="4000" b="1" dirty="0" smtClean="0">
                <a:solidFill>
                  <a:srgbClr val="FF0000"/>
                </a:solidFill>
                <a:latin typeface="+mn-lt"/>
                <a:cs typeface="+mn-cs"/>
              </a:rPr>
              <a:t>нельзя</a:t>
            </a:r>
            <a:r>
              <a:rPr lang="ru-RU" sz="4000" dirty="0" smtClean="0">
                <a:latin typeface="+mn-lt"/>
                <a:cs typeface="+mn-cs"/>
              </a:rPr>
              <a:t> явно объявлять, инициализировать  или изменять</a:t>
            </a:r>
            <a:endParaRPr lang="ru-RU" sz="4400" dirty="0">
              <a:latin typeface="+mn-lt"/>
              <a:cs typeface="+mn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11560" y="116632"/>
            <a:ext cx="17361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1" dirty="0"/>
              <a:t>Вывод: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2926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619672" y="2852936"/>
            <a:ext cx="626586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Перегрузка </a:t>
            </a:r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операторов</a:t>
            </a:r>
          </a:p>
        </p:txBody>
      </p:sp>
    </p:spTree>
    <p:extLst>
      <p:ext uri="{BB962C8B-B14F-4D97-AF65-F5344CB8AC3E}">
        <p14:creationId xmlns:p14="http://schemas.microsoft.com/office/powerpoint/2010/main" xmlns="" val="101151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 bwMode="auto">
          <a:xfrm>
            <a:off x="538386" y="180504"/>
            <a:ext cx="626586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b="1" dirty="0" smtClean="0">
                <a:latin typeface="+mn-lt"/>
                <a:cs typeface="+mn-cs"/>
              </a:rPr>
              <a:t>Перегрузка </a:t>
            </a:r>
            <a:r>
              <a:rPr lang="ru-RU" sz="3200" b="1" dirty="0">
                <a:latin typeface="+mn-lt"/>
                <a:cs typeface="+mn-cs"/>
              </a:rPr>
              <a:t>операторов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449263" y="980728"/>
            <a:ext cx="8370887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dirty="0">
                <a:latin typeface="+mn-lt"/>
                <a:cs typeface="+mn-cs"/>
              </a:rPr>
              <a:t>Можно делать стандартные </a:t>
            </a:r>
            <a:r>
              <a:rPr lang="ru-RU" sz="2800" dirty="0" smtClean="0">
                <a:latin typeface="+mn-lt"/>
                <a:cs typeface="+mn-cs"/>
              </a:rPr>
              <a:t>операций (+, -, *, /,=, ==) </a:t>
            </a:r>
            <a:r>
              <a:rPr lang="ru-RU" sz="2800" dirty="0">
                <a:latin typeface="+mn-lt"/>
                <a:cs typeface="+mn-cs"/>
              </a:rPr>
              <a:t>с  объектами абстрактных типов данных. </a:t>
            </a:r>
            <a:r>
              <a:rPr lang="ru-RU" sz="2800" dirty="0" smtClean="0">
                <a:latin typeface="+mn-lt"/>
                <a:cs typeface="+mn-cs"/>
              </a:rPr>
              <a:t>Нужно написать метод переопределение операции.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dirty="0"/>
              <a:t>И</a:t>
            </a:r>
            <a:r>
              <a:rPr lang="ru-RU" sz="2800" dirty="0" smtClean="0">
                <a:latin typeface="+mn-lt"/>
                <a:cs typeface="+mn-cs"/>
              </a:rPr>
              <a:t>мя метода </a:t>
            </a:r>
            <a:r>
              <a:rPr lang="ru-RU" sz="2800" dirty="0">
                <a:latin typeface="+mn-lt"/>
                <a:cs typeface="+mn-cs"/>
              </a:rPr>
              <a:t>состоит «</a:t>
            </a:r>
            <a:r>
              <a:rPr lang="ru-RU" sz="2800" b="1" dirty="0" err="1">
                <a:solidFill>
                  <a:srgbClr val="FF0000"/>
                </a:solidFill>
                <a:latin typeface="+mn-lt"/>
                <a:cs typeface="+mn-cs"/>
              </a:rPr>
              <a:t>operator</a:t>
            </a:r>
            <a:r>
              <a:rPr lang="ru-RU" sz="2800" b="1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ru-RU" sz="28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знак</a:t>
            </a:r>
            <a:r>
              <a:rPr lang="ru-RU" sz="2800" b="1" dirty="0">
                <a:latin typeface="+mn-lt"/>
                <a:cs typeface="+mn-cs"/>
              </a:rPr>
              <a:t>»</a:t>
            </a:r>
            <a:r>
              <a:rPr lang="ru-RU" sz="2800" dirty="0">
                <a:latin typeface="+mn-lt"/>
                <a:cs typeface="+mn-cs"/>
              </a:rPr>
              <a:t>, где </a:t>
            </a:r>
            <a:r>
              <a:rPr lang="ru-RU" sz="28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знак </a:t>
            </a:r>
            <a:r>
              <a:rPr lang="ru-RU" sz="2800" dirty="0">
                <a:latin typeface="+mn-lt"/>
                <a:cs typeface="+mn-cs"/>
              </a:rPr>
              <a:t>- обозначение  операции (например, «+», « - », «</a:t>
            </a:r>
            <a:r>
              <a:rPr lang="en-US" sz="2800" dirty="0">
                <a:latin typeface="+mn-lt"/>
                <a:cs typeface="+mn-cs"/>
              </a:rPr>
              <a:t>[ ]</a:t>
            </a:r>
            <a:r>
              <a:rPr lang="ru-RU" sz="2800" dirty="0">
                <a:latin typeface="+mn-lt"/>
                <a:cs typeface="+mn-cs"/>
              </a:rPr>
              <a:t>», «+=» и т.д.). 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039975" y="3677491"/>
            <a:ext cx="3528546" cy="52327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/>
              <a:t>ключевое слово С++</a:t>
            </a:r>
          </a:p>
        </p:txBody>
      </p:sp>
      <p:cxnSp>
        <p:nvCxnSpPr>
          <p:cNvPr id="6" name="Прямая со стрелкой 5"/>
          <p:cNvCxnSpPr/>
          <p:nvPr/>
        </p:nvCxnSpPr>
        <p:spPr bwMode="auto">
          <a:xfrm flipH="1" flipV="1">
            <a:off x="4932040" y="2708920"/>
            <a:ext cx="1152128" cy="9494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12198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954291"/>
            <a:ext cx="9144000" cy="4893647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ru-RU" sz="26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ru-RU" sz="2000" b="1" dirty="0" smtClean="0">
                <a:solidFill>
                  <a:prstClr val="black"/>
                </a:solidFill>
                <a:cs typeface="Courier New" panose="02070309020205020404" pitchFamily="49" charset="0"/>
              </a:rPr>
              <a:t>;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действительная и мнимая части</a:t>
            </a:r>
          </a:p>
          <a:p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Complex(</a:t>
            </a:r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r);   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Complex(</a:t>
            </a:r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r, </a:t>
            </a:r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&amp;c); </a:t>
            </a:r>
            <a:endParaRPr lang="ru-RU" sz="26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~Complex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sz="2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(Complex &amp;c);   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Complex &amp;c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</a:p>
          <a:p>
            <a:r>
              <a:rPr lang="ru-RU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6238" y="188640"/>
            <a:ext cx="846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Пример класс "Комплексное число"</a:t>
            </a:r>
          </a:p>
        </p:txBody>
      </p:sp>
    </p:spTree>
    <p:extLst>
      <p:ext uri="{BB962C8B-B14F-4D97-AF65-F5344CB8AC3E}">
        <p14:creationId xmlns:p14="http://schemas.microsoft.com/office/powerpoint/2010/main" xmlns="" val="2120981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Группа 44"/>
          <p:cNvGrpSpPr/>
          <p:nvPr/>
        </p:nvGrpSpPr>
        <p:grpSpPr>
          <a:xfrm>
            <a:off x="0" y="188640"/>
            <a:ext cx="9144000" cy="6523697"/>
            <a:chOff x="0" y="188640"/>
            <a:chExt cx="9144000" cy="6523697"/>
          </a:xfrm>
        </p:grpSpPr>
        <p:sp>
          <p:nvSpPr>
            <p:cNvPr id="2" name="Line 2"/>
            <p:cNvSpPr>
              <a:spLocks noChangeShapeType="1"/>
            </p:cNvSpPr>
            <p:nvPr/>
          </p:nvSpPr>
          <p:spPr bwMode="auto">
            <a:xfrm>
              <a:off x="376238" y="795338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76238" y="188640"/>
              <a:ext cx="84645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b="1" dirty="0" smtClean="0"/>
                <a:t>Пример класс "Комплексное число"</a:t>
              </a:r>
            </a:p>
          </p:txBody>
        </p:sp>
        <p:sp>
          <p:nvSpPr>
            <p:cNvPr id="3" name="Прямоугольник 2"/>
            <p:cNvSpPr/>
            <p:nvPr/>
          </p:nvSpPr>
          <p:spPr>
            <a:xfrm>
              <a:off x="0" y="980728"/>
              <a:ext cx="9144000" cy="2308324"/>
            </a:xfrm>
            <a:prstGeom prst="rect">
              <a:avLst/>
            </a:prstGeom>
            <a:solidFill>
              <a:srgbClr val="FFFF99"/>
            </a:solidFill>
          </p:spPr>
          <p:txBody>
            <a:bodyPr wrap="square">
              <a:spAutoFit/>
            </a:bodyPr>
            <a:lstStyle/>
            <a:p>
              <a:r>
                <a:rPr lang="ru-RU" sz="24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оператор +=</a:t>
              </a:r>
            </a:p>
            <a:p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Complex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&amp; Complex ::</a:t>
              </a: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operator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+= (Complex &amp;c) {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re += c.re;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+= c.im;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*</a:t>
              </a: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this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ru-RU" sz="2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3573016"/>
              <a:ext cx="8840788" cy="3139321"/>
            </a:xfrm>
            <a:prstGeom prst="rect">
              <a:avLst/>
            </a:prstGeom>
            <a:solidFill>
              <a:srgbClr val="FFFF99"/>
            </a:solidFill>
          </p:spPr>
          <p:txBody>
            <a:bodyPr wrap="square" rtlCol="0">
              <a:spAutoFit/>
            </a:bodyPr>
            <a:lstStyle/>
            <a:p>
              <a:r>
                <a:rPr lang="en-US" sz="22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main () {</a:t>
              </a:r>
            </a:p>
            <a:p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ru-RU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Complex </a:t>
              </a:r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a(5, 2);</a:t>
              </a:r>
            </a:p>
            <a:p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2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a.print</a:t>
              </a:r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();</a:t>
              </a:r>
            </a:p>
            <a:p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ru-RU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Complex </a:t>
              </a:r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b(3, -3);</a:t>
              </a:r>
            </a:p>
            <a:p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ru-RU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sz="2200" b="1" dirty="0" err="1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b.print</a:t>
              </a:r>
              <a:r>
                <a:rPr lang="en-US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();</a:t>
              </a:r>
              <a:r>
                <a:rPr lang="en-US" sz="2200" b="1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ru-RU" sz="2200" b="1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sz="2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2200" b="1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2200" b="1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a += b;</a:t>
              </a:r>
              <a:endParaRPr lang="ru-RU" sz="2200" b="1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2200" b="1" dirty="0" err="1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a.print</a:t>
              </a:r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();</a:t>
              </a:r>
              <a:endPara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sz="22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</a:t>
              </a:r>
              <a:r>
                <a:rPr lang="en-US" sz="22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</a:t>
              </a:r>
              <a:r>
                <a:rPr lang="en-US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2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0;</a:t>
              </a:r>
            </a:p>
            <a:p>
              <a:r>
                <a:rPr lang="ru-RU" sz="22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ru-RU" sz="2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Прямая со стрелкой 7"/>
            <p:cNvCxnSpPr/>
            <p:nvPr/>
          </p:nvCxnSpPr>
          <p:spPr>
            <a:xfrm flipV="1">
              <a:off x="1907704" y="2492896"/>
              <a:ext cx="144016" cy="280831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/>
            <p:cNvCxnSpPr/>
            <p:nvPr/>
          </p:nvCxnSpPr>
          <p:spPr>
            <a:xfrm flipV="1">
              <a:off x="971600" y="2492896"/>
              <a:ext cx="0" cy="280831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79512" y="6343005"/>
              <a:ext cx="28083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Левый операнд</a:t>
              </a:r>
              <a:endParaRPr lang="ru-RU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4357" y="5418924"/>
              <a:ext cx="28083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Правый операнд</a:t>
              </a:r>
              <a:endParaRPr lang="ru-RU" dirty="0"/>
            </a:p>
          </p:txBody>
        </p:sp>
        <p:cxnSp>
          <p:nvCxnSpPr>
            <p:cNvPr id="17" name="Соединительная линия уступом 16"/>
            <p:cNvCxnSpPr>
              <a:stCxn id="15" idx="1"/>
            </p:cNvCxnSpPr>
            <p:nvPr/>
          </p:nvCxnSpPr>
          <p:spPr>
            <a:xfrm rot="10800000">
              <a:off x="2195737" y="5442766"/>
              <a:ext cx="1008621" cy="160824"/>
            </a:xfrm>
            <a:prstGeom prst="bentConnector3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Соединительная линия уступом 18"/>
            <p:cNvCxnSpPr/>
            <p:nvPr/>
          </p:nvCxnSpPr>
          <p:spPr>
            <a:xfrm rot="5400000" flipH="1" flipV="1">
              <a:off x="264004" y="5635411"/>
              <a:ext cx="819830" cy="59536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Прямая со стрелкой 45"/>
          <p:cNvCxnSpPr/>
          <p:nvPr/>
        </p:nvCxnSpPr>
        <p:spPr bwMode="auto">
          <a:xfrm flipH="1" flipV="1">
            <a:off x="1475656" y="1700808"/>
            <a:ext cx="2924997" cy="90364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16"/>
          <p:cNvSpPr txBox="1">
            <a:spLocks noChangeArrowheads="1"/>
          </p:cNvSpPr>
          <p:nvPr/>
        </p:nvSpPr>
        <p:spPr bwMode="auto">
          <a:xfrm>
            <a:off x="4400839" y="2316981"/>
            <a:ext cx="2691441" cy="70788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 smtClean="0"/>
              <a:t>Возвращаем адрес комплексного числа</a:t>
            </a:r>
            <a:endParaRPr lang="ru-RU" altLang="ru-RU" sz="2000" dirty="0"/>
          </a:p>
        </p:txBody>
      </p:sp>
      <p:sp>
        <p:nvSpPr>
          <p:cNvPr id="49" name="Овал 48"/>
          <p:cNvSpPr/>
          <p:nvPr/>
        </p:nvSpPr>
        <p:spPr bwMode="auto">
          <a:xfrm>
            <a:off x="5148065" y="1387891"/>
            <a:ext cx="486614" cy="360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50" name="Прямая со стрелкой 49"/>
          <p:cNvCxnSpPr>
            <a:stCxn id="51" idx="2"/>
          </p:cNvCxnSpPr>
          <p:nvPr/>
        </p:nvCxnSpPr>
        <p:spPr bwMode="auto">
          <a:xfrm flipH="1">
            <a:off x="5586445" y="1340768"/>
            <a:ext cx="389579" cy="15106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1"/>
          <p:cNvSpPr txBox="1">
            <a:spLocks noChangeArrowheads="1"/>
          </p:cNvSpPr>
          <p:nvPr/>
        </p:nvSpPr>
        <p:spPr bwMode="auto">
          <a:xfrm>
            <a:off x="5075792" y="940658"/>
            <a:ext cx="1800464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/>
              <a:t>Операция</a:t>
            </a:r>
          </a:p>
        </p:txBody>
      </p:sp>
    </p:spTree>
    <p:extLst>
      <p:ext uri="{BB962C8B-B14F-4D97-AF65-F5344CB8AC3E}">
        <p14:creationId xmlns:p14="http://schemas.microsoft.com/office/powerpoint/2010/main" xmlns="" val="3469070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76238" y="188640"/>
            <a:ext cx="846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Пример класс "Комплексное число"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6513" y="1124744"/>
            <a:ext cx="9144000" cy="1323439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оператор сложения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Complex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::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(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Complex &amp;c)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 (re + c.re,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c.im);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512" y="3356992"/>
            <a:ext cx="9107487" cy="2246769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оператор сложения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Complex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::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(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Complex &amp;c)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Complex com;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com.re = re + c.re;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com.im =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c.im;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com;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87824" y="2564904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или</a:t>
            </a:r>
            <a:endParaRPr lang="ru-RU" sz="2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76238" y="6021288"/>
            <a:ext cx="4232275" cy="40011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Complex c = a + b;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2339752" y="4941168"/>
            <a:ext cx="152623" cy="10801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2987824" y="4941168"/>
            <a:ext cx="216024" cy="10801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 bwMode="auto">
          <a:xfrm>
            <a:off x="4464844" y="1414280"/>
            <a:ext cx="287337" cy="360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13" name="Прямая со стрелкой 12"/>
          <p:cNvCxnSpPr>
            <a:stCxn id="14" idx="2"/>
          </p:cNvCxnSpPr>
          <p:nvPr/>
        </p:nvCxnSpPr>
        <p:spPr bwMode="auto">
          <a:xfrm flipH="1">
            <a:off x="4559932" y="1263211"/>
            <a:ext cx="389579" cy="15106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4049279" y="863101"/>
            <a:ext cx="1800464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/>
              <a:t>Операция</a:t>
            </a:r>
          </a:p>
        </p:txBody>
      </p:sp>
    </p:spTree>
    <p:extLst>
      <p:ext uri="{BB962C8B-B14F-4D97-AF65-F5344CB8AC3E}">
        <p14:creationId xmlns:p14="http://schemas.microsoft.com/office/powerpoint/2010/main" xmlns="" val="22229051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482</Words>
  <Application>Microsoft Office PowerPoint</Application>
  <PresentationFormat>Экран (4:3)</PresentationFormat>
  <Paragraphs>91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Операторы</dc:title>
  <dc:creator>admin</dc:creator>
  <cp:lastModifiedBy>kiryakinax</cp:lastModifiedBy>
  <cp:revision>16</cp:revision>
  <dcterms:created xsi:type="dcterms:W3CDTF">2015-10-13T14:17:36Z</dcterms:created>
  <dcterms:modified xsi:type="dcterms:W3CDTF">2017-04-12T03:26:49Z</dcterms:modified>
</cp:coreProperties>
</file>