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60" r:id="rId19"/>
    <p:sldId id="263" r:id="rId20"/>
    <p:sldId id="264" r:id="rId21"/>
    <p:sldId id="265" r:id="rId22"/>
    <p:sldId id="261" r:id="rId23"/>
    <p:sldId id="267" r:id="rId24"/>
    <p:sldId id="268" r:id="rId25"/>
    <p:sldId id="262" r:id="rId26"/>
    <p:sldId id="269" r:id="rId27"/>
    <p:sldId id="286" r:id="rId28"/>
    <p:sldId id="266" r:id="rId29"/>
    <p:sldId id="270" r:id="rId30"/>
    <p:sldId id="284" r:id="rId31"/>
  </p:sldIdLst>
  <p:sldSz cx="9144000" cy="6858000" type="screen4x3"/>
  <p:notesSz cx="6858000" cy="9144000"/>
  <p:embeddedFontLst>
    <p:embeddedFont>
      <p:font typeface="Calibri" pitchFamily="34" charset="0"/>
      <p:regular r:id="rId32"/>
      <p:bold r:id="rId33"/>
      <p:italic r:id="rId34"/>
      <p:boldItalic r:id="rId3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8583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4020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2775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3713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335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836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216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84182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0728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5856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9557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2FFF8-776D-4ABC-9459-05F1080F92F8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34F44-EA3A-4B30-B870-740881E10D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1078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iostream/ostringstream/" TargetMode="External"/><Relationship Id="rId2" Type="http://schemas.openxmlformats.org/officeDocument/2006/relationships/hyperlink" Target="http://localhost/manual/func.iocpp_str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-live.ru/post/cpp-classes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-live.ru/post/cpp-vector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de-live.ru/post/cpp-classes/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Наследование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</a:rPr>
              <a:t>Лекция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07704" y="4653136"/>
            <a:ext cx="6400800" cy="838944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sz="1800" b="1" dirty="0" smtClean="0">
                <a:solidFill>
                  <a:schemeClr val="accent1">
                    <a:lumMod val="75000"/>
                  </a:schemeClr>
                </a:solidFill>
              </a:rPr>
              <a:t>доцент</a:t>
            </a:r>
            <a:endParaRPr lang="ru-RU" sz="18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ru-RU" sz="1800" b="1" dirty="0" smtClean="0">
                <a:solidFill>
                  <a:schemeClr val="accent1">
                    <a:lumMod val="75000"/>
                  </a:schemeClr>
                </a:solidFill>
              </a:rPr>
              <a:t>Высшего колледжа информатики НГУ </a:t>
            </a:r>
          </a:p>
          <a:p>
            <a:pPr algn="r"/>
            <a:r>
              <a:rPr lang="ru-RU" sz="1800" b="1" dirty="0" smtClean="0">
                <a:solidFill>
                  <a:schemeClr val="accent1">
                    <a:lumMod val="75000"/>
                  </a:schemeClr>
                </a:solidFill>
              </a:rPr>
              <a:t>Наталия Викторовна </a:t>
            </a:r>
            <a:r>
              <a:rPr lang="ru-RU" sz="1800" b="1" dirty="0" err="1" smtClean="0">
                <a:solidFill>
                  <a:schemeClr val="accent1">
                    <a:lumMod val="75000"/>
                  </a:schemeClr>
                </a:solidFill>
              </a:rPr>
              <a:t>Голкова</a:t>
            </a:r>
            <a:endParaRPr lang="ru-RU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0435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364891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/>
              <a:t>Наследование.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196752"/>
            <a:ext cx="81369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Пусть </a:t>
            </a:r>
            <a:r>
              <a:rPr lang="ru-RU" sz="2800" dirty="0"/>
              <a:t>в базе данных ВУЗа </a:t>
            </a:r>
            <a:r>
              <a:rPr lang="ru-RU" sz="2800" dirty="0" smtClean="0"/>
              <a:t>храниться </a:t>
            </a:r>
            <a:r>
              <a:rPr lang="ru-RU" sz="2800" dirty="0"/>
              <a:t>информация о всех студентах и преподавателях. </a:t>
            </a:r>
            <a:r>
              <a:rPr lang="ru-RU" sz="2800" dirty="0" smtClean="0"/>
              <a:t>Представить </a:t>
            </a:r>
            <a:r>
              <a:rPr lang="ru-RU" sz="2800" dirty="0"/>
              <a:t>все данные в одном классе </a:t>
            </a:r>
            <a:r>
              <a:rPr lang="ru-RU" sz="2800" dirty="0" smtClean="0"/>
              <a:t>нельзя, </a:t>
            </a:r>
            <a:r>
              <a:rPr lang="ru-RU" sz="2800" dirty="0"/>
              <a:t>поскольку </a:t>
            </a:r>
            <a:r>
              <a:rPr lang="ru-RU" sz="2800" dirty="0" smtClean="0"/>
              <a:t>не все данные и методы будут применимы и для </a:t>
            </a:r>
            <a:r>
              <a:rPr lang="ru-RU" sz="2800" dirty="0"/>
              <a:t>преподавателей </a:t>
            </a:r>
            <a:r>
              <a:rPr lang="ru-RU" sz="2800" dirty="0" smtClean="0"/>
              <a:t>и для студентов.</a:t>
            </a:r>
            <a:endParaRPr lang="ru-RU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3717032"/>
            <a:ext cx="856895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Решение этой задачи сводится к пониманию принципа наследования.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 smtClean="0"/>
              <a:t>Наследование – принцип </a:t>
            </a:r>
            <a:r>
              <a:rPr lang="ru-RU" sz="2400" b="1" dirty="0"/>
              <a:t>ООП</a:t>
            </a:r>
            <a:r>
              <a:rPr lang="ru-RU" sz="2400" dirty="0"/>
              <a:t>, </a:t>
            </a:r>
            <a:r>
              <a:rPr lang="ru-RU" sz="2400" dirty="0" smtClean="0"/>
              <a:t>который позволяет </a:t>
            </a:r>
            <a:r>
              <a:rPr lang="ru-RU" sz="2400" dirty="0"/>
              <a:t>на основе </a:t>
            </a:r>
            <a:r>
              <a:rPr lang="ru-RU" sz="2400" dirty="0" smtClean="0"/>
              <a:t>существующего </a:t>
            </a:r>
            <a:r>
              <a:rPr lang="ru-RU" sz="2400" dirty="0"/>
              <a:t>класса </a:t>
            </a:r>
            <a:r>
              <a:rPr lang="ru-RU" sz="2400" dirty="0" smtClean="0"/>
              <a:t> объявить новый </a:t>
            </a:r>
            <a:r>
              <a:rPr lang="ru-RU" sz="2400" dirty="0"/>
              <a:t>класс.</a:t>
            </a:r>
          </a:p>
          <a:p>
            <a:r>
              <a:rPr lang="ru-RU" sz="2400" dirty="0" smtClean="0"/>
              <a:t>Наследование позволяет избежать дублирования лишнего кода при написании классов.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xmlns="" val="8468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86044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/>
              <a:t>Термины обозначающие механизм наследования</a:t>
            </a:r>
            <a:endParaRPr lang="ru-RU" sz="3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2924944"/>
            <a:ext cx="2376264" cy="646331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 err="1" smtClean="0"/>
              <a:t>SuperClass</a:t>
            </a:r>
            <a:endParaRPr lang="ru-RU" sz="36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625752" y="2924944"/>
            <a:ext cx="2016225" cy="646331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 err="1" smtClean="0"/>
              <a:t>SubClass</a:t>
            </a:r>
            <a:endParaRPr lang="ru-RU" sz="3600" dirty="0"/>
          </a:p>
        </p:txBody>
      </p:sp>
      <p:cxnSp>
        <p:nvCxnSpPr>
          <p:cNvPr id="6" name="Прямая со стрелкой 5"/>
          <p:cNvCxnSpPr>
            <a:stCxn id="4" idx="1"/>
            <a:endCxn id="3" idx="3"/>
          </p:cNvCxnSpPr>
          <p:nvPr/>
        </p:nvCxnSpPr>
        <p:spPr>
          <a:xfrm flipH="1">
            <a:off x="3347864" y="3248110"/>
            <a:ext cx="127788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25642" y="4149080"/>
            <a:ext cx="24482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Базовый</a:t>
            </a:r>
          </a:p>
          <a:p>
            <a:r>
              <a:rPr lang="ru-RU" sz="2800" dirty="0" smtClean="0"/>
              <a:t>Родительский</a:t>
            </a:r>
          </a:p>
          <a:p>
            <a:r>
              <a:rPr lang="ru-RU" sz="2800" dirty="0" smtClean="0"/>
              <a:t>Предок</a:t>
            </a:r>
          </a:p>
          <a:p>
            <a:r>
              <a:rPr lang="ru-RU" sz="2800" dirty="0" smtClean="0"/>
              <a:t>Надкласс</a:t>
            </a:r>
          </a:p>
          <a:p>
            <a:r>
              <a:rPr lang="ru-RU" sz="2800" dirty="0" smtClean="0"/>
              <a:t>Суперкласс</a:t>
            </a:r>
            <a:endParaRPr lang="ru-R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4625752" y="4364523"/>
            <a:ext cx="29583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Наследник</a:t>
            </a:r>
          </a:p>
          <a:p>
            <a:r>
              <a:rPr lang="ru-RU" sz="2800" dirty="0" smtClean="0"/>
              <a:t>Потомок</a:t>
            </a:r>
          </a:p>
          <a:p>
            <a:r>
              <a:rPr lang="ru-RU" sz="2800" dirty="0" smtClean="0"/>
              <a:t>Подкласс</a:t>
            </a:r>
          </a:p>
          <a:p>
            <a:r>
              <a:rPr lang="ru-RU" sz="2800" dirty="0" err="1" smtClean="0"/>
              <a:t>Суб</a:t>
            </a:r>
            <a:r>
              <a:rPr lang="ru-RU" sz="2800" dirty="0" smtClean="0"/>
              <a:t> класс</a:t>
            </a:r>
            <a:endParaRPr lang="ru-R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04156" y="1196752"/>
            <a:ext cx="8443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класс-предок  </a:t>
            </a:r>
            <a:r>
              <a:rPr lang="ru-RU" sz="2800" dirty="0"/>
              <a:t>(родитель, порождающий класс);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класс-наследник (потомок, порожденный класс</a:t>
            </a:r>
            <a:r>
              <a:rPr lang="ru-RU" sz="2800" dirty="0" smtClean="0"/>
              <a:t>).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32318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476672"/>
            <a:ext cx="8640960" cy="595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В  </a:t>
            </a:r>
            <a:r>
              <a:rPr lang="ru-RU" sz="2800" dirty="0"/>
              <a:t>С++  порождающий  класс  называется  </a:t>
            </a:r>
            <a:r>
              <a:rPr lang="ru-RU" sz="2800" b="1" dirty="0"/>
              <a:t>базовым</a:t>
            </a:r>
            <a:r>
              <a:rPr lang="ru-RU" sz="2800" dirty="0"/>
              <a:t>,  а  порожденный  </a:t>
            </a:r>
            <a:r>
              <a:rPr lang="ru-RU" sz="2800" dirty="0" smtClean="0"/>
              <a:t>– </a:t>
            </a:r>
            <a:r>
              <a:rPr lang="ru-RU" sz="2800" b="1" dirty="0" smtClean="0"/>
              <a:t>производным</a:t>
            </a:r>
            <a:r>
              <a:rPr lang="ru-RU" sz="2800" dirty="0"/>
              <a:t>.</a:t>
            </a:r>
          </a:p>
          <a:p>
            <a:pPr>
              <a:spcAft>
                <a:spcPts val="1800"/>
              </a:spcAft>
            </a:pPr>
            <a:r>
              <a:rPr lang="ru-RU" sz="2800" dirty="0"/>
              <a:t>Каждый </a:t>
            </a:r>
            <a:r>
              <a:rPr lang="ru-RU" sz="2800" b="1" dirty="0"/>
              <a:t>производный </a:t>
            </a:r>
            <a:r>
              <a:rPr lang="ru-RU" sz="2800" dirty="0"/>
              <a:t>класс </a:t>
            </a:r>
            <a:r>
              <a:rPr lang="ru-RU" sz="2800" b="1" dirty="0"/>
              <a:t>может выступать базовым </a:t>
            </a:r>
            <a:r>
              <a:rPr lang="ru-RU" sz="2800" dirty="0"/>
              <a:t>классом</a:t>
            </a:r>
            <a:r>
              <a:rPr lang="ru-RU" sz="2800" dirty="0" smtClean="0"/>
              <a:t>.</a:t>
            </a:r>
          </a:p>
          <a:p>
            <a:pPr>
              <a:spcAft>
                <a:spcPts val="1800"/>
              </a:spcAft>
            </a:pPr>
            <a:r>
              <a:rPr lang="ru-RU" sz="2800" dirty="0" smtClean="0"/>
              <a:t>Отношения  </a:t>
            </a:r>
            <a:r>
              <a:rPr lang="ru-RU" sz="2800" dirty="0"/>
              <a:t>между  родительским  классом  и  его  потомками  называются </a:t>
            </a:r>
            <a:r>
              <a:rPr lang="ru-RU" sz="2800" b="1" dirty="0" smtClean="0"/>
              <a:t>иерархией </a:t>
            </a:r>
            <a:r>
              <a:rPr lang="ru-RU" sz="2800" b="1" dirty="0"/>
              <a:t>наследования</a:t>
            </a:r>
            <a:r>
              <a:rPr lang="ru-RU" sz="2800" dirty="0"/>
              <a:t>. Глубина наследования не ограничена. </a:t>
            </a:r>
          </a:p>
          <a:p>
            <a:pPr>
              <a:spcAft>
                <a:spcPts val="1800"/>
              </a:spcAft>
            </a:pPr>
            <a:r>
              <a:rPr lang="ru-RU" sz="2800" b="1" dirty="0"/>
              <a:t>Простым</a:t>
            </a:r>
            <a:r>
              <a:rPr lang="ru-RU" sz="2800" dirty="0"/>
              <a:t>  называется  наследование,  при  котором  </a:t>
            </a:r>
            <a:r>
              <a:rPr lang="ru-RU" sz="2800" b="1" dirty="0"/>
              <a:t>производный</a:t>
            </a:r>
            <a:r>
              <a:rPr lang="ru-RU" sz="2800" dirty="0"/>
              <a:t>  класс  имеет </a:t>
            </a:r>
            <a:r>
              <a:rPr lang="ru-RU" sz="2800" b="1" dirty="0" smtClean="0"/>
              <a:t>только </a:t>
            </a:r>
            <a:r>
              <a:rPr lang="ru-RU" sz="2800" b="1" dirty="0"/>
              <a:t>одного родителя.</a:t>
            </a:r>
          </a:p>
          <a:p>
            <a:r>
              <a:rPr lang="ru-RU" sz="2800" b="1" dirty="0"/>
              <a:t>Множественное наследование </a:t>
            </a:r>
            <a:r>
              <a:rPr lang="ru-RU" sz="2800" dirty="0"/>
              <a:t>–  способность класса </a:t>
            </a:r>
            <a:r>
              <a:rPr lang="ru-RU" sz="2800" b="1" dirty="0"/>
              <a:t>наследовать</a:t>
            </a:r>
            <a:r>
              <a:rPr lang="ru-RU" sz="2800" dirty="0"/>
              <a:t> </a:t>
            </a:r>
            <a:r>
              <a:rPr lang="ru-RU" sz="2800" dirty="0" smtClean="0"/>
              <a:t>характеристики  </a:t>
            </a:r>
            <a:r>
              <a:rPr lang="ru-RU" sz="2800" b="1" dirty="0" smtClean="0"/>
              <a:t>более </a:t>
            </a:r>
            <a:r>
              <a:rPr lang="ru-RU" sz="2800" b="1" dirty="0"/>
              <a:t>чем одного базового класса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5283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9535" y="1772816"/>
            <a:ext cx="84969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Подкласс должен являться более специализированной версией супер класса.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475656" y="332656"/>
            <a:ext cx="604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Соблюдайте простое правило наследования</a:t>
            </a:r>
            <a:endParaRPr lang="ru-RU" sz="3600" b="1" dirty="0"/>
          </a:p>
        </p:txBody>
      </p:sp>
      <p:grpSp>
        <p:nvGrpSpPr>
          <p:cNvPr id="29" name="Группа 28"/>
          <p:cNvGrpSpPr/>
          <p:nvPr/>
        </p:nvGrpSpPr>
        <p:grpSpPr>
          <a:xfrm>
            <a:off x="640128" y="3910682"/>
            <a:ext cx="2448272" cy="1561654"/>
            <a:chOff x="640128" y="3411915"/>
            <a:chExt cx="2448272" cy="1561654"/>
          </a:xfrm>
        </p:grpSpPr>
        <p:sp>
          <p:nvSpPr>
            <p:cNvPr id="4" name="TextBox 3"/>
            <p:cNvSpPr txBox="1"/>
            <p:nvPr/>
          </p:nvSpPr>
          <p:spPr>
            <a:xfrm>
              <a:off x="640128" y="3411915"/>
              <a:ext cx="244827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800" dirty="0" smtClean="0"/>
                <a:t>Автомобиль</a:t>
              </a:r>
              <a:endParaRPr lang="ru-RU" sz="28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71597" y="4450349"/>
              <a:ext cx="178533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800" dirty="0" smtClean="0"/>
                <a:t>Паровоз</a:t>
              </a:r>
              <a:endParaRPr lang="ru-RU" sz="2800" dirty="0"/>
            </a:p>
          </p:txBody>
        </p:sp>
        <p:cxnSp>
          <p:nvCxnSpPr>
            <p:cNvPr id="7" name="Прямая со стрелкой 6"/>
            <p:cNvCxnSpPr/>
            <p:nvPr/>
          </p:nvCxnSpPr>
          <p:spPr>
            <a:xfrm flipV="1">
              <a:off x="1864264" y="3935135"/>
              <a:ext cx="0" cy="49476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" name="Прямая соединительная линия 9"/>
          <p:cNvCxnSpPr/>
          <p:nvPr/>
        </p:nvCxnSpPr>
        <p:spPr>
          <a:xfrm>
            <a:off x="755576" y="3523249"/>
            <a:ext cx="2548848" cy="22351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Группа 27"/>
          <p:cNvGrpSpPr/>
          <p:nvPr/>
        </p:nvGrpSpPr>
        <p:grpSpPr>
          <a:xfrm>
            <a:off x="3995936" y="3762618"/>
            <a:ext cx="4827411" cy="1995781"/>
            <a:chOff x="3421693" y="3501008"/>
            <a:chExt cx="4827411" cy="1995781"/>
          </a:xfrm>
        </p:grpSpPr>
        <p:sp>
          <p:nvSpPr>
            <p:cNvPr id="11" name="TextBox 10"/>
            <p:cNvSpPr txBox="1"/>
            <p:nvPr/>
          </p:nvSpPr>
          <p:spPr>
            <a:xfrm>
              <a:off x="3421693" y="4973569"/>
              <a:ext cx="244827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800" dirty="0" smtClean="0"/>
                <a:t>Автомобиль</a:t>
              </a:r>
              <a:endParaRPr lang="ru-RU" sz="28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63771" y="4973569"/>
              <a:ext cx="178533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800" dirty="0" smtClean="0"/>
                <a:t>Паровоз</a:t>
              </a:r>
              <a:endParaRPr lang="ru-RU" sz="28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95936" y="3501008"/>
              <a:ext cx="3960440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800" dirty="0" smtClean="0"/>
                <a:t>Транспортное средство</a:t>
              </a:r>
              <a:endParaRPr lang="ru-RU" sz="2800" dirty="0"/>
            </a:p>
          </p:txBody>
        </p:sp>
        <p:cxnSp>
          <p:nvCxnSpPr>
            <p:cNvPr id="23" name="Соединительная линия уступом 22"/>
            <p:cNvCxnSpPr>
              <a:stCxn id="11" idx="0"/>
            </p:cNvCxnSpPr>
            <p:nvPr/>
          </p:nvCxnSpPr>
          <p:spPr>
            <a:xfrm rot="5400000" flipH="1" flipV="1">
              <a:off x="5669227" y="3406501"/>
              <a:ext cx="543670" cy="2590467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>
            <a:xfrm>
              <a:off x="7236296" y="4429899"/>
              <a:ext cx="0" cy="5436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 flipV="1">
              <a:off x="5941062" y="4024228"/>
              <a:ext cx="0" cy="40567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994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1" y="1340768"/>
            <a:ext cx="84969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Простое </a:t>
            </a:r>
            <a:r>
              <a:rPr lang="ru-RU" sz="3000" b="1" dirty="0"/>
              <a:t>наследование:</a:t>
            </a:r>
          </a:p>
          <a:p>
            <a:r>
              <a:rPr lang="ru-RU" sz="2800" dirty="0" err="1"/>
              <a:t>class</a:t>
            </a:r>
            <a:r>
              <a:rPr lang="ru-RU" sz="2800" dirty="0"/>
              <a:t> </a:t>
            </a:r>
            <a:r>
              <a:rPr lang="ru-RU" sz="2800" dirty="0" err="1"/>
              <a:t>имя_производного_Класса</a:t>
            </a:r>
            <a:r>
              <a:rPr lang="ru-RU" sz="2800" dirty="0"/>
              <a:t>: </a:t>
            </a:r>
          </a:p>
          <a:p>
            <a:r>
              <a:rPr lang="ru-RU" sz="2800" dirty="0"/>
              <a:t>[</a:t>
            </a:r>
            <a:r>
              <a:rPr lang="ru-RU" sz="2800" b="1" dirty="0"/>
              <a:t>спецификатор наследования</a:t>
            </a:r>
            <a:r>
              <a:rPr lang="ru-RU" sz="2800" dirty="0"/>
              <a:t>] </a:t>
            </a:r>
            <a:r>
              <a:rPr lang="ru-RU" sz="2800" dirty="0" err="1"/>
              <a:t>имя_базового</a:t>
            </a:r>
            <a:r>
              <a:rPr lang="ru-RU" sz="2800" dirty="0"/>
              <a:t> класса</a:t>
            </a:r>
          </a:p>
          <a:p>
            <a:r>
              <a:rPr lang="ru-RU" sz="2800" dirty="0"/>
              <a:t>{ </a:t>
            </a:r>
          </a:p>
          <a:p>
            <a:r>
              <a:rPr lang="ru-RU" sz="2800" dirty="0"/>
              <a:t>тело класса </a:t>
            </a:r>
          </a:p>
          <a:p>
            <a:r>
              <a:rPr lang="ru-RU" sz="2800" dirty="0" smtClean="0"/>
              <a:t>};</a:t>
            </a:r>
          </a:p>
          <a:p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404664"/>
            <a:ext cx="90364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/>
              <a:t>СИНТАКСИС ОБЪЯВЛЕНИЯ ПРОИЗВОДНОГО КЛАССА </a:t>
            </a:r>
          </a:p>
        </p:txBody>
      </p:sp>
    </p:spTree>
    <p:extLst>
      <p:ext uri="{BB962C8B-B14F-4D97-AF65-F5344CB8AC3E}">
        <p14:creationId xmlns:p14="http://schemas.microsoft.com/office/powerpoint/2010/main" xmlns="" val="111838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3508" y="1556792"/>
            <a:ext cx="882047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b="1" dirty="0"/>
              <a:t>Множественное наследование:</a:t>
            </a:r>
          </a:p>
          <a:p>
            <a:r>
              <a:rPr lang="ru-RU" sz="2800" dirty="0" err="1"/>
              <a:t>class</a:t>
            </a:r>
            <a:r>
              <a:rPr lang="ru-RU" sz="2800" dirty="0"/>
              <a:t>  </a:t>
            </a:r>
            <a:r>
              <a:rPr lang="ru-RU" sz="2800" dirty="0" err="1"/>
              <a:t>имя_производного_Класса</a:t>
            </a:r>
            <a:r>
              <a:rPr lang="ru-RU" sz="2800" dirty="0"/>
              <a:t>:</a:t>
            </a:r>
          </a:p>
          <a:p>
            <a:r>
              <a:rPr lang="ru-RU" sz="2800" dirty="0"/>
              <a:t>[</a:t>
            </a:r>
            <a:r>
              <a:rPr lang="ru-RU" sz="2800" b="1" dirty="0"/>
              <a:t>спецификатор наследования1</a:t>
            </a:r>
            <a:r>
              <a:rPr lang="ru-RU" sz="2800" dirty="0"/>
              <a:t>] </a:t>
            </a:r>
            <a:r>
              <a:rPr lang="ru-RU" sz="2800" dirty="0" err="1"/>
              <a:t>имя_базового</a:t>
            </a:r>
            <a:r>
              <a:rPr lang="ru-RU" sz="2800" dirty="0"/>
              <a:t> класса1, </a:t>
            </a:r>
          </a:p>
          <a:p>
            <a:r>
              <a:rPr lang="ru-RU" sz="2800" dirty="0"/>
              <a:t>[</a:t>
            </a:r>
            <a:r>
              <a:rPr lang="ru-RU" sz="2800" b="1" dirty="0"/>
              <a:t>спецификатор наследования2</a:t>
            </a:r>
            <a:r>
              <a:rPr lang="ru-RU" sz="2800" dirty="0"/>
              <a:t>] </a:t>
            </a:r>
            <a:r>
              <a:rPr lang="ru-RU" sz="2800" dirty="0" err="1"/>
              <a:t>имя_базового</a:t>
            </a:r>
            <a:r>
              <a:rPr lang="ru-RU" sz="2800" dirty="0"/>
              <a:t> класса2, </a:t>
            </a:r>
          </a:p>
          <a:p>
            <a:r>
              <a:rPr lang="ru-RU" sz="2800" dirty="0"/>
              <a:t>...</a:t>
            </a:r>
          </a:p>
          <a:p>
            <a:r>
              <a:rPr lang="ru-RU" sz="2800" dirty="0"/>
              <a:t>{ тело класса };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04664"/>
            <a:ext cx="90364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/>
              <a:t>СИНТАКСИС ОБЪЯВЛЕНИЯ ПРОИЗВОДНОГО КЛАССА </a:t>
            </a:r>
          </a:p>
        </p:txBody>
      </p:sp>
    </p:spTree>
    <p:extLst>
      <p:ext uri="{BB962C8B-B14F-4D97-AF65-F5344CB8AC3E}">
        <p14:creationId xmlns:p14="http://schemas.microsoft.com/office/powerpoint/2010/main" xmlns="" val="410909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797" y="1157401"/>
            <a:ext cx="889248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2800" b="1" dirty="0"/>
              <a:t>Спецификатор наследования </a:t>
            </a:r>
            <a:r>
              <a:rPr lang="ru-RU" sz="2800" dirty="0"/>
              <a:t>определяет </a:t>
            </a:r>
            <a:r>
              <a:rPr lang="ru-RU" sz="2800" b="1" dirty="0"/>
              <a:t>доступность элементов </a:t>
            </a:r>
            <a:r>
              <a:rPr lang="ru-RU" sz="2800" dirty="0"/>
              <a:t>базового класса </a:t>
            </a:r>
            <a:r>
              <a:rPr lang="ru-RU" sz="2800" dirty="0" smtClean="0"/>
              <a:t>в </a:t>
            </a:r>
            <a:r>
              <a:rPr lang="ru-RU" sz="2800" dirty="0"/>
              <a:t>производном классе.</a:t>
            </a:r>
          </a:p>
          <a:p>
            <a:r>
              <a:rPr lang="ru-RU" sz="2800" dirty="0"/>
              <a:t>Если  спецификатор  наследования  не  указан,  то  по  умолчанию  базовый  класс </a:t>
            </a:r>
            <a:r>
              <a:rPr lang="ru-RU" sz="2800" dirty="0" smtClean="0"/>
              <a:t> наследуется как закрытый</a:t>
            </a:r>
            <a:r>
              <a:rPr lang="ru-RU" sz="2800" dirty="0"/>
              <a:t>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800" b="1" dirty="0" smtClean="0"/>
              <a:t>3 </a:t>
            </a:r>
            <a:r>
              <a:rPr lang="ru-RU" sz="2800" b="1" dirty="0"/>
              <a:t>спецификатора наследования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 err="1"/>
              <a:t>Public</a:t>
            </a:r>
            <a:r>
              <a:rPr lang="ru-RU" sz="2800" dirty="0"/>
              <a:t>  (открытый)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 err="1"/>
              <a:t>Private</a:t>
            </a:r>
            <a:r>
              <a:rPr lang="ru-RU" sz="2800" dirty="0"/>
              <a:t>  (закрытый)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 err="1"/>
              <a:t>Protected</a:t>
            </a:r>
            <a:r>
              <a:rPr lang="ru-RU" sz="2800" dirty="0"/>
              <a:t> (защищенный )</a:t>
            </a:r>
          </a:p>
        </p:txBody>
      </p:sp>
    </p:spTree>
    <p:extLst>
      <p:ext uri="{BB962C8B-B14F-4D97-AF65-F5344CB8AC3E}">
        <p14:creationId xmlns:p14="http://schemas.microsoft.com/office/powerpoint/2010/main" xmlns="" val="106209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836712"/>
            <a:ext cx="8712968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2800" dirty="0"/>
              <a:t>Если спецификатор наследования   </a:t>
            </a:r>
            <a:r>
              <a:rPr lang="ru-RU" sz="2800" b="1" dirty="0"/>
              <a:t> </a:t>
            </a:r>
            <a:r>
              <a:rPr lang="ru-RU" sz="2800" b="1" dirty="0" err="1"/>
              <a:t>public</a:t>
            </a:r>
            <a:r>
              <a:rPr lang="ru-RU" sz="2800" dirty="0"/>
              <a:t>,  все открытые компоненты и функции-члены интерфейса базового класса открыты и в производном классе, а закрытые  </a:t>
            </a:r>
            <a:r>
              <a:rPr lang="ru-RU" sz="2800" dirty="0" smtClean="0"/>
              <a:t>– закрыты </a:t>
            </a:r>
            <a:r>
              <a:rPr lang="ru-RU" sz="2800" dirty="0"/>
              <a:t>и недоступны.</a:t>
            </a:r>
          </a:p>
          <a:p>
            <a:r>
              <a:rPr lang="ru-RU" sz="2800" dirty="0"/>
              <a:t>Если спецификатор наследования  </a:t>
            </a:r>
            <a:r>
              <a:rPr lang="ru-RU" sz="2800" b="1" dirty="0" err="1"/>
              <a:t>private</a:t>
            </a:r>
            <a:r>
              <a:rPr lang="ru-RU" sz="2800" dirty="0"/>
              <a:t>,  все открытые компоненты и функции-члены  интерфейса  базового  класса  закрыты  в  производном  классе,  также  как  </a:t>
            </a:r>
            <a:r>
              <a:rPr lang="ru-RU" sz="2800" dirty="0" smtClean="0"/>
              <a:t>и закрытые  </a:t>
            </a:r>
            <a:r>
              <a:rPr lang="ru-RU" sz="2800" dirty="0"/>
              <a:t>–  закрыты  и  недоступны.  Личные  </a:t>
            </a:r>
            <a:r>
              <a:rPr lang="ru-RU" sz="2800" b="1" dirty="0"/>
              <a:t>(</a:t>
            </a:r>
            <a:r>
              <a:rPr lang="ru-RU" sz="2800" b="1" dirty="0" err="1"/>
              <a:t>private</a:t>
            </a:r>
            <a:r>
              <a:rPr lang="ru-RU" sz="2800" b="1" dirty="0"/>
              <a:t>)  </a:t>
            </a:r>
            <a:r>
              <a:rPr lang="ru-RU" sz="2800" dirty="0"/>
              <a:t>члены  базового  класса </a:t>
            </a:r>
            <a:r>
              <a:rPr lang="ru-RU" sz="2800" dirty="0" smtClean="0"/>
              <a:t>доступны </a:t>
            </a:r>
            <a:r>
              <a:rPr lang="ru-RU" sz="2800" dirty="0"/>
              <a:t>в производном классе только через вызов соответствующих функций-членов базового  класса</a:t>
            </a:r>
            <a:r>
              <a:rPr lang="ru-RU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12358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268760"/>
            <a:ext cx="80648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Спецификатор  наследования   </a:t>
            </a:r>
            <a:r>
              <a:rPr lang="ru-RU" sz="2800" b="1" dirty="0"/>
              <a:t> </a:t>
            </a:r>
            <a:r>
              <a:rPr lang="ru-RU" sz="2800" b="1" dirty="0" err="1"/>
              <a:t>protected</a:t>
            </a:r>
            <a:r>
              <a:rPr lang="ru-RU" sz="2800" b="1" dirty="0"/>
              <a:t>    </a:t>
            </a:r>
            <a:r>
              <a:rPr lang="ru-RU" sz="2800" dirty="0"/>
              <a:t>эквивалентен  спецификатору  </a:t>
            </a:r>
            <a:r>
              <a:rPr lang="ru-RU" sz="2800" b="1" dirty="0" err="1"/>
              <a:t>private</a:t>
            </a:r>
            <a:r>
              <a:rPr lang="ru-RU" sz="2800" dirty="0"/>
              <a:t>  с </a:t>
            </a:r>
            <a:r>
              <a:rPr lang="ru-RU" sz="2800" dirty="0" smtClean="0"/>
              <a:t>единственным  </a:t>
            </a:r>
            <a:r>
              <a:rPr lang="ru-RU" sz="2800" dirty="0"/>
              <a:t>исключением:  защищенные  члены  базового  класса  </a:t>
            </a:r>
            <a:r>
              <a:rPr lang="ru-RU" sz="2800" b="1" dirty="0"/>
              <a:t>доступны</a:t>
            </a:r>
            <a:r>
              <a:rPr lang="ru-RU" sz="2800" dirty="0"/>
              <a:t>  для </a:t>
            </a:r>
            <a:r>
              <a:rPr lang="ru-RU" sz="2800" dirty="0" smtClean="0"/>
              <a:t>членов  </a:t>
            </a:r>
            <a:r>
              <a:rPr lang="ru-RU" sz="2800" dirty="0"/>
              <a:t>всех  производных  классов  этого  базового  класса,  вне  базового  или </a:t>
            </a:r>
            <a:r>
              <a:rPr lang="ru-RU" sz="2800" dirty="0" smtClean="0"/>
              <a:t>производных </a:t>
            </a:r>
            <a:r>
              <a:rPr lang="ru-RU" sz="2800" dirty="0"/>
              <a:t>классов защищенные члены недоступны. 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282570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84969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ДОСТУП К ЭЛЕМЕНТАМ БАЗОВОГО </a:t>
            </a:r>
            <a:r>
              <a:rPr lang="ru-RU" sz="3200" b="1" dirty="0" smtClean="0"/>
              <a:t>КЛАССА</a:t>
            </a:r>
          </a:p>
          <a:p>
            <a:pPr algn="ctr"/>
            <a:r>
              <a:rPr lang="ru-RU" sz="3200" b="1" dirty="0" smtClean="0"/>
              <a:t> </a:t>
            </a:r>
            <a:r>
              <a:rPr lang="ru-RU" sz="3200" b="1" dirty="0"/>
              <a:t>В КЛАССЕ-НАСЛЕДНИКЕ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1988840"/>
            <a:ext cx="79928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Доступность  элементов  базового  класса  из  классов-наследников  изменяется  в </a:t>
            </a:r>
            <a:r>
              <a:rPr lang="ru-RU" sz="2800" dirty="0" smtClean="0"/>
              <a:t>зависимости  </a:t>
            </a:r>
            <a:r>
              <a:rPr lang="ru-RU" sz="2800" dirty="0"/>
              <a:t>от  спецификаторов  доступа  в  </a:t>
            </a:r>
            <a:r>
              <a:rPr lang="ru-RU" sz="2800" b="1" dirty="0"/>
              <a:t>базовом</a:t>
            </a:r>
            <a:r>
              <a:rPr lang="ru-RU" sz="2800" dirty="0"/>
              <a:t>  классе  </a:t>
            </a:r>
            <a:r>
              <a:rPr lang="ru-RU" sz="2800" b="1" dirty="0"/>
              <a:t>и </a:t>
            </a:r>
            <a:r>
              <a:rPr lang="ru-RU" sz="2800" dirty="0"/>
              <a:t> спецификатора </a:t>
            </a:r>
            <a:r>
              <a:rPr lang="ru-RU" sz="2800" b="1" dirty="0" smtClean="0"/>
              <a:t>наследования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08893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23503878"/>
              </p:ext>
            </p:extLst>
          </p:nvPr>
        </p:nvGraphicFramePr>
        <p:xfrm>
          <a:off x="899593" y="260651"/>
          <a:ext cx="6912768" cy="5767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/>
                <a:gridCol w="2304256"/>
                <a:gridCol w="2304256"/>
              </a:tblGrid>
              <a:tr h="1512165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Спецификатор</a:t>
                      </a:r>
                    </a:p>
                    <a:p>
                      <a:r>
                        <a:rPr lang="ru-RU" sz="2400" dirty="0" smtClean="0"/>
                        <a:t>доступа </a:t>
                      </a:r>
                    </a:p>
                    <a:p>
                      <a:r>
                        <a:rPr lang="ru-RU" sz="2400" dirty="0" smtClean="0"/>
                        <a:t>в базовом классе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Спецификатор </a:t>
                      </a:r>
                    </a:p>
                    <a:p>
                      <a:r>
                        <a:rPr lang="ru-RU" sz="2400" dirty="0" smtClean="0"/>
                        <a:t>наследования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Доступ  в </a:t>
                      </a:r>
                    </a:p>
                    <a:p>
                      <a:r>
                        <a:rPr lang="ru-RU" sz="2400" dirty="0" smtClean="0"/>
                        <a:t>производном классе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отсутствует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отсутствует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private</a:t>
                      </a:r>
                      <a:endParaRPr lang="ru-RU" sz="2400" dirty="0" smtClean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private</a:t>
                      </a:r>
                      <a:endParaRPr lang="ru-RU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private</a:t>
                      </a:r>
                      <a:endParaRPr lang="ru-RU" sz="2400" dirty="0" smtClean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protected </a:t>
                      </a:r>
                      <a:endParaRPr lang="ru-RU" sz="2400" dirty="0" smtClean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protected </a:t>
                      </a:r>
                      <a:endParaRPr lang="ru-RU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protected </a:t>
                      </a:r>
                      <a:endParaRPr lang="ru-RU" sz="240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3492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23130822"/>
              </p:ext>
            </p:extLst>
          </p:nvPr>
        </p:nvGraphicFramePr>
        <p:xfrm>
          <a:off x="971600" y="1340768"/>
          <a:ext cx="6912768" cy="34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/>
                <a:gridCol w="2304256"/>
                <a:gridCol w="2304256"/>
              </a:tblGrid>
              <a:tr h="1512165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Спецификатор</a:t>
                      </a:r>
                    </a:p>
                    <a:p>
                      <a:r>
                        <a:rPr lang="ru-RU" sz="2400" dirty="0" smtClean="0"/>
                        <a:t>доступа </a:t>
                      </a:r>
                    </a:p>
                    <a:p>
                      <a:r>
                        <a:rPr lang="ru-RU" sz="2400" dirty="0" smtClean="0"/>
                        <a:t>в базовом классе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Спецификатор </a:t>
                      </a:r>
                    </a:p>
                    <a:p>
                      <a:r>
                        <a:rPr lang="ru-RU" sz="2400" dirty="0" smtClean="0"/>
                        <a:t>наследования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Доступ  в </a:t>
                      </a:r>
                    </a:p>
                    <a:p>
                      <a:r>
                        <a:rPr lang="ru-RU" sz="2400" dirty="0" smtClean="0"/>
                        <a:t>производном классе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отсутствует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недоступны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 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недоступны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 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public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недоступны</a:t>
                      </a:r>
                      <a:r>
                        <a:rPr lang="en-US" sz="2400" dirty="0" smtClean="0"/>
                        <a:t> </a:t>
                      </a:r>
                      <a:endParaRPr lang="ru-RU" sz="2400" dirty="0"/>
                    </a:p>
                  </a:txBody>
                  <a:tcPr/>
                </a:tc>
              </a:tr>
              <a:tr h="46811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private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protected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недоступны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145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902523"/>
            <a:ext cx="8964488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2400" dirty="0" smtClean="0"/>
              <a:t>Класс-потомок  </a:t>
            </a:r>
            <a:r>
              <a:rPr lang="ru-RU" sz="2400" dirty="0"/>
              <a:t>наследует  структуру  (элементы  данных)  и  поведение  (</a:t>
            </a:r>
            <a:r>
              <a:rPr lang="ru-RU" sz="2400" dirty="0" smtClean="0"/>
              <a:t>все методы</a:t>
            </a:r>
            <a:r>
              <a:rPr lang="ru-RU" sz="2400" dirty="0"/>
              <a:t>) базового класса.</a:t>
            </a:r>
          </a:p>
          <a:p>
            <a:r>
              <a:rPr lang="ru-RU" sz="2400" b="1" dirty="0"/>
              <a:t>Возможности, предоставляемые механизмом наследования: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Добавлять в производном классе данные, которые представляет базовый </a:t>
            </a:r>
            <a:r>
              <a:rPr lang="ru-RU" sz="2400" dirty="0" smtClean="0"/>
              <a:t>класс 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Дополнять  </a:t>
            </a:r>
            <a:r>
              <a:rPr lang="ru-RU" sz="2400" dirty="0"/>
              <a:t>в  производном  классе  функциональные  возможности   </a:t>
            </a:r>
            <a:r>
              <a:rPr lang="ru-RU" sz="2400" dirty="0" smtClean="0"/>
              <a:t>базового класса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Модифицировать в производном классе методы базового </a:t>
            </a:r>
            <a:r>
              <a:rPr lang="ru-RU" sz="2400" dirty="0" smtClean="0"/>
              <a:t>класса</a:t>
            </a:r>
            <a:endParaRPr lang="ru-RU" sz="2400" dirty="0"/>
          </a:p>
          <a:p>
            <a:r>
              <a:rPr lang="ru-RU" sz="2400" b="1" dirty="0"/>
              <a:t>Возможности, которых нет: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Модифицировать  в  производном  классе  данные,  представленные  базовым </a:t>
            </a:r>
            <a:r>
              <a:rPr lang="ru-RU" sz="2400" dirty="0" smtClean="0"/>
              <a:t>классом </a:t>
            </a:r>
            <a:r>
              <a:rPr lang="ru-RU" sz="2400" dirty="0"/>
              <a:t>(сохранив их </a:t>
            </a:r>
            <a:r>
              <a:rPr lang="ru-RU" sz="2400" dirty="0" smtClean="0"/>
              <a:t>идентификаторы</a:t>
            </a:r>
            <a:r>
              <a:rPr lang="ru-RU" sz="240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131146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МЕХАНИЗМ </a:t>
            </a:r>
            <a:r>
              <a:rPr lang="ru-RU" sz="3200" b="1" dirty="0" smtClean="0"/>
              <a:t>НАСЛЕДОВАНИЯ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xmlns="" val="95375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810" y="620688"/>
            <a:ext cx="859167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Что происходит в порожденном классе: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Поля данных и методы–  </a:t>
            </a:r>
            <a:r>
              <a:rPr lang="ru-RU" sz="2400" b="1" dirty="0"/>
              <a:t>члены класса наследуются от базового класса. </a:t>
            </a:r>
            <a:r>
              <a:rPr lang="ru-RU" sz="2400" dirty="0" smtClean="0"/>
              <a:t>Можно  </a:t>
            </a:r>
            <a:r>
              <a:rPr lang="ru-RU" sz="2400" dirty="0"/>
              <a:t>считать,  что  они  описаны  в  порожденном  классе.  Однако</a:t>
            </a:r>
            <a:r>
              <a:rPr lang="ru-RU" sz="2400" dirty="0" smtClean="0"/>
              <a:t>, возможность </a:t>
            </a:r>
            <a:r>
              <a:rPr lang="ru-RU" sz="2400" dirty="0"/>
              <a:t>доступа к ним из методов производного класса и извне этого </a:t>
            </a:r>
            <a:r>
              <a:rPr lang="ru-RU" sz="2400" dirty="0" smtClean="0"/>
              <a:t>класса  </a:t>
            </a:r>
            <a:r>
              <a:rPr lang="ru-RU" sz="2400" dirty="0"/>
              <a:t>определяется   спецификатором  доступа  (</a:t>
            </a:r>
            <a:r>
              <a:rPr lang="ru-RU" sz="2400" b="1" dirty="0" err="1"/>
              <a:t>private</a:t>
            </a:r>
            <a:r>
              <a:rPr lang="ru-RU" sz="2400" b="1" dirty="0"/>
              <a:t>,  </a:t>
            </a:r>
            <a:r>
              <a:rPr lang="ru-RU" sz="2400" b="1" dirty="0" err="1"/>
              <a:t>protected</a:t>
            </a:r>
            <a:r>
              <a:rPr lang="ru-RU" sz="2400" b="1" dirty="0"/>
              <a:t>,  </a:t>
            </a:r>
            <a:r>
              <a:rPr lang="ru-RU" sz="2400" b="1" dirty="0" err="1"/>
              <a:t>public</a:t>
            </a:r>
            <a:r>
              <a:rPr lang="ru-RU" sz="2400" dirty="0"/>
              <a:t>)  к </a:t>
            </a:r>
            <a:r>
              <a:rPr lang="ru-RU" sz="2400" dirty="0" smtClean="0"/>
              <a:t>членам  </a:t>
            </a:r>
            <a:r>
              <a:rPr lang="ru-RU" sz="2400" dirty="0"/>
              <a:t>в  базовом  классе  и  спецификатором  доступа  к  базовому  классу, </a:t>
            </a:r>
            <a:r>
              <a:rPr lang="ru-RU" sz="2400" dirty="0" smtClean="0"/>
              <a:t>задаваемому при описании производного класса.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В </a:t>
            </a:r>
            <a:r>
              <a:rPr lang="ru-RU" sz="2400" dirty="0"/>
              <a:t>производном классе </a:t>
            </a:r>
            <a:r>
              <a:rPr lang="ru-RU" sz="2400" b="1" dirty="0"/>
              <a:t>можно</a:t>
            </a:r>
            <a:r>
              <a:rPr lang="ru-RU" sz="2400" dirty="0"/>
              <a:t> </a:t>
            </a:r>
            <a:r>
              <a:rPr lang="ru-RU" sz="2400" b="1" dirty="0"/>
              <a:t>добавлять свои поля – члены класса. </a:t>
            </a:r>
            <a:endParaRPr lang="ru-RU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 производном классе </a:t>
            </a:r>
            <a:r>
              <a:rPr lang="ru-RU" sz="2400" b="1" dirty="0"/>
              <a:t>можно добавлять свои методы – члены класса.</a:t>
            </a:r>
          </a:p>
        </p:txBody>
      </p:sp>
    </p:spTree>
    <p:extLst>
      <p:ext uri="{BB962C8B-B14F-4D97-AF65-F5344CB8AC3E}">
        <p14:creationId xmlns:p14="http://schemas.microsoft.com/office/powerpoint/2010/main" xmlns="" val="208004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620688"/>
            <a:ext cx="85689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  производном  классе  </a:t>
            </a:r>
            <a:r>
              <a:rPr lang="ru-RU" sz="2400" b="1" dirty="0"/>
              <a:t>можно  переопределять  методы  </a:t>
            </a:r>
            <a:r>
              <a:rPr lang="ru-RU" sz="2400" dirty="0"/>
              <a:t>базового  класса </a:t>
            </a:r>
            <a:r>
              <a:rPr lang="ru-RU" sz="2400" dirty="0" smtClean="0"/>
              <a:t>(</a:t>
            </a:r>
            <a:r>
              <a:rPr lang="ru-RU" sz="2400" dirty="0"/>
              <a:t>сохраняя точное совпадение с исходным прототипом, то есть количество и </a:t>
            </a:r>
            <a:r>
              <a:rPr lang="ru-RU" sz="2400" dirty="0" smtClean="0"/>
              <a:t>типы  </a:t>
            </a:r>
            <a:r>
              <a:rPr lang="ru-RU" sz="2400" dirty="0"/>
              <a:t>аргументов  и  возвращаемый  тип).  Исключение:  если  возвращаемый </a:t>
            </a:r>
          </a:p>
          <a:p>
            <a:r>
              <a:rPr lang="ru-RU" sz="2400" dirty="0" smtClean="0"/>
              <a:t>    тип  </a:t>
            </a:r>
            <a:r>
              <a:rPr lang="ru-RU" sz="2400" dirty="0"/>
              <a:t>является  указателем  или  ссылкой  на  базовый  класс,  </a:t>
            </a:r>
            <a:r>
              <a:rPr lang="ru-RU" sz="2400" dirty="0" smtClean="0"/>
              <a:t>           он  </a:t>
            </a:r>
            <a:r>
              <a:rPr lang="ru-RU" sz="2400" dirty="0"/>
              <a:t>может  </a:t>
            </a:r>
            <a:r>
              <a:rPr lang="ru-RU" sz="2400" dirty="0" smtClean="0"/>
              <a:t>быть заменен </a:t>
            </a:r>
            <a:r>
              <a:rPr lang="ru-RU" sz="2400" dirty="0"/>
              <a:t>указателем или ссылкой на порождаемый класс.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 Вы  в  производном  классе  переопределили  метод,  </a:t>
            </a:r>
            <a:r>
              <a:rPr lang="ru-RU" sz="2400" b="1" dirty="0"/>
              <a:t>доступ</a:t>
            </a:r>
            <a:r>
              <a:rPr lang="ru-RU" sz="2400" dirty="0"/>
              <a:t>  из  него  </a:t>
            </a:r>
            <a:r>
              <a:rPr lang="ru-RU" sz="2400" b="1" dirty="0"/>
              <a:t>к </a:t>
            </a:r>
            <a:r>
              <a:rPr lang="ru-RU" sz="2400" b="1" dirty="0" smtClean="0"/>
              <a:t>родительскому </a:t>
            </a:r>
            <a:r>
              <a:rPr lang="ru-RU" sz="2400" b="1" dirty="0"/>
              <a:t>методу </a:t>
            </a:r>
            <a:r>
              <a:rPr lang="ru-RU" sz="2400" dirty="0"/>
              <a:t>можно получить, используя оператор ::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в классе-наследнике имя метода и его прототип совпадают с именем </a:t>
            </a:r>
            <a:r>
              <a:rPr lang="ru-RU" sz="2400" dirty="0" smtClean="0"/>
              <a:t>метода  </a:t>
            </a:r>
            <a:r>
              <a:rPr lang="ru-RU" sz="2400" dirty="0"/>
              <a:t>базового  класса,  то  метод  производного  класса  </a:t>
            </a:r>
            <a:r>
              <a:rPr lang="ru-RU" sz="2400" b="1" dirty="0"/>
              <a:t>скрывает</a:t>
            </a:r>
            <a:r>
              <a:rPr lang="ru-RU" sz="2400" dirty="0"/>
              <a:t>  метод </a:t>
            </a:r>
            <a:r>
              <a:rPr lang="ru-RU" sz="2400" dirty="0" smtClean="0"/>
              <a:t>базового </a:t>
            </a:r>
            <a:r>
              <a:rPr lang="ru-RU" sz="2400" dirty="0"/>
              <a:t>класса.</a:t>
            </a:r>
          </a:p>
        </p:txBody>
      </p:sp>
    </p:spTree>
    <p:extLst>
      <p:ext uri="{BB962C8B-B14F-4D97-AF65-F5344CB8AC3E}">
        <p14:creationId xmlns:p14="http://schemas.microsoft.com/office/powerpoint/2010/main" xmlns="" val="372701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888433"/>
            <a:ext cx="83529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Статические  поля  </a:t>
            </a:r>
            <a:r>
              <a:rPr lang="ru-RU" sz="2800" dirty="0"/>
              <a:t>наследуются.  Все  потомки  разделяют  </a:t>
            </a:r>
            <a:r>
              <a:rPr lang="ru-RU" sz="2800" dirty="0" smtClean="0"/>
              <a:t>единственную копию </a:t>
            </a:r>
            <a:r>
              <a:rPr lang="ru-RU" sz="2800" dirty="0"/>
              <a:t>статического поля. </a:t>
            </a:r>
            <a:r>
              <a:rPr lang="ru-RU" sz="2800" b="1" dirty="0"/>
              <a:t>Статические методы </a:t>
            </a:r>
            <a:r>
              <a:rPr lang="ru-RU" sz="2800" dirty="0"/>
              <a:t>наследуются.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Ограничений в наследовании вложенных классов нет: внешний класс может </a:t>
            </a:r>
            <a:r>
              <a:rPr lang="ru-RU" sz="2800" dirty="0" smtClean="0"/>
              <a:t>наследовать </a:t>
            </a:r>
            <a:r>
              <a:rPr lang="ru-RU" sz="2800" dirty="0"/>
              <a:t>от вложенного и наоборот. </a:t>
            </a:r>
            <a:endParaRPr lang="ru-RU" sz="2800" dirty="0" smtClean="0"/>
          </a:p>
          <a:p>
            <a:r>
              <a:rPr lang="ru-RU" sz="2800" dirty="0" smtClean="0"/>
              <a:t>	Типы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Указатель  базового  класса  может  указывать  на  объект  любого  класса, </a:t>
            </a:r>
            <a:r>
              <a:rPr lang="ru-RU" sz="2800" dirty="0" smtClean="0"/>
              <a:t>производного </a:t>
            </a:r>
            <a:r>
              <a:rPr lang="ru-RU" sz="2800" dirty="0"/>
              <a:t>от этого базового. Обратное неверно.</a:t>
            </a:r>
          </a:p>
        </p:txBody>
      </p:sp>
    </p:spTree>
    <p:extLst>
      <p:ext uri="{BB962C8B-B14F-4D97-AF65-F5344CB8AC3E}">
        <p14:creationId xmlns:p14="http://schemas.microsoft.com/office/powerpoint/2010/main" xmlns="" val="393270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29569"/>
            <a:ext cx="856895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Для решения </a:t>
            </a:r>
            <a:r>
              <a:rPr lang="ru-RU" sz="2800" dirty="0" smtClean="0"/>
              <a:t>задачи о преподавателях и студентов создадим </a:t>
            </a:r>
            <a:r>
              <a:rPr lang="ru-RU" sz="3200" b="1" dirty="0"/>
              <a:t>базовый класс </a:t>
            </a:r>
            <a:r>
              <a:rPr lang="ru-RU" sz="3200" b="1" dirty="0" err="1"/>
              <a:t>human</a:t>
            </a:r>
            <a:r>
              <a:rPr lang="ru-RU" sz="2800" dirty="0"/>
              <a:t>, который будет описывать модель человека. В нем будут храниться имя, фамилия и отчество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7546" y="2132856"/>
            <a:ext cx="7344816" cy="4468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36879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394549"/>
            <a:ext cx="7848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Для класса </a:t>
            </a:r>
            <a:r>
              <a:rPr lang="ru-RU" sz="2800" b="1" dirty="0" err="1" smtClean="0"/>
              <a:t>ostringstream</a:t>
            </a:r>
            <a:r>
              <a:rPr lang="ru-RU" sz="2800" b="1" dirty="0" smtClean="0"/>
              <a:t> </a:t>
            </a:r>
            <a:r>
              <a:rPr lang="ru-RU" sz="2800" dirty="0" err="1" smtClean="0"/>
              <a:t>заинклудим</a:t>
            </a:r>
            <a:r>
              <a:rPr lang="ru-RU" sz="2800" dirty="0" smtClean="0"/>
              <a:t>  </a:t>
            </a:r>
            <a:r>
              <a:rPr lang="en-US" sz="2800" dirty="0" smtClean="0"/>
              <a:t>&lt;</a:t>
            </a:r>
            <a:r>
              <a:rPr lang="en-US" sz="2800" dirty="0" err="1"/>
              <a:t>sstream</a:t>
            </a:r>
            <a:r>
              <a:rPr lang="en-US" sz="2800" dirty="0"/>
              <a:t>&gt;</a:t>
            </a:r>
            <a:endParaRPr lang="ru-RU" sz="2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1061" y="1412776"/>
            <a:ext cx="8651752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9543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247919"/>
            <a:ext cx="889248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Классы </a:t>
            </a:r>
            <a:r>
              <a:rPr lang="en-US" sz="3200" dirty="0" err="1" smtClean="0"/>
              <a:t>stringstream</a:t>
            </a:r>
            <a:r>
              <a:rPr lang="en-US" sz="3200" dirty="0" smtClean="0"/>
              <a:t>, </a:t>
            </a:r>
            <a:r>
              <a:rPr lang="en-US" sz="3200" dirty="0" err="1" smtClean="0"/>
              <a:t>istringstream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3200" dirty="0" err="1" smtClean="0"/>
              <a:t>ostringstream</a:t>
            </a:r>
            <a:r>
              <a:rPr lang="en-US" sz="3200" dirty="0" smtClean="0"/>
              <a:t>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ru-RU" sz="2200" b="1" dirty="0" smtClean="0"/>
              <a:t>Назначение:</a:t>
            </a:r>
            <a:r>
              <a:rPr lang="ru-RU" sz="2200" dirty="0" smtClean="0"/>
              <a:t> поддерживают строковые операции ввода-ввода</a:t>
            </a:r>
            <a:br>
              <a:rPr lang="ru-RU" sz="2200" dirty="0" smtClean="0"/>
            </a:br>
            <a:r>
              <a:rPr lang="ru-RU" sz="2200" b="1" dirty="0" smtClean="0"/>
              <a:t>Иерархия:</a:t>
            </a:r>
            <a:r>
              <a:rPr lang="ru-RU" sz="2200" dirty="0" smtClean="0"/>
              <a:t> </a:t>
            </a:r>
          </a:p>
          <a:p>
            <a:r>
              <a:rPr lang="en-US" sz="2200" dirty="0" err="1" smtClean="0"/>
              <a:t>ios</a:t>
            </a:r>
            <a:r>
              <a:rPr lang="en-US" sz="2200" dirty="0" smtClean="0"/>
              <a:t> -&gt; </a:t>
            </a:r>
            <a:r>
              <a:rPr lang="en-US" sz="2200" dirty="0" err="1" smtClean="0"/>
              <a:t>istream</a:t>
            </a:r>
            <a:r>
              <a:rPr lang="en-US" sz="2200" dirty="0" smtClean="0"/>
              <a:t> -&gt; </a:t>
            </a:r>
            <a:r>
              <a:rPr lang="en-US" sz="2200" dirty="0" err="1" smtClean="0"/>
              <a:t>istringstream</a:t>
            </a:r>
            <a:endParaRPr lang="en-US" sz="2200" dirty="0" smtClean="0"/>
          </a:p>
          <a:p>
            <a:r>
              <a:rPr lang="en-US" sz="2200" dirty="0" err="1" smtClean="0"/>
              <a:t>ios</a:t>
            </a:r>
            <a:r>
              <a:rPr lang="en-US" sz="2200" dirty="0" smtClean="0"/>
              <a:t> -&gt; </a:t>
            </a:r>
            <a:r>
              <a:rPr lang="en-US" sz="2200" dirty="0" err="1" smtClean="0"/>
              <a:t>ostream</a:t>
            </a:r>
            <a:r>
              <a:rPr lang="en-US" sz="2200" dirty="0" smtClean="0"/>
              <a:t> -&gt; </a:t>
            </a:r>
            <a:r>
              <a:rPr lang="en-US" sz="2200" dirty="0" err="1" smtClean="0"/>
              <a:t>ostringstream</a:t>
            </a:r>
            <a:endParaRPr lang="en-US" sz="2200" dirty="0" smtClean="0"/>
          </a:p>
          <a:p>
            <a:r>
              <a:rPr lang="en-US" sz="2200" dirty="0" err="1" smtClean="0"/>
              <a:t>ios</a:t>
            </a:r>
            <a:r>
              <a:rPr lang="en-US" sz="2200" dirty="0" smtClean="0"/>
              <a:t> -&gt; </a:t>
            </a:r>
            <a:r>
              <a:rPr lang="en-US" sz="2200" dirty="0" err="1" smtClean="0"/>
              <a:t>iostream</a:t>
            </a:r>
            <a:r>
              <a:rPr lang="en-US" sz="2200" dirty="0" smtClean="0"/>
              <a:t> -&gt; </a:t>
            </a:r>
            <a:r>
              <a:rPr lang="en-US" sz="2200" dirty="0" err="1" smtClean="0"/>
              <a:t>stringstream</a:t>
            </a:r>
            <a:endParaRPr lang="en-US" sz="2200" dirty="0" smtClean="0"/>
          </a:p>
          <a:p>
            <a:r>
              <a:rPr lang="ru-RU" sz="2200" b="1" dirty="0" smtClean="0"/>
              <a:t>Методы</a:t>
            </a:r>
          </a:p>
          <a:p>
            <a:pPr>
              <a:spcAft>
                <a:spcPts val="1800"/>
              </a:spcAft>
            </a:pPr>
            <a:r>
              <a:rPr lang="en-US" sz="2200" dirty="0" err="1" smtClean="0">
                <a:hlinkClick r:id="rId2"/>
              </a:rPr>
              <a:t>str</a:t>
            </a:r>
            <a:r>
              <a:rPr lang="en-US" sz="2200" dirty="0" smtClean="0"/>
              <a:t> — </a:t>
            </a:r>
            <a:r>
              <a:rPr lang="ru-RU" sz="2200" dirty="0" smtClean="0"/>
              <a:t>Возвращает или освобождает строку заполненную текущим содержимым потока и вставляет, если необходимо другую.</a:t>
            </a:r>
          </a:p>
          <a:p>
            <a:r>
              <a:rPr lang="ru-RU" sz="2200" dirty="0" smtClean="0"/>
              <a:t>Стандартная библиотека содержит малоизвестный класс – </a:t>
            </a:r>
            <a:r>
              <a:rPr lang="ru-RU" sz="2200" dirty="0" err="1" smtClean="0">
                <a:hlinkClick r:id="rId3"/>
              </a:rPr>
              <a:t>ostringstream</a:t>
            </a:r>
            <a:r>
              <a:rPr lang="ru-RU" sz="2200" dirty="0" smtClean="0"/>
              <a:t>. Он предоставляет удобный интерфейс потоков ввода-вывода и прекрасно работает со встроенными типы данных. Результирующую строку легко получить с помощью метода </a:t>
            </a:r>
            <a:r>
              <a:rPr lang="ru-RU" sz="2200" b="1" dirty="0" err="1" smtClean="0"/>
              <a:t>str</a:t>
            </a:r>
            <a:r>
              <a:rPr lang="ru-RU" sz="2200" b="1" dirty="0" smtClean="0"/>
              <a:t>()</a:t>
            </a:r>
            <a:r>
              <a:rPr lang="ru-RU" sz="2200" dirty="0" smtClean="0"/>
              <a:t>;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xmlns="" val="394664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0084" y="1758300"/>
            <a:ext cx="8489768" cy="489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188640"/>
            <a:ext cx="82089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Пример демонстрирующий возможности класса </a:t>
            </a:r>
            <a:r>
              <a:rPr lang="ru-RU" sz="2600" b="1" dirty="0" err="1" smtClean="0"/>
              <a:t>ostringstream</a:t>
            </a:r>
            <a:r>
              <a:rPr lang="ru-RU" sz="2600" dirty="0" smtClean="0"/>
              <a:t> для преобразования целых и дробных чисел в обычную </a:t>
            </a:r>
            <a:r>
              <a:rPr lang="ru-RU" sz="2600" dirty="0" err="1" smtClean="0"/>
              <a:t>std:string</a:t>
            </a:r>
            <a:r>
              <a:rPr lang="ru-RU" sz="2600" dirty="0" smtClean="0"/>
              <a:t>.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xmlns="" val="421982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260648"/>
            <a:ext cx="684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Создание класса-наследника </a:t>
            </a:r>
            <a:r>
              <a:rPr lang="ru-RU" sz="3200" b="1" dirty="0" err="1" smtClean="0"/>
              <a:t>student</a:t>
            </a:r>
            <a:endParaRPr lang="ru-RU" sz="3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6500" y="1235674"/>
            <a:ext cx="8645996" cy="5361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7036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789" y="1628800"/>
            <a:ext cx="85916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Для сохранения фамилии, имени и отчества студента нужно инициализировать </a:t>
            </a:r>
            <a:r>
              <a:rPr lang="ru-RU" sz="2800" u="sng" dirty="0">
                <a:hlinkClick r:id="rId2" tooltip="Что такое конструктор класса в C++"/>
              </a:rPr>
              <a:t>конструктор</a:t>
            </a:r>
            <a:r>
              <a:rPr lang="ru-RU" sz="2800" dirty="0"/>
              <a:t> родительского </a:t>
            </a:r>
            <a:r>
              <a:rPr lang="ru-RU" sz="2800" dirty="0" smtClean="0"/>
              <a:t>класса. Для этого используем </a:t>
            </a:r>
            <a:r>
              <a:rPr lang="ru-RU" sz="2800" dirty="0"/>
              <a:t>следующий синтаксис:</a:t>
            </a:r>
          </a:p>
          <a:p>
            <a:r>
              <a:rPr lang="ru-RU" sz="2400" dirty="0" err="1" smtClean="0">
                <a:effectLst/>
              </a:rPr>
              <a:t>student</a:t>
            </a:r>
            <a:r>
              <a:rPr lang="ru-RU" sz="2400" dirty="0" smtClean="0">
                <a:effectLst/>
              </a:rPr>
              <a:t>(    // аргументы конструктора текущего класса) : </a:t>
            </a:r>
            <a:r>
              <a:rPr lang="ru-RU" sz="2400" dirty="0" err="1" smtClean="0">
                <a:effectLst/>
              </a:rPr>
              <a:t>human</a:t>
            </a:r>
            <a:r>
              <a:rPr lang="ru-RU" sz="2400" dirty="0" smtClean="0">
                <a:effectLst/>
              </a:rPr>
              <a:t>(    // инициализация конструктора родительского класса) {    // инициализация конструктора текущего класса</a:t>
            </a:r>
          </a:p>
          <a:p>
            <a:r>
              <a:rPr lang="ru-RU" sz="2400" dirty="0" smtClean="0">
                <a:effectLst/>
              </a:rPr>
              <a:t>}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332656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Конструктор базового класса и класса потомка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xmlns="" val="29698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8640"/>
            <a:ext cx="84969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конструктор класса </a:t>
            </a:r>
            <a:r>
              <a:rPr lang="ru-RU" sz="2800" b="1" dirty="0" err="1"/>
              <a:t>human</a:t>
            </a:r>
            <a:r>
              <a:rPr lang="ru-RU" sz="2800" dirty="0"/>
              <a:t> </a:t>
            </a:r>
            <a:r>
              <a:rPr lang="ru-RU" sz="2800" dirty="0" smtClean="0"/>
              <a:t>передаем </a:t>
            </a:r>
            <a:r>
              <a:rPr lang="ru-RU" sz="2800" dirty="0"/>
              <a:t>инициалы человека, которые сохраняются в экземпляре класса. Для класса </a:t>
            </a:r>
            <a:r>
              <a:rPr lang="ru-RU" sz="2800" dirty="0" err="1"/>
              <a:t>students</a:t>
            </a:r>
            <a:r>
              <a:rPr lang="ru-RU" sz="2800" dirty="0"/>
              <a:t>, </a:t>
            </a:r>
            <a:r>
              <a:rPr lang="ru-RU" sz="2800" dirty="0" smtClean="0"/>
              <a:t>необходимо </a:t>
            </a:r>
            <a:r>
              <a:rPr lang="ru-RU" sz="2800" dirty="0"/>
              <a:t>задать еще и список оценок студента. Поэтому конструктор </a:t>
            </a:r>
            <a:r>
              <a:rPr lang="ru-RU" sz="2800" dirty="0" err="1"/>
              <a:t>students</a:t>
            </a:r>
            <a:r>
              <a:rPr lang="ru-RU" sz="2800" dirty="0"/>
              <a:t> принимает все аргументы конструктора базового класса, а также дополнительные аргументы для расширения функционала</a:t>
            </a:r>
            <a:r>
              <a:rPr lang="ru-RU" sz="2800" dirty="0" smtClean="0"/>
              <a:t>:</a:t>
            </a:r>
            <a:endParaRPr lang="ru-RU" sz="2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8590" y="3661022"/>
            <a:ext cx="8855410" cy="179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5873508"/>
            <a:ext cx="766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Список оценок студента хранится в </a:t>
            </a:r>
            <a:r>
              <a:rPr lang="ru-RU" sz="2800" u="sng" dirty="0">
                <a:hlinkClick r:id="rId3" tooltip="Векторы в C++"/>
              </a:rPr>
              <a:t>векторе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324500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405" y="5301208"/>
            <a:ext cx="87129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Метод </a:t>
            </a:r>
            <a:r>
              <a:rPr lang="en-US" sz="2600" dirty="0" err="1" smtClean="0"/>
              <a:t>averageScore</a:t>
            </a:r>
            <a:r>
              <a:rPr lang="en-US" sz="2600" dirty="0" smtClean="0"/>
              <a:t>()</a:t>
            </a:r>
            <a:r>
              <a:rPr lang="ru-RU" sz="2600" dirty="0" smtClean="0"/>
              <a:t> </a:t>
            </a:r>
            <a:r>
              <a:rPr lang="ru-RU" sz="2600" dirty="0"/>
              <a:t>вычисляет среднее арифметическое всех оценок студента. Все </a:t>
            </a:r>
            <a:r>
              <a:rPr lang="ru-RU" sz="2600" u="sng" dirty="0">
                <a:hlinkClick r:id="rId2" tooltip="Модификаторы доступа public и private в классах C++"/>
              </a:rPr>
              <a:t>публичные свойства и методы</a:t>
            </a:r>
            <a:r>
              <a:rPr lang="ru-RU" sz="2600" dirty="0"/>
              <a:t> класса </a:t>
            </a:r>
            <a:r>
              <a:rPr lang="ru-RU" sz="2600" dirty="0" err="1"/>
              <a:t>human</a:t>
            </a:r>
            <a:r>
              <a:rPr lang="ru-RU" sz="2600" dirty="0"/>
              <a:t> будут доступны в классе </a:t>
            </a:r>
            <a:r>
              <a:rPr lang="ru-RU" sz="2600" dirty="0" err="1"/>
              <a:t>student</a:t>
            </a:r>
            <a:endParaRPr lang="ru-RU" sz="26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2551" y="188640"/>
            <a:ext cx="8384049" cy="4988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76700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978" y="116632"/>
            <a:ext cx="86365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Реализуем пользовательский интерфейс для работы с классом </a:t>
            </a:r>
            <a:r>
              <a:rPr lang="ru-RU" sz="2800" dirty="0" err="1"/>
              <a:t>student</a:t>
            </a:r>
            <a:endParaRPr lang="ru-RU" sz="28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70739"/>
            <a:ext cx="4282207" cy="304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8239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735950"/>
            <a:ext cx="9196292" cy="4869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328127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2"/>
            <a:ext cx="5812482" cy="2906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03648" y="404664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/>
              <a:t>Результат работы программы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xmlns="" val="66803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2009" y="215642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КОНСТРУКТОР И ДЕСТРУКТОР  </a:t>
            </a:r>
            <a:endParaRPr lang="ru-RU" sz="2800" b="1" dirty="0" smtClean="0"/>
          </a:p>
          <a:p>
            <a:pPr algn="ctr"/>
            <a:r>
              <a:rPr lang="ru-RU" sz="2800" b="1" dirty="0" smtClean="0"/>
              <a:t>ПРОИЗВОДНОГО  КЛАССА</a:t>
            </a:r>
            <a:endParaRPr lang="ru-RU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9631" y="1556792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Конструкторы   и   деструктор  </a:t>
            </a:r>
            <a:r>
              <a:rPr lang="ru-RU" sz="2400" dirty="0"/>
              <a:t>базового   класса   в   производном   классе   </a:t>
            </a:r>
            <a:r>
              <a:rPr lang="ru-RU" sz="2400" b="1" dirty="0"/>
              <a:t>не </a:t>
            </a:r>
            <a:r>
              <a:rPr lang="ru-RU" sz="2400" b="1" dirty="0" smtClean="0"/>
              <a:t>наследуются</a:t>
            </a:r>
            <a:r>
              <a:rPr lang="ru-RU" sz="2400" b="1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2564904"/>
            <a:ext cx="878497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2100" b="1" dirty="0"/>
              <a:t>Конструкторы. </a:t>
            </a:r>
          </a:p>
          <a:p>
            <a:r>
              <a:rPr lang="ru-RU" sz="2100" dirty="0"/>
              <a:t>1.  Если  в  базовом  классе  нет  конструкторов  или  есть  конструктор  без </a:t>
            </a:r>
          </a:p>
          <a:p>
            <a:r>
              <a:rPr lang="ru-RU" sz="2100" dirty="0"/>
              <a:t>аргументов (или аргументы присваиваются по умолчанию), то в производном </a:t>
            </a:r>
            <a:r>
              <a:rPr lang="ru-RU" sz="2100" dirty="0" smtClean="0"/>
              <a:t>классе </a:t>
            </a:r>
            <a:r>
              <a:rPr lang="ru-RU" sz="2100" dirty="0"/>
              <a:t>конструктор можно не писать  –  будет создан конструктор </a:t>
            </a:r>
            <a:r>
              <a:rPr lang="ru-RU" sz="2100" dirty="0" smtClean="0"/>
              <a:t>копирования и </a:t>
            </a:r>
            <a:r>
              <a:rPr lang="ru-RU" sz="2100" dirty="0"/>
              <a:t>конструктор по умолчанию.</a:t>
            </a:r>
          </a:p>
          <a:p>
            <a:r>
              <a:rPr lang="ru-RU" sz="2100" dirty="0"/>
              <a:t>2.  Если  в  базовом  классе  все  конструкторы  с  аргументами,  производный  класс </a:t>
            </a:r>
            <a:r>
              <a:rPr lang="ru-RU" sz="2100" dirty="0" smtClean="0"/>
              <a:t>обязан </a:t>
            </a:r>
            <a:r>
              <a:rPr lang="ru-RU" sz="2100" dirty="0"/>
              <a:t>иметь конструктор, в котором явно  должен быть вызван конструктор </a:t>
            </a:r>
            <a:r>
              <a:rPr lang="ru-RU" sz="2100" dirty="0" smtClean="0"/>
              <a:t>базового </a:t>
            </a:r>
            <a:r>
              <a:rPr lang="ru-RU" sz="2100" dirty="0"/>
              <a:t>класса.</a:t>
            </a:r>
          </a:p>
          <a:p>
            <a:r>
              <a:rPr lang="ru-RU" sz="2100" dirty="0"/>
              <a:t>3.  При  создании  объекта  производного  класса  сначала  вызывается  конструктор </a:t>
            </a:r>
            <a:r>
              <a:rPr lang="ru-RU" sz="2100" dirty="0" smtClean="0"/>
              <a:t>базового </a:t>
            </a:r>
            <a:r>
              <a:rPr lang="ru-RU" sz="2100" dirty="0"/>
              <a:t>класса – потом производного.</a:t>
            </a:r>
          </a:p>
        </p:txBody>
      </p:sp>
    </p:spTree>
    <p:extLst>
      <p:ext uri="{BB962C8B-B14F-4D97-AF65-F5344CB8AC3E}">
        <p14:creationId xmlns:p14="http://schemas.microsoft.com/office/powerpoint/2010/main" xmlns="" val="86316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96752"/>
            <a:ext cx="8496944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2800" b="1" dirty="0" smtClean="0"/>
              <a:t>Деструкторы.</a:t>
            </a:r>
          </a:p>
          <a:p>
            <a:r>
              <a:rPr lang="ru-RU" sz="2800" dirty="0" smtClean="0"/>
              <a:t>1.  При отсутствии деструктора в производном классе система создает деструктор по умолчанию.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800" dirty="0" smtClean="0"/>
              <a:t>2</a:t>
            </a:r>
            <a:r>
              <a:rPr lang="ru-RU" sz="2800" dirty="0"/>
              <a:t>.  Деструктор  базового  класса  вызывается  в  деструкторе  производного  класса </a:t>
            </a:r>
            <a:r>
              <a:rPr lang="ru-RU" sz="2800" dirty="0" smtClean="0"/>
              <a:t>автоматически</a:t>
            </a:r>
            <a:r>
              <a:rPr lang="ru-RU" sz="2800" dirty="0"/>
              <a:t>.</a:t>
            </a:r>
          </a:p>
          <a:p>
            <a:r>
              <a:rPr lang="ru-RU" sz="2800" dirty="0"/>
              <a:t>3.  Деструкторы вызываются в порядке, обратном вызову конструкторов.</a:t>
            </a:r>
          </a:p>
        </p:txBody>
      </p:sp>
    </p:spTree>
    <p:extLst>
      <p:ext uri="{BB962C8B-B14F-4D97-AF65-F5344CB8AC3E}">
        <p14:creationId xmlns:p14="http://schemas.microsoft.com/office/powerpoint/2010/main" xmlns="" val="4894429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1049</Words>
  <Application>Microsoft Office PowerPoint</Application>
  <PresentationFormat>Экран (4:3)</PresentationFormat>
  <Paragraphs>164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3" baseType="lpstr">
      <vt:lpstr>Arial</vt:lpstr>
      <vt:lpstr>Calibri</vt:lpstr>
      <vt:lpstr>Тема Office</vt:lpstr>
      <vt:lpstr>Наследование Лекция 5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Наследование</dc:title>
  <dc:creator>felix</dc:creator>
  <cp:lastModifiedBy>kiryakinax</cp:lastModifiedBy>
  <cp:revision>58</cp:revision>
  <dcterms:created xsi:type="dcterms:W3CDTF">2014-11-05T15:52:33Z</dcterms:created>
  <dcterms:modified xsi:type="dcterms:W3CDTF">2017-04-12T03:29:20Z</dcterms:modified>
</cp:coreProperties>
</file>