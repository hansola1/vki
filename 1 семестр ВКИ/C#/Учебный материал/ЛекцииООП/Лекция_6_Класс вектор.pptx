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2" r:id="rId6"/>
    <p:sldId id="264" r:id="rId7"/>
    <p:sldId id="265" r:id="rId8"/>
    <p:sldId id="268" r:id="rId9"/>
    <p:sldId id="267" r:id="rId10"/>
    <p:sldId id="266" r:id="rId11"/>
    <p:sldId id="269" r:id="rId12"/>
    <p:sldId id="259" r:id="rId13"/>
    <p:sldId id="261" r:id="rId14"/>
    <p:sldId id="260" r:id="rId15"/>
  </p:sldIdLst>
  <p:sldSz cx="9144000" cy="6858000" type="screen4x3"/>
  <p:notesSz cx="6858000" cy="9144000"/>
  <p:embeddedFontLst>
    <p:embeddedFont>
      <p:font typeface="Calibri" pitchFamily="34" charset="0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FD4E-73BD-4659-B30A-E9DFE8124A7B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6C00A-EEF8-4D1A-9FC9-8586CB1FC46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481680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FD4E-73BD-4659-B30A-E9DFE8124A7B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6C00A-EEF8-4D1A-9FC9-8586CB1FC46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797175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FD4E-73BD-4659-B30A-E9DFE8124A7B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6C00A-EEF8-4D1A-9FC9-8586CB1FC46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30229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FD4E-73BD-4659-B30A-E9DFE8124A7B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6C00A-EEF8-4D1A-9FC9-8586CB1FC46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1000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FD4E-73BD-4659-B30A-E9DFE8124A7B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6C00A-EEF8-4D1A-9FC9-8586CB1FC46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2038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FD4E-73BD-4659-B30A-E9DFE8124A7B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6C00A-EEF8-4D1A-9FC9-8586CB1FC46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88338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FD4E-73BD-4659-B30A-E9DFE8124A7B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6C00A-EEF8-4D1A-9FC9-8586CB1FC46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65759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FD4E-73BD-4659-B30A-E9DFE8124A7B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6C00A-EEF8-4D1A-9FC9-8586CB1FC46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627339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FD4E-73BD-4659-B30A-E9DFE8124A7B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6C00A-EEF8-4D1A-9FC9-8586CB1FC46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633644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FD4E-73BD-4659-B30A-E9DFE8124A7B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6C00A-EEF8-4D1A-9FC9-8586CB1FC46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569569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FD4E-73BD-4659-B30A-E9DFE8124A7B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6C00A-EEF8-4D1A-9FC9-8586CB1FC46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11137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DFD4E-73BD-4659-B30A-E9DFE8124A7B}" type="datetimeFigureOut">
              <a:rPr lang="ru-RU" smtClean="0"/>
              <a:pPr/>
              <a:t>12.04.2017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6C00A-EEF8-4D1A-9FC9-8586CB1FC46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95324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484785"/>
            <a:ext cx="7772400" cy="2115666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Контейнер вектор</a:t>
            </a:r>
            <a:b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vector</a:t>
            </a:r>
            <a:b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ru-RU" sz="3100" b="1" dirty="0" smtClean="0">
                <a:solidFill>
                  <a:schemeClr val="accent1">
                    <a:lumMod val="75000"/>
                  </a:schemeClr>
                </a:solidFill>
              </a:rPr>
              <a:t>Лекция </a:t>
            </a:r>
            <a:r>
              <a:rPr lang="en-US" sz="3100" b="1" dirty="0" smtClean="0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ru-RU" b="1" dirty="0">
                <a:solidFill>
                  <a:schemeClr val="accent1">
                    <a:lumMod val="75000"/>
                  </a:schemeClr>
                </a:solidFill>
              </a:rPr>
            </a:b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1987624" y="4365625"/>
            <a:ext cx="6400800" cy="1414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</a:rPr>
              <a:t>доцент</a:t>
            </a:r>
            <a:endParaRPr lang="ru-RU" sz="24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r">
              <a:defRPr/>
            </a:pP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</a:rPr>
              <a:t>Высшего колледжа информатики НГУ </a:t>
            </a:r>
          </a:p>
          <a:p>
            <a:pPr algn="r">
              <a:defRPr/>
            </a:pP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</a:rPr>
              <a:t>Наталия Викторовна </a:t>
            </a:r>
            <a:r>
              <a:rPr lang="ru-RU" sz="2400" b="1" dirty="0" err="1" smtClean="0">
                <a:solidFill>
                  <a:schemeClr val="accent1">
                    <a:lumMod val="75000"/>
                  </a:schemeClr>
                </a:solidFill>
              </a:rPr>
              <a:t>Голкова</a:t>
            </a:r>
            <a:endParaRPr lang="ru-RU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93142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4450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en-US" altLang="ru-RU" sz="3600" b="1" dirty="0" smtClean="0">
                <a:latin typeface="Arial" charset="0"/>
              </a:rPr>
              <a:t>vector</a:t>
            </a:r>
            <a:endParaRPr lang="ru-RU" altLang="ru-RU" sz="3600" b="1" dirty="0">
              <a:latin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0863" y="1268760"/>
            <a:ext cx="77768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Чтобы создать вектор нужно подключить файл библиотеки: 	</a:t>
            </a:r>
            <a:r>
              <a:rPr lang="en-US" sz="3200" dirty="0" smtClean="0">
                <a:solidFill>
                  <a:srgbClr val="0000FF"/>
                </a:solidFill>
              </a:rPr>
              <a:t>#include</a:t>
            </a:r>
            <a:r>
              <a:rPr lang="en-US" sz="3200" dirty="0" smtClean="0">
                <a:solidFill>
                  <a:prstClr val="black"/>
                </a:solidFill>
              </a:rPr>
              <a:t> </a:t>
            </a:r>
            <a:r>
              <a:rPr lang="en-US" sz="3200" dirty="0" smtClean="0">
                <a:solidFill>
                  <a:srgbClr val="A31515"/>
                </a:solidFill>
              </a:rPr>
              <a:t>&lt;vector&gt;</a:t>
            </a:r>
            <a:endParaRPr lang="ru-RU" sz="3200" dirty="0" smtClean="0">
              <a:solidFill>
                <a:srgbClr val="A31515"/>
              </a:solidFill>
            </a:endParaRPr>
          </a:p>
          <a:p>
            <a:r>
              <a:rPr lang="ru-RU" sz="3200" dirty="0"/>
              <a:t>и </a:t>
            </a:r>
            <a:r>
              <a:rPr lang="ru-RU" sz="3200" dirty="0" smtClean="0"/>
              <a:t>нужно указать пространство </a:t>
            </a:r>
            <a:r>
              <a:rPr lang="ru-RU" sz="3200" dirty="0"/>
              <a:t>имен </a:t>
            </a:r>
            <a:r>
              <a:rPr lang="ru-RU" sz="3200" b="1" dirty="0" err="1"/>
              <a:t>std</a:t>
            </a:r>
            <a:endParaRPr lang="ru-RU" sz="3200" dirty="0">
              <a:solidFill>
                <a:srgbClr val="A31515"/>
              </a:solidFill>
            </a:endParaRPr>
          </a:p>
          <a:p>
            <a:r>
              <a:rPr lang="en-US" sz="3200" dirty="0" smtClean="0">
                <a:solidFill>
                  <a:srgbClr val="0000FF"/>
                </a:solidFill>
              </a:rPr>
              <a:t>using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 smtClean="0">
                <a:solidFill>
                  <a:srgbClr val="0000FF"/>
                </a:solidFill>
              </a:rPr>
              <a:t>namespace</a:t>
            </a:r>
            <a:r>
              <a:rPr lang="en-US" sz="3200" dirty="0">
                <a:solidFill>
                  <a:prstClr val="black"/>
                </a:solidFill>
              </a:rPr>
              <a:t> </a:t>
            </a:r>
            <a:r>
              <a:rPr lang="en-US" sz="3200" dirty="0" err="1">
                <a:solidFill>
                  <a:prstClr val="black"/>
                </a:solidFill>
              </a:rPr>
              <a:t>std</a:t>
            </a:r>
            <a:r>
              <a:rPr lang="en-US" sz="3200" dirty="0" smtClean="0">
                <a:solidFill>
                  <a:prstClr val="black"/>
                </a:solidFill>
              </a:rPr>
              <a:t>;</a:t>
            </a:r>
            <a:endParaRPr lang="ru-RU" sz="3200" dirty="0" smtClean="0">
              <a:solidFill>
                <a:srgbClr val="A31515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7051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/>
          <p:cNvGrpSpPr/>
          <p:nvPr/>
        </p:nvGrpSpPr>
        <p:grpSpPr>
          <a:xfrm>
            <a:off x="376238" y="44450"/>
            <a:ext cx="8767762" cy="6691399"/>
            <a:chOff x="376238" y="44450"/>
            <a:chExt cx="8767762" cy="6691399"/>
          </a:xfrm>
        </p:grpSpPr>
        <p:sp>
          <p:nvSpPr>
            <p:cNvPr id="2" name="Line 2"/>
            <p:cNvSpPr>
              <a:spLocks noChangeShapeType="1"/>
            </p:cNvSpPr>
            <p:nvPr/>
          </p:nvSpPr>
          <p:spPr bwMode="auto">
            <a:xfrm>
              <a:off x="376238" y="795338"/>
              <a:ext cx="8464550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4" name="Прямоугольник 3"/>
            <p:cNvSpPr/>
            <p:nvPr/>
          </p:nvSpPr>
          <p:spPr>
            <a:xfrm>
              <a:off x="415218" y="1196752"/>
              <a:ext cx="8425570" cy="35394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3200" dirty="0" smtClean="0"/>
                <a:t>Вектор (</a:t>
              </a:r>
              <a:r>
                <a:rPr lang="ru-RU" sz="3200" dirty="0" err="1" smtClean="0"/>
                <a:t>vector</a:t>
              </a:r>
              <a:r>
                <a:rPr lang="ru-RU" sz="3200" dirty="0" smtClean="0"/>
                <a:t>) похож на массив.</a:t>
              </a:r>
            </a:p>
            <a:p>
              <a:r>
                <a:rPr lang="ru-RU" sz="3200" dirty="0" smtClean="0">
                  <a:solidFill>
                    <a:srgbClr val="008000"/>
                  </a:solidFill>
                </a:rPr>
                <a:t>// Вектор из 10 элементов типа </a:t>
              </a:r>
              <a:r>
                <a:rPr lang="ru-RU" sz="3200" dirty="0" err="1" smtClean="0">
                  <a:solidFill>
                    <a:srgbClr val="008000"/>
                  </a:solidFill>
                </a:rPr>
                <a:t>int</a:t>
              </a:r>
              <a:endParaRPr lang="ru-RU" sz="3200" dirty="0" smtClean="0">
                <a:solidFill>
                  <a:srgbClr val="008000"/>
                </a:solidFill>
              </a:endParaRPr>
            </a:p>
            <a:p>
              <a:r>
                <a:rPr lang="en-US" sz="3200" dirty="0">
                  <a:solidFill>
                    <a:prstClr val="black"/>
                  </a:solidFill>
                </a:rPr>
                <a:t>    vector&lt;</a:t>
              </a:r>
              <a:r>
                <a:rPr lang="en-US" sz="3200" dirty="0" err="1" smtClean="0">
                  <a:solidFill>
                    <a:srgbClr val="0000FF"/>
                  </a:solidFill>
                </a:rPr>
                <a:t>int</a:t>
              </a:r>
              <a:r>
                <a:rPr lang="en-US" sz="3200" dirty="0">
                  <a:solidFill>
                    <a:prstClr val="black"/>
                  </a:solidFill>
                </a:rPr>
                <a:t>&gt; v1(10);</a:t>
              </a:r>
              <a:endParaRPr lang="ru-RU" sz="3200" dirty="0" smtClean="0"/>
            </a:p>
            <a:p>
              <a:r>
                <a:rPr lang="en-US" sz="3200" dirty="0">
                  <a:solidFill>
                    <a:prstClr val="black"/>
                  </a:solidFill>
                </a:rPr>
                <a:t>v</a:t>
              </a:r>
              <a:r>
                <a:rPr lang="en-US" sz="3200" dirty="0" smtClean="0">
                  <a:solidFill>
                    <a:prstClr val="black"/>
                  </a:solidFill>
                </a:rPr>
                <a:t>1</a:t>
              </a:r>
              <a:r>
                <a:rPr lang="ru-RU" sz="3200" dirty="0" smtClean="0">
                  <a:solidFill>
                    <a:prstClr val="black"/>
                  </a:solidFill>
                </a:rPr>
                <a:t> – имя переменной вектора</a:t>
              </a:r>
              <a:endParaRPr lang="ru-RU" sz="3200" dirty="0" smtClean="0"/>
            </a:p>
            <a:p>
              <a:r>
                <a:rPr lang="en-US" sz="3200" dirty="0" smtClean="0"/>
                <a:t>v</a:t>
              </a:r>
              <a:r>
                <a:rPr lang="ru-RU" sz="3200" dirty="0" err="1" smtClean="0"/>
                <a:t>ector</a:t>
              </a:r>
              <a:r>
                <a:rPr lang="ru-RU" sz="3200" dirty="0" smtClean="0"/>
                <a:t> </a:t>
              </a:r>
              <a:r>
                <a:rPr lang="en-US" sz="3200" dirty="0" smtClean="0"/>
                <a:t> </a:t>
              </a:r>
              <a:r>
                <a:rPr lang="ru-RU" sz="3200" dirty="0" smtClean="0"/>
                <a:t>- это тип переменной  </a:t>
              </a:r>
              <a:r>
                <a:rPr lang="en-US" sz="3200" dirty="0" smtClean="0">
                  <a:solidFill>
                    <a:prstClr val="black"/>
                  </a:solidFill>
                </a:rPr>
                <a:t>v1</a:t>
              </a:r>
              <a:endParaRPr lang="ru-RU" sz="3200" dirty="0" smtClean="0">
                <a:solidFill>
                  <a:prstClr val="black"/>
                </a:solidFill>
              </a:endParaRPr>
            </a:p>
            <a:p>
              <a:r>
                <a:rPr lang="en-US" sz="3200" dirty="0" smtClean="0">
                  <a:solidFill>
                    <a:prstClr val="black"/>
                  </a:solidFill>
                </a:rPr>
                <a:t>&lt;</a:t>
              </a:r>
              <a:r>
                <a:rPr lang="en-US" sz="3200" dirty="0" err="1" smtClean="0">
                  <a:solidFill>
                    <a:srgbClr val="0000FF"/>
                  </a:solidFill>
                </a:rPr>
                <a:t>int</a:t>
              </a:r>
              <a:r>
                <a:rPr lang="en-US" sz="3200" dirty="0" smtClean="0">
                  <a:solidFill>
                    <a:prstClr val="black"/>
                  </a:solidFill>
                </a:rPr>
                <a:t>&gt;</a:t>
              </a:r>
              <a:r>
                <a:rPr lang="ru-RU" sz="3200" dirty="0" smtClean="0">
                  <a:solidFill>
                    <a:prstClr val="black"/>
                  </a:solidFill>
                </a:rPr>
                <a:t>  - это тип элементов вектора</a:t>
              </a:r>
              <a:endParaRPr lang="ru-RU" sz="3200" dirty="0" smtClean="0"/>
            </a:p>
            <a:p>
              <a:endParaRPr lang="ru-RU" sz="3200" dirty="0"/>
            </a:p>
          </p:txBody>
        </p:sp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395288" y="44450"/>
              <a:ext cx="8748712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hangingPunct="0">
                <a:spcBef>
                  <a:spcPct val="50000"/>
                </a:spcBef>
                <a:buFontTx/>
                <a:buNone/>
              </a:pPr>
              <a:r>
                <a:rPr lang="en-US" altLang="ru-RU" sz="3600" b="1" dirty="0" smtClean="0">
                  <a:latin typeface="Arial" charset="0"/>
                </a:rPr>
                <a:t>vector</a:t>
              </a:r>
              <a:endParaRPr lang="ru-RU" altLang="ru-RU" sz="3600" b="1" dirty="0">
                <a:latin typeface="Arial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72067" y="4545992"/>
              <a:ext cx="720080" cy="646331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3600" dirty="0" err="1" smtClean="0">
                  <a:solidFill>
                    <a:srgbClr val="0000FF"/>
                  </a:solidFill>
                </a:rPr>
                <a:t>int</a:t>
              </a:r>
              <a:endParaRPr lang="ru-RU" sz="36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65029" y="4546885"/>
              <a:ext cx="720080" cy="646331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3600" dirty="0" err="1" smtClean="0">
                  <a:solidFill>
                    <a:srgbClr val="0000FF"/>
                  </a:solidFill>
                </a:rPr>
                <a:t>int</a:t>
              </a:r>
              <a:endParaRPr lang="ru-RU" sz="36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44275" y="4545991"/>
              <a:ext cx="720080" cy="646331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3600" dirty="0" err="1" smtClean="0">
                  <a:solidFill>
                    <a:srgbClr val="0000FF"/>
                  </a:solidFill>
                </a:rPr>
                <a:t>int</a:t>
              </a:r>
              <a:endParaRPr lang="ru-RU" sz="36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24395" y="4550502"/>
              <a:ext cx="720080" cy="646331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3600" dirty="0" err="1" smtClean="0">
                  <a:solidFill>
                    <a:srgbClr val="0000FF"/>
                  </a:solidFill>
                </a:rPr>
                <a:t>int</a:t>
              </a:r>
              <a:endParaRPr lang="ru-RU" sz="36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745946" y="4545990"/>
              <a:ext cx="720080" cy="646331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3600" dirty="0" err="1" smtClean="0">
                  <a:solidFill>
                    <a:srgbClr val="0000FF"/>
                  </a:solidFill>
                </a:rPr>
                <a:t>int</a:t>
              </a:r>
              <a:endParaRPr lang="ru-RU" sz="36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52087" y="5388034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/>
                <a:t>0</a:t>
              </a:r>
              <a:endParaRPr lang="ru-RU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45049" y="5393620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/>
                <a:t>1</a:t>
              </a:r>
              <a:endParaRPr lang="ru-RU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24295" y="540769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/>
                <a:t>2</a:t>
              </a:r>
              <a:endParaRPr lang="ru-RU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804415" y="5363453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/>
                <a:t>3</a:t>
              </a:r>
              <a:endParaRPr lang="ru-RU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925966" y="5357867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/>
                <a:t>4</a:t>
              </a:r>
              <a:endParaRPr lang="ru-RU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080779" y="4506082"/>
              <a:ext cx="720080" cy="646331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3600" dirty="0" err="1" smtClean="0">
                  <a:solidFill>
                    <a:srgbClr val="0000FF"/>
                  </a:solidFill>
                </a:rPr>
                <a:t>int</a:t>
              </a:r>
              <a:endParaRPr lang="ru-RU" sz="36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60799" y="5317959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/>
                <a:t>9</a:t>
              </a:r>
              <a:endParaRPr lang="ru-RU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00659" y="4334789"/>
              <a:ext cx="79208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4000" dirty="0" smtClean="0"/>
                <a:t>…</a:t>
              </a:r>
              <a:endParaRPr lang="ru-RU" sz="4000" dirty="0"/>
            </a:p>
          </p:txBody>
        </p:sp>
        <p:sp>
          <p:nvSpPr>
            <p:cNvPr id="22" name="Правая фигурная скобка 21"/>
            <p:cNvSpPr/>
            <p:nvPr/>
          </p:nvSpPr>
          <p:spPr>
            <a:xfrm rot="5400000">
              <a:off x="4105173" y="1815712"/>
              <a:ext cx="619062" cy="7992887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>
                <a:ln>
                  <a:solidFill>
                    <a:sysClr val="windowText" lastClr="000000"/>
                  </a:solidFill>
                </a:ln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84435" y="6274184"/>
              <a:ext cx="28083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 smtClean="0"/>
                <a:t>10 элементов</a:t>
              </a:r>
              <a:endParaRPr lang="ru-RU" sz="2400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327237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95288" y="44450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en-US" altLang="ru-RU" sz="3600" b="1" dirty="0" smtClean="0">
                <a:latin typeface="Arial" charset="0"/>
              </a:rPr>
              <a:t>vector</a:t>
            </a:r>
            <a:endParaRPr lang="ru-RU" altLang="ru-RU" sz="3600" b="1" dirty="0">
              <a:latin typeface="Arial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27356" y="1196752"/>
            <a:ext cx="796106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/>
              <a:t>К элементам вектора можно обращаться также как к элементам массива. </a:t>
            </a:r>
          </a:p>
          <a:p>
            <a:r>
              <a:rPr lang="en-US" sz="3200" dirty="0" smtClean="0">
                <a:solidFill>
                  <a:prstClr val="black"/>
                </a:solidFill>
              </a:rPr>
              <a:t>v1[</a:t>
            </a:r>
            <a:r>
              <a:rPr lang="en-US" sz="3200" dirty="0" err="1" smtClean="0">
                <a:solidFill>
                  <a:prstClr val="black"/>
                </a:solidFill>
              </a:rPr>
              <a:t>i</a:t>
            </a:r>
            <a:r>
              <a:rPr lang="en-US" sz="3200" dirty="0" smtClean="0">
                <a:solidFill>
                  <a:prstClr val="black"/>
                </a:solidFill>
              </a:rPr>
              <a:t>]</a:t>
            </a:r>
            <a:r>
              <a:rPr lang="ru-RU" sz="3200" dirty="0" smtClean="0">
                <a:solidFill>
                  <a:prstClr val="black"/>
                </a:solidFill>
              </a:rPr>
              <a:t>  - по имени и индексу</a:t>
            </a:r>
            <a:endParaRPr lang="ru-RU" sz="3200" dirty="0" smtClean="0"/>
          </a:p>
          <a:p>
            <a:r>
              <a:rPr lang="ru-RU" sz="3200" dirty="0" smtClean="0">
                <a:solidFill>
                  <a:srgbClr val="008000"/>
                </a:solidFill>
              </a:rPr>
              <a:t>// вывод элементов вектора v1 на экран</a:t>
            </a:r>
          </a:p>
          <a:p>
            <a:r>
              <a:rPr lang="en-US" sz="3200" dirty="0">
                <a:solidFill>
                  <a:prstClr val="black"/>
                </a:solidFill>
              </a:rPr>
              <a:t>	</a:t>
            </a:r>
            <a:r>
              <a:rPr lang="en-US" sz="3200" dirty="0" err="1">
                <a:solidFill>
                  <a:prstClr val="black"/>
                </a:solidFill>
              </a:rPr>
              <a:t>cout</a:t>
            </a:r>
            <a:r>
              <a:rPr lang="en-US" sz="3200" dirty="0">
                <a:solidFill>
                  <a:prstClr val="black"/>
                </a:solidFill>
              </a:rPr>
              <a:t> &lt;&lt; </a:t>
            </a:r>
            <a:r>
              <a:rPr lang="en-US" sz="3200" dirty="0" smtClean="0">
                <a:solidFill>
                  <a:srgbClr val="A31515"/>
                </a:solidFill>
              </a:rPr>
              <a:t>"vector v1: "</a:t>
            </a:r>
            <a:r>
              <a:rPr lang="en-US" sz="3200" dirty="0">
                <a:solidFill>
                  <a:prstClr val="black"/>
                </a:solidFill>
              </a:rPr>
              <a:t>;</a:t>
            </a:r>
          </a:p>
          <a:p>
            <a:r>
              <a:rPr lang="nn-NO" sz="3200" dirty="0">
                <a:solidFill>
                  <a:prstClr val="black"/>
                </a:solidFill>
              </a:rPr>
              <a:t>	</a:t>
            </a:r>
            <a:r>
              <a:rPr lang="nn-NO" sz="3200" dirty="0" smtClean="0">
                <a:solidFill>
                  <a:srgbClr val="0000FF"/>
                </a:solidFill>
              </a:rPr>
              <a:t>for</a:t>
            </a:r>
            <a:r>
              <a:rPr lang="nn-NO" sz="3200" dirty="0">
                <a:solidFill>
                  <a:prstClr val="black"/>
                </a:solidFill>
              </a:rPr>
              <a:t>(</a:t>
            </a:r>
            <a:r>
              <a:rPr lang="nn-NO" sz="3200" dirty="0" smtClean="0">
                <a:solidFill>
                  <a:srgbClr val="0000FF"/>
                </a:solidFill>
              </a:rPr>
              <a:t>int</a:t>
            </a:r>
            <a:r>
              <a:rPr lang="nn-NO" sz="3200" dirty="0">
                <a:solidFill>
                  <a:prstClr val="black"/>
                </a:solidFill>
              </a:rPr>
              <a:t> i = 0; i &lt; v1.size(); i++) {</a:t>
            </a:r>
          </a:p>
          <a:p>
            <a:r>
              <a:rPr lang="en-US" sz="3200" dirty="0">
                <a:solidFill>
                  <a:prstClr val="black"/>
                </a:solidFill>
              </a:rPr>
              <a:t>        </a:t>
            </a:r>
            <a:r>
              <a:rPr lang="ru-RU" sz="3200" dirty="0" smtClean="0">
                <a:solidFill>
                  <a:prstClr val="black"/>
                </a:solidFill>
              </a:rPr>
              <a:t>		</a:t>
            </a:r>
            <a:r>
              <a:rPr lang="en-US" sz="3200" dirty="0" err="1" smtClean="0">
                <a:solidFill>
                  <a:prstClr val="black"/>
                </a:solidFill>
              </a:rPr>
              <a:t>cout</a:t>
            </a:r>
            <a:r>
              <a:rPr lang="en-US" sz="3200" dirty="0" smtClean="0">
                <a:solidFill>
                  <a:prstClr val="black"/>
                </a:solidFill>
              </a:rPr>
              <a:t> </a:t>
            </a:r>
            <a:r>
              <a:rPr lang="en-US" sz="3200" dirty="0">
                <a:solidFill>
                  <a:prstClr val="black"/>
                </a:solidFill>
              </a:rPr>
              <a:t>&lt;&lt; v1[</a:t>
            </a:r>
            <a:r>
              <a:rPr lang="en-US" sz="3200" dirty="0" err="1">
                <a:solidFill>
                  <a:prstClr val="black"/>
                </a:solidFill>
              </a:rPr>
              <a:t>i</a:t>
            </a:r>
            <a:r>
              <a:rPr lang="en-US" sz="3200" dirty="0">
                <a:solidFill>
                  <a:prstClr val="black"/>
                </a:solidFill>
              </a:rPr>
              <a:t>] &lt;&lt; </a:t>
            </a:r>
            <a:r>
              <a:rPr lang="en-US" sz="3200" dirty="0" smtClean="0">
                <a:solidFill>
                  <a:srgbClr val="A31515"/>
                </a:solidFill>
              </a:rPr>
              <a:t>' '</a:t>
            </a:r>
            <a:r>
              <a:rPr lang="en-US" sz="3200" dirty="0">
                <a:solidFill>
                  <a:prstClr val="black"/>
                </a:solidFill>
              </a:rPr>
              <a:t>;</a:t>
            </a:r>
          </a:p>
          <a:p>
            <a:r>
              <a:rPr lang="ru-RU" sz="3200" dirty="0">
                <a:solidFill>
                  <a:prstClr val="black"/>
                </a:solidFill>
              </a:rPr>
              <a:t>	}</a:t>
            </a:r>
            <a:endParaRPr lang="ru-RU" sz="3200" dirty="0" smtClean="0"/>
          </a:p>
        </p:txBody>
      </p:sp>
    </p:spTree>
    <p:extLst>
      <p:ext uri="{BB962C8B-B14F-4D97-AF65-F5344CB8AC3E}">
        <p14:creationId xmlns="" xmlns:p14="http://schemas.microsoft.com/office/powerpoint/2010/main" val="1644005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4450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Основные методы вектора</a:t>
            </a:r>
            <a:endParaRPr lang="ru-RU" altLang="ru-RU" sz="3600" b="1" dirty="0">
              <a:latin typeface="Arial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68015" y="980728"/>
            <a:ext cx="79610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 vector&lt;</a:t>
            </a:r>
            <a:r>
              <a:rPr lang="en-US" sz="2800" dirty="0" err="1" smtClean="0">
                <a:solidFill>
                  <a:srgbClr val="0000FF"/>
                </a:solidFill>
              </a:rPr>
              <a:t>int</a:t>
            </a:r>
            <a:r>
              <a:rPr lang="en-US" sz="2800" dirty="0">
                <a:solidFill>
                  <a:prstClr val="black"/>
                </a:solidFill>
              </a:rPr>
              <a:t>&gt; v1(10);</a:t>
            </a:r>
            <a:endParaRPr lang="ru-RU" sz="2800" dirty="0" smtClean="0">
              <a:solidFill>
                <a:prstClr val="black"/>
              </a:solidFill>
            </a:endParaRPr>
          </a:p>
          <a:p>
            <a:r>
              <a:rPr lang="en-US" sz="2800" b="1" dirty="0" smtClean="0">
                <a:solidFill>
                  <a:prstClr val="black"/>
                </a:solidFill>
              </a:rPr>
              <a:t>v1.</a:t>
            </a:r>
            <a:r>
              <a:rPr lang="nn-NO" sz="2800" b="1" dirty="0" smtClean="0">
                <a:solidFill>
                  <a:prstClr val="black"/>
                </a:solidFill>
              </a:rPr>
              <a:t>size()</a:t>
            </a:r>
            <a:r>
              <a:rPr lang="ru-RU" sz="2800" b="1" dirty="0" smtClean="0">
                <a:solidFill>
                  <a:prstClr val="black"/>
                </a:solidFill>
              </a:rPr>
              <a:t>  </a:t>
            </a:r>
            <a:r>
              <a:rPr lang="ru-RU" sz="2800" dirty="0" smtClean="0">
                <a:solidFill>
                  <a:prstClr val="black"/>
                </a:solidFill>
              </a:rPr>
              <a:t>- этот метод возвращает размер вектора </a:t>
            </a:r>
          </a:p>
          <a:p>
            <a:r>
              <a:rPr lang="en-US" sz="2800" b="1" dirty="0">
                <a:solidFill>
                  <a:prstClr val="black"/>
                </a:solidFill>
              </a:rPr>
              <a:t>v1.</a:t>
            </a:r>
            <a:r>
              <a:rPr lang="en-US" sz="2800" dirty="0">
                <a:solidFill>
                  <a:prstClr val="black"/>
                </a:solidFill>
              </a:rPr>
              <a:t> </a:t>
            </a:r>
            <a:r>
              <a:rPr lang="ru-RU" sz="2800" b="1" dirty="0" err="1" smtClean="0"/>
              <a:t>push_back</a:t>
            </a:r>
            <a:r>
              <a:rPr lang="ru-RU" sz="2800" dirty="0" smtClean="0"/>
              <a:t>(</a:t>
            </a:r>
            <a:r>
              <a:rPr lang="ru-RU" sz="2800" dirty="0" err="1" smtClean="0"/>
              <a:t>element</a:t>
            </a:r>
            <a:r>
              <a:rPr lang="ru-RU" sz="2800" dirty="0"/>
              <a:t>) — </a:t>
            </a:r>
            <a:r>
              <a:rPr lang="ru-RU" sz="2800" dirty="0">
                <a:solidFill>
                  <a:prstClr val="black"/>
                </a:solidFill>
              </a:rPr>
              <a:t>этот метод </a:t>
            </a:r>
            <a:r>
              <a:rPr lang="ru-RU" sz="2800" dirty="0" smtClean="0"/>
              <a:t>добавляет </a:t>
            </a:r>
            <a:r>
              <a:rPr lang="ru-RU" sz="2800" dirty="0"/>
              <a:t>элемент в конец </a:t>
            </a:r>
            <a:r>
              <a:rPr lang="ru-RU" sz="2800" dirty="0" err="1"/>
              <a:t>vector</a:t>
            </a:r>
            <a:r>
              <a:rPr lang="ru-RU" sz="2800" dirty="0"/>
              <a:t>-а</a:t>
            </a:r>
            <a:br>
              <a:rPr lang="ru-RU" sz="2800" dirty="0"/>
            </a:br>
            <a:r>
              <a:rPr lang="en-US" sz="2800" b="1" dirty="0">
                <a:solidFill>
                  <a:prstClr val="black"/>
                </a:solidFill>
              </a:rPr>
              <a:t>v1. </a:t>
            </a:r>
            <a:r>
              <a:rPr lang="ru-RU" sz="2800" b="1" dirty="0" err="1" smtClean="0"/>
              <a:t>pop_back</a:t>
            </a:r>
            <a:r>
              <a:rPr lang="ru-RU" sz="2800" smtClean="0"/>
              <a:t>() </a:t>
            </a:r>
            <a:r>
              <a:rPr lang="ru-RU" sz="2800" dirty="0"/>
              <a:t>— </a:t>
            </a:r>
            <a:r>
              <a:rPr lang="ru-RU" sz="2800" dirty="0">
                <a:solidFill>
                  <a:prstClr val="black"/>
                </a:solidFill>
              </a:rPr>
              <a:t>этот метод </a:t>
            </a:r>
            <a:r>
              <a:rPr lang="ru-RU" sz="2800" dirty="0" smtClean="0"/>
              <a:t>удаляет </a:t>
            </a:r>
            <a:r>
              <a:rPr lang="ru-RU" sz="2800" dirty="0"/>
              <a:t>последний элемент </a:t>
            </a:r>
            <a:r>
              <a:rPr lang="ru-RU" sz="2800" dirty="0" err="1"/>
              <a:t>vector</a:t>
            </a:r>
            <a:r>
              <a:rPr lang="ru-RU" sz="2800" dirty="0"/>
              <a:t>-а</a:t>
            </a:r>
            <a:br>
              <a:rPr lang="ru-RU" sz="2800" dirty="0"/>
            </a:br>
            <a:r>
              <a:rPr lang="en-US" sz="2800" b="1" dirty="0">
                <a:solidFill>
                  <a:prstClr val="black"/>
                </a:solidFill>
              </a:rPr>
              <a:t>v1. </a:t>
            </a:r>
            <a:r>
              <a:rPr lang="ru-RU" sz="2800" b="1" dirty="0" err="1" smtClean="0"/>
              <a:t>begin</a:t>
            </a:r>
            <a:r>
              <a:rPr lang="ru-RU" sz="2800" dirty="0"/>
              <a:t>() </a:t>
            </a:r>
            <a:r>
              <a:rPr lang="ru-RU" sz="2800" dirty="0" smtClean="0"/>
              <a:t>— </a:t>
            </a:r>
            <a:r>
              <a:rPr lang="ru-RU" sz="2800" dirty="0">
                <a:solidFill>
                  <a:prstClr val="black"/>
                </a:solidFill>
              </a:rPr>
              <a:t>этот метод </a:t>
            </a:r>
            <a:r>
              <a:rPr lang="ru-RU" sz="2800" dirty="0" smtClean="0"/>
              <a:t> </a:t>
            </a:r>
            <a:r>
              <a:rPr lang="ru-RU" sz="2800" dirty="0"/>
              <a:t>возвращает итератор, указывающий на начало </a:t>
            </a:r>
            <a:r>
              <a:rPr lang="ru-RU" sz="2800" dirty="0" smtClean="0"/>
              <a:t>вектора.</a:t>
            </a:r>
            <a:r>
              <a:rPr lang="ru-RU" sz="2800" dirty="0"/>
              <a:t/>
            </a:r>
            <a:br>
              <a:rPr lang="ru-RU" sz="2800" dirty="0"/>
            </a:br>
            <a:r>
              <a:rPr lang="en-US" sz="2800" b="1" dirty="0">
                <a:solidFill>
                  <a:prstClr val="black"/>
                </a:solidFill>
              </a:rPr>
              <a:t>v1. </a:t>
            </a:r>
            <a:r>
              <a:rPr lang="ru-RU" sz="2800" b="1" dirty="0" err="1" smtClean="0"/>
              <a:t>end</a:t>
            </a:r>
            <a:r>
              <a:rPr lang="ru-RU" sz="2800" dirty="0"/>
              <a:t>() — </a:t>
            </a:r>
            <a:r>
              <a:rPr lang="ru-RU" sz="2800" dirty="0">
                <a:solidFill>
                  <a:prstClr val="black"/>
                </a:solidFill>
              </a:rPr>
              <a:t>этот метод </a:t>
            </a:r>
            <a:r>
              <a:rPr lang="ru-RU" sz="2800" dirty="0" smtClean="0"/>
              <a:t>возвращает </a:t>
            </a:r>
            <a:r>
              <a:rPr lang="ru-RU" sz="2800" dirty="0"/>
              <a:t>итератор, указывающий на конец </a:t>
            </a:r>
            <a:r>
              <a:rPr lang="ru-RU" sz="2800" dirty="0" smtClean="0"/>
              <a:t>вектора. </a:t>
            </a:r>
          </a:p>
          <a:p>
            <a:r>
              <a:rPr lang="en-US" sz="2800" b="1" dirty="0">
                <a:solidFill>
                  <a:prstClr val="black"/>
                </a:solidFill>
              </a:rPr>
              <a:t>v1. </a:t>
            </a:r>
            <a:r>
              <a:rPr lang="ru-RU" sz="2800" b="1" dirty="0" err="1" smtClean="0"/>
              <a:t>at</a:t>
            </a:r>
            <a:r>
              <a:rPr lang="ru-RU" sz="2800" b="1" dirty="0" smtClean="0"/>
              <a:t>(</a:t>
            </a:r>
            <a:r>
              <a:rPr lang="en-US" sz="2800" b="1" dirty="0" err="1" smtClean="0"/>
              <a:t>i</a:t>
            </a:r>
            <a:r>
              <a:rPr lang="ru-RU" sz="2800" b="1" dirty="0" smtClean="0"/>
              <a:t>)  </a:t>
            </a:r>
            <a:r>
              <a:rPr lang="en-US" sz="2800" b="1" dirty="0" smtClean="0"/>
              <a:t> ~ </a:t>
            </a:r>
            <a:r>
              <a:rPr lang="ru-RU" sz="2800" dirty="0" smtClean="0"/>
              <a:t>равносильно </a:t>
            </a:r>
            <a:r>
              <a:rPr lang="ru-RU" sz="2800" dirty="0"/>
              <a:t>записи </a:t>
            </a:r>
            <a:r>
              <a:rPr lang="en-US" sz="2800" b="1" dirty="0"/>
              <a:t>v</a:t>
            </a:r>
            <a:r>
              <a:rPr lang="ru-RU" sz="2800" b="1" dirty="0" smtClean="0"/>
              <a:t>[i].</a:t>
            </a:r>
            <a:r>
              <a:rPr lang="ru-RU" sz="2800" dirty="0" smtClean="0"/>
              <a:t> Если </a:t>
            </a:r>
            <a:r>
              <a:rPr lang="ru-RU" sz="2800" dirty="0"/>
              <a:t>i-ого элемента не существует, программа не </a:t>
            </a:r>
            <a:r>
              <a:rPr lang="ru-RU" sz="2800" dirty="0" smtClean="0"/>
              <a:t>вылетит. </a:t>
            </a:r>
          </a:p>
        </p:txBody>
      </p:sp>
    </p:spTree>
    <p:extLst>
      <p:ext uri="{BB962C8B-B14F-4D97-AF65-F5344CB8AC3E}">
        <p14:creationId xmlns="" xmlns:p14="http://schemas.microsoft.com/office/powerpoint/2010/main" val="785810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4450"/>
            <a:ext cx="87487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None/>
            </a:pPr>
            <a:r>
              <a:rPr lang="ru-RU" altLang="ru-RU" sz="3600" b="1" dirty="0" smtClean="0">
                <a:latin typeface="Arial" charset="0"/>
              </a:rPr>
              <a:t>Пример 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Вектор из 10 элементов типа </a:t>
            </a:r>
            <a:r>
              <a:rPr lang="ru-RU" sz="28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ru-RU" sz="28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68015" y="980728"/>
            <a:ext cx="79610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</a:rPr>
              <a:t> </a:t>
            </a:r>
            <a:endParaRPr lang="ru-RU" sz="2800" dirty="0" smtClean="0"/>
          </a:p>
        </p:txBody>
      </p:sp>
      <p:sp>
        <p:nvSpPr>
          <p:cNvPr id="5" name="Прямоугольник 4"/>
          <p:cNvSpPr/>
          <p:nvPr/>
        </p:nvSpPr>
        <p:spPr>
          <a:xfrm>
            <a:off x="368013" y="984201"/>
            <a:ext cx="8472773" cy="5632311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&lt;vector&gt;</a:t>
            </a:r>
          </a:p>
          <a:p>
            <a:endParaRPr lang="ru-RU" sz="2400" b="1" dirty="0" smtClean="0">
              <a:solidFill>
                <a:srgbClr val="A3151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Вектор из 10 элементов типа </a:t>
            </a:r>
            <a:r>
              <a:rPr lang="ru-RU" sz="24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ru-RU" sz="24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vector&lt;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v1(10);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вывод элементов вектора v1 на экран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"vector v1: 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nn-NO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n-NO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n-NO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n-NO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n-NO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0; i &lt; v1.size(); i++)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v1[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&lt;&lt;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2580616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692696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4450"/>
            <a:ext cx="87487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None/>
            </a:pPr>
            <a:r>
              <a:rPr lang="ru-RU" altLang="ru-RU" sz="3600" b="1" dirty="0" smtClean="0">
                <a:latin typeface="Arial" charset="0"/>
              </a:rPr>
              <a:t>Пример </a:t>
            </a:r>
            <a:r>
              <a:rPr lang="ru-RU" sz="28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Вектор из элементов типа </a:t>
            </a:r>
            <a:r>
              <a:rPr lang="ru-RU" sz="28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endParaRPr lang="ru-RU" sz="28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707" y="801280"/>
            <a:ext cx="8472773" cy="5940088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&lt;vector&gt;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ru-RU" sz="2400" b="1" dirty="0" smtClean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Вектор из элементов типа </a:t>
            </a:r>
            <a:r>
              <a:rPr lang="ru-RU" sz="20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размер </a:t>
            </a:r>
            <a:r>
              <a:rPr lang="ru-RU" sz="20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неопределён</a:t>
            </a:r>
            <a:endParaRPr lang="ru-RU" sz="20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vector&lt;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v2;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 = v2.size();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"size v2: 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n &lt;&lt;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вывод элементов вектора v2 на экран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"vector v2: 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nn-NO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nn-NO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n-NO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n-NO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n-NO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 = 0; i &lt; v2.size(); i++)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v2[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&lt;&lt;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3122244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4450"/>
            <a:ext cx="87487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None/>
            </a:pPr>
            <a:r>
              <a:rPr lang="ru-RU" altLang="ru-RU" sz="3600" b="1" dirty="0" smtClean="0">
                <a:latin typeface="Arial" charset="0"/>
              </a:rPr>
              <a:t>Результат</a:t>
            </a:r>
            <a:endParaRPr lang="ru-RU" sz="28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40768"/>
            <a:ext cx="7579031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459650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692696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0" y="44450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None/>
            </a:pPr>
            <a:r>
              <a:rPr lang="ru-RU" altLang="ru-RU" sz="3600" b="1" dirty="0" smtClean="0">
                <a:latin typeface="Arial" charset="0"/>
              </a:rPr>
              <a:t>Пример </a:t>
            </a:r>
            <a:r>
              <a:rPr lang="ru-RU" sz="2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//Добавили к вектору десять чисел 1,2,3...10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68015" y="1124744"/>
            <a:ext cx="8472773" cy="1569660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=0;i&lt;10;i++) {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v2.push_back(i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//Добавили к вектору десять чисел 1,2,3...10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79512" y="3573016"/>
            <a:ext cx="8661276" cy="2308324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=0;i&lt;10;i++)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a;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"number 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i+1 &lt;&lt;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; 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 a;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v2.push_back(a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ru-RU" sz="2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//Добавили к вектору число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54251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692696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4450"/>
            <a:ext cx="87487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None/>
            </a:pPr>
            <a:r>
              <a:rPr lang="ru-RU" altLang="ru-RU" sz="3600" b="1" dirty="0" smtClean="0">
                <a:latin typeface="Arial" charset="0"/>
              </a:rPr>
              <a:t>Пример </a:t>
            </a:r>
            <a:r>
              <a:rPr lang="ru-RU" altLang="ru-RU" sz="28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</a:t>
            </a:r>
            <a:r>
              <a:rPr lang="ru-RU" sz="28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лементы вектора заполняются 0</a:t>
            </a:r>
            <a:endParaRPr lang="ru-RU" sz="28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9707" y="801280"/>
            <a:ext cx="8472773" cy="5509200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&lt;vector&gt;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Вектор, состоящий из 10 элементов типа </a:t>
            </a:r>
            <a:r>
              <a:rPr lang="ru-RU" sz="20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ru-RU" sz="20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По умолчанию все элементы заполняются нулями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vector&lt;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v3(10, 0);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вывод элементов вектора v3 на экран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"vector v3: 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nn-NO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nn-NO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n-NO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n-NO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n-NO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 = 0; i &lt; v3.size(); i++)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v3[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&lt;&lt; 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="" xmlns:p14="http://schemas.microsoft.com/office/powerpoint/2010/main" val="168287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6513" y="1196752"/>
            <a:ext cx="9143999" cy="5016758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&lt;vector&gt;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Подключили директиву </a:t>
            </a:r>
            <a:r>
              <a:rPr lang="en-US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</a:p>
          <a:p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 err="1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0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ru-RU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//Необходимо использовать 					   //пространство имен </a:t>
            </a:r>
            <a:r>
              <a:rPr lang="ru-RU" sz="2000" b="1" dirty="0" err="1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endParaRPr lang="ru-RU" sz="20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//Инициализируем массив значениями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[10]={1,2,3,4,5,6,7,8,9,10}; </a:t>
            </a:r>
            <a:endParaRPr lang="ru-RU" sz="20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0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v(Arr,Arr+10); </a:t>
            </a:r>
            <a:r>
              <a:rPr lang="ru-RU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//Копирование массива в Вектор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vector&lt;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&gt;::iterator it; </a:t>
            </a:r>
            <a:r>
              <a:rPr lang="en-US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Объявляем итератор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(it=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v.begin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();it!=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v.end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();it++) {</a:t>
            </a:r>
          </a:p>
          <a:p>
            <a:r>
              <a:rPr lang="ru-RU" sz="20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0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&lt;&lt;*</a:t>
            </a:r>
            <a:r>
              <a:rPr lang="ru-RU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ru-RU" sz="20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0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//с помощью итератора выводим 					//элементы вектора на экран</a:t>
            </a:r>
          </a:p>
          <a:p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   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95288" y="28498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Итератор		похож на Указатель</a:t>
            </a:r>
            <a:endParaRPr lang="ru-RU" altLang="ru-RU" sz="3600" b="1" dirty="0">
              <a:latin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51067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28498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Алгоритмы вектора</a:t>
            </a:r>
            <a:endParaRPr lang="ru-RU" altLang="ru-RU" sz="3600" b="1" dirty="0">
              <a:latin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88477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4450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Пример</a:t>
            </a:r>
            <a:endParaRPr lang="ru-RU" altLang="ru-RU" sz="3600" b="1" dirty="0">
              <a:latin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52348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95288" y="44450"/>
            <a:ext cx="87487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None/>
            </a:pPr>
            <a:r>
              <a:rPr lang="ru-RU" altLang="ru-RU" sz="3600" b="1" dirty="0" smtClean="0">
                <a:latin typeface="Arial" charset="0"/>
              </a:rPr>
              <a:t>Задача</a:t>
            </a:r>
            <a:endParaRPr lang="ru-RU" altLang="ru-RU" sz="3600" b="1" dirty="0">
              <a:latin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956476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278</Words>
  <Application>Microsoft Office PowerPoint</Application>
  <PresentationFormat>Экран (4:3)</PresentationFormat>
  <Paragraphs>121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Тема Office</vt:lpstr>
      <vt:lpstr> Контейнер вектор vector Лекция 6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Класс вектор </dc:title>
  <dc:creator>admin</dc:creator>
  <cp:lastModifiedBy>kiryakinax</cp:lastModifiedBy>
  <cp:revision>20</cp:revision>
  <dcterms:created xsi:type="dcterms:W3CDTF">2015-10-13T21:25:53Z</dcterms:created>
  <dcterms:modified xsi:type="dcterms:W3CDTF">2017-04-12T03:28:20Z</dcterms:modified>
</cp:coreProperties>
</file>