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57" r:id="rId11"/>
    <p:sldId id="266" r:id="rId12"/>
    <p:sldId id="267" r:id="rId13"/>
    <p:sldId id="268" r:id="rId14"/>
    <p:sldId id="269" r:id="rId15"/>
    <p:sldId id="270" r:id="rId16"/>
    <p:sldId id="277" r:id="rId17"/>
    <p:sldId id="278" r:id="rId18"/>
    <p:sldId id="279" r:id="rId19"/>
    <p:sldId id="271" r:id="rId20"/>
    <p:sldId id="272" r:id="rId21"/>
    <p:sldId id="274" r:id="rId22"/>
    <p:sldId id="276" r:id="rId23"/>
    <p:sldId id="275" r:id="rId24"/>
    <p:sldId id="273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71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025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07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011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4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61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73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17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35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29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92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176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2E0D0-5DEA-4F6D-A0A0-E003BA0C59C3}" type="datetimeFigureOut">
              <a:rPr lang="ru-RU" smtClean="0"/>
              <a:t>09.11.2015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08B45-7902-426E-A4AB-BC30289978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938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Шаблоны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07704" y="4725144"/>
            <a:ext cx="6400800" cy="550912"/>
          </a:xfrm>
        </p:spPr>
        <p:txBody>
          <a:bodyPr>
            <a:normAutofit/>
          </a:bodyPr>
          <a:lstStyle/>
          <a:p>
            <a:pPr algn="r"/>
            <a:r>
              <a:rPr lang="ru-RU" sz="2400" dirty="0" smtClean="0">
                <a:solidFill>
                  <a:schemeClr val="tx1"/>
                </a:solidFill>
              </a:rPr>
              <a:t>Наталия Викторовна </a:t>
            </a:r>
            <a:r>
              <a:rPr lang="ru-RU" sz="2400" dirty="0" err="1" smtClean="0">
                <a:solidFill>
                  <a:schemeClr val="tx1"/>
                </a:solidFill>
              </a:rPr>
              <a:t>Голкова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76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44624"/>
            <a:ext cx="7632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 smtClean="0"/>
              <a:t>Базовые принципы ООП</a:t>
            </a:r>
            <a:endParaRPr lang="ru-RU" sz="40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89221" y="1988840"/>
            <a:ext cx="5832648" cy="378565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ru-RU" sz="3600" dirty="0" smtClean="0"/>
              <a:t>0. Абстракция</a:t>
            </a:r>
          </a:p>
          <a:p>
            <a:pPr marL="342900" indent="-342900">
              <a:spcAft>
                <a:spcPts val="1800"/>
              </a:spcAft>
              <a:buAutoNum type="arabicPeriod"/>
            </a:pPr>
            <a:r>
              <a:rPr lang="ru-RU" sz="3600" dirty="0" smtClean="0"/>
              <a:t>Инкапсуляция</a:t>
            </a:r>
          </a:p>
          <a:p>
            <a:pPr marL="342900" indent="-342900">
              <a:spcAft>
                <a:spcPts val="1800"/>
              </a:spcAft>
              <a:buAutoNum type="arabicPeriod"/>
            </a:pPr>
            <a:r>
              <a:rPr lang="ru-RU" sz="3600" dirty="0" smtClean="0"/>
              <a:t>Полиморфизм </a:t>
            </a:r>
          </a:p>
          <a:p>
            <a:pPr marL="342900" indent="-342900">
              <a:spcAft>
                <a:spcPts val="1800"/>
              </a:spcAft>
              <a:buAutoNum type="arabicPeriod"/>
            </a:pPr>
            <a:r>
              <a:rPr lang="ru-RU" sz="3600" dirty="0" smtClean="0"/>
              <a:t>Наследование</a:t>
            </a:r>
          </a:p>
          <a:p>
            <a:pPr>
              <a:spcAft>
                <a:spcPts val="1800"/>
              </a:spcAft>
            </a:pPr>
            <a:endParaRPr lang="ru-RU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907674" y="2864769"/>
            <a:ext cx="4168382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ru-RU" dirty="0" smtClean="0">
              <a:ln>
                <a:solidFill>
                  <a:srgbClr val="FF0000"/>
                </a:solidFill>
              </a:ln>
            </a:endParaRPr>
          </a:p>
          <a:p>
            <a:endParaRPr lang="ru-RU" dirty="0">
              <a:ln>
                <a:solidFill>
                  <a:srgbClr val="FF0000"/>
                </a:solidFill>
              </a:ln>
            </a:endParaRPr>
          </a:p>
          <a:p>
            <a:endParaRPr lang="ru-RU" dirty="0" smtClean="0">
              <a:ln>
                <a:solidFill>
                  <a:srgbClr val="FF0000"/>
                </a:solidFill>
              </a:ln>
            </a:endParaRPr>
          </a:p>
          <a:p>
            <a:endParaRPr lang="ru-RU" dirty="0">
              <a:ln>
                <a:solidFill>
                  <a:srgbClr val="FF0000"/>
                </a:solidFill>
              </a:ln>
            </a:endParaRPr>
          </a:p>
          <a:p>
            <a:endParaRPr lang="ru-RU" dirty="0" smtClean="0">
              <a:ln>
                <a:solidFill>
                  <a:srgbClr val="FF0000"/>
                </a:solidFill>
              </a:ln>
            </a:endParaRPr>
          </a:p>
          <a:p>
            <a:endParaRPr lang="ru-RU" dirty="0">
              <a:ln>
                <a:solidFill>
                  <a:srgbClr val="FF0000"/>
                </a:solidFill>
              </a:ln>
            </a:endParaRPr>
          </a:p>
          <a:p>
            <a:endParaRPr lang="ru-RU" dirty="0" smtClean="0">
              <a:ln>
                <a:solidFill>
                  <a:srgbClr val="FF0000"/>
                </a:solidFill>
              </a:ln>
            </a:endParaRPr>
          </a:p>
          <a:p>
            <a:endParaRPr lang="ru-RU" dirty="0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 flipV="1">
            <a:off x="5057603" y="4473338"/>
            <a:ext cx="1657648" cy="21602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" name="TextBox 5"/>
          <p:cNvSpPr txBox="1"/>
          <p:nvPr/>
        </p:nvSpPr>
        <p:spPr>
          <a:xfrm>
            <a:off x="6715251" y="4473338"/>
            <a:ext cx="2105221" cy="120032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 smtClean="0"/>
              <a:t>Инструменты создания абстракции</a:t>
            </a:r>
            <a:endParaRPr lang="ru-RU" sz="2400" dirty="0"/>
          </a:p>
        </p:txBody>
      </p:sp>
      <p:sp>
        <p:nvSpPr>
          <p:cNvPr id="7" name="Line 2"/>
          <p:cNvSpPr>
            <a:spLocks noChangeShapeType="1"/>
          </p:cNvSpPr>
          <p:nvPr/>
        </p:nvSpPr>
        <p:spPr bwMode="auto">
          <a:xfrm>
            <a:off x="376238" y="764704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37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376238" y="-27384"/>
            <a:ext cx="8717172" cy="6777950"/>
            <a:chOff x="376238" y="-27384"/>
            <a:chExt cx="8717172" cy="6777950"/>
          </a:xfrm>
        </p:grpSpPr>
        <p:sp>
          <p:nvSpPr>
            <p:cNvPr id="17" name="TextBox 16"/>
            <p:cNvSpPr txBox="1"/>
            <p:nvPr/>
          </p:nvSpPr>
          <p:spPr>
            <a:xfrm>
              <a:off x="399391" y="841256"/>
              <a:ext cx="6345440" cy="59093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1800"/>
                </a:spcAft>
                <a:buFont typeface="Arial" panose="020B0604020202020204" pitchFamily="34" charset="0"/>
                <a:buChar char="•"/>
              </a:pPr>
              <a:r>
                <a:rPr lang="ru-RU" sz="3600" dirty="0" smtClean="0"/>
                <a:t>Уменьшение «стоимости» создания и поддержки ПО</a:t>
              </a:r>
            </a:p>
            <a:p>
              <a:pPr>
                <a:spcAft>
                  <a:spcPts val="1800"/>
                </a:spcAft>
              </a:pPr>
              <a:r>
                <a:rPr lang="ru-RU" sz="3600" dirty="0" smtClean="0"/>
                <a:t>      -  разработка</a:t>
              </a:r>
            </a:p>
            <a:p>
              <a:pPr>
                <a:spcAft>
                  <a:spcPts val="1800"/>
                </a:spcAft>
              </a:pPr>
              <a:r>
                <a:rPr lang="ru-RU" sz="3600" dirty="0" smtClean="0"/>
                <a:t>      -  отладка и тестирование</a:t>
              </a:r>
            </a:p>
            <a:p>
              <a:pPr>
                <a:spcAft>
                  <a:spcPts val="1800"/>
                </a:spcAft>
              </a:pPr>
              <a:r>
                <a:rPr lang="ru-RU" sz="3600" dirty="0"/>
                <a:t> </a:t>
              </a:r>
              <a:r>
                <a:rPr lang="ru-RU" sz="3600" dirty="0" smtClean="0"/>
                <a:t>     - сопровождение</a:t>
              </a:r>
            </a:p>
            <a:p>
              <a:pPr>
                <a:spcAft>
                  <a:spcPts val="1800"/>
                </a:spcAft>
              </a:pPr>
              <a:r>
                <a:rPr lang="ru-RU" sz="3600" dirty="0"/>
                <a:t> </a:t>
              </a:r>
              <a:r>
                <a:rPr lang="ru-RU" sz="3600" dirty="0" smtClean="0"/>
                <a:t>     -  модификация</a:t>
              </a:r>
            </a:p>
            <a:p>
              <a:pPr marL="285750" indent="-285750">
                <a:spcAft>
                  <a:spcPts val="1800"/>
                </a:spcAft>
                <a:buFont typeface="Arial" panose="020B0604020202020204" pitchFamily="34" charset="0"/>
                <a:buChar char="•"/>
              </a:pPr>
              <a:r>
                <a:rPr lang="ru-RU" sz="3600" dirty="0" smtClean="0"/>
                <a:t>Эффекты «массовости»</a:t>
              </a:r>
            </a:p>
            <a:p>
              <a:endParaRPr lang="ru-RU" sz="3600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55190" y="3140968"/>
              <a:ext cx="5209370" cy="12003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ru-RU" dirty="0" smtClean="0"/>
            </a:p>
            <a:p>
              <a:endParaRPr lang="ru-RU" dirty="0"/>
            </a:p>
            <a:p>
              <a:endParaRPr lang="ru-RU" dirty="0" smtClean="0"/>
            </a:p>
            <a:p>
              <a:endParaRPr lang="ru-RU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81774" y="2964914"/>
              <a:ext cx="2016224" cy="830997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2400" dirty="0" smtClean="0"/>
                <a:t>Получаем кирпичики</a:t>
              </a:r>
              <a:endParaRPr lang="ru-RU" sz="2400" dirty="0"/>
            </a:p>
          </p:txBody>
        </p:sp>
        <p:cxnSp>
          <p:nvCxnSpPr>
            <p:cNvPr id="6" name="Прямая со стрелкой 5"/>
            <p:cNvCxnSpPr/>
            <p:nvPr/>
          </p:nvCxnSpPr>
          <p:spPr>
            <a:xfrm flipH="1">
              <a:off x="6164560" y="3380412"/>
              <a:ext cx="72008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970537" y="4533824"/>
              <a:ext cx="5201696" cy="6463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ru-RU" dirty="0" smtClean="0"/>
            </a:p>
            <a:p>
              <a:endParaRPr lang="ru-RU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87709" y="4396165"/>
              <a:ext cx="2016224" cy="830997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2400" dirty="0" smtClean="0"/>
                <a:t>Развиваем компоненту</a:t>
              </a:r>
              <a:endParaRPr lang="ru-RU" sz="2400" dirty="0"/>
            </a:p>
          </p:txBody>
        </p:sp>
        <p:cxnSp>
          <p:nvCxnSpPr>
            <p:cNvPr id="10" name="Прямая со стрелкой 9"/>
            <p:cNvCxnSpPr/>
            <p:nvPr/>
          </p:nvCxnSpPr>
          <p:spPr>
            <a:xfrm flipH="1">
              <a:off x="6172233" y="4811664"/>
              <a:ext cx="72008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683568" y="5301208"/>
              <a:ext cx="5318308" cy="6463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ru-RU" dirty="0" smtClean="0"/>
            </a:p>
            <a:p>
              <a:endParaRPr lang="ru-RU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72200" y="5373216"/>
              <a:ext cx="2721210" cy="830997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2400" dirty="0" smtClean="0"/>
                <a:t>Промышленность Г. </a:t>
              </a:r>
              <a:r>
                <a:rPr lang="ru-RU" sz="2400" dirty="0" smtClean="0"/>
                <a:t>Форд</a:t>
              </a:r>
              <a:endParaRPr lang="ru-RU" sz="2400" dirty="0"/>
            </a:p>
          </p:txBody>
        </p:sp>
        <p:cxnSp>
          <p:nvCxnSpPr>
            <p:cNvPr id="14" name="Прямая со стрелкой 13"/>
            <p:cNvCxnSpPr/>
            <p:nvPr/>
          </p:nvCxnSpPr>
          <p:spPr>
            <a:xfrm flipH="1">
              <a:off x="6001876" y="5696713"/>
              <a:ext cx="370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35057" y="-27384"/>
              <a:ext cx="76328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b="1" dirty="0" smtClean="0"/>
                <a:t>Повторное использование кода</a:t>
              </a:r>
              <a:endParaRPr lang="ru-RU" sz="3600" b="1" dirty="0"/>
            </a:p>
          </p:txBody>
        </p:sp>
        <p:sp>
          <p:nvSpPr>
            <p:cNvPr id="16" name="Line 2"/>
            <p:cNvSpPr>
              <a:spLocks noChangeShapeType="1"/>
            </p:cNvSpPr>
            <p:nvPr/>
          </p:nvSpPr>
          <p:spPr bwMode="auto">
            <a:xfrm>
              <a:off x="376238" y="620688"/>
              <a:ext cx="8464550" cy="0"/>
            </a:xfrm>
            <a:prstGeom prst="line">
              <a:avLst/>
            </a:prstGeom>
            <a:noFill/>
            <a:ln w="38100">
              <a:solidFill>
                <a:srgbClr val="0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27049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5057" y="66690"/>
            <a:ext cx="76328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/>
              <a:t>Реализация повторного использования кода</a:t>
            </a:r>
            <a:endParaRPr lang="ru-RU" sz="3000" b="1" dirty="0"/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73308" y="908720"/>
            <a:ext cx="755634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b="1" dirty="0" smtClean="0"/>
              <a:t>Модульность</a:t>
            </a:r>
            <a:r>
              <a:rPr lang="ru-RU" sz="3600" dirty="0" smtClean="0"/>
              <a:t> -  использование готовых компонент (классы, библиотеки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3600" dirty="0" smtClean="0"/>
              <a:t>Создание новых классов на основе существующих </a:t>
            </a:r>
          </a:p>
          <a:p>
            <a:pPr marL="742950" lvl="1" indent="-285750">
              <a:spcAft>
                <a:spcPts val="1200"/>
              </a:spcAft>
              <a:buFontTx/>
              <a:buChar char="-"/>
            </a:pPr>
            <a:r>
              <a:rPr lang="ru-RU" sz="3600" dirty="0" err="1" smtClean="0"/>
              <a:t>инстанциирование</a:t>
            </a:r>
            <a:r>
              <a:rPr lang="ru-RU" sz="3600" dirty="0" smtClean="0"/>
              <a:t> (</a:t>
            </a:r>
            <a:r>
              <a:rPr lang="ru-RU" sz="3600" b="1" dirty="0" smtClean="0"/>
              <a:t>шаблоны</a:t>
            </a:r>
            <a:r>
              <a:rPr lang="ru-RU" sz="3600" dirty="0" smtClean="0"/>
              <a:t>)</a:t>
            </a:r>
          </a:p>
          <a:p>
            <a:pPr marL="742950" lvl="1" indent="-285750">
              <a:spcAft>
                <a:spcPts val="1200"/>
              </a:spcAft>
              <a:buFontTx/>
              <a:buChar char="-"/>
            </a:pPr>
            <a:r>
              <a:rPr lang="ru-RU" sz="3600" b="1" dirty="0"/>
              <a:t>н</a:t>
            </a:r>
            <a:r>
              <a:rPr lang="ru-RU" sz="3600" b="1" dirty="0" smtClean="0"/>
              <a:t>аследование</a:t>
            </a:r>
          </a:p>
          <a:p>
            <a:r>
              <a:rPr lang="ru-RU" sz="3600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24176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132856"/>
            <a:ext cx="9112999" cy="378565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ru-RU" sz="3200" b="1" dirty="0" smtClean="0"/>
              <a:t>Например </a:t>
            </a:r>
            <a:r>
              <a:rPr lang="ru-RU" sz="3200" dirty="0" smtClean="0"/>
              <a:t>поиск минимального для двух чисел:</a:t>
            </a:r>
            <a:endParaRPr lang="ru-RU" sz="3200" dirty="0" smtClean="0"/>
          </a:p>
          <a:p>
            <a:r>
              <a:rPr lang="sv-SE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</a:t>
            </a:r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ru-RU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sv-SE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sv-SE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(a &lt; b) ? a : b;</a:t>
            </a:r>
          </a:p>
          <a:p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27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27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7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</a:t>
            </a:r>
            <a:r>
              <a:rPr lang="en-US" sz="27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7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7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27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</a:t>
            </a:r>
            <a:r>
              <a:rPr lang="en-US" sz="27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fr-FR" sz="27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7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27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b) {</a:t>
            </a:r>
          </a:p>
          <a:p>
            <a:r>
              <a:rPr lang="en-US" sz="27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7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7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(a &lt; b) ? a : b;</a:t>
            </a:r>
          </a:p>
          <a:p>
            <a:r>
              <a:rPr lang="ru-RU" sz="27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66690"/>
            <a:ext cx="8789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/>
              <a:t>Проблема повторного использования алгоритмов</a:t>
            </a:r>
            <a:endParaRPr lang="ru-RU" sz="3000" b="1" dirty="0"/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683568" y="764704"/>
            <a:ext cx="7632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Один и тот же алгоритм может обрабатывать данные разных типов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57755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66690"/>
            <a:ext cx="8789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/>
              <a:t>Проблема повторного использования алгоритмов</a:t>
            </a:r>
            <a:endParaRPr lang="ru-RU" sz="3000" b="1" dirty="0"/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87658" y="2743760"/>
            <a:ext cx="9005495" cy="1569660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Rational min(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Rational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Rational b) {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(a &lt; b) ? a : b;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667" y="836712"/>
            <a:ext cx="8228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Можно создать класс </a:t>
            </a:r>
            <a:r>
              <a:rPr lang="en-US" sz="3200" dirty="0">
                <a:solidFill>
                  <a:prstClr val="black"/>
                </a:solidFill>
              </a:rPr>
              <a:t>Rational</a:t>
            </a:r>
            <a:r>
              <a:rPr lang="ru-RU" sz="3200" dirty="0">
                <a:solidFill>
                  <a:prstClr val="black"/>
                </a:solidFill>
              </a:rPr>
              <a:t> – класс рациональных чисел и определить для него</a:t>
            </a:r>
            <a:r>
              <a:rPr lang="en-US" sz="3200" dirty="0" smtClean="0"/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&lt;:</a:t>
            </a:r>
            <a:endParaRPr lang="en-US" sz="32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2716" y="4581128"/>
            <a:ext cx="84221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</a:rPr>
              <a:t>Заметьте, что содержимое трёх функций не отличается.</a:t>
            </a:r>
            <a:endParaRPr lang="ru-RU" sz="3200" dirty="0" smtClean="0"/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36771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66690"/>
            <a:ext cx="8789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/>
              <a:t>Как использовать алгоритм с разными типами?</a:t>
            </a:r>
            <a:endParaRPr lang="ru-RU" sz="3000" b="1" dirty="0"/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467544" y="908720"/>
            <a:ext cx="84969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 smtClean="0"/>
              <a:t>copy-past</a:t>
            </a:r>
          </a:p>
          <a:p>
            <a:pPr marL="742950" lvl="1" indent="-285750">
              <a:buFontTx/>
              <a:buChar char="-"/>
            </a:pPr>
            <a:r>
              <a:rPr lang="ru-RU" sz="3600" dirty="0" smtClean="0"/>
              <a:t>Размножение «одинаковых сущностей» и внесение новых ошибок</a:t>
            </a:r>
          </a:p>
          <a:p>
            <a:pPr marL="742950" lvl="1" indent="-285750">
              <a:buFontTx/>
              <a:buChar char="-"/>
            </a:pPr>
            <a:r>
              <a:rPr lang="ru-RU" sz="3600" dirty="0" smtClean="0"/>
              <a:t>усложнение поддержки кода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ru-RU" sz="3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3600" b="1" dirty="0" smtClean="0"/>
              <a:t>макрос</a:t>
            </a:r>
          </a:p>
          <a:p>
            <a:pPr marL="457200" lvl="2"/>
            <a:r>
              <a:rPr lang="ru-RU" sz="3600" dirty="0" smtClean="0"/>
              <a:t>-   усложнение отладки и поддержки </a:t>
            </a:r>
            <a:endParaRPr lang="ru-RU" sz="3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07504" y="5373216"/>
            <a:ext cx="8928992" cy="523220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min(a, b) ((a) &lt; (b) ? (a) : (b))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88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841242"/>
            <a:ext cx="7632848" cy="3046988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ru-RU" sz="3200" u="sng" dirty="0" smtClean="0"/>
              <a:t>Пример шаблонной функции:</a:t>
            </a:r>
          </a:p>
          <a:p>
            <a:endParaRPr lang="ru-RU" sz="3200" dirty="0" smtClean="0"/>
          </a:p>
          <a:p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T&gt;</a:t>
            </a:r>
          </a:p>
          <a:p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min(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32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&amp;b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(a &lt; b) ? a : b;</a:t>
            </a:r>
          </a:p>
          <a:p>
            <a:r>
              <a:rPr lang="ru-RU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3200" b="1" u="sng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66690"/>
            <a:ext cx="8789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/>
              <a:t>Как использовать алгоритм с разными типами?</a:t>
            </a:r>
            <a:endParaRPr lang="ru-RU" sz="3000" b="1" dirty="0"/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88530" y="836712"/>
            <a:ext cx="8352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/>
              <a:t>р</a:t>
            </a:r>
            <a:r>
              <a:rPr lang="ru-RU" sz="3200" dirty="0" smtClean="0"/>
              <a:t>еализовать шаблонный код, </a:t>
            </a:r>
            <a:r>
              <a:rPr lang="en-US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templates</a:t>
            </a:r>
            <a:r>
              <a:rPr lang="ru-RU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6238" y="5157192"/>
            <a:ext cx="82599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/>
              <a:t>Вместо типов  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Rational </a:t>
            </a:r>
            <a:r>
              <a:rPr lang="ru-RU" sz="3200" dirty="0" smtClean="0">
                <a:solidFill>
                  <a:prstClr val="black"/>
                </a:solidFill>
                <a:cs typeface="Courier New" panose="02070309020205020404" pitchFamily="49" charset="0"/>
              </a:rPr>
              <a:t>мы используем тип</a:t>
            </a:r>
            <a:r>
              <a:rPr lang="en-US" sz="3200" dirty="0" smtClean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3200" dirty="0">
                <a:solidFill>
                  <a:prstClr val="black"/>
                </a:solidFill>
              </a:rPr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933774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20081" y="980728"/>
            <a:ext cx="7776864" cy="3046988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= 5, b = 7, c;</a:t>
            </a:r>
          </a:p>
          <a:p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= min&lt;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&gt;(a, b);</a:t>
            </a:r>
          </a:p>
          <a:p>
            <a:r>
              <a:rPr lang="fr-FR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fr-FR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 = 1.4, e = 0.42, f;</a:t>
            </a:r>
          </a:p>
          <a:p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 = min&lt;</a:t>
            </a: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&gt;(d, e);</a:t>
            </a:r>
          </a:p>
          <a:p>
            <a:r>
              <a:rPr lang="pt-BR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Rational g(3, 5), h(1, 2), i;</a:t>
            </a:r>
          </a:p>
          <a:p>
            <a:r>
              <a:rPr lang="en-US" sz="32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min&lt;Rational&gt;(g, h);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97166"/>
            <a:ext cx="8789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Вызов функции </a:t>
            </a:r>
            <a:r>
              <a:rPr lang="en-US" sz="3200" b="1" dirty="0" smtClean="0"/>
              <a:t> </a:t>
            </a:r>
            <a:r>
              <a:rPr lang="en-US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76238" y="4653136"/>
            <a:ext cx="812070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sz="3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ru-RU" sz="3200" dirty="0" smtClean="0"/>
              <a:t>можно вызвать для типа для которого определена </a:t>
            </a:r>
            <a:r>
              <a:rPr lang="ru-RU" sz="3200" b="1" dirty="0" smtClean="0"/>
              <a:t>операция сравнения</a:t>
            </a:r>
            <a:r>
              <a:rPr lang="ru-RU" sz="3200" dirty="0" smtClean="0"/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4926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980728"/>
            <a:ext cx="856895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/>
              <a:t>Шаблон</a:t>
            </a:r>
            <a:r>
              <a:rPr lang="en-US" sz="3600" b="1" dirty="0" smtClean="0"/>
              <a:t> </a:t>
            </a:r>
            <a:r>
              <a:rPr lang="ru-RU" sz="3600" dirty="0" smtClean="0"/>
              <a:t>– это способ реализации алгоритмической части программы с возможностью работы с разными типами </a:t>
            </a:r>
            <a:r>
              <a:rPr lang="ru-RU" sz="3600" dirty="0" smtClean="0"/>
              <a:t>данных.</a:t>
            </a:r>
          </a:p>
          <a:p>
            <a:r>
              <a:rPr lang="ru-RU" sz="3600" b="1" dirty="0" smtClean="0"/>
              <a:t>Шаблон </a:t>
            </a:r>
            <a:r>
              <a:rPr lang="ru-RU" sz="3600" dirty="0" smtClean="0"/>
              <a:t>— особый вид функции. </a:t>
            </a:r>
            <a:r>
              <a:rPr lang="ru-RU" sz="3600" b="1" dirty="0" smtClean="0"/>
              <a:t>Механизм работы шаблона </a:t>
            </a:r>
            <a:r>
              <a:rPr lang="ru-RU" sz="3600" dirty="0" smtClean="0"/>
              <a:t>заключается в том, что на этапе компиляции конкретный тип данных передается в функцию в виде параметра.</a:t>
            </a:r>
            <a:endParaRPr lang="ru-RU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97166"/>
            <a:ext cx="8789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Определение шаблона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78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3528" y="980728"/>
            <a:ext cx="8352928" cy="510909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endParaRPr lang="ru-RU" sz="3200" b="1" dirty="0" smtClean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200"/>
              </a:spcAft>
            </a:pPr>
            <a:r>
              <a:rPr lang="ru-RU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dirty="0" smtClean="0"/>
              <a:t>описание параметризации шаблона</a:t>
            </a:r>
          </a:p>
          <a:p>
            <a:pPr marL="2857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200" b="1" dirty="0" smtClean="0"/>
              <a:t> </a:t>
            </a:r>
            <a:r>
              <a:rPr lang="ru-RU" sz="3200" b="1" dirty="0" smtClean="0"/>
              <a:t>и 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endParaRPr lang="ru-RU" sz="3200" b="1" dirty="0" smtClean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>
              <a:spcAft>
                <a:spcPts val="1200"/>
              </a:spcAft>
            </a:pPr>
            <a:r>
              <a:rPr lang="ru-RU" sz="3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-</a:t>
            </a:r>
            <a:r>
              <a:rPr lang="ru-RU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3200" dirty="0" smtClean="0"/>
              <a:t>именование параметра</a:t>
            </a:r>
            <a:r>
              <a:rPr lang="en-US" sz="3200" dirty="0" smtClean="0"/>
              <a:t> </a:t>
            </a:r>
            <a:r>
              <a:rPr lang="ru-RU" sz="3200" dirty="0" smtClean="0"/>
              <a:t>шаблона</a:t>
            </a:r>
          </a:p>
          <a:p>
            <a:pPr marL="3175" lvl="2">
              <a:spcAft>
                <a:spcPts val="1200"/>
              </a:spcAft>
            </a:pPr>
            <a:r>
              <a:rPr lang="ru-RU" sz="3200" dirty="0" smtClean="0"/>
              <a:t>Пример:</a:t>
            </a:r>
          </a:p>
          <a:p>
            <a:pPr marL="3175" lvl="2">
              <a:spcAft>
                <a:spcPts val="1200"/>
              </a:spcAft>
            </a:pP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175" lvl="2">
              <a:spcAft>
                <a:spcPts val="1200"/>
              </a:spcAft>
            </a:pPr>
            <a:r>
              <a:rPr lang="ru-RU" sz="3200" dirty="0" smtClean="0">
                <a:solidFill>
                  <a:prstClr val="black"/>
                </a:solidFill>
              </a:rPr>
              <a:t>или</a:t>
            </a:r>
            <a:endParaRPr lang="en-US" sz="3200" dirty="0" smtClean="0">
              <a:solidFill>
                <a:prstClr val="black"/>
              </a:solidFill>
            </a:endParaRPr>
          </a:p>
          <a:p>
            <a:pPr marL="3175" lvl="2">
              <a:spcAft>
                <a:spcPts val="1200"/>
              </a:spcAft>
            </a:pP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T&gt;</a:t>
            </a:r>
            <a:endParaRPr lang="ru-RU" sz="3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97166"/>
            <a:ext cx="8789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Ключевые слова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cxnSp>
        <p:nvCxnSpPr>
          <p:cNvPr id="10" name="Прямая со стрелкой 9"/>
          <p:cNvCxnSpPr/>
          <p:nvPr/>
        </p:nvCxnSpPr>
        <p:spPr>
          <a:xfrm flipH="1">
            <a:off x="3923928" y="3770752"/>
            <a:ext cx="1008112" cy="3600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32040" y="3535273"/>
            <a:ext cx="3240360" cy="8309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chemeClr val="tx1"/>
                </a:solidFill>
              </a:rPr>
              <a:t>Пользовательский тип данных</a:t>
            </a:r>
            <a:endParaRPr lang="ru-RU" sz="2400" b="1" dirty="0">
              <a:solidFill>
                <a:schemeClr val="tx1"/>
              </a:solidFill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4139952" y="5139178"/>
            <a:ext cx="1041165" cy="3600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9" name="TextBox 8"/>
          <p:cNvSpPr txBox="1"/>
          <p:nvPr/>
        </p:nvSpPr>
        <p:spPr>
          <a:xfrm>
            <a:off x="5158394" y="4903699"/>
            <a:ext cx="3495339" cy="4616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b="1" dirty="0" smtClean="0"/>
              <a:t>Встроенный тип </a:t>
            </a:r>
            <a:r>
              <a:rPr lang="ru-RU" sz="2400" b="1" dirty="0" smtClean="0"/>
              <a:t>данных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403066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233" y="44624"/>
            <a:ext cx="84604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Задача. </a:t>
            </a:r>
            <a:r>
              <a:rPr lang="ru-RU" sz="3200" dirty="0" smtClean="0"/>
              <a:t>Запрограммировать функцию, которая выводит на экран элементы массива </a:t>
            </a:r>
            <a:r>
              <a:rPr lang="ru-RU" sz="3200" b="1" dirty="0" smtClean="0"/>
              <a:t>типа </a:t>
            </a:r>
            <a:r>
              <a:rPr lang="ru-RU" sz="3200" b="1" dirty="0" err="1" smtClean="0"/>
              <a:t>int</a:t>
            </a:r>
            <a:r>
              <a:rPr lang="ru-RU" sz="3200" b="1" dirty="0" smtClean="0"/>
              <a:t>, </a:t>
            </a:r>
            <a:r>
              <a:rPr lang="ru-RU" sz="3200" b="1" dirty="0" err="1" smtClean="0"/>
              <a:t>double</a:t>
            </a:r>
            <a:r>
              <a:rPr lang="ru-RU" sz="3200" b="1" dirty="0" smtClean="0"/>
              <a:t>, </a:t>
            </a:r>
            <a:r>
              <a:rPr lang="ru-RU" sz="3200" b="1" dirty="0" err="1" smtClean="0"/>
              <a:t>float</a:t>
            </a:r>
            <a:r>
              <a:rPr lang="ru-RU" sz="3200" b="1" dirty="0" smtClean="0"/>
              <a:t> и </a:t>
            </a:r>
            <a:r>
              <a:rPr lang="ru-RU" sz="3200" b="1" dirty="0" err="1" smtClean="0"/>
              <a:t>char</a:t>
            </a:r>
            <a:r>
              <a:rPr lang="ru-RU" sz="3200" b="1" dirty="0" smtClean="0"/>
              <a:t>.</a:t>
            </a:r>
          </a:p>
        </p:txBody>
      </p:sp>
      <p:grpSp>
        <p:nvGrpSpPr>
          <p:cNvPr id="3" name="Группа 2"/>
          <p:cNvGrpSpPr/>
          <p:nvPr/>
        </p:nvGrpSpPr>
        <p:grpSpPr>
          <a:xfrm>
            <a:off x="1546568" y="1614284"/>
            <a:ext cx="5726479" cy="5099700"/>
            <a:chOff x="1546568" y="1758300"/>
            <a:chExt cx="5726479" cy="5099700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6568" y="1758300"/>
              <a:ext cx="5726479" cy="5099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Овал 4"/>
            <p:cNvSpPr/>
            <p:nvPr/>
          </p:nvSpPr>
          <p:spPr>
            <a:xfrm>
              <a:off x="2987824" y="1889760"/>
              <a:ext cx="1800200" cy="2952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/>
            <p:cNvSpPr/>
            <p:nvPr/>
          </p:nvSpPr>
          <p:spPr>
            <a:xfrm>
              <a:off x="2987824" y="3140968"/>
              <a:ext cx="2016224" cy="2952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/>
            <p:cNvSpPr/>
            <p:nvPr/>
          </p:nvSpPr>
          <p:spPr>
            <a:xfrm>
              <a:off x="2927256" y="4430400"/>
              <a:ext cx="2016224" cy="24450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/>
            <p:cNvSpPr/>
            <p:nvPr/>
          </p:nvSpPr>
          <p:spPr>
            <a:xfrm>
              <a:off x="3035268" y="5661248"/>
              <a:ext cx="1800200" cy="2952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693575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247650" y="188640"/>
            <a:ext cx="8716838" cy="6150248"/>
            <a:chOff x="247650" y="188640"/>
            <a:chExt cx="8716838" cy="6150248"/>
          </a:xfrm>
        </p:grpSpPr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50" y="519113"/>
              <a:ext cx="8648700" cy="5819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584516" y="188640"/>
              <a:ext cx="4379972" cy="2800767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2200" dirty="0" smtClean="0"/>
                <a:t>T — это зарезервированное место под любой встроенный тип данных. При вызове функции, компилятор анализирует параметр </a:t>
              </a:r>
              <a:r>
                <a:rPr lang="ru-RU" sz="2200" dirty="0" err="1" smtClean="0"/>
                <a:t>шаблонированной</a:t>
              </a:r>
              <a:r>
                <a:rPr lang="ru-RU" sz="2200" dirty="0" smtClean="0"/>
                <a:t> функции и создает экземпляр для соответственного типа данных: </a:t>
              </a:r>
              <a:r>
                <a:rPr lang="ru-RU" sz="2200" dirty="0" err="1" smtClean="0"/>
                <a:t>int</a:t>
              </a:r>
              <a:r>
                <a:rPr lang="ru-RU" sz="2200" dirty="0" smtClean="0"/>
                <a:t>, </a:t>
              </a:r>
              <a:r>
                <a:rPr lang="ru-RU" sz="2200" dirty="0" err="1" smtClean="0"/>
                <a:t>char</a:t>
              </a:r>
              <a:r>
                <a:rPr lang="ru-RU" sz="2200" dirty="0" smtClean="0"/>
                <a:t> и так далее.</a:t>
              </a:r>
              <a:endParaRPr lang="ru-RU" sz="2200" dirty="0"/>
            </a:p>
          </p:txBody>
        </p:sp>
        <p:cxnSp>
          <p:nvCxnSpPr>
            <p:cNvPr id="5" name="Прямая со стрелкой 4"/>
            <p:cNvCxnSpPr/>
            <p:nvPr/>
          </p:nvCxnSpPr>
          <p:spPr>
            <a:xfrm flipH="1">
              <a:off x="2339752" y="836712"/>
              <a:ext cx="2232248" cy="57606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0664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28" y="404664"/>
            <a:ext cx="7648132" cy="374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50775" y="4419919"/>
            <a:ext cx="79025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Если объем кода меньше, то это не значит, что памяти программа будет потреблять меньше. Компилятор сам создает локальные копии функции-шаблона и соответственно памяти потребляется столько, как если бы вы сами написали все экземпляры функции, как в случае с перегрузкой.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16351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517232"/>
            <a:ext cx="6817820" cy="878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57" y="908720"/>
            <a:ext cx="8899643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97166"/>
            <a:ext cx="8789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поиск максимума в массиве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244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3010" y="836712"/>
            <a:ext cx="9005494" cy="5539978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Шаблон функции с двумя параметрами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T1,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T2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 min(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T1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T2 &amp;b) </a:t>
            </a:r>
            <a:r>
              <a:rPr lang="en-US" b="1" dirty="0">
                <a:solidFill>
                  <a:prstClr val="black"/>
                </a:solidFill>
                <a:cs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Функция </a:t>
            </a:r>
            <a:r>
              <a:rPr lang="en-US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min, 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тип функции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(a &lt; b) ? a : b;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//равен типу первого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		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принимаемого параметра</a:t>
            </a:r>
          </a:p>
          <a:p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(12,100)&lt;&lt;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</a:t>
            </a:r>
            <a:r>
              <a:rPr lang="ru-RU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Возвращет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тип </a:t>
            </a:r>
            <a:r>
              <a:rPr lang="ru-RU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int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и равно 12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//Возвращает тип </a:t>
            </a:r>
            <a:r>
              <a:rPr lang="ru-RU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double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и </a:t>
            </a:r>
            <a:r>
              <a:rPr lang="en-US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равно 100.31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(100.31,120)&lt;&lt;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//Возвращает тип </a:t>
            </a:r>
            <a:r>
              <a:rPr lang="ru-RU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double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и равно 10.55 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(10.55,55)&lt;&lt;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system(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"PAUSE"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97166"/>
            <a:ext cx="8789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/>
              <a:t>Пример </a:t>
            </a:r>
            <a:r>
              <a:rPr lang="ru-RU" sz="3000" b="1" dirty="0" smtClean="0"/>
              <a:t>шаблона функции с двумя параметрами</a:t>
            </a:r>
            <a:endParaRPr lang="ru-RU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134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3010" y="836712"/>
            <a:ext cx="9005494" cy="5539978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Шаблон функции с двумя параметрами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b="1" dirty="0" smtClean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 min(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T1 &amp;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T2 &amp;b) </a:t>
            </a:r>
            <a:r>
              <a:rPr lang="en-US" b="1" dirty="0">
                <a:solidFill>
                  <a:prstClr val="black"/>
                </a:solidFill>
                <a:cs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Функция </a:t>
            </a:r>
            <a:r>
              <a:rPr lang="en-US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min, 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тип функции 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(a &lt; b) ? a : b;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//равен типу первого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ru-RU" sz="24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		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 принимаемого параметра</a:t>
            </a:r>
          </a:p>
          <a:p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 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(12,100)&lt;&lt;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</a:t>
            </a:r>
            <a:r>
              <a:rPr lang="ru-RU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Возвращет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тип </a:t>
            </a:r>
            <a:r>
              <a:rPr lang="ru-RU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int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и равно 12</a:t>
            </a: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//Возвращает тип </a:t>
            </a:r>
            <a:r>
              <a:rPr lang="ru-RU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double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и </a:t>
            </a:r>
            <a:r>
              <a:rPr lang="en-US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равно 100.31</a:t>
            </a:r>
          </a:p>
          <a:p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(100.31,120)&lt;&lt;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4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	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//Возвращает тип </a:t>
            </a:r>
            <a:r>
              <a:rPr lang="ru-RU" b="1" dirty="0" err="1" smtClean="0">
                <a:solidFill>
                  <a:srgbClr val="008000"/>
                </a:solidFill>
                <a:cs typeface="Courier New" panose="02070309020205020404" pitchFamily="49" charset="0"/>
              </a:rPr>
              <a:t>double</a:t>
            </a:r>
            <a:r>
              <a:rPr lang="ru-RU" b="1" dirty="0" smtClean="0">
                <a:solidFill>
                  <a:srgbClr val="008000"/>
                </a:solidFill>
                <a:cs typeface="Courier New" panose="02070309020205020404" pitchFamily="49" charset="0"/>
              </a:rPr>
              <a:t> и равно 10.55 </a:t>
            </a:r>
          </a:p>
          <a:p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(10.55,55)&lt;&lt;</a:t>
            </a:r>
            <a:r>
              <a:rPr lang="ru-RU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system(</a:t>
            </a:r>
            <a:r>
              <a:rPr lang="en-US" sz="24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"PAUSE"</a:t>
            </a:r>
            <a:r>
              <a:rPr lang="en-US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97166"/>
            <a:ext cx="8789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/>
              <a:t>Пример </a:t>
            </a:r>
            <a:r>
              <a:rPr lang="ru-RU" sz="3000" b="1" dirty="0" smtClean="0"/>
              <a:t>шаблона функции с двумя параметрами</a:t>
            </a:r>
            <a:endParaRPr lang="ru-RU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-1908720" y="604988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639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836712"/>
            <a:ext cx="734481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 smtClean="0"/>
              <a:t>В шаблоне указано, что функция имеет два различных параметра, компилятор говорит понял, разберусь</a:t>
            </a: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200" dirty="0" smtClean="0"/>
              <a:t> Компилятор обработал данные с помощью шаблона и выбрал подходящий тип для каждого из параметров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97166"/>
            <a:ext cx="87894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 smtClean="0"/>
              <a:t>Анализ примера</a:t>
            </a:r>
            <a:endParaRPr lang="ru-RU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519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97166"/>
            <a:ext cx="8789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Шаблон класса с одним параметром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328574" y="1124744"/>
            <a:ext cx="8712968" cy="4031873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32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T&gt;</a:t>
            </a:r>
          </a:p>
          <a:p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Name {</a:t>
            </a:r>
          </a:p>
          <a:p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3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//тело шаблона класса</a:t>
            </a:r>
          </a:p>
          <a:p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endParaRPr lang="ru-RU" sz="3200" dirty="0">
              <a:solidFill>
                <a:prstClr val="black"/>
              </a:solidFill>
            </a:endParaRPr>
          </a:p>
          <a:p>
            <a:r>
              <a:rPr lang="ru-RU" sz="3200" dirty="0">
                <a:solidFill>
                  <a:prstClr val="black"/>
                </a:solidFill>
              </a:rPr>
              <a:t>где T — это </a:t>
            </a:r>
            <a:r>
              <a:rPr lang="ru-RU" sz="3200" b="1" dirty="0">
                <a:solidFill>
                  <a:prstClr val="black"/>
                </a:solidFill>
              </a:rPr>
              <a:t>параметр шаблона класса</a:t>
            </a:r>
            <a:r>
              <a:rPr lang="ru-RU" sz="3200" dirty="0">
                <a:solidFill>
                  <a:prstClr val="black"/>
                </a:solidFill>
              </a:rPr>
              <a:t>, который может принимать любой из </a:t>
            </a:r>
            <a:r>
              <a:rPr lang="ru-RU" sz="3200" b="1" dirty="0">
                <a:solidFill>
                  <a:prstClr val="black"/>
                </a:solidFill>
              </a:rPr>
              <a:t>встроенных типов </a:t>
            </a:r>
            <a:r>
              <a:rPr lang="ru-RU" sz="3200" b="1" dirty="0" smtClean="0">
                <a:solidFill>
                  <a:prstClr val="black"/>
                </a:solidFill>
              </a:rPr>
              <a:t>данных</a:t>
            </a:r>
            <a:r>
              <a:rPr lang="ru-RU" sz="3200" dirty="0" smtClean="0">
                <a:solidFill>
                  <a:prstClr val="black"/>
                </a:solidFill>
              </a:rPr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21714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97166"/>
            <a:ext cx="8789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Шаблон класса с одним параметром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323528" y="836712"/>
            <a:ext cx="8712968" cy="452431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ru-RU" sz="3200" dirty="0"/>
              <a:t>Е</a:t>
            </a:r>
            <a:r>
              <a:rPr lang="ru-RU" sz="3200" dirty="0" smtClean="0"/>
              <a:t>сли </a:t>
            </a:r>
            <a:r>
              <a:rPr lang="ru-RU" sz="3200" b="1" dirty="0" smtClean="0"/>
              <a:t>параметр шаблона класса </a:t>
            </a:r>
            <a:r>
              <a:rPr lang="ru-RU" sz="3200" dirty="0" smtClean="0"/>
              <a:t>должен быть </a:t>
            </a:r>
            <a:r>
              <a:rPr lang="ru-RU" sz="3200" b="1" dirty="0" smtClean="0"/>
              <a:t>пользовательского типа</a:t>
            </a:r>
            <a:r>
              <a:rPr lang="ru-RU" sz="3200" dirty="0" smtClean="0"/>
              <a:t>, например </a:t>
            </a:r>
            <a:r>
              <a:rPr lang="ru-RU" sz="3200" b="1" dirty="0" smtClean="0"/>
              <a:t>типа </a:t>
            </a:r>
            <a:r>
              <a:rPr lang="ru-RU" sz="3200" b="1" dirty="0" err="1" smtClean="0"/>
              <a:t>Array</a:t>
            </a:r>
            <a:r>
              <a:rPr lang="ru-RU" sz="3200" dirty="0" smtClean="0"/>
              <a:t>, где </a:t>
            </a:r>
            <a:r>
              <a:rPr lang="ru-RU" sz="3200" b="1" dirty="0" err="1" smtClean="0"/>
              <a:t>Array</a:t>
            </a:r>
            <a:r>
              <a:rPr lang="ru-RU" sz="3200" dirty="0" smtClean="0"/>
              <a:t> — это </a:t>
            </a:r>
            <a:r>
              <a:rPr lang="ru-RU" sz="3200" b="1" dirty="0" smtClean="0"/>
              <a:t>класс</a:t>
            </a:r>
            <a:r>
              <a:rPr lang="ru-RU" sz="3200" dirty="0" smtClean="0"/>
              <a:t>, описывающий </a:t>
            </a:r>
            <a:r>
              <a:rPr lang="ru-RU" sz="3200" b="1" dirty="0" smtClean="0"/>
              <a:t>массив</a:t>
            </a:r>
            <a:r>
              <a:rPr lang="ru-RU" sz="3200" dirty="0" smtClean="0"/>
              <a:t>, то </a:t>
            </a:r>
            <a:r>
              <a:rPr lang="ru-RU" sz="3200" b="1" dirty="0" smtClean="0"/>
              <a:t>шаблон класса </a:t>
            </a:r>
            <a:r>
              <a:rPr lang="ru-RU" sz="3200" dirty="0" smtClean="0"/>
              <a:t>будет иметь следующий вид:</a:t>
            </a:r>
          </a:p>
          <a:p>
            <a:endParaRPr lang="ru-RU" sz="3200" dirty="0" smtClean="0"/>
          </a:p>
          <a:p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T&gt;</a:t>
            </a:r>
          </a:p>
          <a:p>
            <a:r>
              <a:rPr lang="en-US" sz="32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u-RU" sz="32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  <a:endParaRPr lang="ru-RU" sz="32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32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//тело шаблона класса</a:t>
            </a:r>
          </a:p>
          <a:p>
            <a:r>
              <a:rPr lang="ru-RU" sz="32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627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9" y="97166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шаблонного класса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76238" y="681941"/>
            <a:ext cx="87677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И так, при создании шаблонов классов указывается: тип-параметр, который используется в описании полей и методов класса.</a:t>
            </a:r>
          </a:p>
          <a:p>
            <a:r>
              <a:rPr lang="ru-RU" sz="2800" dirty="0" smtClean="0"/>
              <a:t>Рассмотрим пример шаблонного класса, хранящего вектор длины 2 из элементов некоторого типа. 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99151" y="3167289"/>
            <a:ext cx="7344816" cy="3416320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T&gt;</a:t>
            </a:r>
          </a:p>
          <a:p>
            <a:pPr lvl="0"/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Vector {</a:t>
            </a:r>
          </a:p>
          <a:p>
            <a:pPr lvl="0"/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[2];</a:t>
            </a:r>
          </a:p>
          <a:p>
            <a:pPr lvl="0"/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Vector(T a, T b);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index) 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print();</a:t>
            </a:r>
          </a:p>
          <a:p>
            <a:pPr lvl="0"/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868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124744"/>
            <a:ext cx="8640960" cy="452431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T&gt;</a:t>
            </a:r>
          </a:p>
          <a:p>
            <a:pPr lvl="0"/>
            <a:r>
              <a:rPr lang="fr-FR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Vector&lt;T&gt;::Vector(T a, T b) {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= a;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= b;</a:t>
            </a:r>
          </a:p>
          <a:p>
            <a:pPr lvl="0"/>
            <a:r>
              <a:rPr lang="ru-RU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0"/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T&gt;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 Vector&lt;T&gt;::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[](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index) </a:t>
            </a:r>
            <a:r>
              <a:rPr lang="en-US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(index &lt; 0 || index &gt;= 2)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"error"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0"/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4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[index];</a:t>
            </a:r>
          </a:p>
          <a:p>
            <a:pPr lvl="0"/>
            <a:r>
              <a:rPr lang="ru-RU" sz="24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9" y="97166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шаблонного класса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387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908720"/>
            <a:ext cx="8784976" cy="5693866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lvl="0"/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T&gt;</a:t>
            </a:r>
          </a:p>
          <a:p>
            <a:pPr lvl="0"/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Vector&lt;T&gt;::print() {</a:t>
            </a:r>
          </a:p>
          <a:p>
            <a:pPr lvl="0"/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 &lt;&lt; </a:t>
            </a:r>
            <a:r>
              <a:rPr lang="en-US" sz="2800" b="1" dirty="0" smtClean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sz="2800" b="1" dirty="0" smtClean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 &lt;&lt; </a:t>
            </a:r>
            <a:r>
              <a:rPr lang="en-US" sz="2800" b="1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0"/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ru-RU" sz="2800" b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 {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Vector&lt;</a:t>
            </a:r>
            <a:r>
              <a:rPr lang="en-US" sz="2800" b="1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v1(1, 2);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v1.print();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Vector&lt;</a:t>
            </a: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v2(1.5, 2.2);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v2.print();</a:t>
            </a:r>
          </a:p>
          <a:p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ru-RU" sz="2800" b="1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9" y="97166"/>
            <a:ext cx="7128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Пример шаблонного класса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62068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164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476672"/>
            <a:ext cx="8856984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500" dirty="0" smtClean="0"/>
              <a:t>Реализуйте </a:t>
            </a:r>
            <a:r>
              <a:rPr lang="ru-RU" sz="2500" dirty="0"/>
              <a:t>класс, представляющий </a:t>
            </a:r>
            <a:r>
              <a:rPr lang="ru-RU" sz="2500" b="1" dirty="0" smtClean="0"/>
              <a:t>стек</a:t>
            </a:r>
            <a:r>
              <a:rPr lang="en-US" sz="2500" b="1" dirty="0" smtClean="0"/>
              <a:t> </a:t>
            </a:r>
            <a:r>
              <a:rPr lang="ru-RU" sz="2500" dirty="0"/>
              <a:t>таким образом, чтобы</a:t>
            </a:r>
            <a:r>
              <a:rPr lang="ru-RU" sz="2500" dirty="0" smtClean="0"/>
              <a:t> единожды </a:t>
            </a:r>
            <a:r>
              <a:rPr lang="ru-RU" sz="2500" dirty="0"/>
              <a:t>написанный класс можно было использовать для хранения элементов произвольного типа.</a:t>
            </a:r>
          </a:p>
          <a:p>
            <a:r>
              <a:rPr lang="ru-RU" sz="2500" b="1" dirty="0" smtClean="0"/>
              <a:t>Требования </a:t>
            </a:r>
            <a:r>
              <a:rPr lang="ru-RU" sz="2500" b="1" dirty="0"/>
              <a:t>к функциональности</a:t>
            </a:r>
            <a:endParaRPr lang="ru-RU" sz="2500" dirty="0"/>
          </a:p>
          <a:p>
            <a:r>
              <a:rPr lang="ru-RU" sz="2500" dirty="0" smtClean="0"/>
              <a:t>Стек </a:t>
            </a:r>
            <a:r>
              <a:rPr lang="ru-RU" sz="2500" dirty="0"/>
              <a:t>должны предоставлять следующую функциональность: </a:t>
            </a:r>
          </a:p>
          <a:p>
            <a:pPr lvl="0"/>
            <a:r>
              <a:rPr lang="en-US" sz="2500" b="1" dirty="0" err="1"/>
              <a:t>p</a:t>
            </a:r>
            <a:r>
              <a:rPr lang="ru-RU" sz="2500" b="1" dirty="0" err="1" smtClean="0"/>
              <a:t>ush</a:t>
            </a:r>
            <a:r>
              <a:rPr lang="ru-RU" sz="2500" b="1" dirty="0" smtClean="0"/>
              <a:t> - </a:t>
            </a:r>
            <a:r>
              <a:rPr lang="ru-RU" sz="2500" dirty="0" smtClean="0"/>
              <a:t>добавление </a:t>
            </a:r>
            <a:r>
              <a:rPr lang="ru-RU" sz="2500" dirty="0"/>
              <a:t>элемента</a:t>
            </a:r>
          </a:p>
          <a:p>
            <a:pPr lvl="0"/>
            <a:r>
              <a:rPr lang="en-US" sz="2500" b="1" dirty="0" smtClean="0"/>
              <a:t>p</a:t>
            </a:r>
            <a:r>
              <a:rPr lang="ru-RU" sz="2500" b="1" dirty="0" err="1" smtClean="0"/>
              <a:t>op</a:t>
            </a:r>
            <a:r>
              <a:rPr lang="ru-RU" sz="2500" b="1" dirty="0" smtClean="0"/>
              <a:t> </a:t>
            </a:r>
            <a:r>
              <a:rPr lang="en-US" sz="2500" b="1" dirty="0" smtClean="0"/>
              <a:t>- </a:t>
            </a:r>
            <a:r>
              <a:rPr lang="ru-RU" sz="2500" dirty="0" smtClean="0"/>
              <a:t>извлечение </a:t>
            </a:r>
            <a:r>
              <a:rPr lang="ru-RU" sz="2500" dirty="0"/>
              <a:t>элемента</a:t>
            </a:r>
          </a:p>
          <a:p>
            <a:pPr lvl="0"/>
            <a:r>
              <a:rPr lang="en-US" sz="2500" b="1" dirty="0"/>
              <a:t>e</a:t>
            </a:r>
            <a:r>
              <a:rPr lang="en-US" sz="2500" b="1" dirty="0" smtClean="0"/>
              <a:t>mpty</a:t>
            </a:r>
            <a:r>
              <a:rPr lang="en-US" sz="2500" dirty="0" smtClean="0"/>
              <a:t> - </a:t>
            </a:r>
            <a:r>
              <a:rPr lang="ru-RU" sz="2500" dirty="0" smtClean="0"/>
              <a:t>проверка стека </a:t>
            </a:r>
            <a:r>
              <a:rPr lang="ru-RU" sz="2500" dirty="0"/>
              <a:t>на </a:t>
            </a:r>
            <a:r>
              <a:rPr lang="ru-RU" sz="2500" dirty="0" smtClean="0"/>
              <a:t>пустоту</a:t>
            </a:r>
          </a:p>
          <a:p>
            <a:pPr lvl="0"/>
            <a:r>
              <a:rPr lang="en-US" sz="2500" b="1" dirty="0"/>
              <a:t>t</a:t>
            </a:r>
            <a:r>
              <a:rPr lang="en-US" sz="2500" b="1" dirty="0" smtClean="0"/>
              <a:t>op</a:t>
            </a:r>
            <a:r>
              <a:rPr lang="en-US" sz="2500" dirty="0" smtClean="0"/>
              <a:t> - </a:t>
            </a:r>
            <a:r>
              <a:rPr lang="ru-RU" sz="2500" dirty="0" smtClean="0"/>
              <a:t>просмотр значения элемента на верхушке стека</a:t>
            </a:r>
            <a:endParaRPr lang="ru-RU" sz="2500" dirty="0"/>
          </a:p>
          <a:p>
            <a:r>
              <a:rPr lang="ru-RU" sz="2500" b="1" dirty="0"/>
              <a:t>Требования к эффективности</a:t>
            </a:r>
            <a:endParaRPr lang="ru-RU" sz="2500" dirty="0"/>
          </a:p>
          <a:p>
            <a:r>
              <a:rPr lang="ru-RU" sz="2500" dirty="0" smtClean="0"/>
              <a:t>Указанные </a:t>
            </a:r>
            <a:r>
              <a:rPr lang="ru-RU" sz="2500" dirty="0"/>
              <a:t>в функциональных требованиях операции должны работать за </a:t>
            </a:r>
            <a:r>
              <a:rPr lang="en-US" sz="2500" dirty="0"/>
              <a:t>O</a:t>
            </a:r>
            <a:r>
              <a:rPr lang="ru-RU" sz="2500" dirty="0"/>
              <a:t>(1) времени (константное время, вне зависимости от того, сколько элементов содержит стек/очередь).</a:t>
            </a:r>
          </a:p>
          <a:p>
            <a:r>
              <a:rPr lang="ru-RU" sz="2500" b="1" dirty="0"/>
              <a:t>Примечания</a:t>
            </a:r>
            <a:endParaRPr lang="ru-RU" sz="2500" dirty="0"/>
          </a:p>
          <a:p>
            <a:r>
              <a:rPr lang="ru-RU" sz="2500" dirty="0" smtClean="0"/>
              <a:t>Конкретный </a:t>
            </a:r>
            <a:r>
              <a:rPr lang="ru-RU" sz="2500" dirty="0"/>
              <a:t>экземпляр класса (объект-стек или объект-очередь) всё равно будет содержать элементы одного типа.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9" y="-27384"/>
            <a:ext cx="7056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Лабораторная работа</a:t>
            </a:r>
            <a:endParaRPr lang="ru-RU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376238" y="476672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8057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819</Words>
  <Application>Microsoft Office PowerPoint</Application>
  <PresentationFormat>Экран (4:3)</PresentationFormat>
  <Paragraphs>189</Paragraphs>
  <Slides>24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Тема Office</vt:lpstr>
      <vt:lpstr>Шаблоны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Шаблоны</dc:title>
  <dc:creator>felix</dc:creator>
  <cp:lastModifiedBy>felix</cp:lastModifiedBy>
  <cp:revision>39</cp:revision>
  <dcterms:created xsi:type="dcterms:W3CDTF">2015-11-09T17:30:54Z</dcterms:created>
  <dcterms:modified xsi:type="dcterms:W3CDTF">2015-11-10T03:34:28Z</dcterms:modified>
</cp:coreProperties>
</file>