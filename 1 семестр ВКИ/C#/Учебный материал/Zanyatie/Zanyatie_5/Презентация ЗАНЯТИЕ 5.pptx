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0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1CA44D-8AE6-4068-BBFA-8AF2C0D225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86C6972-C169-420D-9AA9-6D8186576A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11B1850-DDE9-4E6C-AF96-D4943EAB0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4A39A-E6EB-421E-AC5E-E1ED8C122622}" type="datetimeFigureOut">
              <a:rPr lang="ru-RU" smtClean="0"/>
              <a:t>13.03.2022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17F25BB-1A5D-4956-B3F4-7A02CC76D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B169D9-C0AF-41C2-BA2C-2C24CD714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BF9F6-BBB9-4918-942C-4885DB87EC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0870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425636-49ED-4E2A-A360-67C0F943C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667DC5-AF78-4A20-B59C-784B12D0A1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08625F9-C1C3-4327-9399-E7B9C1AB0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4A39A-E6EB-421E-AC5E-E1ED8C122622}" type="datetimeFigureOut">
              <a:rPr lang="ru-RU" smtClean="0"/>
              <a:t>13.03.2022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C5C491C-BCB7-4B67-98D0-502DED016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4F2CDE2-3274-49DC-A6FA-0F82506CF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BF9F6-BBB9-4918-942C-4885DB87EC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4206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5A2855-2F08-4405-A708-10B0F9C19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92222D4-95B7-40C8-9021-08C310BBED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C6EACB5-5C90-41C9-BCE6-85BCEF395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4A39A-E6EB-421E-AC5E-E1ED8C122622}" type="datetimeFigureOut">
              <a:rPr lang="ru-RU" smtClean="0"/>
              <a:t>13.03.2022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C25157-764B-49A9-B2EA-C1CDAE655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B8FB649-3F4E-4C55-A714-D0CB30F7D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BF9F6-BBB9-4918-942C-4885DB87EC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4659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9B08F3-44E9-4558-866D-7FCBCC67D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D0AFB3-6B9F-4584-9C1F-F7B2CED91E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59AA2F4-FB76-406A-9C08-CDC62CD6F6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6000519-461F-4918-81EB-7C907CBE0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4A39A-E6EB-421E-AC5E-E1ED8C122622}" type="datetimeFigureOut">
              <a:rPr lang="ru-RU" smtClean="0"/>
              <a:t>13.03.2022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9235B34-8F72-4D6A-BBAE-529813852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5AC9BE9-0D0D-480A-A73F-CBF89BBB3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BF9F6-BBB9-4918-942C-4885DB87EC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8313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2070A7-BACF-44FE-AE6D-41BE347DB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AD61301-EFC1-4F74-A766-D57EC798D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B9241C5-28FF-4340-91AE-17C0F0D6D2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926E6D7-E24C-47A2-8494-EAA6575009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7382E3E-871A-4AB2-BC17-64D76BA296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661D3C9-C982-4EEC-AC36-A9F96E8BA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4A39A-E6EB-421E-AC5E-E1ED8C122622}" type="datetimeFigureOut">
              <a:rPr lang="ru-RU" smtClean="0"/>
              <a:t>13.03.2022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FF8A664-9FAF-41A2-A4DE-F8461029C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0C9954A-99B6-4EE7-89DD-ACB4228EB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BF9F6-BBB9-4918-942C-4885DB87EC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4751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E51454-CA2E-4079-B8D2-5C9F46E0A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CA23171-133B-45C4-976A-A8CB4BA7F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4A39A-E6EB-421E-AC5E-E1ED8C122622}" type="datetimeFigureOut">
              <a:rPr lang="ru-RU" smtClean="0"/>
              <a:t>13.03.2022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804A3C5-EA38-45B2-9CB4-2AE1A0AD4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18A1B9D-B42F-4DFB-A925-03490B301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BF9F6-BBB9-4918-942C-4885DB87EC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33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70723E4-C3E3-4802-B878-C43903AC6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4A39A-E6EB-421E-AC5E-E1ED8C122622}" type="datetimeFigureOut">
              <a:rPr lang="ru-RU" smtClean="0"/>
              <a:t>13.03.2022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7E38BD9-C80E-4084-B29A-56748C3E2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88F8A80-AE1E-471A-A4B0-EDC68B3F1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BF9F6-BBB9-4918-942C-4885DB87EC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0800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419804-F923-4C26-923F-38EA1C14C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EE72C8-FB63-47C9-A553-0F2444003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83653FE-28D9-4E7E-8477-842995CD5F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B786C80-6B68-48F8-A7B0-D309F9527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4A39A-E6EB-421E-AC5E-E1ED8C122622}" type="datetimeFigureOut">
              <a:rPr lang="ru-RU" smtClean="0"/>
              <a:t>13.03.2022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1542CC1-0186-41FC-B2BC-891951333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539471D-EE5B-4217-B4E0-2289F8E8D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BF9F6-BBB9-4918-942C-4885DB87EC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9117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D86A8B-25C6-4259-A1BA-FFDE46905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976928B-A4A5-491F-9689-8B308B0848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94EDC20-D43C-4A38-99DD-D357BEFCB8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435BDBD-C9B2-43CF-9B79-0B74A1F63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4A39A-E6EB-421E-AC5E-E1ED8C122622}" type="datetimeFigureOut">
              <a:rPr lang="ru-RU" smtClean="0"/>
              <a:t>13.03.2022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4DFD034-BA13-4C46-9E89-40229324A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6C9D66C-55F3-42AE-A599-A1744B127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BF9F6-BBB9-4918-942C-4885DB87EC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0404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0C8782-AF8D-4807-ACE9-86B4E6DB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4788204-B033-4510-95B8-F287587CB3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07B4072-FC69-4481-B432-FB775F7EF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4A39A-E6EB-421E-AC5E-E1ED8C122622}" type="datetimeFigureOut">
              <a:rPr lang="ru-RU" smtClean="0"/>
              <a:t>13.03.2022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EFA92C7-AD24-4AAE-82DE-9A1143F0C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779DE8-62DD-4503-BD51-3658F8910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BF9F6-BBB9-4918-942C-4885DB87EC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2071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79AB863-E04D-47BB-B912-EAFE5529A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83DAA69-C3FD-41BE-9D67-F58583C0DE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FBD884-59F7-496E-A74F-F7A74C4A9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4A39A-E6EB-421E-AC5E-E1ED8C122622}" type="datetimeFigureOut">
              <a:rPr lang="ru-RU" smtClean="0"/>
              <a:t>13.03.2022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0C615C-E0FF-485F-AFC6-876DA9BE0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4FAE194-F4DD-49F0-996F-90DAFCFF6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BF9F6-BBB9-4918-942C-4885DB87EC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9000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0CA5DE-2D6D-4717-859C-334B0ADFE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CFB0467-442B-406B-ACE5-2A8E17868C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DEB0E0-A9CE-477D-9CB1-7C4C7E50DF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D4A39A-E6EB-421E-AC5E-E1ED8C122622}" type="datetimeFigureOut">
              <a:rPr lang="ru-RU" smtClean="0"/>
              <a:t>13.03.2022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2575CC-1048-43D9-9607-37B9C1D6CA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B3C238A-AD1A-4E6E-BBFE-C8D341AA5C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BBF9F6-BBB9-4918-942C-4885DB87EC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0981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4F7B17-2C90-4C9F-ABD4-D2F8E0ABDD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709" y="1722267"/>
            <a:ext cx="11496582" cy="2290439"/>
          </a:xfrm>
        </p:spPr>
        <p:txBody>
          <a:bodyPr>
            <a:noAutofit/>
          </a:bodyPr>
          <a:lstStyle/>
          <a:p>
            <a:r>
              <a:rPr lang="ru-RU" sz="8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 программ с массивами</a:t>
            </a:r>
          </a:p>
        </p:txBody>
      </p:sp>
    </p:spTree>
    <p:extLst>
      <p:ext uri="{BB962C8B-B14F-4D97-AF65-F5344CB8AC3E}">
        <p14:creationId xmlns:p14="http://schemas.microsoft.com/office/powerpoint/2010/main" val="3098705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8C2F7B-BBDD-4825-ACF4-DC6886635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816246"/>
          </a:xfrm>
        </p:spPr>
        <p:txBody>
          <a:bodyPr/>
          <a:lstStyle/>
          <a:p>
            <a:pPr algn="ctr"/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События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496053-1DD2-404A-92E1-8F29656F5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011" y="1251752"/>
            <a:ext cx="11975977" cy="5131292"/>
          </a:xfrm>
        </p:spPr>
        <p:txBody>
          <a:bodyPr>
            <a:normAutofit lnSpcReduction="10000"/>
          </a:bodyPr>
          <a:lstStyle/>
          <a:p>
            <a:pPr indent="0" algn="just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Обычно, чтобы приложение с графическим интерфейсом что-то делало, должны происходить те или иные события, чаще всего представляющие собой воздействие человека на элементы 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GUI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Можно выделить три основных типа событий: производимые мышью, нажатиями клавиш на клавиатуре, а также события, возникающие в результате изменения свойств компонентов. Нередко обрабатываются сочетания. Например, клик мышью с зажатой клавишей на клавиатуре.</a:t>
            </a:r>
            <a:endParaRPr lang="ru-RU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События, которыми мы будем чаще всего пользоваться, относятся к первой и второй группам. У мыши – это чаще всего </a:t>
            </a:r>
          </a:p>
          <a:p>
            <a:pPr indent="252095" algn="just"/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MouseDown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indent="252095" algn="just"/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MouseUp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</a:p>
          <a:p>
            <a:pPr indent="252095" algn="just"/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MouseMove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54312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59CB0A-1942-4853-B7BE-1B41B62D7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85925"/>
          </a:xfrm>
        </p:spPr>
        <p:txBody>
          <a:bodyPr>
            <a:normAutofit fontScale="90000"/>
          </a:bodyPr>
          <a:lstStyle/>
          <a:p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События. </a:t>
            </a:r>
            <a:r>
              <a:rPr lang="ru-RU" sz="44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Пример - Рисунки на форме. </a:t>
            </a:r>
            <a:endParaRPr lang="ru-RU" b="1" i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A1B88B-34A4-45A4-B278-842EE24E6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10214"/>
            <a:ext cx="5950998" cy="6063447"/>
          </a:xfrm>
          <a:ln w="19050">
            <a:solidFill>
              <a:schemeClr val="tx1"/>
            </a:solidFill>
          </a:ln>
        </p:spPr>
        <p:txBody>
          <a:bodyPr>
            <a:normAutofit fontScale="85000" lnSpcReduction="10000"/>
          </a:bodyPr>
          <a:lstStyle/>
          <a:p>
            <a:pPr indent="0" algn="just">
              <a:buNone/>
            </a:pPr>
            <a:r>
              <a:rPr lang="ru-RU" sz="2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 нажатию левой кнопки мыши на форме ставится один рисунок, по нажатию правой кнопки – другой.</a:t>
            </a:r>
            <a:endParaRPr lang="ru-RU" sz="23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21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namespace</a:t>
            </a:r>
            <a:r>
              <a:rPr lang="ru-RU" sz="2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Рисунок_по_щелчку_мыши</a:t>
            </a:r>
            <a:endParaRPr lang="ru-RU" sz="21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2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21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2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 partial class Form1 : Form</a:t>
            </a:r>
            <a:endParaRPr lang="ru-RU" sz="21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2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  <a:endParaRPr lang="ru-RU" sz="21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2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private Image Bit1, Bit2;      </a:t>
            </a:r>
            <a:r>
              <a:rPr lang="en-US" sz="21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21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Два рисунка</a:t>
            </a:r>
            <a:endParaRPr lang="ru-RU" sz="2100" b="1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2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Graphics g;</a:t>
            </a:r>
            <a:endParaRPr lang="ru-RU" sz="21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2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int x, y;</a:t>
            </a:r>
            <a:endParaRPr lang="ru-RU" sz="21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2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int w = 50, h=50;</a:t>
            </a:r>
            <a:endParaRPr lang="ru-RU" sz="21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2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 Form1()</a:t>
            </a:r>
            <a:endParaRPr lang="ru-RU" sz="21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2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  <a:endParaRPr lang="ru-RU" sz="21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2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1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InitializeComponent</a:t>
            </a:r>
            <a:r>
              <a:rPr lang="en-US" sz="2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ru-RU" sz="21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2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g = </a:t>
            </a:r>
            <a:r>
              <a:rPr lang="en-US" sz="21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this.CreateGraphics</a:t>
            </a:r>
            <a:r>
              <a:rPr lang="en-US" sz="2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ru-RU" sz="21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21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2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Bit</a:t>
            </a:r>
            <a:r>
              <a:rPr lang="ru-RU" sz="2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 = </a:t>
            </a:r>
            <a:r>
              <a:rPr lang="en-US" sz="2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new Bitmap</a:t>
            </a:r>
            <a:r>
              <a:rPr lang="ru-RU" sz="2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9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ru-RU" sz="19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:/Базовый проект/</a:t>
            </a:r>
            <a:r>
              <a:rPr lang="en-US" sz="19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apple</a:t>
            </a:r>
            <a:r>
              <a:rPr lang="ru-RU" sz="19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9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png</a:t>
            </a:r>
            <a:r>
              <a:rPr lang="ru-RU" sz="2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");</a:t>
            </a:r>
            <a:endParaRPr lang="ru-RU" sz="21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ru-RU" sz="2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2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Bit</a:t>
            </a:r>
            <a:r>
              <a:rPr lang="ru-RU" sz="2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 = </a:t>
            </a:r>
            <a:r>
              <a:rPr lang="en-US" sz="2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new Bitmap</a:t>
            </a:r>
            <a:r>
              <a:rPr lang="ru-RU" sz="2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9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ru-RU" sz="19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:/Базовый проект/заяц.</a:t>
            </a:r>
            <a:r>
              <a:rPr lang="en-US" sz="19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png</a:t>
            </a:r>
            <a:r>
              <a:rPr lang="ru-RU" sz="2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");</a:t>
            </a:r>
            <a:endParaRPr lang="ru-RU" sz="21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2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}</a:t>
            </a:r>
            <a:endParaRPr lang="ru-RU" sz="21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E138DE-4DD8-4E14-9473-A18FAA730132}"/>
              </a:ext>
            </a:extLst>
          </p:cNvPr>
          <p:cNvSpPr txBox="1"/>
          <p:nvPr/>
        </p:nvSpPr>
        <p:spPr>
          <a:xfrm>
            <a:off x="6096000" y="787282"/>
            <a:ext cx="5950998" cy="590931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indent="252095" algn="just"/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private void Form1_MouseDown(object sender,</a:t>
            </a:r>
          </a:p>
          <a:p>
            <a:pPr indent="252095" algn="just"/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MouseEventArgs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e)</a:t>
            </a:r>
            <a:endParaRPr lang="ru-RU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252095" algn="just"/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52095"/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</a:t>
            </a:r>
            <a:r>
              <a:rPr lang="ru-RU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en-US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Возвращает координаты мыши в момент</a:t>
            </a:r>
            <a:endParaRPr lang="en-US" b="1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52095"/>
            <a:r>
              <a:rPr lang="en-US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// </a:t>
            </a:r>
            <a:r>
              <a:rPr lang="ru-RU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события</a:t>
            </a:r>
            <a:r>
              <a:rPr lang="en-US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(нажатие кнопки мыши)</a:t>
            </a:r>
            <a:endParaRPr lang="ru-RU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252095" algn="just"/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x = </a:t>
            </a:r>
            <a:r>
              <a:rPr lang="ru-RU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e.X</a:t>
            </a: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52095" algn="just"/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y</a:t>
            </a: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252095" algn="just"/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if</a:t>
            </a: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Button</a:t>
            </a: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MouseButtons</a:t>
            </a: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Left</a:t>
            </a: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indent="252095" algn="just"/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</a:t>
            </a:r>
            <a:r>
              <a:rPr lang="ru-RU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Определяет какая кнопка нажата</a:t>
            </a:r>
            <a:endParaRPr lang="ru-RU" b="1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252095" algn="just"/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                  </a:t>
            </a:r>
          </a:p>
          <a:p>
            <a:pPr indent="252095" algn="just"/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</a:t>
            </a:r>
            <a:r>
              <a:rPr lang="ru-RU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Если левая, то первый рисунок</a:t>
            </a:r>
            <a:endParaRPr lang="ru-RU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252095" algn="just"/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DrawImage</a:t>
            </a: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Bit</a:t>
            </a: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1,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</a:t>
            </a:r>
            <a:endParaRPr lang="ru-RU" b="1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252095" algn="just"/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}</a:t>
            </a:r>
            <a:endParaRPr lang="ru-RU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252095" algn="just"/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endParaRPr lang="ru-RU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252095" algn="just"/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{</a:t>
            </a:r>
            <a:endParaRPr lang="en-US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52095" algn="just"/>
            <a:r>
              <a:rPr lang="en-US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</a:t>
            </a:r>
            <a:r>
              <a:rPr lang="ru-RU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Иначе – второй</a:t>
            </a:r>
            <a:r>
              <a:rPr lang="en-US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рисунок.</a:t>
            </a:r>
            <a:endParaRPr lang="ru-RU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252095" algn="just"/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DrawImage</a:t>
            </a: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Bit</a:t>
            </a: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2,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52095" algn="just"/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} </a:t>
            </a:r>
            <a:endParaRPr lang="ru-RU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252095" algn="just"/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pPr indent="252095" algn="just"/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252095" algn="just"/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209005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7A7E3C-F6C1-4CC5-96CD-DB2D5D93A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843" y="35512"/>
            <a:ext cx="10515600" cy="426127"/>
          </a:xfrm>
        </p:spPr>
        <p:txBody>
          <a:bodyPr>
            <a:normAutofit fontScale="90000"/>
          </a:bodyPr>
          <a:lstStyle/>
          <a:p>
            <a:pPr indent="252095" algn="ctr"/>
            <a:r>
              <a:rPr lang="ru-RU" sz="44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Функция проверки</a:t>
            </a:r>
            <a:endParaRPr lang="ru-RU" i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672D24-F632-4B87-B8A7-27CEEF4AF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461639"/>
            <a:ext cx="11825055" cy="639636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Во многих игровых проектах необходимо проверять, попала ли точка чувствительности мыши в заданную область. В случае попадания в программе что-то происходит, а в случае попадания вне области – нет реакции. Такой заданной областью может быть квадрат, прямоугольник, круг или что-то еще. Рассмотрим, как проверить, попала или не попала мышь в прямоугольник со сторонами а и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Пример 2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Напишем функцию проверки, определяющую попадание мыши в прямоугольник со сторонами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indent="0" algn="just"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Пусть левый верхний угол прямоугольника имеет координаты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0,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0, 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 стороны прямоугольника равны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Пусть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х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 координаты точки чувствительности мыши. При попадании в прямоугольник должна выполняться система математических неравенств</a:t>
            </a: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 &lt;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&lt;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 +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 &lt;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&lt;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 +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ru-RU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Э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 система равносильна следующей системе</a:t>
            </a: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(x – x0)(x – x0 – a) &lt; 0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(y – y0)(y – y0 – b) &lt; 0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ru-RU" sz="1800" b="1" i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Функция проверки имеет вид :</a:t>
            </a: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private bool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proverka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 x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 y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  </a:t>
            </a:r>
            <a:r>
              <a:rPr lang="ru-RU" sz="1800" b="1" dirty="0">
                <a:solidFill>
                  <a:srgbClr val="008000"/>
                </a:solidFill>
                <a:effectLst/>
                <a:latin typeface="Cascadia Mono"/>
                <a:ea typeface="Calibri" panose="020F0502020204030204" pitchFamily="34" charset="0"/>
                <a:cs typeface="Cascadia Mono"/>
              </a:rPr>
              <a:t>// Проверяем, где кликнули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  bool b=false;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if  ((x – x0)*(x – x0 – a) &lt; 0 &amp;&amp; (y – y0)*(y – y0 – b) &lt; 0)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b=true;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return b;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800" dirty="0"/>
          </a:p>
        </p:txBody>
      </p:sp>
      <p:sp>
        <p:nvSpPr>
          <p:cNvPr id="4" name="Левая фигурная скобка 3">
            <a:extLst>
              <a:ext uri="{FF2B5EF4-FFF2-40B4-BE49-F238E27FC236}">
                <a16:creationId xmlns:a16="http://schemas.microsoft.com/office/drawing/2014/main" id="{4672E5AF-7DFE-4F5D-9A69-C5F9EE79E78B}"/>
              </a:ext>
            </a:extLst>
          </p:cNvPr>
          <p:cNvSpPr>
            <a:spLocks/>
          </p:cNvSpPr>
          <p:nvPr/>
        </p:nvSpPr>
        <p:spPr>
          <a:xfrm>
            <a:off x="75457" y="2738762"/>
            <a:ext cx="316637" cy="790112"/>
          </a:xfrm>
          <a:prstGeom prst="leftBrace">
            <a:avLst>
              <a:gd name="adj1" fmla="val 0"/>
              <a:gd name="adj2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Левая фигурная скобка 8">
            <a:extLst>
              <a:ext uri="{FF2B5EF4-FFF2-40B4-BE49-F238E27FC236}">
                <a16:creationId xmlns:a16="http://schemas.microsoft.com/office/drawing/2014/main" id="{3264A3B9-5A4A-496A-9564-803522A77C32}"/>
              </a:ext>
            </a:extLst>
          </p:cNvPr>
          <p:cNvSpPr>
            <a:spLocks/>
          </p:cNvSpPr>
          <p:nvPr/>
        </p:nvSpPr>
        <p:spPr>
          <a:xfrm>
            <a:off x="73979" y="3897295"/>
            <a:ext cx="316637" cy="790112"/>
          </a:xfrm>
          <a:prstGeom prst="leftBrace">
            <a:avLst>
              <a:gd name="adj1" fmla="val 0"/>
              <a:gd name="adj2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9FE7FE5-92E7-418D-BA17-3BC07400C8D2}"/>
              </a:ext>
            </a:extLst>
          </p:cNvPr>
          <p:cNvSpPr>
            <a:spLocks/>
          </p:cNvSpPr>
          <p:nvPr/>
        </p:nvSpPr>
        <p:spPr>
          <a:xfrm>
            <a:off x="8169617" y="3311371"/>
            <a:ext cx="2448076" cy="1134937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Надпись 17">
            <a:extLst>
              <a:ext uri="{FF2B5EF4-FFF2-40B4-BE49-F238E27FC236}">
                <a16:creationId xmlns:a16="http://schemas.microsoft.com/office/drawing/2014/main" id="{58A1984C-7E5B-4650-9259-DE2B0408FEEC}"/>
              </a:ext>
            </a:extLst>
          </p:cNvPr>
          <p:cNvSpPr txBox="1">
            <a:spLocks/>
          </p:cNvSpPr>
          <p:nvPr/>
        </p:nvSpPr>
        <p:spPr>
          <a:xfrm>
            <a:off x="7481597" y="2916315"/>
            <a:ext cx="1376039" cy="435006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indent="252095"/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(x0; y0)</a:t>
            </a:r>
            <a:endParaRPr lang="ru-RU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Надпись 12">
            <a:extLst>
              <a:ext uri="{FF2B5EF4-FFF2-40B4-BE49-F238E27FC236}">
                <a16:creationId xmlns:a16="http://schemas.microsoft.com/office/drawing/2014/main" id="{93FF5EEB-B37A-4882-99B9-7DC318A67A32}"/>
              </a:ext>
            </a:extLst>
          </p:cNvPr>
          <p:cNvSpPr txBox="1">
            <a:spLocks/>
          </p:cNvSpPr>
          <p:nvPr/>
        </p:nvSpPr>
        <p:spPr>
          <a:xfrm>
            <a:off x="9601199" y="4452056"/>
            <a:ext cx="2032987" cy="470701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indent="252095"/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(x0+a; y0+b)</a:t>
            </a:r>
            <a:endParaRPr lang="ru-RU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CA7B0E-F0D3-42E7-B736-173256998FDD}"/>
              </a:ext>
            </a:extLst>
          </p:cNvPr>
          <p:cNvSpPr txBox="1"/>
          <p:nvPr/>
        </p:nvSpPr>
        <p:spPr>
          <a:xfrm>
            <a:off x="7342742" y="5504103"/>
            <a:ext cx="4516914" cy="92333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b="1" i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Функция проверки возвращает :</a:t>
            </a:r>
          </a:p>
          <a:p>
            <a:r>
              <a:rPr lang="en-US" b="1" i="1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true</a:t>
            </a:r>
            <a:r>
              <a:rPr lang="ru-RU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если мышь попала в прямоугольник, </a:t>
            </a:r>
          </a:p>
          <a:p>
            <a:r>
              <a:rPr lang="ru-RU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и </a:t>
            </a:r>
            <a:r>
              <a:rPr lang="en-US" b="1" i="1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false</a:t>
            </a:r>
            <a:r>
              <a:rPr lang="en-US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в противном случае</a:t>
            </a:r>
            <a:endParaRPr lang="ru-RU" b="1" i="1" dirty="0"/>
          </a:p>
        </p:txBody>
      </p:sp>
    </p:spTree>
    <p:extLst>
      <p:ext uri="{BB962C8B-B14F-4D97-AF65-F5344CB8AC3E}">
        <p14:creationId xmlns:p14="http://schemas.microsoft.com/office/powerpoint/2010/main" val="719419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625958-0B2F-4F99-9E93-B2B522E78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774"/>
            <a:ext cx="10515600" cy="653263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Пример. </a:t>
            </a:r>
            <a:r>
              <a:rPr lang="ru-RU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Белые клетки.</a:t>
            </a:r>
            <a:endParaRPr lang="ru-RU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D5625F-7B3E-4EE9-B791-7E52195E4F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287" y="807868"/>
            <a:ext cx="11904956" cy="595691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Рассмотрим подробно пример, в котором на форме нарисован разноцветный коврик. Мышью кликаем на любую клетку, и она перекрашивается в белый цвет.</a:t>
            </a:r>
          </a:p>
          <a:p>
            <a:pPr marL="0" indent="0"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Пусть разноцветный коврик будет размером 5 х 5. Зададим цвета с помощью константного массива, пусть будет всего 8 цветов:</a:t>
            </a:r>
          </a:p>
          <a:p>
            <a:pPr marL="0"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Color[]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mas_col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{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Color.Teal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Color.Pink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Color.Magenta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Color.Blue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Color.Coral,Color.LightGreen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Color.Yellow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Color.Cyan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};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Пусть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номер строки коврика, а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 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номер столбца.  Полезно написать функцию </a:t>
            </a:r>
          </a:p>
          <a:p>
            <a:pPr indent="0" algn="just">
              <a:buNone/>
            </a:pP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Kletka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для закрашивания клетки с номером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indent="0" algn="just"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Но сначала сделаем глобальные описания.</a:t>
            </a:r>
          </a:p>
          <a:p>
            <a:pPr indent="0"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const int x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 = 10;   </a:t>
            </a: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// Такое описание задает константу.</a:t>
            </a:r>
          </a:p>
          <a:p>
            <a:pPr indent="0">
              <a:buNone/>
            </a:pP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const int y0 = 10;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const int n = 5;  </a:t>
            </a:r>
            <a:r>
              <a:rPr lang="en-US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// </a:t>
            </a: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Размер массива</a:t>
            </a: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const int h = 40;  </a:t>
            </a:r>
            <a:r>
              <a:rPr lang="en-US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// </a:t>
            </a: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Размер клеточки</a:t>
            </a: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Random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rnd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new Random();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Graphics gr;       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SolidBrush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br1 = new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SolidBrush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Color.White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Pen Pen1 = new Pen(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Color.Black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1);    </a:t>
            </a:r>
            <a:r>
              <a:rPr lang="en-US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// </a:t>
            </a: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для контура квадратика</a:t>
            </a:r>
            <a:r>
              <a:rPr lang="en-US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endParaRPr lang="ru-RU" sz="1800" b="1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2885756-3C74-43B7-B16B-D8CBB558BC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8316" y="1205730"/>
            <a:ext cx="3135516" cy="3463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146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50270B-95DE-436A-9CCA-7D3DC90FD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085" y="18256"/>
            <a:ext cx="11069715" cy="523282"/>
          </a:xfrm>
        </p:spPr>
        <p:txBody>
          <a:bodyPr>
            <a:normAutofit fontScale="90000"/>
          </a:bodyPr>
          <a:lstStyle/>
          <a:p>
            <a:pPr algn="ctr"/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Пример. </a:t>
            </a:r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Белые клетки.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81F873-D209-4E4D-928C-9990AD009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03682"/>
            <a:ext cx="12109142" cy="6161102"/>
          </a:xfrm>
        </p:spPr>
        <p:txBody>
          <a:bodyPr>
            <a:normAutofit fontScale="92500" lnSpcReduction="20000"/>
          </a:bodyPr>
          <a:lstStyle/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public void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kletka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(int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int k, Color col)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{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int x, y;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br1.Color = col;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x = x0 + k * h;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y = y0 +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* h;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gr.FillRectangle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(br1, x, y, h, h);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// </a:t>
            </a:r>
            <a:r>
              <a:rPr lang="en-US" sz="1800" b="1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Красим</a:t>
            </a:r>
            <a:r>
              <a:rPr lang="en-US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клетку</a:t>
            </a:r>
            <a:endParaRPr lang="ru-RU" sz="1800" b="1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gr.DrawRectangle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(Pen1, x, y, h, h);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}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public void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kovrik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(int x0, int y0)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{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int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j, k;            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for (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0;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&lt; n;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++)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for (j = 0; j &lt; n;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j++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{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k=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rnd.Next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(0, 8);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kletka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j,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mas_col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[k]);                   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</a:p>
          <a:p>
            <a:pPr indent="0">
              <a:buNone/>
            </a:pP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}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44160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1D4F4D-E8BA-4EEA-B9E9-DD87ED5FC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398995"/>
          </a:xfrm>
        </p:spPr>
        <p:txBody>
          <a:bodyPr>
            <a:normAutofit fontScale="90000"/>
          </a:bodyPr>
          <a:lstStyle/>
          <a:p>
            <a:pPr algn="ctr"/>
            <a:r>
              <a:rPr kumimoji="0" lang="ru-RU" sz="3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Пример. </a:t>
            </a:r>
            <a:r>
              <a:rPr kumimoji="0" lang="ru-RU" sz="3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Белые клетки.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E1BC71-EC5F-4AF2-88A1-7B9A1D2D88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5512" y="479394"/>
            <a:ext cx="12153531" cy="6378607"/>
          </a:xfrm>
        </p:spPr>
        <p:txBody>
          <a:bodyPr>
            <a:normAutofit fontScale="92500" lnSpcReduction="20000"/>
          </a:bodyPr>
          <a:lstStyle/>
          <a:p>
            <a:pPr indent="0"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событии мыши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MouseDown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надо определить номер клетки, по которой кликнули, и перекрасить ее в белый цвет.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private void Form1_MouseDown(object sender,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MouseEventArgs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e)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  x = </a:t>
            </a:r>
            <a:r>
              <a:rPr lang="ru-RU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e.X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indent="0">
              <a:buNone/>
            </a:pP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y = </a:t>
            </a:r>
            <a:r>
              <a:rPr lang="ru-RU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e.Y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indent="0">
              <a:buNone/>
            </a:pPr>
            <a:r>
              <a:rPr lang="en-US" sz="1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}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/*Возвращает координаты мыши в момент события (нажатие кнопки мыши). Прежде чем определить номер клетки, надо проверить, куда вы кликнули. Вы могли кликнуть вне коврика, при этом никакой реакции не должно быть. Значит, координаты х, у точки чувствительности мыши должны удовлетворять неравенствам</a:t>
            </a:r>
            <a:r>
              <a:rPr lang="en-US" sz="1800" b="1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х0 &lt;= </a:t>
            </a:r>
            <a:r>
              <a:rPr lang="en-US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&lt;= </a:t>
            </a:r>
            <a:r>
              <a:rPr lang="en-US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 + </a:t>
            </a:r>
            <a:r>
              <a:rPr lang="en-US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*</a:t>
            </a:r>
            <a:r>
              <a:rPr lang="en-US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     </a:t>
            </a: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</a:t>
            </a:r>
          </a:p>
          <a:p>
            <a:pPr indent="0">
              <a:buNone/>
            </a:pPr>
            <a:r>
              <a:rPr lang="en-US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          </a:t>
            </a: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у0 &lt;= у &lt;= у0 + </a:t>
            </a:r>
            <a:r>
              <a:rPr lang="en-US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*</a:t>
            </a:r>
            <a:r>
              <a:rPr lang="en-US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endParaRPr lang="ru-RU" sz="1800" b="1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Затем определим номер клетки [</a:t>
            </a:r>
            <a:r>
              <a:rPr lang="en-US" sz="1800" b="1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</a:t>
            </a: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 из формул</a:t>
            </a:r>
            <a:r>
              <a:rPr lang="en-US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	</a:t>
            </a: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 + </a:t>
            </a:r>
            <a:r>
              <a:rPr lang="en-US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</a:t>
            </a: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* </a:t>
            </a:r>
            <a:r>
              <a:rPr lang="en-US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 </a:t>
            </a:r>
          </a:p>
          <a:p>
            <a:pPr indent="0">
              <a:buNone/>
            </a:pPr>
            <a:r>
              <a:rPr lang="en-US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			                  y</a:t>
            </a: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 + </a:t>
            </a:r>
            <a:r>
              <a:rPr lang="en-US" sz="1800" b="1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* </a:t>
            </a:r>
            <a:r>
              <a:rPr lang="en-US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indent="0">
              <a:buNone/>
            </a:pP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Найдем </a:t>
            </a:r>
            <a:r>
              <a:rPr lang="en-US" sz="1800" b="1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 </a:t>
            </a:r>
            <a:r>
              <a:rPr lang="en-US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 </a:t>
            </a: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 формулам:</a:t>
            </a:r>
            <a:r>
              <a:rPr lang="en-US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800" b="1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1800" b="1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(</a:t>
            </a:r>
            <a:r>
              <a:rPr lang="en-US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</a:t>
            </a:r>
            <a:r>
              <a:rPr lang="en-US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0) / </a:t>
            </a:r>
            <a:r>
              <a:rPr lang="en-US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indent="0">
              <a:buNone/>
            </a:pP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</a:t>
            </a:r>
            <a:r>
              <a:rPr lang="en-US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	                 j</a:t>
            </a: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(</a:t>
            </a:r>
            <a:r>
              <a:rPr lang="en-US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</a:t>
            </a:r>
            <a:r>
              <a:rPr lang="en-US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0) / </a:t>
            </a:r>
            <a:r>
              <a:rPr lang="en-US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r>
              <a:rPr lang="en-US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*/</a:t>
            </a:r>
          </a:p>
          <a:p>
            <a:pPr indent="0">
              <a:buNone/>
            </a:pPr>
            <a:r>
              <a:rPr lang="ru-RU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// Проверим, кликнули ли на поле</a:t>
            </a:r>
          </a:p>
          <a:p>
            <a:pPr indent="0">
              <a:buNone/>
            </a:pP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if ((x - x0) * (x - x0 - n * h) &lt;= 0 &amp;&amp; (y - y0) * (y - y0 - n * h) &lt;= 0)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{   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(y - y0) / h;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j = (x - x0) / h;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kletka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j,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Color.White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); </a:t>
            </a:r>
            <a:endParaRPr lang="ru-RU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</a:p>
          <a:p>
            <a:pPr indent="0">
              <a:buNone/>
            </a:pP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                       </a:t>
            </a:r>
          </a:p>
          <a:p>
            <a:pPr indent="0">
              <a:buNone/>
            </a:pP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приведенном коде не использована функция проверки.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indent="0">
              <a:buNone/>
            </a:pPr>
            <a:endParaRPr lang="ru-RU" sz="18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320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06920C-4369-44F9-A5E2-40F845919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40"/>
            <a:ext cx="10515600" cy="421689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Задания.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CB359D-1D90-460C-9BDF-0E28403D79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21" y="559295"/>
            <a:ext cx="11975977" cy="620549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000" b="1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Задание</a:t>
            </a:r>
            <a:r>
              <a:rPr lang="en-US" sz="2000" b="1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b="1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1.«Мишень». 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 форме в случайном месте рисуется небольшой кружок. При нажатии на кнопку «Пуск» запускается таймер, при этом играющий должен попасть мышью в кружок заданного радиуса и произвольного цвета. Число попаданий и число выстрелов подсчитываются. Игра продолжается до 10 выстрелов.  </a:t>
            </a:r>
          </a:p>
          <a:p>
            <a:pPr marL="0" indent="0">
              <a:buNone/>
            </a:pPr>
            <a:r>
              <a:rPr lang="ru-RU" sz="2000" b="1" i="1" dirty="0"/>
              <a:t>Задание 2. «Белые клетки». </a:t>
            </a:r>
            <a:r>
              <a:rPr lang="ru-RU" sz="2000" dirty="0"/>
              <a:t>Нарисуйте на форме разноцветный коврик размером 5 х 5. Мышью кликаем на любую клетку, и она перекрашивается в белый цвет. Используйте функцию проверки.</a:t>
            </a:r>
          </a:p>
          <a:p>
            <a:pPr marL="0" indent="0">
              <a:buNone/>
            </a:pPr>
            <a:r>
              <a:rPr lang="ru-RU" sz="2000" b="1" i="1" dirty="0"/>
              <a:t>Задание 3. Мозаика. </a:t>
            </a:r>
            <a:r>
              <a:rPr lang="ru-RU" sz="2000" dirty="0"/>
              <a:t>Заполните массив </a:t>
            </a:r>
            <a:r>
              <a:rPr lang="ru-RU" sz="2000" b="1" dirty="0" err="1"/>
              <a:t>pole</a:t>
            </a:r>
            <a:r>
              <a:rPr lang="ru-RU" sz="2000" dirty="0"/>
              <a:t> как в задаче из предыдущего занятия. Пять единиц, пять двоек, …, пять пятерок, все стоят на случайных местах (zapoln3). Задайте пять цветов по выбору, например так:</a:t>
            </a:r>
            <a:r>
              <a:rPr lang="ru-RU" sz="2000" b="1" dirty="0"/>
              <a:t>	Color[] </a:t>
            </a:r>
            <a:r>
              <a:rPr lang="ru-RU" sz="2000" b="1" dirty="0" err="1"/>
              <a:t>mas_col</a:t>
            </a:r>
            <a:r>
              <a:rPr lang="ru-RU" sz="2000" b="1" dirty="0"/>
              <a:t> = {</a:t>
            </a:r>
            <a:r>
              <a:rPr lang="ru-RU" sz="2000" b="1" dirty="0" err="1"/>
              <a:t>Color.Magenta</a:t>
            </a:r>
            <a:r>
              <a:rPr lang="ru-RU" sz="2000" b="1" dirty="0"/>
              <a:t>, </a:t>
            </a:r>
            <a:r>
              <a:rPr lang="ru-RU" sz="2000" b="1" dirty="0" err="1"/>
              <a:t>Color.Blue</a:t>
            </a:r>
            <a:r>
              <a:rPr lang="ru-RU" sz="2000" b="1" dirty="0"/>
              <a:t>, </a:t>
            </a:r>
            <a:r>
              <a:rPr lang="ru-RU" sz="2000" b="1" dirty="0" err="1"/>
              <a:t>Color.LightGreen</a:t>
            </a:r>
            <a:r>
              <a:rPr lang="ru-RU" sz="2000" b="1" dirty="0"/>
              <a:t>, </a:t>
            </a:r>
            <a:r>
              <a:rPr lang="ru-RU" sz="2000" b="1" dirty="0" err="1"/>
              <a:t>Color.Yellow</a:t>
            </a:r>
            <a:r>
              <a:rPr lang="ru-RU" sz="2000" b="1" dirty="0"/>
              <a:t>, </a:t>
            </a:r>
            <a:r>
              <a:rPr lang="ru-RU" sz="2000" b="1" dirty="0" err="1"/>
              <a:t>Color.Cyan</a:t>
            </a:r>
            <a:r>
              <a:rPr lang="ru-RU" sz="2000" b="1" dirty="0"/>
              <a:t> 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соответствии с заполнением массива нарисуйте коврик.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Надо переставлять квадратики, кликая то на один, то на другой,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 менять их местами (меняться будет только цвет).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Можно собрать какой-нибудь узор, например, как на рисунке: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Задание 4. Мозаика с проверкой. 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Используя задание 3, сложите узор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так, чтобы каждая строка или каждый столбец (по желанию) состояли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из квадратиков одного цвета.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 программа должна проверить, верно ли сложен узор.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Для этого напишите функцию проверки, которая проверяет,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что в каждой строке (или столбце) стоят одинаковые числа.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 кнопке «Проверить» программа должна выдать сообщение,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верно ли сложен узор.</a:t>
            </a:r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CFAC3E4-0652-47A3-9226-77C9D80634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4189" y="3159513"/>
            <a:ext cx="1722269" cy="192172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D2E7ACA-31DE-4789-B013-4AF42DE2A1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8197" y="3149698"/>
            <a:ext cx="1722269" cy="1980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64810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1554</Words>
  <Application>Microsoft Office PowerPoint</Application>
  <PresentationFormat>Широкоэкранный</PresentationFormat>
  <Paragraphs>140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Cascadia Mono</vt:lpstr>
      <vt:lpstr>Times New Roman</vt:lpstr>
      <vt:lpstr>Тема Office</vt:lpstr>
      <vt:lpstr>Примеры программ с массивами</vt:lpstr>
      <vt:lpstr>События</vt:lpstr>
      <vt:lpstr>События. Пример - Рисунки на форме. </vt:lpstr>
      <vt:lpstr>Функция проверки</vt:lpstr>
      <vt:lpstr>Пример. Белые клетки.</vt:lpstr>
      <vt:lpstr>Пример. Белые клетки.</vt:lpstr>
      <vt:lpstr>Пример. Белые клетки.</vt:lpstr>
      <vt:lpstr>Задания.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ЗАНЯТИЕ 5</dc:title>
  <dc:creator>Мария Белякова</dc:creator>
  <cp:lastModifiedBy>Мария Белякова</cp:lastModifiedBy>
  <cp:revision>6</cp:revision>
  <dcterms:created xsi:type="dcterms:W3CDTF">2022-03-12T17:42:15Z</dcterms:created>
  <dcterms:modified xsi:type="dcterms:W3CDTF">2022-03-12T19:49:57Z</dcterms:modified>
</cp:coreProperties>
</file>