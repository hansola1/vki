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0" r:id="rId17"/>
    <p:sldId id="271" r:id="rId18"/>
    <p:sldId id="275" r:id="rId19"/>
    <p:sldId id="277" r:id="rId20"/>
    <p:sldId id="278" r:id="rId21"/>
    <p:sldId id="272" r:id="rId22"/>
    <p:sldId id="273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94660"/>
  </p:normalViewPr>
  <p:slideViewPr>
    <p:cSldViewPr snapToGrid="0">
      <p:cViewPr varScale="1">
        <p:scale>
          <a:sx n="86" d="100"/>
          <a:sy n="86" d="100"/>
        </p:scale>
        <p:origin x="-72" y="-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6AEF9CC-FFF0-4D0F-9BDC-E3D5D3BC8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1C3889A6-E1E7-4574-B9C7-6D0228610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BFDD5075-6A3E-4B36-9F14-B07C532D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01.03.2022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21DC8B7-157A-4174-B613-1F630DEC3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86FB3835-7CA4-4817-9F3F-21DBD57C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2894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DDBAE96-B21D-4E64-895D-77F34AA86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C0C9BCA-8583-4FF1-ADD9-B0F02B81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B2E6B2E7-6111-41DB-B29C-94B98009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01.03.2022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1C3F6A7-5E86-44C3-9B34-7DDFACB8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E641CC2-6DD2-429A-98D0-C21B4871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0919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FBDAEA5-C3D3-4A71-AD6D-41860ECD9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DF1A2D46-C1B6-48C3-8904-35B760653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6750834-CBA0-440A-9B5A-88936D8C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01.03.2022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D455DB59-4FA9-4F14-963B-E234F0205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3F7994B-EFC6-4E03-80B9-1958D390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4264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996BD42-C4B9-4B4B-ACA1-2ACE4F35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85CC642-60AF-4360-A634-667B4D1C9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05EE1B67-E490-4E89-9800-8516C9913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0AE5232-E1F7-4472-92D9-4D1655053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01.03.2022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C075F99C-FDD2-41B0-B969-22DCA1241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8E6A8C9D-3E43-4D99-A9BA-0CF9813B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14912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61AE8CF-9DB1-4ED8-B078-02D4FB248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960615F3-B0D0-4797-8760-5C019BCD4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7D6B3F92-664C-4B58-82C9-0B9CAEC6A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BE5D761B-062C-4398-8DA5-31F7CA914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D294514B-AEB0-4898-9685-64B5AE3BC3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F7407504-5470-4B86-A2D9-D64C0DD0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01.03.2022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325725BB-DDFD-416F-9ECD-0395BAE3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67462591-44DB-476F-8B26-5C7C5EA3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59446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0F87F4A-4493-430D-876E-07D3EBC3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7672BF87-8690-4090-B941-E27814935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01.03.2022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C953C688-ADF7-4787-BE9E-38D603DAF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C2C60642-AE59-4B9F-B661-71E3FA25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82235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B6A32472-4531-4730-AF3D-34CE88A80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01.03.2022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D4206F85-882B-4777-893D-CFA4C702F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DB311E35-BF03-41E7-A16B-9D00E62A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4309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E1AB19F-1A36-4B98-81EE-204261071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05DD735-1E9D-43FA-8261-F2144D07E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13D7CA28-2C71-4610-81FB-0EB9B706E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679AED7F-9BA8-478F-983B-79210A69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01.03.2022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DC4E8AD-F8CA-4795-ACFB-8C135E53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8C35605C-BFAD-40B5-BC0E-8F9E2BED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4440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1D83CCB-9717-427F-A423-F295AA914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09392DDB-DD4F-4F35-9D39-966152204E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E3BE3627-50FC-4A07-9D7B-2310B72F0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0C3EC6D2-DB6A-4258-AC93-30826598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01.03.2022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C3684117-5CDC-4EEC-B7A3-B4CA0AEB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6BAA76DA-B11B-4DF6-A478-6E741303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1392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A2CDCCD-B48B-46C8-B393-42E0F26B7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0FBDD8EF-222B-421F-8380-0997C49FF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FA79810-35F4-4A38-90A0-30C996E7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01.03.2022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75B70E2-E031-4537-999E-143B1DA42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466854C-306B-46A7-8D68-6AB0F7D0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97224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46CC533C-05B2-4367-BBC9-45F0DDF4A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EE122C2A-2972-48AA-8D28-41935C96B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955779D-A8AB-4ABB-BF87-789587303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01.03.2022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5EADE43-AEE0-4FD1-9560-82CB6E637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3FD045BF-8E78-4E03-8D53-763D35A22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0359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753DFAD-1F6E-4CBC-9F27-672BCD63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1D2AAA7-97EC-4E8B-A013-DC18FCCE7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BC3A726C-9814-459B-8BD7-C589CD7CA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E7587-508E-4D0B-B2AB-C87B41C1A3C1}" type="datetimeFigureOut">
              <a:rPr lang="ru-RU" smtClean="0"/>
              <a:pPr/>
              <a:t>01.03.2022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51C0672-33DF-480D-8F05-E1C1B8053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ABCB5C0-0ADF-46E8-AA1B-93D24D196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0425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78B863A-BD71-46A5-8380-1FB393B7C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452" y="1491449"/>
            <a:ext cx="11240814" cy="3410930"/>
          </a:xfrm>
        </p:spPr>
        <p:txBody>
          <a:bodyPr>
            <a:noAutofit/>
          </a:bodyPr>
          <a:lstStyle/>
          <a:p>
            <a:r>
              <a:rPr lang="ru-RU" sz="8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ОДНОМЕРНЫЕ И </a:t>
            </a:r>
            <a:r>
              <a:rPr kumimoji="0" lang="ru-RU" sz="8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ДВУМЕРНЫЕ  МАССИВЫ В </a:t>
            </a:r>
            <a:r>
              <a:rPr lang="ru-RU" sz="8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sz="8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8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8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0495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5DDE05A-C66B-495F-A6A1-AA02079FB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17317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массива в С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BF59976-2041-4883-8475-B0CFA188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5572"/>
            <a:ext cx="12192000" cy="6004173"/>
          </a:xfrm>
        </p:spPr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Вряд ли хоть одну «умную» логическую игру можно запрограммировать без применения массивов. Возьмем хотя бы 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«крестики-нолики», «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змейка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»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три в ряд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»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морской бой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»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тетрис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»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шахматы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»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 т.д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.</a:t>
            </a:r>
            <a:r>
              <a:rPr lang="ru-RU" dirty="0"/>
              <a:t>  В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каждой из этих игр есть игровое поле. Игровое поле это фактически карта, разделенная (как обычные карты) на области. Т.е. эта карта - есть двумерный массив.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# 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массив относится к ссылочным типам данных, то есть располагается в динамической области памяти, поэтому создание массива начинается с выделения памяти под его элементы.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Элементы массива имеют одно и то же имя, а различаются порядковым номером(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индексом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). Это позволяет компактно записывать множество операций с помощью циклов.</a:t>
            </a:r>
          </a:p>
        </p:txBody>
      </p:sp>
    </p:spTree>
    <p:extLst>
      <p:ext uri="{BB962C8B-B14F-4D97-AF65-F5344CB8AC3E}">
        <p14:creationId xmlns:p14="http://schemas.microsoft.com/office/powerpoint/2010/main" xmlns="" val="98462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F48C7A6-599B-4AEF-A780-846AB12E5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75427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одномерного массива в С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5666445-839E-4971-AA72-AB1286EEC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3682"/>
            <a:ext cx="11902966" cy="6146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создания </a:t>
            </a:r>
            <a:r>
              <a:rPr lang="ru-RU" sz="2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одномерного массива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реализуется следующими командами:</a:t>
            </a: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[ ] переменная;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//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объявление массива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переменная =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[размер];  </a:t>
            </a:r>
            <a:r>
              <a:rPr lang="en-US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// </a:t>
            </a:r>
            <a:r>
              <a:rPr lang="ru-RU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выделение памяти под  элементы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Эти два этапа можно объединить и воспользоваться такой командой:</a:t>
            </a: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[ ] переменная =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[размер]; </a:t>
            </a:r>
          </a:p>
          <a:p>
            <a:pPr indent="0" algn="just">
              <a:buNone/>
            </a:pP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</a:t>
            </a:r>
            <a:r>
              <a:rPr lang="en-US" sz="2800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endParaRPr lang="ru-RU" sz="2800" i="1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[]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nums</a:t>
            </a:r>
            <a:r>
              <a:rPr lang="ru-RU" b="1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//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объявление массива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2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nums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n-US" sz="2800" b="1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new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[12];</a:t>
            </a:r>
            <a:r>
              <a:rPr lang="ru-RU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// </a:t>
            </a:r>
            <a:r>
              <a:rPr lang="ru-RU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выделение памяти под  12 элементов </a:t>
            </a:r>
            <a:r>
              <a:rPr lang="ru-RU" sz="2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мас-ва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i="1" dirty="0"/>
              <a:t>или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[]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nums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 </a:t>
            </a:r>
            <a:r>
              <a:rPr lang="en-US" sz="2800" b="1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new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[12];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90860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206893B-8988-4C01-9B5A-AC910CDC9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64613"/>
          </a:xfrm>
        </p:spPr>
        <p:txBody>
          <a:bodyPr>
            <a:normAutofit/>
          </a:bodyPr>
          <a:lstStyle/>
          <a:p>
            <a:pPr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NewRomanPSMT"/>
              </a:rPr>
              <a:t>Инициализация </a:t>
            </a:r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одномерного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ru-RU" sz="4400" b="1" i="1" dirty="0">
                <a:effectLst/>
                <a:latin typeface="Times New Roman" panose="02020603050405020304" pitchFamily="18" charset="0"/>
                <a:ea typeface="TimesNewRomanPSMT"/>
              </a:rPr>
              <a:t>массива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D1C39E2-7F7B-4872-8C58-E77F0A890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90" y="882868"/>
            <a:ext cx="12050110" cy="5956877"/>
          </a:xfrm>
        </p:spPr>
        <p:txBody>
          <a:bodyPr>
            <a:normAutofit lnSpcReduction="10000"/>
          </a:bodyPr>
          <a:lstStyle/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Инициализация массива – это задание элементов массива. Задавать элементы массива можно несколькими способами: вручную, через список значений, в цикле случайным образом или по какой-нибудь формуле и т.д.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1. Вручную с помощью нескольких операторов присваивания: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	</a:t>
            </a:r>
            <a:r>
              <a:rPr lang="ru-RU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temp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[0] = -5; </a:t>
            </a:r>
            <a:r>
              <a:rPr lang="ru-RU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temp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[1] = 4; </a:t>
            </a:r>
            <a:r>
              <a:rPr lang="ru-RU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temp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[2] = 55;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</a:t>
            </a:r>
            <a:r>
              <a:rPr lang="ru-RU" sz="2800" b="1" dirty="0">
                <a:solidFill>
                  <a:srgbClr val="008100"/>
                </a:solidFill>
                <a:effectLst/>
                <a:latin typeface="Times New Roman" panose="02020603050405020304" pitchFamily="18" charset="0"/>
                <a:ea typeface="TimesNewRomanPSMT"/>
              </a:rPr>
              <a:t>//Задаем элементы массива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2. Можем задать список значений сразу при создании массива. </a:t>
            </a:r>
            <a:endParaRPr lang="en-US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NewRomanPSMT"/>
            </a:endParaRPr>
          </a:p>
          <a:p>
            <a:pPr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NewRomanPSMT"/>
              </a:rPr>
              <a:t>	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Общий синтаксис для одномерного массива выглядит так: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</a:rPr>
              <a:t>	</a:t>
            </a:r>
            <a:r>
              <a:rPr lang="ru-RU" sz="2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</a:rPr>
              <a:t>&lt;тип&gt;[ ] &lt;имя массива&gt; = { знач1, знач2, … </a:t>
            </a:r>
            <a:r>
              <a:rPr lang="ru-RU" sz="2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</a:rPr>
              <a:t>значN</a:t>
            </a:r>
            <a:r>
              <a:rPr lang="ru-RU" sz="2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</a:rPr>
              <a:t> }</a:t>
            </a:r>
            <a:r>
              <a:rPr lang="ru-RU" sz="2800" b="1" i="1" dirty="0">
                <a:effectLst/>
                <a:latin typeface="Times New Roman" panose="02020603050405020304" pitchFamily="18" charset="0"/>
                <a:ea typeface="TimesNewRomanPS-ItalicMT"/>
              </a:rPr>
              <a:t>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Значения присваиваются по очереди слева направо, начиная с элемента с индексом 0. </a:t>
            </a:r>
            <a:r>
              <a:rPr lang="ru-RU" sz="2800" i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Например:</a:t>
            </a:r>
            <a:endParaRPr lang="ru-RU" sz="2800" i="1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int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[]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nums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= {99, 23, 45, 13, 78, 46, 63, 8, 2, 55};  </a:t>
            </a:r>
            <a:r>
              <a:rPr lang="ru-RU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NewRomanPSMT"/>
              </a:rPr>
              <a:t>// Заданы 10 элементов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TimesNewRomanPSMT"/>
              </a:rPr>
              <a:t>								        //</a:t>
            </a:r>
            <a:r>
              <a:rPr lang="ru-RU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NewRomanPSMT"/>
              </a:rPr>
              <a:t> массива</a:t>
            </a:r>
            <a:endParaRPr lang="ru-RU" sz="28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Color[] col = {</a:t>
            </a:r>
            <a:r>
              <a:rPr lang="en-US" sz="27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Color.Red</a:t>
            </a:r>
            <a:r>
              <a:rPr lang="en-US" sz="27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, </a:t>
            </a:r>
            <a:r>
              <a:rPr lang="en-US" sz="27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Color.White</a:t>
            </a:r>
            <a:r>
              <a:rPr lang="en-US" sz="27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, </a:t>
            </a:r>
            <a:r>
              <a:rPr lang="en-US" sz="27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Color.Green</a:t>
            </a:r>
            <a:r>
              <a:rPr lang="en-US" sz="27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, </a:t>
            </a:r>
            <a:r>
              <a:rPr lang="en-US" sz="27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Color.Blue</a:t>
            </a:r>
            <a:r>
              <a:rPr lang="en-US" sz="27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, </a:t>
            </a:r>
            <a:r>
              <a:rPr lang="en-US" sz="27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Color.Cyan</a:t>
            </a: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};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xmlns="" val="2429936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81C6402-8C3C-4BB4-81F1-7F0E9890C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132627"/>
          </a:xfrm>
        </p:spPr>
        <p:txBody>
          <a:bodyPr>
            <a:noAutofit/>
          </a:bodyPr>
          <a:lstStyle/>
          <a:p>
            <a:pPr algn="ctr"/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Инициализация массива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/>
            </a:r>
            <a:b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</a:b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c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</a:t>
            </a:r>
            <a:r>
              <a:rPr lang="ru-RU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помощью случайных чисел. </a:t>
            </a:r>
            <a:endParaRPr lang="ru-RU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FED00FE-BD42-48B6-AC37-06017250D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24" y="1324303"/>
            <a:ext cx="11818883" cy="5391808"/>
          </a:xfrm>
        </p:spPr>
        <p:txBody>
          <a:bodyPr/>
          <a:lstStyle/>
          <a:p>
            <a:pPr indent="0" algn="just">
              <a:buNone/>
            </a:pPr>
            <a:r>
              <a:rPr lang="ru-RU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В следующем примере массив из 10 целых чисел инициализируется случайным способом числами от 0 до 99.</a:t>
            </a:r>
            <a:endParaRPr lang="en-US" sz="3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NewRomanPSMT"/>
            </a:endParaRPr>
          </a:p>
          <a:p>
            <a:pPr indent="0" algn="just">
              <a:buNone/>
            </a:pPr>
            <a:endParaRPr lang="en-US" sz="3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NewRomanPSMT"/>
            </a:endParaRPr>
          </a:p>
          <a:p>
            <a:pPr indent="0" algn="just"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int[]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nums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 = new int[10];</a:t>
            </a:r>
            <a:endParaRPr lang="ru-RU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Random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rnd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 = new Random();</a:t>
            </a:r>
            <a:endParaRPr lang="ru-RU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for (int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 = 0;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 &lt; 10;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++)</a:t>
            </a:r>
            <a:endParaRPr lang="ru-RU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{</a:t>
            </a:r>
            <a:endParaRPr lang="ru-RU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    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nums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[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] =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rnd.Next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(100);</a:t>
            </a:r>
            <a:endParaRPr lang="ru-RU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</a:p>
          <a:p>
            <a:pPr indent="0" algn="just">
              <a:buNone/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84918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765C142-0DE7-4082-A032-4C16060F3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/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Создание 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дву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мерного массива в С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#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D06335F-AD1B-44F6-A7A7-72D4B1B2D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81038"/>
            <a:ext cx="12060621" cy="6176962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Пример создания </a:t>
            </a:r>
            <a:r>
              <a:rPr kumimoji="0" lang="ru-RU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двумерного массива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реализуется следующими командами:</a:t>
            </a:r>
          </a:p>
          <a:p>
            <a:pPr marL="2286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тип [ , ] переменная;</a:t>
            </a:r>
          </a:p>
          <a:p>
            <a:pPr marL="2286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переменная =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new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тип [размер, размер];</a:t>
            </a:r>
          </a:p>
          <a:p>
            <a:pPr marL="2286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Эти два этапа можно объединить и воспользоваться такой командой:</a:t>
            </a:r>
          </a:p>
          <a:p>
            <a:pPr indent="0" algn="just">
              <a:buNone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тип [ ] переменная =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new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тип [размер, размер]; </a:t>
            </a:r>
            <a:endParaRPr lang="ru-RU" b="1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  <a:defRPr/>
            </a:pPr>
            <a:r>
              <a:rPr kumimoji="0" lang="ru-RU" sz="2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Например</a:t>
            </a:r>
            <a:r>
              <a:rPr kumimoji="0" lang="en-US" sz="2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</a:t>
            </a:r>
            <a:endParaRPr kumimoji="0" lang="ru-RU" sz="2800" b="0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286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[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,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]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nums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;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286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nums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=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new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[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3, 4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];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или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[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,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]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nums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=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new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[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3, 4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];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Для доступа к элементу массива необходимо указать два индекса, разделив их запятой, например,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table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[2,3]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– это последний элемент. </a:t>
            </a:r>
          </a:p>
          <a:p>
            <a:pPr indent="0" algn="just">
              <a:buNone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NewRomanPSMT"/>
              </a:rPr>
              <a:t>П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ервый индекс обозначает номер строки, а второй – номер столбца.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97785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7C08121-DCD5-4140-BDF7-F6ADD9FAB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86" y="18256"/>
            <a:ext cx="11966027" cy="738490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Инициализация дву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мерного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массива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335E604-F342-4A8A-86DB-CA4237768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12192000" cy="5754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Инициализировать двумерные массивы можно, поместив список значений каждой размерности в отдельный блок, заключенный в фигурные скобки. Синтаксис инициализации многомерного массива выглядит так:</a:t>
            </a:r>
          </a:p>
          <a:p>
            <a:pPr marL="0" indent="0">
              <a:buNone/>
            </a:pPr>
            <a:r>
              <a:rPr lang="ru-RU" sz="3000" b="1" dirty="0"/>
              <a:t>&lt;тип&gt;[ , ] &lt;имя массива&gt; ={ {</a:t>
            </a:r>
            <a:r>
              <a:rPr lang="ru-RU" sz="3000" b="1" dirty="0" err="1"/>
              <a:t>знач</a:t>
            </a:r>
            <a:r>
              <a:rPr lang="ru-RU" sz="3000" b="1" dirty="0"/>
              <a:t>, </a:t>
            </a:r>
            <a:r>
              <a:rPr lang="ru-RU" sz="3000" b="1" dirty="0" err="1"/>
              <a:t>знач</a:t>
            </a:r>
            <a:r>
              <a:rPr lang="ru-RU" sz="3000" b="1" dirty="0"/>
              <a:t>, . . . ,</a:t>
            </a:r>
            <a:r>
              <a:rPr lang="ru-RU" sz="3000" b="1" dirty="0" err="1"/>
              <a:t>знач</a:t>
            </a:r>
            <a:r>
              <a:rPr lang="ru-RU" sz="3000" b="1" dirty="0"/>
              <a:t>}, {</a:t>
            </a:r>
            <a:r>
              <a:rPr lang="ru-RU" sz="3000" b="1" dirty="0" err="1"/>
              <a:t>знач</a:t>
            </a:r>
            <a:r>
              <a:rPr lang="ru-RU" sz="3000" b="1" dirty="0"/>
              <a:t>, </a:t>
            </a:r>
            <a:r>
              <a:rPr lang="ru-RU" sz="3000" b="1" dirty="0" err="1"/>
              <a:t>знач</a:t>
            </a:r>
            <a:r>
              <a:rPr lang="ru-RU" sz="3000" b="1" dirty="0"/>
              <a:t>, . . . , </a:t>
            </a:r>
            <a:r>
              <a:rPr lang="ru-RU" sz="3000" b="1" dirty="0" err="1"/>
              <a:t>знач</a:t>
            </a:r>
            <a:r>
              <a:rPr lang="ru-RU" sz="3000" b="1" dirty="0"/>
              <a:t>}, </a:t>
            </a:r>
          </a:p>
          <a:p>
            <a:pPr marL="0" indent="0">
              <a:buNone/>
            </a:pPr>
            <a:r>
              <a:rPr lang="ru-RU" sz="3000" b="1" dirty="0"/>
              <a:t>                                                                             </a:t>
            </a:r>
            <a:r>
              <a:rPr lang="en-US" sz="3000" b="1" dirty="0"/>
              <a:t>    </a:t>
            </a:r>
            <a:r>
              <a:rPr lang="ru-RU" sz="3000" b="1" dirty="0"/>
              <a:t>  . . . ,   {</a:t>
            </a:r>
            <a:r>
              <a:rPr lang="ru-RU" sz="3000" b="1" dirty="0" err="1"/>
              <a:t>знач</a:t>
            </a:r>
            <a:r>
              <a:rPr lang="ru-RU" sz="3000" b="1" dirty="0"/>
              <a:t>, </a:t>
            </a:r>
            <a:r>
              <a:rPr lang="ru-RU" sz="3000" b="1" dirty="0" err="1"/>
              <a:t>знач</a:t>
            </a:r>
            <a:r>
              <a:rPr lang="ru-RU" sz="3000" b="1" dirty="0"/>
              <a:t>, . . . , </a:t>
            </a:r>
            <a:r>
              <a:rPr lang="ru-RU" sz="3000" b="1" dirty="0" err="1"/>
              <a:t>знач</a:t>
            </a:r>
            <a:r>
              <a:rPr lang="ru-RU" sz="3000" b="1" dirty="0"/>
              <a:t>} };</a:t>
            </a:r>
          </a:p>
          <a:p>
            <a:pPr marL="0" indent="0">
              <a:buNone/>
            </a:pPr>
            <a:r>
              <a:rPr lang="ru-RU" sz="3200" dirty="0"/>
              <a:t>Здесь слово </a:t>
            </a:r>
            <a:r>
              <a:rPr lang="ru-RU" sz="3200" b="1" dirty="0"/>
              <a:t>≪</a:t>
            </a:r>
            <a:r>
              <a:rPr lang="ru-RU" sz="3200" b="1" dirty="0" err="1"/>
              <a:t>знач</a:t>
            </a:r>
            <a:r>
              <a:rPr lang="ru-RU" sz="3200" b="1" dirty="0"/>
              <a:t>≫ </a:t>
            </a:r>
            <a:r>
              <a:rPr lang="ru-RU" sz="3200" dirty="0"/>
              <a:t>обозначает присваиваемое значение. </a:t>
            </a:r>
            <a:endParaRPr lang="en-US" sz="3200" dirty="0"/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Пример инициализации массива :</a:t>
            </a:r>
          </a:p>
          <a:p>
            <a:pPr marL="0" indent="0">
              <a:buNone/>
            </a:pPr>
            <a:r>
              <a:rPr lang="ru-RU" sz="3200" b="1" dirty="0" err="1"/>
              <a:t>int</a:t>
            </a:r>
            <a:r>
              <a:rPr lang="ru-RU" sz="3200" b="1" dirty="0"/>
              <a:t>[,] </a:t>
            </a:r>
            <a:r>
              <a:rPr lang="ru-RU" sz="3200" b="1" dirty="0" err="1"/>
              <a:t>table</a:t>
            </a:r>
            <a:r>
              <a:rPr lang="ru-RU" sz="3200" b="1" dirty="0"/>
              <a:t> = { {1, 2, 3, 4},  {5, 6, 7, 8},  {9,10,11,12} </a:t>
            </a:r>
            <a:r>
              <a:rPr lang="en-US" sz="3200" b="1" dirty="0"/>
              <a:t>}</a:t>
            </a:r>
            <a:r>
              <a:rPr lang="ru-RU" sz="3200" b="1" dirty="0"/>
              <a:t>;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25138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05EB358-9FE6-4FD4-9C2B-730D0F9B7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35572"/>
          </a:xfrm>
        </p:spPr>
        <p:txBody>
          <a:bodyPr/>
          <a:lstStyle/>
          <a:p>
            <a:pPr algn="ctr"/>
            <a: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Пример 1. Заполнение массива.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979BA99-1516-4740-A37A-2CCC44FAB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60" y="835572"/>
            <a:ext cx="5985640" cy="6022428"/>
          </a:xfrm>
          <a:ln w="19050">
            <a:solidFill>
              <a:schemeClr val="tx1"/>
            </a:solidFill>
          </a:ln>
        </p:spPr>
        <p:txBody>
          <a:bodyPr/>
          <a:lstStyle/>
          <a:p>
            <a:pPr indent="0"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Заполните массив размером 3 х 4 целыми числами от 1 до 12, расположив их по порядку:</a:t>
            </a:r>
          </a:p>
          <a:p>
            <a:pPr indent="0" algn="just">
              <a:buNone/>
            </a:pP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int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 , ] </a:t>
            </a:r>
            <a:r>
              <a:rPr lang="ru-RU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table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= </a:t>
            </a:r>
            <a:r>
              <a:rPr lang="ru-RU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new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</a:t>
            </a:r>
            <a:r>
              <a:rPr lang="ru-RU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int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[3, 4];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 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for 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(</a:t>
            </a:r>
            <a:r>
              <a:rPr lang="en-US" sz="32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int </a:t>
            </a:r>
            <a:r>
              <a:rPr lang="en-US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= 0; </a:t>
            </a:r>
            <a:r>
              <a:rPr lang="en-US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&lt; 3; </a:t>
            </a:r>
            <a:r>
              <a:rPr lang="en-US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++)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for 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(</a:t>
            </a:r>
            <a:r>
              <a:rPr lang="en-US" sz="32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int 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j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= 0; 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j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&lt; 4; 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j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++)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table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</a:t>
            </a:r>
            <a:r>
              <a:rPr lang="en-US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, 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j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] = </a:t>
            </a:r>
            <a:r>
              <a:rPr lang="en-US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* 4 + 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j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+ 1;</a:t>
            </a:r>
          </a:p>
          <a:p>
            <a:pPr indent="0" algn="just">
              <a:buNone/>
            </a:pPr>
            <a:endParaRPr lang="ru-RU" sz="3200" b="1" dirty="0">
              <a:solidFill>
                <a:srgbClr val="000000"/>
              </a:solidFill>
              <a:latin typeface="Times New Roman" panose="02020603050405020304" pitchFamily="18" charset="0"/>
              <a:ea typeface="TimesNewRomanPSMT"/>
            </a:endParaRPr>
          </a:p>
          <a:p>
            <a:pPr indent="0" algn="just">
              <a:buNone/>
            </a:pP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   </a:t>
            </a:r>
            <a:r>
              <a:rPr lang="ru-RU" sz="3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Запомните этот прием!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74C0265-BF7E-4A00-A7E3-C781D45B19B6}"/>
              </a:ext>
            </a:extLst>
          </p:cNvPr>
          <p:cNvSpPr txBox="1"/>
          <p:nvPr/>
        </p:nvSpPr>
        <p:spPr>
          <a:xfrm>
            <a:off x="6311462" y="835572"/>
            <a:ext cx="5770178" cy="35394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получим такую таблицу:</a:t>
            </a: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1, 2, 3, 4}</a:t>
            </a:r>
          </a:p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5, 6, 7, 8}</a:t>
            </a:r>
          </a:p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9, 10, 11, 12}</a:t>
            </a:r>
          </a:p>
          <a:p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6574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5F1F36D-D4C8-4807-87C5-4E3E0631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53353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Пример </a:t>
            </a:r>
            <a:r>
              <a:rPr lang="en-US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2</a:t>
            </a:r>
            <a: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. Заполнение массива.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3D18A60-8244-4C4F-8341-B30F8C8ED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21" y="551793"/>
            <a:ext cx="11902965" cy="6287953"/>
          </a:xfrm>
        </p:spPr>
        <p:txBody>
          <a:bodyPr>
            <a:normAutofit fontScale="92500" lnSpcReduction="20000"/>
          </a:bodyPr>
          <a:lstStyle/>
          <a:p>
            <a:pPr indent="0" algn="just">
              <a:buNone/>
            </a:pPr>
            <a:r>
              <a:rPr lang="ru-RU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В этом примере двухмерный массив инициализируется случайными значениями. Созданные значения элементов массива отображаются в элементе </a:t>
            </a:r>
            <a:r>
              <a:rPr lang="ru-RU" sz="3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label</a:t>
            </a:r>
            <a:r>
              <a:rPr lang="ru-RU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.</a:t>
            </a:r>
            <a:endParaRPr lang="ru-RU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/>
              <a:t>int  </a:t>
            </a:r>
            <a:r>
              <a:rPr lang="en-US" b="1" dirty="0" err="1"/>
              <a:t>i</a:t>
            </a:r>
            <a:r>
              <a:rPr lang="en-US" b="1" dirty="0"/>
              <a:t>, j;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int[,] table = new int[3, 4];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Результат работы: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string str = "";</a:t>
            </a:r>
          </a:p>
          <a:p>
            <a:pPr marL="0" indent="0">
              <a:buNone/>
            </a:pPr>
            <a:r>
              <a:rPr lang="en-US" b="1" dirty="0"/>
              <a:t>Random </a:t>
            </a:r>
            <a:r>
              <a:rPr lang="en-US" b="1" dirty="0" err="1"/>
              <a:t>rnd</a:t>
            </a:r>
            <a:r>
              <a:rPr lang="en-US" b="1" dirty="0"/>
              <a:t> = new Random();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// </a:t>
            </a:r>
            <a:r>
              <a:rPr lang="ru-RU" b="1" dirty="0">
                <a:solidFill>
                  <a:srgbClr val="00B050"/>
                </a:solidFill>
              </a:rPr>
              <a:t>Обработчик кнопки «Заполнить» выглядит так:</a:t>
            </a:r>
          </a:p>
          <a:p>
            <a:pPr marL="0" indent="0">
              <a:buNone/>
            </a:pPr>
            <a:r>
              <a:rPr lang="en-US" b="1" dirty="0"/>
              <a:t>for (</a:t>
            </a:r>
            <a:r>
              <a:rPr lang="en-US" b="1" dirty="0" err="1"/>
              <a:t>i</a:t>
            </a:r>
            <a:r>
              <a:rPr lang="en-US" b="1" dirty="0"/>
              <a:t> = 0; </a:t>
            </a:r>
            <a:r>
              <a:rPr lang="en-US" b="1" dirty="0" err="1"/>
              <a:t>i</a:t>
            </a:r>
            <a:r>
              <a:rPr lang="en-US" b="1" dirty="0"/>
              <a:t> &lt; 3; </a:t>
            </a:r>
            <a:r>
              <a:rPr lang="en-US" b="1" dirty="0" err="1"/>
              <a:t>i</a:t>
            </a:r>
            <a:r>
              <a:rPr lang="en-US" b="1" dirty="0"/>
              <a:t>++)  {</a:t>
            </a:r>
          </a:p>
          <a:p>
            <a:pPr marL="0" indent="0">
              <a:buNone/>
            </a:pPr>
            <a:r>
              <a:rPr lang="en-US" b="1" dirty="0"/>
              <a:t>    for (j = 0; j &lt; 4; </a:t>
            </a:r>
            <a:r>
              <a:rPr lang="en-US" b="1" dirty="0" err="1"/>
              <a:t>j++</a:t>
            </a:r>
            <a:r>
              <a:rPr lang="en-US" b="1" dirty="0"/>
              <a:t>)   {</a:t>
            </a:r>
          </a:p>
          <a:p>
            <a:pPr marL="0" indent="0">
              <a:buNone/>
            </a:pPr>
            <a:r>
              <a:rPr lang="en-US" b="1" dirty="0"/>
              <a:t>     table[</a:t>
            </a:r>
            <a:r>
              <a:rPr lang="en-US" b="1" dirty="0" err="1"/>
              <a:t>i</a:t>
            </a:r>
            <a:r>
              <a:rPr lang="en-US" b="1" dirty="0"/>
              <a:t>, j] = </a:t>
            </a:r>
            <a:r>
              <a:rPr lang="en-US" b="1" dirty="0" err="1"/>
              <a:t>rnd.Next</a:t>
            </a:r>
            <a:r>
              <a:rPr lang="en-US" b="1" dirty="0"/>
              <a:t>(10);</a:t>
            </a:r>
          </a:p>
          <a:p>
            <a:pPr marL="0" indent="0">
              <a:buNone/>
            </a:pPr>
            <a:r>
              <a:rPr lang="en-US" b="1" dirty="0"/>
              <a:t>     str += " " + </a:t>
            </a:r>
            <a:r>
              <a:rPr lang="en-US" b="1" dirty="0" err="1"/>
              <a:t>Convert.ToString</a:t>
            </a:r>
            <a:r>
              <a:rPr lang="en-US" b="1" dirty="0"/>
              <a:t>(table[</a:t>
            </a:r>
            <a:r>
              <a:rPr lang="en-US" b="1" dirty="0" err="1"/>
              <a:t>i</a:t>
            </a:r>
            <a:r>
              <a:rPr lang="en-US" b="1" dirty="0"/>
              <a:t>, j]); </a:t>
            </a:r>
          </a:p>
          <a:p>
            <a:pPr marL="0" indent="0">
              <a:buNone/>
            </a:pPr>
            <a:r>
              <a:rPr lang="en-US" b="1" dirty="0"/>
              <a:t>   }</a:t>
            </a:r>
          </a:p>
          <a:p>
            <a:pPr marL="0" indent="0">
              <a:buNone/>
            </a:pPr>
            <a:r>
              <a:rPr lang="en-US" b="1" dirty="0"/>
              <a:t>   str += "\n";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pPr marL="0" indent="0">
              <a:buNone/>
            </a:pPr>
            <a:r>
              <a:rPr lang="en-US" b="1" dirty="0"/>
              <a:t>label1.Text = str;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869D3E31-A4A2-4869-9917-0BC4C128F2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229600" y="2352830"/>
            <a:ext cx="3846786" cy="439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4803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45C427D-3465-44AB-B42F-E4DD00EC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24298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Задачи на заполнение двумерного массива </a:t>
            </a:r>
            <a:b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</a:br>
            <a: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разными способами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E891B20-506A-421A-ADED-CA3D47476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00640"/>
            <a:ext cx="11761075" cy="5439105"/>
          </a:xfrm>
        </p:spPr>
        <p:txBody>
          <a:bodyPr>
            <a:normAutofit lnSpcReduction="10000"/>
          </a:bodyPr>
          <a:lstStyle/>
          <a:p>
            <a:pPr indent="0" algn="just">
              <a:buNone/>
            </a:pPr>
            <a:r>
              <a:rPr lang="ru-RU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Эти задачи используются при разработке тех или иных логических игр, поэтому имеет смысл рассмотреть заполнение массивов наиболее оптимальным способом. Прежде всего, надо заботиться о том, чтобы память под массивы не выделялась в циклах. Также в циклах не надо создавать кисти, карандаши, загружать рисунки и другие объекты.</a:t>
            </a:r>
          </a:p>
          <a:p>
            <a:pPr indent="0" algn="just">
              <a:buNone/>
            </a:pPr>
            <a:endParaRPr lang="ru-RU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Далее рассмотрим разные способы заполнения на примере двумерного массива из пяти строк и пяти столбцов.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67169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A668398-D892-4307-A8C7-7A0FE4FD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Заполнение двумерного массива случайными числами из заданного интервала.</a:t>
            </a:r>
            <a:endParaRPr lang="ru-RU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851D1CD-AAB9-41E2-80AD-6527D2FFD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17" y="1676084"/>
            <a:ext cx="6132787" cy="4933342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ru-RU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На рисунке показано заполнение массива 5 х 5 числами от 1 до 25, причем некоторые числа повторяются, а некоторые исчезли. </a:t>
            </a:r>
          </a:p>
          <a:p>
            <a:pPr indent="0"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Такой способ заполнения не представляет интереса.</a:t>
            </a:r>
          </a:p>
          <a:p>
            <a:pPr indent="252095" algn="just"/>
            <a:endParaRPr lang="ru-RU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3A13250B-4F68-4DA1-892B-A9F03A7914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09280" y="1534195"/>
            <a:ext cx="4646843" cy="49333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453888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9EA33A4-4D82-44D1-8FE3-F7862A036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7103"/>
          </a:xfrm>
        </p:spPr>
        <p:txBody>
          <a:bodyPr>
            <a:normAutofit/>
          </a:bodyPr>
          <a:lstStyle/>
          <a:p>
            <a:pPr algn="ctr"/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Пример 3. Заполнение массива.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220532D-7C28-46AD-ADFA-676DFCA26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59" y="867103"/>
            <a:ext cx="6747641" cy="59908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Заполните двумерный массив целых чисел по следующему правилу. Надо задать в </a:t>
            </a:r>
            <a:r>
              <a:rPr lang="ru-RU" sz="36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случайные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места массива размером 5 х 5 числа: 1, 2, ..., 25. Каждое из этих чисел встречается один раз и стоит на случайном месте. Оформите это в виде собственной функции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zapoln</a:t>
            </a:r>
            <a:r>
              <a:rPr lang="ru-R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Выведите эти числа в клетки сетки. Сначала обнулите массив. </a:t>
            </a: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C661FCFE-EFFE-4ED7-B364-4D7CC6D3B6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30511" y="954387"/>
            <a:ext cx="4038599" cy="58163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57012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83C35EA-EC0E-4893-B232-A63D00B66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785786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Пример 3. Заполнение массива.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F57D4AB-5DA5-4B16-A92A-4E68649E5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80" y="804042"/>
            <a:ext cx="5670994" cy="5990893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const int n=5;</a:t>
            </a:r>
          </a:p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int </a:t>
            </a:r>
            <a:r>
              <a:rPr lang="en-US" sz="2400" b="1" dirty="0" err="1">
                <a:cs typeface="Times New Roman" panose="02020603050405020304" pitchFamily="18" charset="0"/>
              </a:rPr>
              <a:t>i</a:t>
            </a:r>
            <a:r>
              <a:rPr lang="en-US" sz="2400" b="1" dirty="0">
                <a:cs typeface="Times New Roman" panose="02020603050405020304" pitchFamily="18" charset="0"/>
              </a:rPr>
              <a:t>, j; </a:t>
            </a:r>
          </a:p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int[,] table = new int[n, n];</a:t>
            </a:r>
          </a:p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Random </a:t>
            </a:r>
            <a:r>
              <a:rPr lang="en-US" sz="2400" b="1" dirty="0" err="1">
                <a:cs typeface="Times New Roman" panose="02020603050405020304" pitchFamily="18" charset="0"/>
              </a:rPr>
              <a:t>rnd</a:t>
            </a:r>
            <a:r>
              <a:rPr lang="en-US" sz="2400" b="1" dirty="0">
                <a:cs typeface="Times New Roman" panose="02020603050405020304" pitchFamily="18" charset="0"/>
              </a:rPr>
              <a:t> = new Random();</a:t>
            </a:r>
          </a:p>
          <a:p>
            <a:pPr marL="0" indent="0">
              <a:buNone/>
            </a:pPr>
            <a:endParaRPr lang="en-US" sz="2400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private void button1_Click(object sender,</a:t>
            </a:r>
          </a:p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en-US" sz="2400" b="1" dirty="0" err="1">
                <a:cs typeface="Times New Roman" panose="02020603050405020304" pitchFamily="18" charset="0"/>
              </a:rPr>
              <a:t>EventArgs</a:t>
            </a:r>
            <a:r>
              <a:rPr lang="en-US" sz="2400" b="1" dirty="0">
                <a:cs typeface="Times New Roman" panose="02020603050405020304" pitchFamily="18" charset="0"/>
              </a:rPr>
              <a:t> e)</a:t>
            </a:r>
          </a:p>
          <a:p>
            <a:pPr indent="0" algn="just">
              <a:buNone/>
            </a:pPr>
            <a:r>
              <a:rPr lang="ru-R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24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       Zapoln2( n);</a:t>
            </a:r>
            <a:endParaRPr lang="ru-RU" sz="24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 }</a:t>
            </a:r>
            <a:endParaRPr lang="ru-RU" sz="24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5A562BD-2F6E-4BD9-85BA-753DFFD9B602}"/>
              </a:ext>
            </a:extLst>
          </p:cNvPr>
          <p:cNvSpPr txBox="1"/>
          <p:nvPr/>
        </p:nvSpPr>
        <p:spPr>
          <a:xfrm>
            <a:off x="5960666" y="793292"/>
            <a:ext cx="6093372" cy="60016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public void zapoln2(int n)</a:t>
            </a:r>
          </a:p>
          <a:p>
            <a:r>
              <a:rPr lang="en-US" sz="2400" b="1" dirty="0"/>
              <a:t>   { int </a:t>
            </a:r>
            <a:r>
              <a:rPr lang="en-US" sz="2400" b="1" dirty="0" err="1"/>
              <a:t>i</a:t>
            </a:r>
            <a:r>
              <a:rPr lang="en-US" sz="2400" b="1" dirty="0"/>
              <a:t>, j, c, d;</a:t>
            </a:r>
          </a:p>
          <a:p>
            <a:r>
              <a:rPr lang="en-US" sz="2400" b="1" dirty="0"/>
              <a:t>      for (</a:t>
            </a:r>
            <a:r>
              <a:rPr lang="en-US" sz="2400" b="1" dirty="0" err="1"/>
              <a:t>i</a:t>
            </a:r>
            <a:r>
              <a:rPr lang="en-US" sz="2400" b="1" dirty="0"/>
              <a:t> = 0; </a:t>
            </a:r>
            <a:r>
              <a:rPr lang="en-US" sz="2400" b="1" dirty="0" err="1"/>
              <a:t>i</a:t>
            </a:r>
            <a:r>
              <a:rPr lang="en-US" sz="2400" b="1" dirty="0"/>
              <a:t> &lt; n; </a:t>
            </a:r>
            <a:r>
              <a:rPr lang="en-US" sz="2400" b="1" dirty="0" err="1"/>
              <a:t>i</a:t>
            </a:r>
            <a:r>
              <a:rPr lang="en-US" sz="2400" b="1" dirty="0"/>
              <a:t>++)</a:t>
            </a:r>
          </a:p>
          <a:p>
            <a:r>
              <a:rPr lang="en-US" sz="2400" b="1" dirty="0"/>
              <a:t>            for (j = 0; j &lt; n; </a:t>
            </a:r>
            <a:r>
              <a:rPr lang="en-US" sz="2400" b="1" dirty="0" err="1"/>
              <a:t>j++</a:t>
            </a:r>
            <a:r>
              <a:rPr lang="en-US" sz="2400" b="1" dirty="0"/>
              <a:t>)</a:t>
            </a:r>
          </a:p>
          <a:p>
            <a:r>
              <a:rPr lang="en-US" sz="2400" b="1" dirty="0"/>
              <a:t>                  table[</a:t>
            </a:r>
            <a:r>
              <a:rPr lang="en-US" sz="2400" b="1" dirty="0" err="1"/>
              <a:t>i</a:t>
            </a:r>
            <a:r>
              <a:rPr lang="en-US" sz="2400" b="1" dirty="0"/>
              <a:t>, j] =0;</a:t>
            </a:r>
          </a:p>
          <a:p>
            <a:r>
              <a:rPr lang="en-US" sz="2400" b="1" dirty="0"/>
              <a:t>          </a:t>
            </a:r>
          </a:p>
          <a:p>
            <a:r>
              <a:rPr lang="en-US" sz="2400" b="1" dirty="0"/>
              <a:t>      for (</a:t>
            </a:r>
            <a:r>
              <a:rPr lang="en-US" sz="2400" b="1" dirty="0" err="1"/>
              <a:t>i</a:t>
            </a:r>
            <a:r>
              <a:rPr lang="en-US" sz="2400" b="1" dirty="0"/>
              <a:t> = 1; </a:t>
            </a:r>
            <a:r>
              <a:rPr lang="en-US" sz="2400" b="1" dirty="0" err="1"/>
              <a:t>i</a:t>
            </a:r>
            <a:r>
              <a:rPr lang="en-US" sz="2400" b="1" dirty="0"/>
              <a:t> &lt;= n * n; </a:t>
            </a:r>
            <a:r>
              <a:rPr lang="en-US" sz="2400" b="1" dirty="0" err="1"/>
              <a:t>i</a:t>
            </a:r>
            <a:r>
              <a:rPr lang="en-US" sz="2400" b="1" dirty="0"/>
              <a:t>++)</a:t>
            </a:r>
          </a:p>
          <a:p>
            <a:r>
              <a:rPr lang="en-US" sz="2400" b="1" dirty="0"/>
              <a:t>         {</a:t>
            </a:r>
            <a:r>
              <a:rPr lang="en-US" sz="2400" b="1" dirty="0">
                <a:solidFill>
                  <a:srgbClr val="00B050"/>
                </a:solidFill>
              </a:rPr>
              <a:t>// </a:t>
            </a:r>
            <a:r>
              <a:rPr lang="ru-RU" sz="2400" b="1" dirty="0">
                <a:solidFill>
                  <a:srgbClr val="00B050"/>
                </a:solidFill>
              </a:rPr>
              <a:t>Ищем случайное свободное место</a:t>
            </a:r>
            <a:endParaRPr lang="en-US" sz="2400" b="1" dirty="0"/>
          </a:p>
          <a:p>
            <a:r>
              <a:rPr lang="en-US" sz="2400" b="1" dirty="0"/>
              <a:t>             do</a:t>
            </a:r>
            <a:endParaRPr lang="ru-RU" sz="2400" b="1" dirty="0">
              <a:solidFill>
                <a:srgbClr val="00B050"/>
              </a:solidFill>
            </a:endParaRPr>
          </a:p>
          <a:p>
            <a:r>
              <a:rPr lang="ru-RU" sz="2400" b="1" dirty="0"/>
              <a:t>               </a:t>
            </a:r>
            <a:r>
              <a:rPr lang="en-US" sz="2400" b="1" dirty="0"/>
              <a:t>   </a:t>
            </a:r>
            <a:r>
              <a:rPr lang="ru-RU" sz="2400" b="1" dirty="0"/>
              <a:t> { </a:t>
            </a:r>
            <a:r>
              <a:rPr lang="en-US" sz="2400" b="1" dirty="0"/>
              <a:t>c = </a:t>
            </a:r>
            <a:r>
              <a:rPr lang="en-US" sz="2400" b="1" dirty="0" err="1"/>
              <a:t>rnd.Next</a:t>
            </a:r>
            <a:r>
              <a:rPr lang="en-US" sz="2400" b="1" dirty="0"/>
              <a:t>(0, 5);</a:t>
            </a:r>
          </a:p>
          <a:p>
            <a:r>
              <a:rPr lang="en-US" sz="2400" b="1" dirty="0"/>
              <a:t>                      d = </a:t>
            </a:r>
            <a:r>
              <a:rPr lang="en-US" sz="2400" b="1" dirty="0" err="1"/>
              <a:t>rnd.Next</a:t>
            </a:r>
            <a:r>
              <a:rPr lang="en-US" sz="2400" b="1" dirty="0"/>
              <a:t>(0, 5);</a:t>
            </a:r>
          </a:p>
          <a:p>
            <a:r>
              <a:rPr lang="en-US" sz="2400" b="1" dirty="0"/>
              <a:t>                   }</a:t>
            </a:r>
          </a:p>
          <a:p>
            <a:r>
              <a:rPr lang="en-US" sz="2400" b="1" dirty="0"/>
              <a:t>              while (table[c, d] != 0);</a:t>
            </a:r>
          </a:p>
          <a:p>
            <a:r>
              <a:rPr lang="en-US" sz="2400" b="1" dirty="0"/>
              <a:t>              table[c, d] = </a:t>
            </a:r>
            <a:r>
              <a:rPr lang="en-US" sz="2400" b="1" dirty="0" err="1"/>
              <a:t>i</a:t>
            </a:r>
            <a:r>
              <a:rPr lang="en-US" sz="2400" b="1" dirty="0"/>
              <a:t>;</a:t>
            </a:r>
          </a:p>
          <a:p>
            <a:r>
              <a:rPr lang="ru-RU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   25 чисел по порядку в случайные места</a:t>
            </a:r>
            <a:endParaRPr lang="en-US" sz="2400" b="1" dirty="0">
              <a:solidFill>
                <a:srgbClr val="00B050"/>
              </a:solidFill>
            </a:endParaRPr>
          </a:p>
          <a:p>
            <a:r>
              <a:rPr lang="en-US" sz="2400" b="1" dirty="0"/>
              <a:t>           </a:t>
            </a:r>
            <a:r>
              <a:rPr lang="ru-RU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199086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83D0B3E-E0D6-41CC-9270-9917D105D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53" y="18256"/>
            <a:ext cx="11855668" cy="91191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 для самостоятельной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8791B2C-3766-481E-BA1C-D4D18CFC3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1242"/>
            <a:ext cx="6400800" cy="5076496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ru-R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Задание 1.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Заполните массив по порядку: в первой строке числа 1, 2, 3, 4, 5, </a:t>
            </a:r>
          </a:p>
          <a:p>
            <a:pPr indent="0"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 второй – числа 6, 7, 8, 9, 10 и так далее. (функция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zapoln</a:t>
            </a:r>
            <a:r>
              <a:rPr lang="ru-R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Не используйте дополнительные переменные. </a:t>
            </a:r>
          </a:p>
          <a:p>
            <a:pPr indent="0" algn="just">
              <a:buNone/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98BB5CCE-AEB3-4257-9536-7417CC18705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76215" y="1356253"/>
            <a:ext cx="4637564" cy="51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8387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D70076E-E433-4CF0-ACBF-6298519C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97" y="18256"/>
            <a:ext cx="10849303" cy="785786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Задания для самостоятельной 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6BBB5E6-8F8B-46AF-A200-C468A2461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5" y="1040524"/>
            <a:ext cx="5691351" cy="5644055"/>
          </a:xfrm>
        </p:spPr>
        <p:txBody>
          <a:bodyPr/>
          <a:lstStyle/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Задание 2.  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Заполните массив так: в случайные места задайте следующие числа: пять единиц, пять двоек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. . . , 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пять пятерок. (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функция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zapoln3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Нарисуйте сетку, как на рисунке: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E67E4064-0B5C-42DA-8FCF-D4682727BB0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31361" y="961697"/>
            <a:ext cx="4322439" cy="552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098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1D3DF1F-90EB-41D7-8809-80C3E47A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785786"/>
          </a:xfrm>
        </p:spPr>
        <p:txBody>
          <a:bodyPr>
            <a:normAutofit/>
          </a:bodyPr>
          <a:lstStyle/>
          <a:p>
            <a:pPr algn="ctr"/>
            <a:r>
              <a:rPr lang="ru-RU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 для самостоятельной 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10A61EF-8870-4954-A0AD-1DF2F3850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04041"/>
            <a:ext cx="12192000" cy="6035704"/>
          </a:xfrm>
        </p:spPr>
        <p:txBody>
          <a:bodyPr>
            <a:normAutofit fontScale="92500" lnSpcReduction="10000"/>
          </a:bodyPr>
          <a:lstStyle/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Задание 3.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Заполните массив размером 5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5 следующим образом: на главной диагонали стоят нули, под главной диагональю – единицы, а над диагональю – двойки. Должно получится заполнение, показанное на рисунке:</a:t>
            </a:r>
          </a:p>
          <a:p>
            <a:pPr indent="0" algn="just">
              <a:buNone/>
            </a:pPr>
            <a:r>
              <a:rPr lang="ru-RU" sz="2800" b="1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Пояснения.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Главная диагональ квадратной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матрицы проходит из левого верхнего угла в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правый нижний угол. Побочная диагональ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проходит из правого верхнего угла в левый нижний.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Числа на главной диагонали характеризуются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свойством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где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номер строки,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номер столбца.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побочной диагонали их сумма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+ 1.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Числа под главной диагональю матриц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характеризуются свойством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&lt;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 над главной диагональю 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&gt;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E22FC122-5DD0-404D-8FC7-F6D6B11322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94752" y="2104894"/>
            <a:ext cx="4378061" cy="454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2731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26B38D5-42DC-46BF-AF0A-C7B70561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59" y="18255"/>
            <a:ext cx="12081641" cy="896145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Задания для самостоятельной 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5FA7B6D-0A7B-492D-B851-66D3BC350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938" y="1442545"/>
            <a:ext cx="5833241" cy="397291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Задание 4. 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Поставьте в массив на главную диагональ число 3, на остальные места вперемешку 10 единиц и 10 двоек, как на рисунке: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6A95CB5-838D-49EA-8944-F86BE1C2155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73138" y="1419048"/>
            <a:ext cx="4504159" cy="458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4372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61CCD86-0F19-4326-9131-901877512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14" y="-1"/>
            <a:ext cx="11808372" cy="819807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разноцветного коврика 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(Мозаика).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F7E30CA-73ED-43C4-9814-6865ABB12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815" y="1021583"/>
            <a:ext cx="6650420" cy="5552638"/>
          </a:xfrm>
        </p:spPr>
        <p:txBody>
          <a:bodyPr/>
          <a:lstStyle/>
          <a:p>
            <a:pPr marL="0" indent="0">
              <a:buNone/>
            </a:pP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5.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+mj-cs"/>
              </a:rPr>
              <a:t> </a:t>
            </a:r>
            <a:r>
              <a:rPr kumimoji="0" lang="ru-RU" sz="4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+mj-cs"/>
              </a:rPr>
              <a:t>Заполните массив </a:t>
            </a:r>
            <a:r>
              <a:rPr kumimoji="0" lang="ru-RU" sz="40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+mj-cs"/>
              </a:rPr>
              <a:t>pole</a:t>
            </a:r>
            <a:r>
              <a:rPr kumimoji="0" lang="ru-RU" sz="4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+mj-cs"/>
              </a:rPr>
              <a:t> как в задаче 2. Задайте пять цветов по выбору. Нарисуйте квадратики в соответствии с заданными цветами.</a:t>
            </a:r>
          </a:p>
          <a:p>
            <a:pPr marL="0" indent="0">
              <a:buNone/>
            </a:pPr>
            <a:r>
              <a:rPr kumimoji="0" lang="ru-RU" sz="4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+mj-cs"/>
              </a:rPr>
              <a:t> Получится примерно так, как на рисунке: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4407FB8-C490-4A46-A51F-307554F3ED7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60216" y="1174189"/>
            <a:ext cx="5039969" cy="524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1651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54E2FB5-0F6C-48AB-B921-8336A83BD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890"/>
            <a:ext cx="12192000" cy="930166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разноцветного коврика (Мозаика).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2B0B013-A256-41CE-8C25-F10189A67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09" y="1072056"/>
            <a:ext cx="6479627" cy="5376041"/>
          </a:xfrm>
        </p:spPr>
        <p:txBody>
          <a:bodyPr/>
          <a:lstStyle/>
          <a:p>
            <a:pPr marL="0" indent="0">
              <a:buNone/>
            </a:pP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</a:t>
            </a:r>
            <a:r>
              <a:rPr kumimoji="0" lang="en-US" sz="40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ru-RU" sz="40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 smtClean="0"/>
              <a:t>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 коврик 5 х 5. По клику на клетке ее цвет становится белым.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BBA708D-E27F-4F98-AE67-6DA18D8CC6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94306" y="1350834"/>
            <a:ext cx="4358585" cy="481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26773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39AEF52-6961-47A9-BE56-112879A82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044855" cy="817317"/>
          </a:xfrm>
        </p:spPr>
        <p:txBody>
          <a:bodyPr/>
          <a:lstStyle/>
          <a:p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разноцветного коврика (Мозаика).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6531BF2-E1F1-4DE2-B40D-B2B26BF72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45" y="993228"/>
            <a:ext cx="5948855" cy="5691351"/>
          </a:xfrm>
        </p:spPr>
        <p:txBody>
          <a:bodyPr/>
          <a:lstStyle/>
          <a:p>
            <a:pPr marL="0" indent="0">
              <a:buNone/>
            </a:pP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</a:t>
            </a:r>
            <a:r>
              <a:rPr kumimoji="0" lang="en-US" sz="40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ru-RU" sz="40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sz="4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Далее надо научиться переставлять квадратики, кликая то на один, то на другой и менять у них цвет. Например, собрать узор, как на рисунке: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D695E1E3-3411-4B46-BA37-2DAEEF4BE93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87495" y="1223492"/>
            <a:ext cx="5300160" cy="550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546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E293DB4-2B9E-426D-BC22-BBA69870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46387"/>
          </a:xfrm>
        </p:spPr>
        <p:txBody>
          <a:bodyPr>
            <a:normAutofit fontScale="90000"/>
          </a:bodyPr>
          <a:lstStyle/>
          <a:p>
            <a:pPr indent="252095"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Массив рисунков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DE9679C-4809-4B9D-8441-C0C8852AB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46387"/>
            <a:ext cx="12192000" cy="6211613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Создадим массив «рисунков» и выведем их на форму, как показано на рисунке. Пусть имеются 5 разных рисунков одного размера. Рисунки пронумерованы и хранятся в файлах с именами </a:t>
            </a:r>
            <a:r>
              <a:rPr lang="en-US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bmp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</a:t>
            </a: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bmp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т.д. В соответствии с функцией заполнением массива целых чисел, приведенной в задании 2, скопируем рисунки на форму. Имена файлов с рисунками могут быть заданы в константном массиве:</a:t>
            </a:r>
          </a:p>
          <a:p>
            <a:pPr indent="0">
              <a:buNone/>
            </a:pP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string[]  </a:t>
            </a:r>
            <a:r>
              <a:rPr lang="en-US" sz="2600" b="1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name_file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={“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ris1.bmp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”,“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ris2.bmp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”,“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ris3.bmp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”,“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ris4.bmp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”, “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ris5.bmp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”};</a:t>
            </a:r>
            <a:endParaRPr lang="ru-RU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600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Но можно сделать по-другому, как в примере ниже:</a:t>
            </a:r>
            <a:r>
              <a:rPr lang="ru-RU" sz="2600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0" algn="just">
              <a:buNone/>
            </a:pPr>
            <a:r>
              <a:rPr lang="en-US" sz="26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const</a:t>
            </a:r>
            <a:r>
              <a:rPr lang="en-US" sz="26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6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</a:t>
            </a:r>
            <a:r>
              <a:rPr lang="en-US" sz="26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n=5;</a:t>
            </a:r>
            <a:endParaRPr lang="ru-RU" sz="2600" b="1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</a:t>
            </a: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endParaRPr lang="ru-RU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private Image </a:t>
            </a:r>
            <a:r>
              <a:rPr lang="en-US" sz="2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[]=new Bitmap[n]; </a:t>
            </a:r>
            <a:r>
              <a:rPr lang="en-US" sz="26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// </a:t>
            </a:r>
            <a:r>
              <a:rPr lang="ru-RU" sz="26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NewRomanPSMT"/>
              </a:rPr>
              <a:t>Инициализирован массив переменных </a:t>
            </a:r>
            <a:endParaRPr lang="ru-RU" sz="26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for </a:t>
            </a: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(</a:t>
            </a:r>
            <a:r>
              <a:rPr lang="en-US" sz="26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= 0; </a:t>
            </a:r>
            <a:r>
              <a:rPr lang="en-US" sz="26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&lt; n; </a:t>
            </a:r>
            <a:r>
              <a:rPr lang="en-US" sz="26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++)</a:t>
            </a:r>
            <a:r>
              <a:rPr lang="ru-RU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 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{</a:t>
            </a:r>
            <a:r>
              <a:rPr lang="ru-RU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 </a:t>
            </a:r>
            <a:endParaRPr lang="ru-RU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     str=</a:t>
            </a:r>
            <a:r>
              <a:rPr lang="en-US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"G:/</a:t>
            </a:r>
            <a:r>
              <a:rPr lang="ru-RU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Базовый проект</a:t>
            </a:r>
            <a:r>
              <a:rPr lang="en-US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/</a:t>
            </a:r>
            <a:r>
              <a:rPr lang="ru-RU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Занятие</a:t>
            </a:r>
            <a:r>
              <a:rPr lang="en-US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4/</a:t>
            </a:r>
            <a:r>
              <a:rPr lang="en-US" sz="2600" b="1" dirty="0" err="1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ris</a:t>
            </a:r>
            <a:r>
              <a:rPr lang="en-US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”+</a:t>
            </a:r>
            <a:r>
              <a:rPr lang="en-US" sz="2600" b="1" dirty="0" err="1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Convert.ToStr</a:t>
            </a:r>
            <a:r>
              <a:rPr lang="en-US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(i+1)+”.bmp";</a:t>
            </a:r>
            <a:endParaRPr lang="ru-RU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</a:t>
            </a:r>
            <a:r>
              <a:rPr lang="en-US" sz="2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2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]= new Bitmap(str);</a:t>
            </a:r>
            <a:r>
              <a:rPr lang="ru-RU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xmlns="" val="2637306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0DF2E-457B-4DDB-9BCF-A8DAC863E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18256"/>
            <a:ext cx="11824138" cy="943442"/>
          </a:xfrm>
        </p:spPr>
        <p:txBody>
          <a:bodyPr>
            <a:normAutofit/>
          </a:bodyPr>
          <a:lstStyle/>
          <a:p>
            <a:pPr algn="ctr"/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Массив </a:t>
            </a:r>
            <a:r>
              <a:rPr kumimoji="0" lang="ru-RU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рисунков</a:t>
            </a:r>
            <a:r>
              <a:rPr kumimoji="0" lang="en-US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(</a:t>
            </a:r>
            <a:r>
              <a:rPr kumimoji="0" lang="ru-RU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задание</a:t>
            </a:r>
            <a:r>
              <a:rPr kumimoji="0" lang="ru-RU" b="1" i="1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8)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2517950-C25B-4F21-9878-00E74AEFA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345" y="1434664"/>
            <a:ext cx="5307724" cy="43039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Создадим массив «рисунков» и выведем их на форму, как показано на рисунке:</a:t>
            </a: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37CE9DF7-0C2A-47F7-9735-E4DED82BD1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36828" y="1163558"/>
            <a:ext cx="4887310" cy="555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053115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1571</Words>
  <Application>Microsoft Office PowerPoint</Application>
  <PresentationFormat>Произвольный</PresentationFormat>
  <Paragraphs>163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Тема Office</vt:lpstr>
      <vt:lpstr>ОДНОМЕРНЫЕ И ДВУМЕРНЫЕ  МАССИВЫ В С# </vt:lpstr>
      <vt:lpstr>Создание массива в С#</vt:lpstr>
      <vt:lpstr>Создание одномерного массива в С#</vt:lpstr>
      <vt:lpstr>Инициализация одномерного массива</vt:lpstr>
      <vt:lpstr>Инициализация массива  c помощью случайных чисел. </vt:lpstr>
      <vt:lpstr>Создание двумерного массива в С#</vt:lpstr>
      <vt:lpstr>Инициализация двумерного массива</vt:lpstr>
      <vt:lpstr>Пример 1. Заполнение массива.</vt:lpstr>
      <vt:lpstr>Пример 2. Заполнение массива.</vt:lpstr>
      <vt:lpstr>Задачи на заполнение двумерного массива  разными способами</vt:lpstr>
      <vt:lpstr>Заполнение двумерного массива случайными числами из заданного интервала.</vt:lpstr>
      <vt:lpstr>Пример 3. Заполнение массива.</vt:lpstr>
      <vt:lpstr>Пример 3. Заполнение массива.</vt:lpstr>
      <vt:lpstr>Задания для самостоятельной работы</vt:lpstr>
      <vt:lpstr>Задания для самостоятельной работы</vt:lpstr>
      <vt:lpstr>Задания для самостоятельной работы</vt:lpstr>
      <vt:lpstr>Задания для самостоятельной работы</vt:lpstr>
      <vt:lpstr>Создание разноцветного коврика (Мозаика). </vt:lpstr>
      <vt:lpstr>Создание разноцветного коврика (Мозаика). </vt:lpstr>
      <vt:lpstr>Создание разноцветного коврика (Мозаика). </vt:lpstr>
      <vt:lpstr>Массив рисунков</vt:lpstr>
      <vt:lpstr>Массив рисунков (задание 8)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С#  ДВУМЕРНЫЕ  МАССИВЫ</dc:title>
  <dc:creator>Мария Белякова</dc:creator>
  <cp:lastModifiedBy>kalininax</cp:lastModifiedBy>
  <cp:revision>21</cp:revision>
  <dcterms:created xsi:type="dcterms:W3CDTF">2022-02-27T16:02:09Z</dcterms:created>
  <dcterms:modified xsi:type="dcterms:W3CDTF">2022-03-01T03:11:22Z</dcterms:modified>
</cp:coreProperties>
</file>