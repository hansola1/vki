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74" r:id="rId15"/>
    <p:sldId id="269" r:id="rId16"/>
    <p:sldId id="270" r:id="rId17"/>
    <p:sldId id="272" r:id="rId18"/>
    <p:sldId id="273" r:id="rId19"/>
    <p:sldId id="275" r:id="rId20"/>
    <p:sldId id="276" r:id="rId21"/>
    <p:sldId id="277" r:id="rId22"/>
    <p:sldId id="271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86" d="100"/>
          <a:sy n="86" d="100"/>
        </p:scale>
        <p:origin x="-72" y="-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4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DE2129-4256-49A7-A4F7-8640A0E92F68}" type="datetimeFigureOut">
              <a:rPr lang="ru-RU" smtClean="0"/>
              <a:pPr/>
              <a:t>15.02.2022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0AFC18-7185-44A9-BA96-A975229CF3C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42057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844B39F-018B-4362-A186-290F42198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8ED1DCA7-9C9E-4C2D-9E8B-72A488C2C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5E2C928-9AE4-425D-9435-EEA95F1EC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B299-CA94-4F93-B840-3A40FC33C3CA}" type="datetime1">
              <a:rPr lang="ru-RU" smtClean="0"/>
              <a:pPr/>
              <a:t>15.02.2022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70A4FB0-538A-4B94-85F9-1F2EE2E35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5A56DDC6-45C7-42AB-B34F-8E6C1947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0604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69A3B73-AEFB-4FF5-BDD3-A735C6C18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DF87960-4055-46C3-AD74-022EBD0D4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FF47EEC-81E8-4061-B5AD-7DB91ECC1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B634-A40C-4CB4-998A-13F9BF2995B6}" type="datetime1">
              <a:rPr lang="ru-RU" smtClean="0"/>
              <a:pPr/>
              <a:t>15.02.2022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1F863E1-23EA-49D4-8981-77A513F5F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86B8B8B-BF3F-4B41-AB90-F950C7464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05841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A38649C-7B01-4F86-9283-FCD212294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C6E4028-7425-4411-8ABC-A19788096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681E0B5-DEC3-46E3-BDA1-2E7AD6798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C061-546A-42AC-A2B5-22F2A389A181}" type="datetime1">
              <a:rPr lang="ru-RU" smtClean="0"/>
              <a:pPr/>
              <a:t>15.02.2022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2B2A010-CB6A-4E65-A868-3A74F4D01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B27652F-A81C-47AA-A579-48A57FEEA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35343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190DC2C-5CE9-4C14-9066-B40E95E7C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8C48B41-BAF0-414B-847D-9E59B42DE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0D99988D-2E32-4261-9574-A684BB600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68ED6D4F-22E3-4CD7-896E-F27BD2E06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BB1CC-6779-42A9-B89B-E79EDC2F7365}" type="datetime1">
              <a:rPr lang="ru-RU" smtClean="0"/>
              <a:pPr/>
              <a:t>15.02.2022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2CDC7A29-D5DB-40FE-84F2-1CD15C0D6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5658F824-A30B-4D67-BD0C-0D57204A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08879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94EBBC6-DB45-46D1-BF00-879C20992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6A3D51D7-9FA0-4169-B6C1-F45166586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ED007B42-1128-41A7-A7DD-E2801B36D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7D5FE886-9818-479B-BC53-003DE8402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913773FE-822B-4BD5-8426-FC1D50C34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273F5923-D8C7-46DB-9C22-C32B2382D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8A0F-692F-4E21-91BC-FF2C74A6DAD9}" type="datetime1">
              <a:rPr lang="ru-RU" smtClean="0"/>
              <a:pPr/>
              <a:t>15.02.2022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74D1FE23-5266-4F10-82FA-47B1FC3BB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DC910C1E-AC6C-4DE4-8F40-F651C127B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2674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362AC94-CCE7-4442-96AF-691FAC468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E0DE31AB-1BB3-45F8-8FD2-0A489537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FAE5-37F0-4609-9C44-06EA5596D136}" type="datetime1">
              <a:rPr lang="ru-RU" smtClean="0"/>
              <a:pPr/>
              <a:t>15.02.2022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DAFD2866-A0F0-419E-9254-AA94A689D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AC2B8851-66D2-4E6D-938A-3B6988E91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87462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53512CD1-FCE3-4ADB-8BA9-AAD82152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1797-9358-46F3-B1B5-F15F4C04689C}" type="datetime1">
              <a:rPr lang="ru-RU" smtClean="0"/>
              <a:pPr/>
              <a:t>15.02.2022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D1798E18-02D0-4F2A-8213-A04DDE74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D1CEC319-C0E4-4AE2-8664-48F115EFC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3275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CD25D5A-A6C5-498A-862E-DD044762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195D66C-D429-4C04-97BA-145D532AF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F170EE0B-8A70-4C7A-9277-3D1A49461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9DCDFB8-B707-4999-8E0F-AEC534979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7B6D-9AEB-49A3-9158-F0C2C95811A8}" type="datetime1">
              <a:rPr lang="ru-RU" smtClean="0"/>
              <a:pPr/>
              <a:t>15.02.2022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2D119D7D-F854-41FE-A760-17F984C2C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337014FE-418F-498E-AA14-77D0B052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51894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2CBCA1A-F32E-4918-B53C-8305B2149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954F2A7F-DD76-4787-9EC6-71BDDFB2A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76939B9C-3082-4A9D-8186-CE9235995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875B3096-DA72-4672-9BE9-A4B790E72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327F-05FC-454B-A5C6-2EDD39E59658}" type="datetime1">
              <a:rPr lang="ru-RU" smtClean="0"/>
              <a:pPr/>
              <a:t>15.02.2022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BEE53057-023C-45C8-A9A8-FD55B9208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2267F9C6-E7F2-47BA-9E4A-CF8992BAD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3234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2519637-2F74-4196-8730-638C3943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D1C56F7E-B00D-4966-87EB-74BA86E01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D0D16F7-6CC5-4DD8-8230-3E93671A0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C78D-BB8E-4620-98FF-FB73A0F588D7}" type="datetime1">
              <a:rPr lang="ru-RU" smtClean="0"/>
              <a:pPr/>
              <a:t>15.02.2022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AACDF02-A359-4B92-8230-F5D3E142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7F5D3C5-25DA-4FBA-BC85-C2F07CF45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83740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32C79821-BA33-46EF-8F2D-23EC276A7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4B776477-1519-40D2-B757-CC5ED9165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2CFE2A28-F07F-4D0E-97F1-FB53A9C01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46BF8-5D30-4609-A718-A1B1EF8F4288}" type="datetime1">
              <a:rPr lang="ru-RU" smtClean="0"/>
              <a:pPr/>
              <a:t>15.02.2022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848C578-899B-49DD-95AB-C2FBB2C53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E2C52269-FFA1-467F-9493-F32F5B8F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1689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988F0A8-7EDF-45F9-9087-A5AAABEBE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631738E8-E8E4-47D7-AB42-67427C082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88831F9-C9CE-42FB-825D-5030A99A2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A22FE-161E-4754-B460-21E1FED739A5}" type="datetime1">
              <a:rPr lang="ru-RU" smtClean="0"/>
              <a:pPr/>
              <a:t>15.02.2022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D3A3E31-DBE8-42F4-B4CD-984AA0411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AEC16B5-E9E0-423B-B4AA-42589F3341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B708D-4BCA-4D30-AAE1-CF871648D5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4248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2F571D3-8199-453A-854B-5D0442A2E5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Неуправляемое движение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F419496B-504E-401C-92FD-FF33F43F2D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Мяч, движущийся с переменной скоростью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4C2E51CE-C210-4682-90CB-7C614066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22170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405770D-B65D-4349-8614-06B2456F4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Какое приложение мы хотим…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F08B656-5652-4ED8-A11C-00654040F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 форме </a:t>
            </a:r>
            <a:r>
              <a:rPr lang="ru-RU" dirty="0">
                <a:solidFill>
                  <a:srgbClr val="FF0000"/>
                </a:solidFill>
              </a:rPr>
              <a:t>летает мячик</a:t>
            </a:r>
            <a:r>
              <a:rPr lang="ru-RU" dirty="0"/>
              <a:t>, при этом мы можем </a:t>
            </a:r>
            <a:r>
              <a:rPr lang="ru-RU" dirty="0">
                <a:solidFill>
                  <a:srgbClr val="FF0000"/>
                </a:solidFill>
              </a:rPr>
              <a:t>замедлять</a:t>
            </a:r>
            <a:r>
              <a:rPr lang="ru-RU" dirty="0"/>
              <a:t> и </a:t>
            </a:r>
            <a:r>
              <a:rPr lang="ru-RU" dirty="0">
                <a:solidFill>
                  <a:srgbClr val="FF0000"/>
                </a:solidFill>
              </a:rPr>
              <a:t>ускорять</a:t>
            </a:r>
            <a:r>
              <a:rPr lang="ru-RU" dirty="0"/>
              <a:t> его движение с помощью стрелочек.</a:t>
            </a:r>
          </a:p>
          <a:p>
            <a:r>
              <a:rPr lang="ru-RU" dirty="0"/>
              <a:t>По кнопке «</a:t>
            </a:r>
            <a:r>
              <a:rPr lang="en-US" dirty="0"/>
              <a:t>Start</a:t>
            </a:r>
            <a:r>
              <a:rPr lang="ru-RU" dirty="0"/>
              <a:t>»</a:t>
            </a:r>
            <a:r>
              <a:rPr lang="en-US" dirty="0"/>
              <a:t> </a:t>
            </a:r>
            <a:r>
              <a:rPr lang="ru-RU" dirty="0"/>
              <a:t>мы можем запустить движение мячика, по кнопке «</a:t>
            </a:r>
            <a:r>
              <a:rPr lang="en-US" dirty="0"/>
              <a:t>Stop</a:t>
            </a:r>
            <a:r>
              <a:rPr lang="ru-RU" dirty="0"/>
              <a:t>»</a:t>
            </a:r>
            <a:r>
              <a:rPr lang="en-US" dirty="0"/>
              <a:t> - </a:t>
            </a:r>
            <a:r>
              <a:rPr lang="ru-RU" dirty="0"/>
              <a:t>остановить это движение</a:t>
            </a:r>
          </a:p>
          <a:p>
            <a:r>
              <a:rPr lang="ru-RU" dirty="0"/>
              <a:t>Таким образом, на экране есть 3 элемента управления</a:t>
            </a:r>
          </a:p>
          <a:p>
            <a:pPr lvl="1"/>
            <a:r>
              <a:rPr lang="ru-RU" dirty="0"/>
              <a:t>Кнопка «</a:t>
            </a:r>
            <a:r>
              <a:rPr lang="en-US" dirty="0"/>
              <a:t>Start</a:t>
            </a:r>
            <a:r>
              <a:rPr lang="ru-RU" dirty="0"/>
              <a:t>»</a:t>
            </a:r>
            <a:endParaRPr lang="en-US" dirty="0"/>
          </a:p>
          <a:p>
            <a:pPr lvl="1"/>
            <a:r>
              <a:rPr lang="ru-RU" dirty="0"/>
              <a:t>Кнопка «</a:t>
            </a:r>
            <a:r>
              <a:rPr lang="en-US" dirty="0"/>
              <a:t>Stop</a:t>
            </a:r>
            <a:r>
              <a:rPr lang="ru-RU" dirty="0"/>
              <a:t>»</a:t>
            </a:r>
            <a:endParaRPr lang="en-US" dirty="0"/>
          </a:p>
          <a:p>
            <a:pPr lvl="1"/>
            <a:r>
              <a:rPr lang="ru-RU" dirty="0"/>
              <a:t>Элемент управления со стрелками, который позволяет менять скорость шарика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5E6CE26A-6C89-4FFA-AE3F-70D60263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4315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677BE81-52BC-4C8F-873F-40D52C4F6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6300" cy="523875"/>
          </a:xfrm>
        </p:spPr>
        <p:txBody>
          <a:bodyPr>
            <a:normAutofit fontScale="90000"/>
          </a:bodyPr>
          <a:lstStyle/>
          <a:p>
            <a:r>
              <a:rPr lang="ru-RU" dirty="0"/>
              <a:t>Создаем проект </a:t>
            </a:r>
            <a:r>
              <a:rPr lang="en-US" dirty="0"/>
              <a:t>Windows Forms(</a:t>
            </a:r>
            <a:r>
              <a:rPr lang="en-US" dirty="0" err="1"/>
              <a:t>.Net</a:t>
            </a:r>
            <a:r>
              <a:rPr lang="en-US" dirty="0"/>
              <a:t> Framework)</a:t>
            </a:r>
            <a:r>
              <a:rPr lang="ru-RU" dirty="0"/>
              <a:t>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C6E8E56B-A9CB-481B-BA0A-4C1446676B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4625" y="889000"/>
            <a:ext cx="9658350" cy="5969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B0242C74-AA42-4F7B-93DA-EEC6E86D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6449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93AB61F-D901-4EE4-8EC2-23991DBFC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180975"/>
            <a:ext cx="10515600" cy="32067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Проект называем </a:t>
            </a:r>
            <a:r>
              <a:rPr lang="en-US" dirty="0" err="1"/>
              <a:t>WindowsFormsAppBall</a:t>
            </a:r>
            <a:r>
              <a:rPr lang="ru-RU" dirty="0"/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487E3F19-F52D-4556-8693-C0D89D8BBA3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66825" y="711200"/>
            <a:ext cx="9658350" cy="61468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83A5D0B9-D2E8-4E4F-A7B7-65C7147A8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05471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7450809-F8C4-449F-9C28-F2D7B2D5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3600" cy="473075"/>
          </a:xfrm>
        </p:spPr>
        <p:txBody>
          <a:bodyPr>
            <a:normAutofit fontScale="90000"/>
          </a:bodyPr>
          <a:lstStyle/>
          <a:p>
            <a:r>
              <a:rPr lang="ru-RU" dirty="0"/>
              <a:t>Открывается стандартное окно шаблона проекта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5F41C2A-0B31-4D0D-B293-BD6B50FD8B8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77937" y="1054100"/>
            <a:ext cx="8772525" cy="543877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043020DE-A99A-409A-9E2A-3F9393EDD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32202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504967F-8305-46FB-B2E6-207DAC8D2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>
            <a:noAutofit/>
          </a:bodyPr>
          <a:lstStyle/>
          <a:p>
            <a:r>
              <a:rPr lang="ru-RU" sz="3600" dirty="0"/>
              <a:t>Помещаем на форму элементы управления в той последовательности, как они указаны в списке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1357E0C-8E51-4A58-8DAC-100255407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dirty="0"/>
              <a:t>Кнопка </a:t>
            </a:r>
            <a:r>
              <a:rPr lang="en-US" dirty="0">
                <a:solidFill>
                  <a:srgbClr val="FF0000"/>
                </a:solidFill>
              </a:rPr>
              <a:t>“Start”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(чтобы запускать движение мяча)</a:t>
            </a: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dirty="0"/>
              <a:t>Кнопка </a:t>
            </a:r>
            <a:r>
              <a:rPr lang="ru-RU" dirty="0">
                <a:solidFill>
                  <a:srgbClr val="FF0000"/>
                </a:solidFill>
              </a:rPr>
              <a:t>«</a:t>
            </a:r>
            <a:r>
              <a:rPr lang="en-US" dirty="0">
                <a:solidFill>
                  <a:srgbClr val="FF0000"/>
                </a:solidFill>
              </a:rPr>
              <a:t>Stop</a:t>
            </a:r>
            <a:r>
              <a:rPr lang="ru-RU" dirty="0">
                <a:solidFill>
                  <a:srgbClr val="FF0000"/>
                </a:solidFill>
              </a:rPr>
              <a:t>» </a:t>
            </a:r>
            <a:r>
              <a:rPr lang="ru-RU" dirty="0"/>
              <a:t>(чтобы </a:t>
            </a:r>
            <a:r>
              <a:rPr lang="ru-RU" dirty="0" err="1"/>
              <a:t>останавлдивать</a:t>
            </a:r>
            <a:r>
              <a:rPr lang="ru-RU" dirty="0"/>
              <a:t> движение мяча)</a:t>
            </a: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dirty="0"/>
              <a:t>Элемент </a:t>
            </a:r>
            <a:r>
              <a:rPr lang="ru-RU" dirty="0">
                <a:solidFill>
                  <a:srgbClr val="FF0000"/>
                </a:solidFill>
              </a:rPr>
              <a:t>«</a:t>
            </a:r>
            <a:r>
              <a:rPr lang="en-US" dirty="0">
                <a:solidFill>
                  <a:srgbClr val="FF0000"/>
                </a:solidFill>
              </a:rPr>
              <a:t>Timer</a:t>
            </a:r>
            <a:r>
              <a:rPr lang="ru-RU" dirty="0">
                <a:solidFill>
                  <a:srgbClr val="FF0000"/>
                </a:solidFill>
              </a:rPr>
              <a:t>», </a:t>
            </a:r>
            <a:r>
              <a:rPr lang="ru-RU" dirty="0"/>
              <a:t>который виден ниже формы, но на форме не отображается (на каждый интервал «тиков» </a:t>
            </a:r>
            <a:r>
              <a:rPr lang="en-US" dirty="0"/>
              <a:t>Timer </a:t>
            </a:r>
            <a:r>
              <a:rPr lang="ru-RU" dirty="0"/>
              <a:t>(таймера) мяч будет смещаться на 1 шаг по </a:t>
            </a:r>
            <a:r>
              <a:rPr lang="en-US" dirty="0"/>
              <a:t>x </a:t>
            </a:r>
            <a:r>
              <a:rPr lang="ru-RU" dirty="0"/>
              <a:t>и по </a:t>
            </a:r>
            <a:r>
              <a:rPr lang="en-US" dirty="0"/>
              <a:t>y</a:t>
            </a:r>
            <a:endParaRPr lang="ru-RU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dirty="0"/>
              <a:t>Элемент </a:t>
            </a:r>
            <a:r>
              <a:rPr lang="en-US" dirty="0" err="1">
                <a:solidFill>
                  <a:srgbClr val="FF0000"/>
                </a:solidFill>
              </a:rPr>
              <a:t>numericUpDown</a:t>
            </a:r>
            <a:r>
              <a:rPr lang="ru-RU" dirty="0"/>
              <a:t> (чтобы </a:t>
            </a:r>
            <a:r>
              <a:rPr lang="ru-RU" dirty="0" err="1"/>
              <a:t>регклировать</a:t>
            </a:r>
            <a:r>
              <a:rPr lang="ru-RU" dirty="0"/>
              <a:t> скорость мяча)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B9C6C46E-4FB8-4C67-BEE7-70479691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24310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AA42EAE-10EF-402F-81DD-D0134A8C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имен объектов управления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3CA8BE2-06DC-4CA2-938B-B22C7C645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dirty="0"/>
              <a:t>Когда мы создаем кнопки, система по умолчанию дает им свои имена </a:t>
            </a:r>
            <a:r>
              <a:rPr lang="en-US" dirty="0">
                <a:solidFill>
                  <a:srgbClr val="FF0000"/>
                </a:solidFill>
              </a:rPr>
              <a:t>button1</a:t>
            </a:r>
            <a:r>
              <a:rPr lang="ru-RU" dirty="0"/>
              <a:t> и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button2</a:t>
            </a:r>
            <a:r>
              <a:rPr lang="ru-RU" dirty="0"/>
              <a:t>. Для более ясного чтения текста программы заменим их </a:t>
            </a:r>
            <a:r>
              <a:rPr lang="ru-RU" dirty="0">
                <a:solidFill>
                  <a:srgbClr val="FF0000"/>
                </a:solidFill>
              </a:rPr>
              <a:t>на </a:t>
            </a:r>
            <a:r>
              <a:rPr lang="en-US" dirty="0" err="1">
                <a:solidFill>
                  <a:srgbClr val="FF0000"/>
                </a:solidFill>
              </a:rPr>
              <a:t>button_start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ru-RU" dirty="0"/>
              <a:t>и </a:t>
            </a:r>
            <a:r>
              <a:rPr lang="en-US" dirty="0" err="1">
                <a:solidFill>
                  <a:srgbClr val="FF0000"/>
                </a:solidFill>
              </a:rPr>
              <a:t>button_stop</a:t>
            </a:r>
            <a:endParaRPr lang="en-US" dirty="0">
              <a:solidFill>
                <a:srgbClr val="FF0000"/>
              </a:solidFill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dirty="0"/>
              <a:t>Для этого свойство </a:t>
            </a:r>
            <a:r>
              <a:rPr lang="en-US" dirty="0">
                <a:solidFill>
                  <a:srgbClr val="FF0000"/>
                </a:solidFill>
              </a:rPr>
              <a:t>Name</a:t>
            </a:r>
            <a:r>
              <a:rPr lang="en-US" dirty="0"/>
              <a:t> </a:t>
            </a:r>
            <a:r>
              <a:rPr lang="ru-RU" dirty="0"/>
              <a:t>изменим с </a:t>
            </a:r>
            <a:r>
              <a:rPr lang="en-US" dirty="0">
                <a:solidFill>
                  <a:srgbClr val="FF0000"/>
                </a:solidFill>
              </a:rPr>
              <a:t>button1(button2) </a:t>
            </a:r>
            <a:r>
              <a:rPr lang="ru-RU" dirty="0"/>
              <a:t>на </a:t>
            </a:r>
            <a:r>
              <a:rPr lang="en-US" dirty="0" err="1">
                <a:solidFill>
                  <a:srgbClr val="FF0000"/>
                </a:solidFill>
              </a:rPr>
              <a:t>button_start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button_stop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dirty="0"/>
              <a:t>Свойство </a:t>
            </a:r>
            <a:r>
              <a:rPr lang="en-US" dirty="0">
                <a:solidFill>
                  <a:srgbClr val="FF0000"/>
                </a:solidFill>
              </a:rPr>
              <a:t>Text</a:t>
            </a:r>
            <a:r>
              <a:rPr lang="ru-RU" dirty="0"/>
              <a:t> с </a:t>
            </a:r>
            <a:r>
              <a:rPr lang="en-US" dirty="0"/>
              <a:t>buttin1 (button2) </a:t>
            </a:r>
            <a:r>
              <a:rPr lang="ru-RU" dirty="0"/>
              <a:t>заменим соответственно на </a:t>
            </a:r>
            <a:r>
              <a:rPr lang="en-US" dirty="0">
                <a:solidFill>
                  <a:srgbClr val="FF0000"/>
                </a:solidFill>
              </a:rPr>
              <a:t>Start (Stop)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dirty="0"/>
              <a:t>Технология замены показана на следующем слайде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A74486B5-5045-439D-A376-7128637E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03003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BDD2506-1550-4BE6-B056-C1A554D8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00600" cy="1325563"/>
          </a:xfrm>
        </p:spPr>
        <p:txBody>
          <a:bodyPr/>
          <a:lstStyle/>
          <a:p>
            <a:r>
              <a:rPr lang="en-US" dirty="0"/>
              <a:t>Name: </a:t>
            </a:r>
            <a:r>
              <a:rPr lang="en-US" dirty="0" err="1"/>
              <a:t>button_start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Text: Start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9BA11CC6-E0B8-4BE6-B75C-68AF2DC728B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1906758"/>
            <a:ext cx="3232150" cy="213819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E882FBBD-D7E7-4679-B016-DEE9CF59FB6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14625" y="2705100"/>
            <a:ext cx="4162013" cy="31654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D0AFD5A1-D309-48B8-924C-F9DBE509C2E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32624" y="2338724"/>
            <a:ext cx="4041775" cy="38223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40FCE81-F415-45F0-89D2-C531638570EC}"/>
              </a:ext>
            </a:extLst>
          </p:cNvPr>
          <p:cNvSpPr txBox="1"/>
          <p:nvPr/>
        </p:nvSpPr>
        <p:spPr>
          <a:xfrm>
            <a:off x="6809963" y="560537"/>
            <a:ext cx="5156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Изменяем свойства кнопки </a:t>
            </a:r>
            <a:r>
              <a:rPr lang="en-US" sz="3200" dirty="0"/>
              <a:t>button1</a:t>
            </a:r>
            <a:endParaRPr lang="ru-RU" sz="3200" dirty="0"/>
          </a:p>
        </p:txBody>
      </p:sp>
      <p:sp>
        <p:nvSpPr>
          <p:cNvPr id="11" name="Стрелка: влево 10">
            <a:extLst>
              <a:ext uri="{FF2B5EF4-FFF2-40B4-BE49-F238E27FC236}">
                <a16:creationId xmlns:a16="http://schemas.microsoft.com/office/drawing/2014/main" xmlns="" id="{59BC68B7-8FFD-4B9C-AD67-46E84B37FC50}"/>
              </a:ext>
            </a:extLst>
          </p:cNvPr>
          <p:cNvSpPr/>
          <p:nvPr/>
        </p:nvSpPr>
        <p:spPr>
          <a:xfrm>
            <a:off x="5638800" y="987425"/>
            <a:ext cx="914402" cy="40957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390999E7-A397-4282-979A-FDEDD759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35429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F54D6D7-AAB0-41E8-B9F7-BFEBE22BC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Вставка «</a:t>
            </a:r>
            <a:r>
              <a:rPr lang="en-US" dirty="0"/>
              <a:t>Timer</a:t>
            </a:r>
            <a:r>
              <a:rPr lang="ru-RU" dirty="0"/>
              <a:t>»</a:t>
            </a:r>
            <a:r>
              <a:rPr lang="en-US" dirty="0"/>
              <a:t> </a:t>
            </a:r>
            <a:r>
              <a:rPr lang="ru-RU" dirty="0"/>
              <a:t>и «</a:t>
            </a:r>
            <a:r>
              <a:rPr lang="en-US" dirty="0" err="1"/>
              <a:t>numericUpDown</a:t>
            </a:r>
            <a:r>
              <a:rPr lang="ru-RU" dirty="0"/>
              <a:t>»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8AA0F849-7EBF-48A5-8EA8-077014336A9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09263" y="2497015"/>
            <a:ext cx="6139556" cy="28131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5B132D1D-017F-4F2C-B916-A5B6240C921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3641" y="1881554"/>
            <a:ext cx="5095622" cy="3554353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F0022F77-82B4-4237-B8CE-F29576C62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94363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B101D95-BC3D-44B9-89EB-F5840D4C6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7400" cy="777875"/>
          </a:xfrm>
        </p:spPr>
        <p:txBody>
          <a:bodyPr>
            <a:normAutofit/>
          </a:bodyPr>
          <a:lstStyle/>
          <a:p>
            <a:r>
              <a:rPr lang="ru-RU" sz="3200" dirty="0"/>
              <a:t>Здесь приведена форма с элементами управления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FB5EA34B-4210-4BA5-80CA-F55C189427B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287" y="1028700"/>
            <a:ext cx="8896107" cy="58293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EBB696D7-E900-42B0-AA9A-BD5F84C4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84486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C41C3F8-2AF6-4718-826B-84057814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Увеличим шрифт на элементах управления, используя свойство «</a:t>
            </a:r>
            <a:r>
              <a:rPr lang="en-US" sz="3200" dirty="0"/>
              <a:t>Font</a:t>
            </a:r>
            <a:r>
              <a:rPr lang="ru-RU" sz="3200" dirty="0"/>
              <a:t>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033908C2-582B-4F62-B316-B3CF9DC5B05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1487" y="1066800"/>
            <a:ext cx="7972425" cy="50482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C9921907-AAFC-4DF8-AB1B-AC0D7A3CD54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41506" y="2414311"/>
            <a:ext cx="3810794" cy="395315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146C2BE9-2E97-4109-9097-2F4867CEF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66933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56AF989-9D99-4E29-9A91-992BC51D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Объявим переменные, областью видимости которых является форма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C3B7E3C-5B30-4ECA-8AA0-CB1BC6DE1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21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public partial class </a:t>
            </a:r>
            <a:r>
              <a:rPr lang="en-US" sz="1800" b="0" i="0" u="none" strike="noStrike" baseline="0" dirty="0">
                <a:solidFill>
                  <a:srgbClr val="2B91AE"/>
                </a:solidFill>
                <a:latin typeface="Consolas" panose="020B0609020204030204" pitchFamily="49" charset="0"/>
              </a:rPr>
              <a:t>Form1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: Form </a:t>
            </a:r>
          </a:p>
          <a:p>
            <a:pPr marL="0" indent="0"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</a:p>
          <a:p>
            <a:pPr marL="0" indent="0"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Graphics g; </a:t>
            </a:r>
            <a:r>
              <a:rPr lang="ru-RU" sz="1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// Объявляем графическую поверхность </a:t>
            </a:r>
            <a:endParaRPr lang="ru-RU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Rectangle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rct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//Прямоугольник с размерами рисунка </a:t>
            </a:r>
            <a:endParaRPr lang="ru-RU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private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Image Ball;</a:t>
            </a:r>
            <a:r>
              <a:rPr lang="en-US" sz="1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Рисунок </a:t>
            </a:r>
          </a:p>
          <a:p>
            <a:pPr marL="0" indent="0">
              <a:buNone/>
            </a:pPr>
            <a:r>
              <a:rPr lang="es-ES" sz="1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x = 400, y = 100, dx = 2, dy = 2; </a:t>
            </a: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xmlns="" id="{A16CA604-2F7F-4B15-BC9E-AD913F86759C}"/>
              </a:ext>
            </a:extLst>
          </p:cNvPr>
          <p:cNvSpPr/>
          <p:nvPr/>
        </p:nvSpPr>
        <p:spPr>
          <a:xfrm>
            <a:off x="685800" y="1690688"/>
            <a:ext cx="4648200" cy="84931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xmlns="" id="{CFF353B5-B640-4297-803B-E64BFEDD7F9F}"/>
              </a:ext>
            </a:extLst>
          </p:cNvPr>
          <p:cNvSpPr/>
          <p:nvPr/>
        </p:nvSpPr>
        <p:spPr>
          <a:xfrm>
            <a:off x="685800" y="2540000"/>
            <a:ext cx="6642100" cy="177800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: влево 5">
            <a:extLst>
              <a:ext uri="{FF2B5EF4-FFF2-40B4-BE49-F238E27FC236}">
                <a16:creationId xmlns:a16="http://schemas.microsoft.com/office/drawing/2014/main" xmlns="" id="{F56806A1-2F91-4C84-BC50-715502752377}"/>
              </a:ext>
            </a:extLst>
          </p:cNvPr>
          <p:cNvSpPr/>
          <p:nvPr/>
        </p:nvSpPr>
        <p:spPr>
          <a:xfrm>
            <a:off x="5821485" y="1838325"/>
            <a:ext cx="1811215" cy="39003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: влево 6">
            <a:extLst>
              <a:ext uri="{FF2B5EF4-FFF2-40B4-BE49-F238E27FC236}">
                <a16:creationId xmlns:a16="http://schemas.microsoft.com/office/drawing/2014/main" xmlns="" id="{EA080D79-D53D-4FEB-AF29-019C01FF9453}"/>
              </a:ext>
            </a:extLst>
          </p:cNvPr>
          <p:cNvSpPr/>
          <p:nvPr/>
        </p:nvSpPr>
        <p:spPr>
          <a:xfrm>
            <a:off x="7948246" y="3270738"/>
            <a:ext cx="1828800" cy="47478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EBC113F-8D00-4437-B630-28A857B0B7D0}"/>
              </a:ext>
            </a:extLst>
          </p:cNvPr>
          <p:cNvSpPr txBox="1"/>
          <p:nvPr/>
        </p:nvSpPr>
        <p:spPr>
          <a:xfrm>
            <a:off x="8018584" y="1809878"/>
            <a:ext cx="295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Это есть в шаблоне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187F877-45FB-44F7-86C6-5EFAB6ED69A9}"/>
              </a:ext>
            </a:extLst>
          </p:cNvPr>
          <p:cNvSpPr txBox="1"/>
          <p:nvPr/>
        </p:nvSpPr>
        <p:spPr>
          <a:xfrm>
            <a:off x="9900138" y="3024554"/>
            <a:ext cx="182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Это мы вставляем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xmlns="" id="{505F49DE-1975-47B7-914C-DD31BE54B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56339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F5224A3-FD07-453B-A96C-8BDAF02BF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Получается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04ECD94-944B-4207-8B46-AF9585194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WindowsFormsAppBall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: Form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Graphics g;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Объявляем графическую поверхность 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ru-R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Rectangle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rct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//Прямоугольник с размерами рисунка 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Image Ball;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Рисунок 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s-E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x = 400, y = 100, dx = 2, dy = 2;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InitializeComponent</a:t>
            </a:r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g </a:t>
            </a:r>
            <a:r>
              <a:rPr lang="en-US" sz="1800" dirty="0" smtClean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 </a:t>
            </a:r>
            <a:r>
              <a:rPr lang="en-US" sz="2000" dirty="0" err="1" smtClean="0">
                <a:solidFill>
                  <a:srgbClr val="0000FF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800" dirty="0" err="1" smtClean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1800" dirty="0" smtClean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22D38784-2FFB-42A1-BB81-8D0F8D93E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53535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3046596-2AB9-48D0-B039-4BDCA2203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367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Для формы создаем обработчик события </a:t>
            </a:r>
            <a:r>
              <a:rPr lang="en-US" sz="3200" dirty="0"/>
              <a:t>Paint</a:t>
            </a:r>
            <a:r>
              <a:rPr lang="ru-RU" sz="3200" dirty="0"/>
              <a:t>, чтобы нарисовать мяч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07CB2A57-32D8-49DE-8A3B-5B6E2AD4301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1077" y="1466849"/>
            <a:ext cx="3825592" cy="38788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A8389C3-BC9F-4076-94DF-043A7B0CFD0B}"/>
              </a:ext>
            </a:extLst>
          </p:cNvPr>
          <p:cNvSpPr txBox="1"/>
          <p:nvPr/>
        </p:nvSpPr>
        <p:spPr>
          <a:xfrm>
            <a:off x="4976446" y="1213338"/>
            <a:ext cx="59963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private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void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Form1_Paint(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object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sender,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PaintEventArgs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g.Clear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Color.White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//Окрашиваем форму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g.DrawImage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(Ball, x, y,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Ball.Width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Ball.Height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Рисуем мяч в начальном положении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A7B9427C-13C8-4419-A973-E60D1900C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39056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9E04CA5-80A3-4623-8E89-F4508B7BB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 инициализации формы вставляем рисунок, переменной </a:t>
            </a:r>
            <a:r>
              <a:rPr lang="en-US" dirty="0"/>
              <a:t>Ball </a:t>
            </a:r>
            <a:r>
              <a:rPr lang="ru-RU" dirty="0"/>
              <a:t>присваиваем значение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460B698-2667-4E9B-A3F2-454F2B9A9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02015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public </a:t>
            </a:r>
            <a:r>
              <a:rPr lang="en-US" sz="1800" b="0" i="0" u="none" strike="noStrike" baseline="0" dirty="0">
                <a:solidFill>
                  <a:srgbClr val="2B91AE"/>
                </a:solidFill>
                <a:latin typeface="Consolas" panose="020B0609020204030204" pitchFamily="49" charset="0"/>
              </a:rPr>
              <a:t>Form1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</a:p>
          <a:p>
            <a:pPr marL="0" indent="0"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</a:p>
          <a:p>
            <a:pPr marL="0" indent="0">
              <a:buNone/>
            </a:pPr>
            <a:r>
              <a:rPr lang="en-US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Ball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Bitmap(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"C: \\Users\\Administrator\\source\\repos\\WindowsFormsAMyach\\ball.png"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Создаем рисунок мяча </a:t>
            </a:r>
            <a:endParaRPr lang="en-US" sz="1800" dirty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xmlns="" id="{2D5A331A-78FD-4DCC-B99A-72D24AD2F086}"/>
              </a:ext>
            </a:extLst>
          </p:cNvPr>
          <p:cNvSpPr/>
          <p:nvPr/>
        </p:nvSpPr>
        <p:spPr>
          <a:xfrm>
            <a:off x="838200" y="1690688"/>
            <a:ext cx="3294185" cy="13255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xmlns="" id="{16ABABA6-3CE8-48A7-AD9C-53CFB16299F2}"/>
              </a:ext>
            </a:extLst>
          </p:cNvPr>
          <p:cNvSpPr/>
          <p:nvPr/>
        </p:nvSpPr>
        <p:spPr>
          <a:xfrm>
            <a:off x="838200" y="3016252"/>
            <a:ext cx="4402015" cy="9485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: влево 5">
            <a:extLst>
              <a:ext uri="{FF2B5EF4-FFF2-40B4-BE49-F238E27FC236}">
                <a16:creationId xmlns:a16="http://schemas.microsoft.com/office/drawing/2014/main" xmlns="" id="{DA7A9487-2742-4D58-BAC3-A5A039490D23}"/>
              </a:ext>
            </a:extLst>
          </p:cNvPr>
          <p:cNvSpPr/>
          <p:nvPr/>
        </p:nvSpPr>
        <p:spPr>
          <a:xfrm>
            <a:off x="4554415" y="2250831"/>
            <a:ext cx="1776047" cy="26376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: влево 6">
            <a:extLst>
              <a:ext uri="{FF2B5EF4-FFF2-40B4-BE49-F238E27FC236}">
                <a16:creationId xmlns:a16="http://schemas.microsoft.com/office/drawing/2014/main" xmlns="" id="{D2509DC0-3775-4BDD-B83E-09F3BFC71734}"/>
              </a:ext>
            </a:extLst>
          </p:cNvPr>
          <p:cNvSpPr/>
          <p:nvPr/>
        </p:nvSpPr>
        <p:spPr>
          <a:xfrm>
            <a:off x="5521569" y="3701072"/>
            <a:ext cx="2215662" cy="26376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3673A25-5F15-44D7-91AC-F48A33068CAA}"/>
              </a:ext>
            </a:extLst>
          </p:cNvPr>
          <p:cNvSpPr txBox="1"/>
          <p:nvPr/>
        </p:nvSpPr>
        <p:spPr>
          <a:xfrm>
            <a:off x="6629400" y="2052961"/>
            <a:ext cx="295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Это есть в шаблоне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DFB6ED9-2984-492D-B42D-08FC24A9D7F6}"/>
              </a:ext>
            </a:extLst>
          </p:cNvPr>
          <p:cNvSpPr txBox="1"/>
          <p:nvPr/>
        </p:nvSpPr>
        <p:spPr>
          <a:xfrm>
            <a:off x="8669216" y="3417457"/>
            <a:ext cx="182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Это мы вставляем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1C2BFB1-9DD8-4A8C-98FF-77CE5BE100D4}"/>
              </a:ext>
            </a:extLst>
          </p:cNvPr>
          <p:cNvSpPr txBox="1"/>
          <p:nvPr/>
        </p:nvSpPr>
        <p:spPr>
          <a:xfrm>
            <a:off x="556846" y="4958862"/>
            <a:ext cx="35755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определения пути к файлу рисунка используем «Копировать адрес как текст»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77A0CA1E-A59B-4E07-B26C-6CFDAE271C2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74323" y="4524984"/>
            <a:ext cx="6008856" cy="2036521"/>
          </a:xfrm>
          <a:prstGeom prst="rect">
            <a:avLst/>
          </a:prstGeo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xmlns="" id="{AC5753A1-D2E2-4237-BD6E-C5A5B3971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83107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94F079F-26E2-4CB6-B7B5-7F04E00B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Получилось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0EE65EA-877B-43E0-BC99-93D078AE2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g = 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.CreateGraphics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//C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оздаем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поверхность 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Ball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Bitmap(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"C: \\Users\\Administrator\\source\\repos\\WindowsFormsAMyach\\ball.png"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Создаем рисунок мяча        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// 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К каждому обратному слэшу добавляем еще один </a:t>
            </a:r>
            <a:r>
              <a:rPr lang="ru-R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обоатный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слэш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251D52BF-B19D-4493-B6F9-1BAA1A81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49855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5C2380C-CDF8-4EE6-8231-FCE4EDD7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0290"/>
          </a:xfrm>
        </p:spPr>
        <p:txBody>
          <a:bodyPr/>
          <a:lstStyle/>
          <a:p>
            <a:r>
              <a:rPr lang="ru-RU" dirty="0"/>
              <a:t>Просмотрим свойства элемента </a:t>
            </a:r>
            <a:r>
              <a:rPr lang="en-US" dirty="0"/>
              <a:t>Timer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C91BF9E3-1507-49C3-89C9-DA932E51EC9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1471979"/>
            <a:ext cx="2598945" cy="169325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C837E45C-329C-4D43-9D46-91B024315AE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14837" y="1151792"/>
            <a:ext cx="4340020" cy="30121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7FEE036-BE44-4EEF-A0D2-52DE47509C90}"/>
              </a:ext>
            </a:extLst>
          </p:cNvPr>
          <p:cNvSpPr txBox="1"/>
          <p:nvPr/>
        </p:nvSpPr>
        <p:spPr>
          <a:xfrm>
            <a:off x="580292" y="4888523"/>
            <a:ext cx="9882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Пока мы не редактировали </a:t>
            </a:r>
            <a:r>
              <a:rPr lang="en-US" dirty="0" err="1">
                <a:solidFill>
                  <a:srgbClr val="FF0000"/>
                </a:solidFill>
              </a:rPr>
              <a:t>numericUpDown</a:t>
            </a:r>
            <a:r>
              <a:rPr lang="ru-RU" dirty="0">
                <a:solidFill>
                  <a:srgbClr val="FF0000"/>
                </a:solidFill>
              </a:rPr>
              <a:t>, свойства </a:t>
            </a:r>
            <a:r>
              <a:rPr lang="en-US" dirty="0"/>
              <a:t>Timer </a:t>
            </a:r>
            <a:r>
              <a:rPr lang="ru-RU" dirty="0"/>
              <a:t>можно изменять, в частности </a:t>
            </a:r>
            <a:r>
              <a:rPr lang="en-US" dirty="0"/>
              <a:t>Interval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C8E52ECA-6010-4258-9B41-F6CD0EAD8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48601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F6490D7-4C55-42E0-A5FD-4046A531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Теперь, поскольку мы хотим управлять </a:t>
            </a:r>
            <a:r>
              <a:rPr lang="en-US" sz="2400" dirty="0"/>
              <a:t>Timer</a:t>
            </a:r>
            <a:r>
              <a:rPr lang="ru-RU" sz="2400" dirty="0"/>
              <a:t> через </a:t>
            </a:r>
            <a:r>
              <a:rPr lang="en-US" sz="2400" dirty="0" err="1">
                <a:solidFill>
                  <a:srgbClr val="FF0000"/>
                </a:solidFill>
              </a:rPr>
              <a:t>numericUpDown</a:t>
            </a:r>
            <a:r>
              <a:rPr lang="ru-RU" sz="2400" dirty="0">
                <a:solidFill>
                  <a:srgbClr val="FF0000"/>
                </a:solidFill>
              </a:rPr>
              <a:t>, </a:t>
            </a:r>
            <a:r>
              <a:rPr lang="en-US" sz="2400" dirty="0">
                <a:solidFill>
                  <a:srgbClr val="FF0000"/>
                </a:solidFill>
              </a:rPr>
              <a:t>Interval </a:t>
            </a:r>
            <a:r>
              <a:rPr lang="ru-RU" sz="2400" dirty="0"/>
              <a:t>его изменения будет указываться в его свойстве </a:t>
            </a:r>
            <a:r>
              <a:rPr lang="en-US" sz="2400" dirty="0">
                <a:solidFill>
                  <a:srgbClr val="FF0000"/>
                </a:solidFill>
              </a:rPr>
              <a:t>Value</a:t>
            </a:r>
            <a:r>
              <a:rPr lang="ru-RU" sz="2400" dirty="0"/>
              <a:t>. Этой величине надо присвоить ненулевое значение, желательно больше 1 (иначе вариантов изменения не будет). После этого свойства </a:t>
            </a:r>
            <a:r>
              <a:rPr lang="en-US" sz="2400" dirty="0">
                <a:solidFill>
                  <a:srgbClr val="FF0000"/>
                </a:solidFill>
              </a:rPr>
              <a:t>Timer </a:t>
            </a:r>
            <a:r>
              <a:rPr lang="ru-RU" sz="2400" dirty="0">
                <a:solidFill>
                  <a:srgbClr val="FF0000"/>
                </a:solidFill>
              </a:rPr>
              <a:t>будут недоступны</a:t>
            </a:r>
            <a:r>
              <a:rPr lang="ru-RU" sz="2400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1446B67C-0345-4464-BFB1-9228E98DEFA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7927" y="2157779"/>
            <a:ext cx="1790700" cy="8191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E494103A-CFEB-4C84-8C3E-96751AB5658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58382" y="2157779"/>
            <a:ext cx="4511800" cy="392552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BB322E7E-52EF-4244-BC95-48626258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69073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F654209-5C8E-48AA-A5A2-4E6621C7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0290"/>
          </a:xfrm>
        </p:spPr>
        <p:txBody>
          <a:bodyPr>
            <a:normAutofit/>
          </a:bodyPr>
          <a:lstStyle/>
          <a:p>
            <a:r>
              <a:rPr lang="ru-RU" sz="3200" dirty="0"/>
              <a:t>Создаем обработчик события </a:t>
            </a:r>
            <a:r>
              <a:rPr lang="en-US" sz="3200" dirty="0"/>
              <a:t>Click </a:t>
            </a:r>
            <a:r>
              <a:rPr lang="ru-RU" sz="3200" dirty="0"/>
              <a:t>на кнопке </a:t>
            </a:r>
            <a:r>
              <a:rPr lang="en-US" sz="3200" dirty="0" err="1"/>
              <a:t>button_start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14FCB2C-F4AD-4D9A-8887-19CA11492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button_start_Click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e)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    {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        timer1.Interval = (</a:t>
            </a:r>
            <a:r>
              <a:rPr lang="en-US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)numericUpDown1.Value;</a:t>
            </a:r>
            <a:r>
              <a:rPr lang="en-US" sz="1800" dirty="0">
                <a:solidFill>
                  <a:srgbClr val="008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Интервал таймера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        timer1.Enabled = </a:t>
            </a:r>
            <a:r>
              <a:rPr lang="en-US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Пуск таймера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    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0CF2066E-52BD-4125-A40D-6B7FAAE0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32909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F7B11BD-C628-47A3-92D1-A0E54DE17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6342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Устанавливаем обработчик события </a:t>
            </a:r>
            <a:r>
              <a:rPr lang="en-US" sz="3200" dirty="0"/>
              <a:t>Tick</a:t>
            </a:r>
            <a:r>
              <a:rPr lang="ru-RU" sz="3200" dirty="0"/>
              <a:t> для</a:t>
            </a:r>
            <a:r>
              <a:rPr lang="en-US" sz="3200" dirty="0"/>
              <a:t> Timer</a:t>
            </a:r>
            <a:r>
              <a:rPr lang="ru-RU" sz="3200" dirty="0"/>
              <a:t> –это смещение мячика на одни шаг  по </a:t>
            </a:r>
            <a:r>
              <a:rPr lang="en-US" sz="3200" dirty="0"/>
              <a:t>x </a:t>
            </a:r>
            <a:r>
              <a:rPr lang="ru-RU" sz="3200" dirty="0"/>
              <a:t>и по </a:t>
            </a:r>
            <a:r>
              <a:rPr lang="en-US" sz="3200" dirty="0"/>
              <a:t>y </a:t>
            </a:r>
            <a:r>
              <a:rPr lang="ru-RU" sz="3200" dirty="0"/>
              <a:t>за интервал изменения таймера</a:t>
            </a:r>
            <a:r>
              <a:rPr lang="en-US" sz="3200" dirty="0"/>
              <a:t> </a:t>
            </a:r>
            <a:endParaRPr lang="ru-RU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5196F5BA-679D-46ED-90A6-27B6FDB2356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1820862"/>
            <a:ext cx="1864867" cy="126100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2CE224E4-9E42-41C7-9CF1-CD41A1D2A95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28012" y="1608665"/>
            <a:ext cx="5135975" cy="206586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4B173F0E-F5B0-465E-953C-8A7B1468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54791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8C8E7A3-8C5C-430B-9800-CC6A2FCE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973"/>
            <a:ext cx="10515600" cy="469064"/>
          </a:xfrm>
        </p:spPr>
        <p:txBody>
          <a:bodyPr>
            <a:normAutofit fontScale="90000"/>
          </a:bodyPr>
          <a:lstStyle/>
          <a:p>
            <a:r>
              <a:rPr lang="ru-RU" dirty="0"/>
              <a:t>Вставляем текст обработчика </a:t>
            </a:r>
            <a:r>
              <a:rPr lang="en-US" dirty="0"/>
              <a:t>Tick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73634E8-D1CB-49A2-A3C1-BB0DBAEE4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21" y="879141"/>
            <a:ext cx="12031579" cy="57668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timer1_Tick(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e)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rct.X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x;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//Создаем прямоугольник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rct.Y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y;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rct.Width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Ball.Width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rct.Height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Ball.Height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Invalidate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rct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//Перерисовываем прямоугольник. Стираем мяч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Invalidate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очищает прямоугольник. Если скобки пустые – всю форму.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x += </a:t>
            </a:r>
            <a:r>
              <a:rPr lang="ru-R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dx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//Меняем координаты мяча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y +=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g.DrawImage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(Ball, x, y,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Ball.Width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Ball.Height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рисуем мяч в новом положении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              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//Отражение от стенок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((x &lt; 0) || (x &gt; 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ClientRectangle.Width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-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Ball.Width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))) dx = -dx;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((y &lt; 0) || (y &gt; 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ClientRectangle.Height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-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Ball.Height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)))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-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CC747B77-8758-4AC4-9BCC-0C5EA493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2240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22A91B6-AEA5-44B8-9FFF-D92D5485D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Запускаем приложение и видим... Мяч можно, но скорость его движения постоянна. Он пока не останавливается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E05BFEFB-1D3C-47C0-8970-7BFAAFAE40A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76475" y="1690688"/>
            <a:ext cx="7639050" cy="459105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15EA00D7-87B3-4E65-9E9F-C45CFA8A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34099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B248136-8FF2-43B5-9783-F903FF1B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Вставим обработчик события </a:t>
            </a:r>
            <a:r>
              <a:rPr lang="en-US" sz="3200" dirty="0"/>
              <a:t>Click </a:t>
            </a:r>
            <a:r>
              <a:rPr lang="ru-RU" sz="3200" dirty="0"/>
              <a:t>для кнопки </a:t>
            </a:r>
            <a:r>
              <a:rPr lang="en-US" sz="3200" dirty="0"/>
              <a:t>Stop. </a:t>
            </a:r>
            <a:r>
              <a:rPr lang="ru-RU" sz="3200" dirty="0"/>
              <a:t>Теперь мяч можно остановить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0CD35098-8933-41EE-BBC2-283890CF5EA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0284" y="1732547"/>
            <a:ext cx="1304925" cy="762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F30973E6-A963-4CDD-AA76-CA486A17177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87051" y="1443789"/>
            <a:ext cx="4259179" cy="36178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5181640-44F8-4CE7-9196-98045DB76EB2}"/>
              </a:ext>
            </a:extLst>
          </p:cNvPr>
          <p:cNvSpPr txBox="1"/>
          <p:nvPr/>
        </p:nvSpPr>
        <p:spPr>
          <a:xfrm>
            <a:off x="7275093" y="1443789"/>
            <a:ext cx="4916907" cy="2859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button_stop_Click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e)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    {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        timer1.Enabled = </a:t>
            </a:r>
            <a:r>
              <a:rPr lang="en-US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Остановка таймера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    }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 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D9C04E2-E3AD-437B-BF7B-89006752CC8D}"/>
              </a:ext>
            </a:extLst>
          </p:cNvPr>
          <p:cNvSpPr txBox="1"/>
          <p:nvPr/>
        </p:nvSpPr>
        <p:spPr>
          <a:xfrm>
            <a:off x="7411453" y="4908884"/>
            <a:ext cx="338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Теперь мяч можно остановить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51A04EF6-9DB7-4E93-AE7E-EFB221537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10845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7EA2D2D-1DB6-44F1-8F95-7CDC9A0B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dirty="0"/>
              <a:t>А теперь создадим обработчик события «Изменение значения» (</a:t>
            </a:r>
            <a:r>
              <a:rPr lang="en-US" sz="3200" dirty="0" err="1">
                <a:solidFill>
                  <a:srgbClr val="FF0000"/>
                </a:solidFill>
              </a:rPr>
              <a:t>ValueChanged</a:t>
            </a:r>
            <a:r>
              <a:rPr lang="ru-RU" sz="3200" dirty="0"/>
              <a:t> ) для </a:t>
            </a:r>
            <a:r>
              <a:rPr lang="en-US" sz="3200" dirty="0">
                <a:solidFill>
                  <a:srgbClr val="FF0000"/>
                </a:solidFill>
              </a:rPr>
              <a:t>numericUpDown1</a:t>
            </a:r>
            <a:r>
              <a:rPr lang="ru-RU" sz="3200" dirty="0">
                <a:solidFill>
                  <a:srgbClr val="FF0000"/>
                </a:solidFill>
              </a:rPr>
              <a:t> – изменение интервала таймера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B2AA472A-1168-42A1-8EEA-FF956B11FF5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0421" y="1690688"/>
            <a:ext cx="1714500" cy="10096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E035FF93-962F-4E9E-AF8C-45E31D413DE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66173" y="1562748"/>
            <a:ext cx="4746458" cy="47596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5FAB6D3-EDEB-4D88-8F34-F3F3D4660450}"/>
              </a:ext>
            </a:extLst>
          </p:cNvPr>
          <p:cNvSpPr txBox="1"/>
          <p:nvPr/>
        </p:nvSpPr>
        <p:spPr>
          <a:xfrm>
            <a:off x="6812631" y="2069432"/>
            <a:ext cx="5218948" cy="3975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numericUpDown1_ValueChanged(</a:t>
            </a:r>
            <a:r>
              <a:rPr lang="en-US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e)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    {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(((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)numericUpDown1.Value &gt; 1) &amp;&amp; ((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)numericUpDown1.Value &lt; 100))</a:t>
            </a: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timer1.Interval =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)numericUpDown1.Value;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Интервал таймера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  <a:r>
              <a:rPr lang="en-US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    }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DC1ABAB-7D98-4E10-8177-5C8438EFA46A}"/>
              </a:ext>
            </a:extLst>
          </p:cNvPr>
          <p:cNvSpPr txBox="1"/>
          <p:nvPr/>
        </p:nvSpPr>
        <p:spPr>
          <a:xfrm>
            <a:off x="160421" y="3256545"/>
            <a:ext cx="20854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Чем больше интервал таймера, тем медленнее движется мяч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628910C6-C23D-4137-8808-AFBC2CAA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47725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0BBE147-89B6-4B2C-A614-8E8ECBDFD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Теперь можно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C95BF25-7E05-4A5A-9DDB-AE3703881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Запустить мяч</a:t>
            </a:r>
          </a:p>
          <a:p>
            <a:r>
              <a:rPr lang="ru-RU" dirty="0"/>
              <a:t>Остановить мяч</a:t>
            </a:r>
          </a:p>
          <a:p>
            <a:r>
              <a:rPr lang="ru-RU" dirty="0"/>
              <a:t>И</a:t>
            </a:r>
            <a:r>
              <a:rPr lang="ru-RU"/>
              <a:t>зменить </a:t>
            </a:r>
            <a:r>
              <a:rPr lang="ru-RU" dirty="0"/>
              <a:t>его скорость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FBAC1677-9409-4621-BF47-AD13922BF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B708D-4BCA-4D30-AAE1-CF871648D534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00040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959</Words>
  <Application>Microsoft Office PowerPoint</Application>
  <PresentationFormat>Произвольный</PresentationFormat>
  <Paragraphs>149</Paragraphs>
  <Slides>25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Тема Office</vt:lpstr>
      <vt:lpstr>Неуправляемое движение</vt:lpstr>
      <vt:lpstr>Какое приложение мы хотим…</vt:lpstr>
      <vt:lpstr>Создаем проект Windows Forms(.Net Framework) </vt:lpstr>
      <vt:lpstr>Проект называем WindowsFormsAppBall </vt:lpstr>
      <vt:lpstr>Открывается стандартное окно шаблона проекта</vt:lpstr>
      <vt:lpstr>Помещаем на форму элементы управления в той последовательности, как они указаны в списке</vt:lpstr>
      <vt:lpstr>Изменение имен объектов управления</vt:lpstr>
      <vt:lpstr>Name: button_start Text: Start</vt:lpstr>
      <vt:lpstr>Вставка «Timer» и «numericUpDown»</vt:lpstr>
      <vt:lpstr>Здесь приведена форма с элементами управления</vt:lpstr>
      <vt:lpstr>Увеличим шрифт на элементах управления, используя свойство «Font»</vt:lpstr>
      <vt:lpstr>Объявим переменные, областью видимости которых является форма</vt:lpstr>
      <vt:lpstr>Получается</vt:lpstr>
      <vt:lpstr>Для формы создаем обработчик события Paint, чтобы нарисовать мяч</vt:lpstr>
      <vt:lpstr>При инициализации формы вставляем рисунок, переменной Ball присваиваем значение</vt:lpstr>
      <vt:lpstr>Получилось</vt:lpstr>
      <vt:lpstr>Просмотрим свойства элемента Timer</vt:lpstr>
      <vt:lpstr>Теперь, поскольку мы хотим управлять Timer через numericUpDown, Interval его изменения будет указываться в его свойстве Value. Этой величине надо присвоить ненулевое значение, желательно больше 1 (иначе вариантов изменения не будет). После этого свойства Timer будут недоступны.</vt:lpstr>
      <vt:lpstr>Создаем обработчик события Click на кнопке button_start</vt:lpstr>
      <vt:lpstr>Устанавливаем обработчик события Tick для Timer –это смещение мячика на одни шаг  по x и по y за интервал изменения таймера </vt:lpstr>
      <vt:lpstr>Вставляем текст обработчика Tick</vt:lpstr>
      <vt:lpstr>Запускаем приложение и видим... Мяч можно, но скорость его движения постоянна. Он пока не останавливается</vt:lpstr>
      <vt:lpstr>Вставим обработчик события Click для кнопки Stop. Теперь мяч можно остановить</vt:lpstr>
      <vt:lpstr>А теперь создадим обработчик события «Изменение значения» (ValueChanged ) для numericUpDown1 – изменение интервала таймера</vt:lpstr>
      <vt:lpstr>Теперь можно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Неуправляемое движение</dc:title>
  <dc:creator>Кали Ария</dc:creator>
  <cp:lastModifiedBy>kalininax</cp:lastModifiedBy>
  <cp:revision>18</cp:revision>
  <dcterms:created xsi:type="dcterms:W3CDTF">2022-02-13T20:20:08Z</dcterms:created>
  <dcterms:modified xsi:type="dcterms:W3CDTF">2022-02-15T06:10:27Z</dcterms:modified>
</cp:coreProperties>
</file>