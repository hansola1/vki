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FE564B-8E27-440F-8568-073EDCDEA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80CA58-F28A-412E-82FA-BA26B96FE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AD23FD-FFE3-46CC-9EA1-446EB7CA1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CF68-4BE0-4643-A186-0DB3882379C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7789E3-5F6B-4F77-83E1-2E4A47A5E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1B8FDC-8693-4425-9BFC-482071C5B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06E9-E33D-40B1-8223-9CA4B51F4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168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23D67-F2B9-40D8-A09C-BEB36E4D9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0DDF5B-85A1-4E6B-B0EC-47B42514A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6652D1-1415-4D6C-9F4E-2F9FAB620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CF68-4BE0-4643-A186-0DB3882379C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4CD9E0-5807-456F-9937-9E32D93B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34B28D-C60F-4B1B-83AC-5397DE75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06E9-E33D-40B1-8223-9CA4B51F4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993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841498-9BEA-4495-9A62-B108C3A7B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81D4E2-44DA-4E66-A52D-0B132485C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380B55-FF8F-4CC1-8689-4BB08A2BE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CF68-4BE0-4643-A186-0DB3882379C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2916FE-4BB0-47AE-A99C-F97DF1F34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9EDF21-93A1-4103-AF4A-3D8497E53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06E9-E33D-40B1-8223-9CA4B51F4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527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D2A72F-A3A1-4BAE-974B-993799DBD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E803BE-E34D-4FC4-9FC3-0870C64E0B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0C87FD-E59D-4474-A5D0-F83130025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FB0283F-8C53-422A-9CA8-5CF8AD3BC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CF68-4BE0-4643-A186-0DB3882379C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3D1CEA-23BA-412E-82D2-864660D2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1D95BC-A135-4D78-9239-F95E14E2C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06E9-E33D-40B1-8223-9CA4B51F4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286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D79E86-4EC8-4FB0-96BC-0C416C687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6A62D2-D1FE-4A05-B4E9-602F8F12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30113D-D807-4F63-AC92-DF0F276BC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0DF0B55-3120-494E-B145-E78D91AF38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E40A027-C099-41B7-8F0E-2E2CACDFC5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2F50B10-0CF2-4B63-AE02-3599D55E6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CF68-4BE0-4643-A186-0DB3882379C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F8AE6B2-5131-4369-9620-3820642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D1196E-8253-4953-8117-6F833524F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06E9-E33D-40B1-8223-9CA4B51F4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925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57AB4-C5FA-494A-80D1-9DB8E73DB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CC0843C-224B-48F6-9EA5-95A83BD8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CF68-4BE0-4643-A186-0DB3882379C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95C305B-EFC5-48CF-9D8E-08E32940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FC57DF0-5E23-40D5-A99E-3DC128C8E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06E9-E33D-40B1-8223-9CA4B51F4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071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9573907-6F7D-42B6-817B-5635993C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CF68-4BE0-4643-A186-0DB3882379C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E010D66-20B9-42B5-860E-DF479399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BBAAC0-BD8D-4DBA-B116-FEE4047C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06E9-E33D-40B1-8223-9CA4B51F4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865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4D6A97-CA2F-4FAB-B77F-C42E49800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615207-6399-4021-8CB4-13077AF09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F4AA8C-73E5-4312-8A20-360B5AB08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7EACAC-02C8-4FDE-8033-ECDF29FC6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CF68-4BE0-4643-A186-0DB3882379C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704B66-CB64-4348-8288-9B4F20AFD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F4A54E-1489-4FF2-AE8B-996C1CE59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06E9-E33D-40B1-8223-9CA4B51F4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0033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38165-FBC5-41F0-B45D-540D40BC6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A8EAF31-154D-4206-8BF8-1ED69C1AFA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9391A5-2C08-4574-A26F-1CB76C004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AE21C60-3691-4C0B-A5D6-81F15AFBC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CF68-4BE0-4643-A186-0DB3882379C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109450-D041-4B9E-A1E7-413669D04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8E7A3D5-96C8-4D6A-91D9-DA244D8E1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06E9-E33D-40B1-8223-9CA4B51F4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8000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6D4C0A-21FC-4DF4-8184-4F8B95303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6D2A921-C10A-4474-8657-78F9229D8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0A2E5F-5831-4389-B896-C391C0F59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CF68-4BE0-4643-A186-0DB3882379C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0BAEC2-3A6D-46B9-AE06-B12B47E9A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4ACE93-FBD6-4E3A-B077-EB617712A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06E9-E33D-40B1-8223-9CA4B51F4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087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33A774D-DF4D-4A52-82D8-0C0477481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A904143-44FC-4579-83B1-AAA4701F8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A5E704-D9E6-416F-B769-2C4EABBB3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CF68-4BE0-4643-A186-0DB3882379C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5ECD3C-E225-4F0C-9961-CF4A91086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43E34D-D85B-4808-BE18-4A7E25648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06E9-E33D-40B1-8223-9CA4B51F4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161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459254-27D9-47E5-AEE2-A437AE31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3694E4-3A97-4522-A298-E800B77BD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0E99DB-2486-4960-B47A-1F45FDA21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ACF68-4BE0-4643-A186-0DB3882379C5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F15B38-CF11-43CF-AF28-4DB7308547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1C83C6-3BD0-42CF-AB3E-A9EF935A7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806E9-E33D-40B1-8223-9CA4B51F4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846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CBD3E-97FB-4E9F-B9A2-100C33F4F6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Windows </a:t>
            </a:r>
            <a:r>
              <a:rPr lang="ru-RU" dirty="0">
                <a:solidFill>
                  <a:srgbClr val="FF0000"/>
                </a:solidFill>
              </a:rPr>
              <a:t>приложения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9FFD594-AEB5-4F4D-B679-AB75DDDF28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2400" dirty="0">
                <a:solidFill>
                  <a:srgbClr val="00B050"/>
                </a:solidFill>
              </a:rPr>
              <a:t>На языке </a:t>
            </a:r>
            <a:r>
              <a:rPr lang="en-US" sz="2400" dirty="0">
                <a:solidFill>
                  <a:srgbClr val="00B050"/>
                </a:solidFill>
              </a:rPr>
              <a:t>C#</a:t>
            </a:r>
            <a:endParaRPr lang="ru-RU" sz="2400" dirty="0">
              <a:solidFill>
                <a:srgbClr val="00B050"/>
              </a:solidFill>
            </a:endParaRPr>
          </a:p>
          <a:p>
            <a:r>
              <a:rPr lang="ru-RU" sz="2400" dirty="0">
                <a:solidFill>
                  <a:srgbClr val="00B050"/>
                </a:solidFill>
              </a:rPr>
              <a:t>Тема </a:t>
            </a:r>
            <a:r>
              <a:rPr lang="en-US" sz="2400" dirty="0">
                <a:solidFill>
                  <a:srgbClr val="00B050"/>
                </a:solidFill>
              </a:rPr>
              <a:t>8</a:t>
            </a:r>
          </a:p>
          <a:p>
            <a:r>
              <a:rPr lang="ru-RU" sz="24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Компонент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ictureBox</a:t>
            </a:r>
            <a:endParaRPr lang="ru-RU" sz="24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3107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B4453-42FE-4215-BEE1-B10C2EC2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Компонент</a:t>
            </a:r>
            <a:r>
              <a:rPr lang="ru-RU" dirty="0"/>
              <a:t> </a:t>
            </a:r>
            <a:r>
              <a:rPr lang="en-US" dirty="0" err="1">
                <a:solidFill>
                  <a:srgbClr val="00B050"/>
                </a:solidFill>
              </a:rPr>
              <a:t>PictureBox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E68289-49D5-4699-8214-F48F90BB2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Компонент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PictureBox</a:t>
            </a:r>
            <a:r>
              <a:rPr lang="ru-RU" sz="18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обеспечивает отображение иллюстрации (рисунка, фотографии и т. п.). Свойства компонента</a:t>
            </a: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  <a:p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769D3E20-A98D-4A62-8F52-669C4148E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689842"/>
              </p:ext>
            </p:extLst>
          </p:nvPr>
        </p:nvGraphicFramePr>
        <p:xfrm>
          <a:off x="2650856" y="2561115"/>
          <a:ext cx="6890288" cy="37507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44776">
                  <a:extLst>
                    <a:ext uri="{9D8B030D-6E8A-4147-A177-3AD203B41FA5}">
                      <a16:colId xmlns:a16="http://schemas.microsoft.com/office/drawing/2014/main" val="3921241013"/>
                    </a:ext>
                  </a:extLst>
                </a:gridCol>
                <a:gridCol w="3445512">
                  <a:extLst>
                    <a:ext uri="{9D8B030D-6E8A-4147-A177-3AD203B41FA5}">
                      <a16:colId xmlns:a16="http://schemas.microsoft.com/office/drawing/2014/main" val="2384674869"/>
                    </a:ext>
                  </a:extLst>
                </a:gridCol>
              </a:tblGrid>
              <a:tr h="248671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Свойство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Описание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0827853"/>
                  </a:ext>
                </a:extLst>
              </a:tr>
              <a:tr h="186503"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Image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850">
                          <a:effectLst/>
                        </a:rPr>
                        <a:t>Иллюстрация, которая отображается в поле компонента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8638611"/>
                  </a:ext>
                </a:extLst>
              </a:tr>
              <a:tr h="3315611">
                <a:tc>
                  <a:txBody>
                    <a:bodyPr/>
                    <a:lstStyle/>
                    <a:p>
                      <a:pPr algn="just"/>
                      <a:r>
                        <a:rPr lang="ru-RU" sz="900">
                          <a:effectLst/>
                        </a:rPr>
                        <a:t>SizeMode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effectLst/>
                        </a:rPr>
                        <a:t>Режим отображения иллюстрации (способ масштабирования), если размер иллюстрации не соответствует размеру компонента:</a:t>
                      </a:r>
                      <a:endParaRPr lang="ru-RU" sz="1200" dirty="0">
                        <a:effectLst/>
                      </a:endParaRPr>
                    </a:p>
                    <a:p>
                      <a:r>
                        <a:rPr lang="ru-RU" sz="1000" dirty="0" err="1">
                          <a:effectLst/>
                        </a:rPr>
                        <a:t>Normal</a:t>
                      </a:r>
                      <a:r>
                        <a:rPr lang="ru-RU" sz="1000" dirty="0">
                          <a:effectLst/>
                        </a:rPr>
                        <a:t> — масштабирование не выполняется (если размер компонента меньше размера иллюстрации, то отображается только часть иллюстрации);</a:t>
                      </a:r>
                      <a:endParaRPr lang="ru-RU" sz="1200" dirty="0">
                        <a:effectLst/>
                      </a:endParaRPr>
                    </a:p>
                    <a:p>
                      <a:r>
                        <a:rPr lang="ru-RU" sz="1000" dirty="0" err="1">
                          <a:effectLst/>
                        </a:rPr>
                        <a:t>StretchImage</a:t>
                      </a:r>
                      <a:r>
                        <a:rPr lang="ru-RU" sz="1000" dirty="0">
                          <a:effectLst/>
                        </a:rPr>
                        <a:t> — выполняется масштабирование иллюстрации таким образом, что она занимает всю область отображения (если размер компонента не пропорционален размеру иллюстрации, она будет искажена);</a:t>
                      </a:r>
                      <a:endParaRPr lang="ru-RU" sz="1200" dirty="0">
                        <a:effectLst/>
                      </a:endParaRPr>
                    </a:p>
                    <a:p>
                      <a:r>
                        <a:rPr lang="ru-RU" sz="1000" dirty="0" err="1">
                          <a:effectLst/>
                        </a:rPr>
                        <a:t>AutoSize</a:t>
                      </a:r>
                      <a:r>
                        <a:rPr lang="ru-RU" sz="1000" dirty="0">
                          <a:effectLst/>
                        </a:rPr>
                        <a:t> — размер компонента автоматически изменяется и соответствует размеру иллюстрации;</a:t>
                      </a:r>
                      <a:endParaRPr lang="ru-RU" sz="1200" dirty="0">
                        <a:effectLst/>
                      </a:endParaRPr>
                    </a:p>
                    <a:p>
                      <a:r>
                        <a:rPr lang="ru-RU" sz="1000" dirty="0" err="1">
                          <a:effectLst/>
                        </a:rPr>
                        <a:t>CenterImage</a:t>
                      </a:r>
                      <a:r>
                        <a:rPr lang="ru-RU" sz="1000" dirty="0">
                          <a:effectLst/>
                        </a:rPr>
                        <a:t> — центрирование иллюстрации в поле компонента, если размер иллюстрации меньше размера области отображения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0526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271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B4453-42FE-4215-BEE1-B10C2EC2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Компонент</a:t>
            </a:r>
            <a:r>
              <a:rPr lang="ru-RU" dirty="0"/>
              <a:t> </a:t>
            </a:r>
            <a:r>
              <a:rPr lang="en-US" dirty="0" err="1">
                <a:solidFill>
                  <a:srgbClr val="00B050"/>
                </a:solidFill>
              </a:rPr>
              <a:t>PictureBox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E68289-49D5-4699-8214-F48F90BB2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Компонент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PictureBox</a:t>
            </a:r>
            <a:r>
              <a:rPr lang="ru-RU" sz="18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обеспечивает отображение иллюстрации (рисунка, фотографии и т. п.). Свойства компонента</a:t>
            </a: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  <a:p>
            <a:endParaRPr lang="ru-RU" sz="1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93659A0-0567-488A-B671-A0401FADC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286573"/>
              </p:ext>
            </p:extLst>
          </p:nvPr>
        </p:nvGraphicFramePr>
        <p:xfrm>
          <a:off x="2206306" y="3163094"/>
          <a:ext cx="6856732" cy="26924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27999">
                  <a:extLst>
                    <a:ext uri="{9D8B030D-6E8A-4147-A177-3AD203B41FA5}">
                      <a16:colId xmlns:a16="http://schemas.microsoft.com/office/drawing/2014/main" val="183561354"/>
                    </a:ext>
                  </a:extLst>
                </a:gridCol>
                <a:gridCol w="3428733">
                  <a:extLst>
                    <a:ext uri="{9D8B030D-6E8A-4147-A177-3AD203B41FA5}">
                      <a16:colId xmlns:a16="http://schemas.microsoft.com/office/drawing/2014/main" val="1332980034"/>
                    </a:ext>
                  </a:extLst>
                </a:gridCol>
              </a:tblGrid>
              <a:tr h="979063">
                <a:tc>
                  <a:txBody>
                    <a:bodyPr/>
                    <a:lstStyle/>
                    <a:p>
                      <a:pPr algn="just"/>
                      <a:r>
                        <a:rPr lang="ru-RU" sz="900">
                          <a:effectLst/>
                        </a:rPr>
                        <a:t>Image.PhysicalDimension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Свойство содержит информацию о размере картинки (иллюстрации), загруженной в поле компонента</a:t>
                      </a:r>
                      <a:endParaRPr lang="ru-RU" sz="1200">
                        <a:effectLst/>
                      </a:endParaRPr>
                    </a:p>
                    <a:p>
                      <a:pPr algn="just"/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1212971"/>
                  </a:ext>
                </a:extLst>
              </a:tr>
              <a:tr h="1713359">
                <a:tc>
                  <a:txBody>
                    <a:bodyPr/>
                    <a:lstStyle/>
                    <a:p>
                      <a:pPr algn="just"/>
                      <a:r>
                        <a:rPr lang="ru-RU" sz="900">
                          <a:effectLst/>
                        </a:rPr>
                        <a:t>Location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effectLst/>
                        </a:rPr>
                        <a:t>Положение компонента (области отображения</a:t>
                      </a:r>
                      <a:endParaRPr lang="ru-RU" sz="1200" dirty="0">
                        <a:effectLst/>
                      </a:endParaRPr>
                    </a:p>
                    <a:p>
                      <a:r>
                        <a:rPr lang="ru-RU" sz="1000" dirty="0">
                          <a:effectLst/>
                        </a:rPr>
                        <a:t>иллюстрации) на поверхности формы. Уточняющее свойство X определяет расстояние от левой границы области до левой границы формы, уточняющее свойство Y — от верхней границы области до верхней границы клиентской области формы (нижней границы заголовка)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7690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561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B4453-42FE-4215-BEE1-B10C2EC2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Компонент</a:t>
            </a:r>
            <a:r>
              <a:rPr lang="ru-RU" dirty="0"/>
              <a:t> </a:t>
            </a:r>
            <a:r>
              <a:rPr lang="en-US" dirty="0" err="1">
                <a:solidFill>
                  <a:srgbClr val="00B050"/>
                </a:solidFill>
              </a:rPr>
              <a:t>PictureBox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E68289-49D5-4699-8214-F48F90BB2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Компонент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PictureBox</a:t>
            </a:r>
            <a:r>
              <a:rPr lang="ru-RU" sz="18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обеспечивает отображение иллюстрации (рисунка, фотографии и т. п.). Свойства компонента</a:t>
            </a: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  <a:p>
            <a:endParaRPr lang="ru-RU" sz="1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9663CE2-1B27-4600-964F-FD3208919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251115"/>
              </p:ext>
            </p:extLst>
          </p:nvPr>
        </p:nvGraphicFramePr>
        <p:xfrm>
          <a:off x="2474752" y="2718033"/>
          <a:ext cx="7004808" cy="25250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2029">
                  <a:extLst>
                    <a:ext uri="{9D8B030D-6E8A-4147-A177-3AD203B41FA5}">
                      <a16:colId xmlns:a16="http://schemas.microsoft.com/office/drawing/2014/main" val="2784101023"/>
                    </a:ext>
                  </a:extLst>
                </a:gridCol>
                <a:gridCol w="3502779">
                  <a:extLst>
                    <a:ext uri="{9D8B030D-6E8A-4147-A177-3AD203B41FA5}">
                      <a16:colId xmlns:a16="http://schemas.microsoft.com/office/drawing/2014/main" val="3615958244"/>
                    </a:ext>
                  </a:extLst>
                </a:gridCol>
              </a:tblGrid>
              <a:tr h="757526">
                <a:tc>
                  <a:txBody>
                    <a:bodyPr/>
                    <a:lstStyle/>
                    <a:p>
                      <a:pPr algn="just"/>
                      <a:r>
                        <a:rPr lang="ru-RU" sz="900">
                          <a:effectLst/>
                        </a:rPr>
                        <a:t>Size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Размер компонента (области отображения иллюстрации). Width определяет ширину области, Height — высоту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0229870"/>
                  </a:ext>
                </a:extLst>
              </a:tr>
              <a:tr h="1010034">
                <a:tc>
                  <a:txBody>
                    <a:bodyPr/>
                    <a:lstStyle/>
                    <a:p>
                      <a:pPr algn="just"/>
                      <a:r>
                        <a:rPr lang="ru-RU" sz="900">
                          <a:effectLst/>
                        </a:rPr>
                        <a:t>BorderStyle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Вид границы компонента:</a:t>
                      </a:r>
                      <a:endParaRPr lang="ru-RU" sz="1200">
                        <a:effectLst/>
                      </a:endParaRPr>
                    </a:p>
                    <a:p>
                      <a:r>
                        <a:rPr lang="ru-RU" sz="1000">
                          <a:effectLst/>
                        </a:rPr>
                        <a:t>None — граница не отображается;</a:t>
                      </a:r>
                      <a:endParaRPr lang="ru-RU" sz="1200">
                        <a:effectLst/>
                      </a:endParaRPr>
                    </a:p>
                    <a:p>
                      <a:r>
                        <a:rPr lang="ru-RU" sz="1000">
                          <a:effectLst/>
                        </a:rPr>
                        <a:t>FixedSingle — тонкая;</a:t>
                      </a:r>
                      <a:endParaRPr lang="ru-RU" sz="1200">
                        <a:effectLst/>
                      </a:endParaRPr>
                    </a:p>
                    <a:p>
                      <a:r>
                        <a:rPr lang="ru-RU" sz="1000">
                          <a:effectLst/>
                        </a:rPr>
                        <a:t>Fixed3D — объемная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7597955"/>
                  </a:ext>
                </a:extLst>
              </a:tr>
              <a:tr h="757526">
                <a:tc>
                  <a:txBody>
                    <a:bodyPr/>
                    <a:lstStyle/>
                    <a:p>
                      <a:pPr algn="just"/>
                      <a:r>
                        <a:rPr lang="ru-RU" sz="900">
                          <a:effectLst/>
                        </a:rPr>
                        <a:t>Graphics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effectLst/>
                        </a:rPr>
                        <a:t>Поверхность, на которую можно выводить графику (доступ к графической поверхности компонента есть у процедуры обработки события </a:t>
                      </a:r>
                      <a:r>
                        <a:rPr lang="ru-RU" sz="1000" dirty="0" err="1">
                          <a:effectLst/>
                        </a:rPr>
                        <a:t>Paint</a:t>
                      </a:r>
                      <a:r>
                        <a:rPr lang="ru-RU" sz="1000" dirty="0">
                          <a:effectLst/>
                        </a:rPr>
                        <a:t>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0226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0990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B4453-42FE-4215-BEE1-B10C2EC2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</a:t>
            </a:r>
            <a:r>
              <a:rPr lang="en-US" dirty="0">
                <a:solidFill>
                  <a:srgbClr val="FF0000"/>
                </a:solidFill>
              </a:rPr>
              <a:t>Puzzle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E68289-49D5-4699-8214-F48F90BB2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качестве примера использования компонента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PictureBox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создадим известную настольную игру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Puzzle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 сборку картинки из ее фрагментов. Выведем на форму рисунок. Затем создадим двумерный массив компонентов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PictureBox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С помощью свойства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Clone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Rectangle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),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PixelFormat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), копирующего фрагменты рисунка разместим эти фрагменты в элементах массива. С помощью датчика случайных чисел перемешаем фрагменты. Обработчик события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OnClick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будет осуществлять перестановку фрагментов изображения. В качестве «переменной» для перестановки используем невидимый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PictureBox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Игровое поле с перемешанной картинкой приведено на рис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унке: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2DACB0-7A7F-49C9-A4BB-3679251026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420999" y="3850998"/>
            <a:ext cx="3045203" cy="225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269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B4453-42FE-4215-BEE1-B10C2EC2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</a:t>
            </a:r>
            <a:r>
              <a:rPr lang="en-US" dirty="0">
                <a:solidFill>
                  <a:srgbClr val="FF0000"/>
                </a:solidFill>
              </a:rPr>
              <a:t>Puzzle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E68289-49D5-4699-8214-F48F90BB2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Код программы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Puzzle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Puzzle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Bitmap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//Переменная для рисунка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Graphics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g;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//Графическая поверхность для рисунка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[,] Pb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[4, 4];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Массив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h, w,i0,j0;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Счет кликов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g = </a:t>
            </a:r>
            <a:r>
              <a:rPr lang="en-U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.CreateGraphics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Создаем поверхность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64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B4453-42FE-4215-BEE1-B10C2EC2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</a:t>
            </a:r>
            <a:r>
              <a:rPr lang="en-US" dirty="0">
                <a:solidFill>
                  <a:srgbClr val="FF0000"/>
                </a:solidFill>
              </a:rPr>
              <a:t>Puzzle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E68289-49D5-4699-8214-F48F90BB2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Обработчик кнопки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Start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j, k, m;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zap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[,] a =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[4, 4];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//Массив используется для перемешивания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Image bb;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x0 = 400;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y0 = 20;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Random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Random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6756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B4453-42FE-4215-BEE1-B10C2EC2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</a:t>
            </a:r>
            <a:r>
              <a:rPr lang="en-US" dirty="0">
                <a:solidFill>
                  <a:srgbClr val="FF0000"/>
                </a:solidFill>
              </a:rPr>
              <a:t>Puzzle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E68289-49D5-4699-8214-F48F90BB2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Если </a:t>
            </a:r>
            <a:r>
              <a:rPr lang="en-US" sz="1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Pb</a:t>
            </a:r>
            <a:r>
              <a:rPr lang="ru-RU" sz="1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ru-RU" sz="1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ru-RU" sz="1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есть на форме, мы его удаляем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9580"/>
            <a:r>
              <a:rPr lang="ru-RU" sz="18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(j = 0; j &lt; 4;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.Controls.Contains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(Pb[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j]))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.Controls.Remove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(Pb[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(j = 0; j &lt; 4;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a[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 = 0;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Заполняем нулями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496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B4453-42FE-4215-BEE1-B10C2EC2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</a:t>
            </a:r>
            <a:r>
              <a:rPr lang="en-US" dirty="0">
                <a:solidFill>
                  <a:srgbClr val="FF0000"/>
                </a:solidFill>
              </a:rPr>
              <a:t>Puzzle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E68289-49D5-4699-8214-F48F90BB2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{</a:t>
            </a:r>
            <a:r>
              <a:rPr lang="ru-RU" sz="1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//Создаем массив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Pb[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Pb[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j].Left = x0 + j * w;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Pb[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j].Top = y0 +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h;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Pb[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j].Width = w;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Pb[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j].Height = h;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7407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B4453-42FE-4215-BEE1-B10C2EC2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</a:t>
            </a:r>
            <a:r>
              <a:rPr lang="en-US" dirty="0">
                <a:solidFill>
                  <a:srgbClr val="FF0000"/>
                </a:solidFill>
              </a:rPr>
              <a:t>Puzzle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E68289-49D5-4699-8214-F48F90BB2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Граница должна быть видна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Pb[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BorderStyle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BorderStyle.Fixed3D;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Pb[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j].Click +=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Pb_Click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Controls.Add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(Pb[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0558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B4453-42FE-4215-BEE1-B10C2EC2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</a:t>
            </a:r>
            <a:r>
              <a:rPr lang="en-US" dirty="0">
                <a:solidFill>
                  <a:srgbClr val="FF0000"/>
                </a:solidFill>
              </a:rPr>
              <a:t>Puzzle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E68289-49D5-4699-8214-F48F90BB2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zap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(zap)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k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rnd.Next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(0, 4);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m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Next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(0, 4);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(a[k, m] == 0)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//Если в элементе массива </a:t>
            </a:r>
            <a:r>
              <a:rPr lang="ru-RU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Pb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нет рисунка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a[k, m] = 1;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zap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3378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B4453-42FE-4215-BEE1-B10C2EC2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</a:t>
            </a:r>
            <a:r>
              <a:rPr lang="en-US" dirty="0">
                <a:solidFill>
                  <a:srgbClr val="FF0000"/>
                </a:solidFill>
              </a:rPr>
              <a:t>Puzzle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E68289-49D5-4699-8214-F48F90BB2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//Здесь мы копируем из рисунка фрагмент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//Копирование идет не с рисунка на форме, а из рисунка в памяти.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//Поэтому координаты левого верхнего угла - 0,0.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bb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Pict.Clone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Rectangle(m * w, k * h, w, h),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Pict.PixelFormat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Pb[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j].Image = bb;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Вставляем фрагмент и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Pb[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023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B4453-42FE-4215-BEE1-B10C2EC2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</a:t>
            </a:r>
            <a:r>
              <a:rPr lang="en-US" dirty="0">
                <a:solidFill>
                  <a:srgbClr val="FF0000"/>
                </a:solidFill>
              </a:rPr>
              <a:t>Puzzle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E68289-49D5-4699-8214-F48F90BB2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Pb_Click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//Обработчик щелчка по </a:t>
            </a:r>
            <a:r>
              <a:rPr lang="ru-RU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Pb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ru-RU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x0 = 400;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y0 = 20;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)sender;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1)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j0 = (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Pib.Left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x0) / w;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//Номер столбца и строки элемента,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i0 = (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Pib.Top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y0) / h;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//по которому кликнули - запомнили.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pictureBox1.Image =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Pib.Image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//Изображение сохранили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2;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131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B4453-42FE-4215-BEE1-B10C2EC2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</a:t>
            </a:r>
            <a:r>
              <a:rPr lang="en-US" dirty="0">
                <a:solidFill>
                  <a:srgbClr val="FF0000"/>
                </a:solidFill>
              </a:rPr>
              <a:t>Puzzle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E68289-49D5-4699-8214-F48F90BB2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Перестановка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Pb[i0, j0].Image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Pib.Image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Pib.Image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pictureBox1.Image;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399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B4453-42FE-4215-BEE1-B10C2EC2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Игра </a:t>
            </a:r>
            <a:r>
              <a:rPr lang="en-US" dirty="0">
                <a:solidFill>
                  <a:srgbClr val="FF0000"/>
                </a:solidFill>
              </a:rPr>
              <a:t>Puzzle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E68289-49D5-4699-8214-F48F90BB2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Form1_Paint(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PaintEventArgs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Рисуем картинку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Pict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Bitmap(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"D:/C#/My_Text/puzzle.bmp"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g.DrawImage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(Pict, 20, 20,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Pict.Width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Pict.Height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//Размеры фрагмента рисунка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w =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Pict.Width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/ 4;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h =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Pict.Height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/ 4;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//Невидимый pictureBox1 для перестановки фрагментов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pictureBox1.Width = w;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pictureBox1.Height = h;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pictureBox1.Visible =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001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B4453-42FE-4215-BEE1-B10C2EC2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До следующей лекции</a:t>
            </a:r>
            <a:endParaRPr lang="ru-RU" dirty="0">
              <a:solidFill>
                <a:srgbClr val="00B050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4A352AB-E71D-4B59-8C05-38F5A8DBDB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</p:spPr>
      </p:pic>
    </p:spTree>
    <p:extLst>
      <p:ext uri="{BB962C8B-B14F-4D97-AF65-F5344CB8AC3E}">
        <p14:creationId xmlns:p14="http://schemas.microsoft.com/office/powerpoint/2010/main" val="4911350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1223</Words>
  <Application>Microsoft Office PowerPoint</Application>
  <PresentationFormat>Широкоэкранный</PresentationFormat>
  <Paragraphs>146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Courier New</vt:lpstr>
      <vt:lpstr>Times New Roman</vt:lpstr>
      <vt:lpstr>Тема Office</vt:lpstr>
      <vt:lpstr>Windows приложения</vt:lpstr>
      <vt:lpstr>Компонент PictureBox</vt:lpstr>
      <vt:lpstr>Компонент PictureBox</vt:lpstr>
      <vt:lpstr>Компонент PictureBox</vt:lpstr>
      <vt:lpstr>Игра Puzzle</vt:lpstr>
      <vt:lpstr>Игра Puzzle</vt:lpstr>
      <vt:lpstr>Игра Puzzle</vt:lpstr>
      <vt:lpstr>Игра Puzzle</vt:lpstr>
      <vt:lpstr>Игра Puzzle</vt:lpstr>
      <vt:lpstr>Игра Puzzle</vt:lpstr>
      <vt:lpstr>Игра Puzzle</vt:lpstr>
      <vt:lpstr>Игра Puzzle</vt:lpstr>
      <vt:lpstr>Игра Puzzle</vt:lpstr>
      <vt:lpstr>Игра Puzzle</vt:lpstr>
      <vt:lpstr>Игра Puzzle</vt:lpstr>
      <vt:lpstr>До следующей лекции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приложения</dc:title>
  <dc:creator>Леонид Попов</dc:creator>
  <cp:lastModifiedBy>Леонид Попов</cp:lastModifiedBy>
  <cp:revision>5</cp:revision>
  <dcterms:created xsi:type="dcterms:W3CDTF">2021-01-29T09:07:06Z</dcterms:created>
  <dcterms:modified xsi:type="dcterms:W3CDTF">2021-03-16T12:17:13Z</dcterms:modified>
</cp:coreProperties>
</file>