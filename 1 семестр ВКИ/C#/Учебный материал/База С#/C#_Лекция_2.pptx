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2" r:id="rId45"/>
    <p:sldId id="300" r:id="rId46"/>
    <p:sldId id="301" r:id="rId47"/>
    <p:sldId id="281" r:id="rId4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A7095-8B86-4FA7-B46F-E6E2D4E32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C7D2C4-C403-496E-9980-864A982E0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EA9657-AA70-4B22-9E9B-828C79F9F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68FA-0D8E-46FD-8E5F-5430E0EF399E}" type="datetimeFigureOut">
              <a:rPr lang="ru-RU" smtClean="0"/>
              <a:t>15.02.2021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C15FC8-8A0B-41AF-8C18-FB74928A3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22D676-6516-48B5-B0DC-D089D669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DFBF-E7FD-4192-911C-3AEF5B7DFA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4974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CB2184-B072-4D20-8BD1-9D6346CB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1FD474-DE78-493D-882E-DDE1BE760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8D9A54-D5A7-40A5-81FC-6D9D4693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68FA-0D8E-46FD-8E5F-5430E0EF399E}" type="datetimeFigureOut">
              <a:rPr lang="ru-RU" smtClean="0"/>
              <a:t>15.02.2021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286358-D1EA-412F-892D-E0DDDC63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259235-4953-49A6-B9B2-E88A8D409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DFBF-E7FD-4192-911C-3AEF5B7DFA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32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5F9B8-A74E-476C-A30C-D1928D2C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0A85C6-EE02-4E0D-88A7-779192C9A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1A97C7-1793-49A1-BF47-7EF19C3D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68FA-0D8E-46FD-8E5F-5430E0EF399E}" type="datetimeFigureOut">
              <a:rPr lang="ru-RU" smtClean="0"/>
              <a:t>15.02.2021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28E1A6-E557-4FDB-A0B8-BB2B7B93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CAD004-8EAA-462E-8AE8-C9A8B53C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DFBF-E7FD-4192-911C-3AEF5B7DFA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0243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643FC2-D9E3-43CA-8E65-E3E8077D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3BD1B3-1FF7-4FBD-9A78-DA7D56B1F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A91E44-49FA-4A03-A933-CC1E11723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2634A0-1917-4E23-9B53-4893DE829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68FA-0D8E-46FD-8E5F-5430E0EF399E}" type="datetimeFigureOut">
              <a:rPr lang="ru-RU" smtClean="0"/>
              <a:t>15.02.2021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BB8A8D-C5E8-448A-A93A-55925F9D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C0260D-2D8F-4690-BA9F-1798E778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DFBF-E7FD-4192-911C-3AEF5B7DFA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36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A0578-2E67-4CE2-8B19-3A9FCFD67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241E27-2F4B-4354-9AAD-F334F6B23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68A114-3928-492B-9559-8EDCEBFAC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27C889-442B-4211-B0EB-E5E6D7B651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DDB61C-9352-40A9-A057-3B1D44F74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3A5D8B3-A390-4439-AAA2-B1625C4FE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68FA-0D8E-46FD-8E5F-5430E0EF399E}" type="datetimeFigureOut">
              <a:rPr lang="ru-RU" smtClean="0"/>
              <a:t>15.02.2021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52D99E-5F6B-4EA2-8121-D1644241B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6B82F5C-F52A-4AC7-A86B-35284E89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DFBF-E7FD-4192-911C-3AEF5B7DFA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384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E64D8-C916-40CD-A310-95FC58741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6404D8B-A69C-43B5-8066-508EDBEDC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68FA-0D8E-46FD-8E5F-5430E0EF399E}" type="datetimeFigureOut">
              <a:rPr lang="ru-RU" smtClean="0"/>
              <a:t>15.02.2021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40E6C71-AF19-47B6-9401-EC6FFE9C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2E6184-7085-4720-BB3A-05CA0A46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DFBF-E7FD-4192-911C-3AEF5B7DFA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083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8705AFB-4E67-49EC-9D11-1153CBFBA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68FA-0D8E-46FD-8E5F-5430E0EF399E}" type="datetimeFigureOut">
              <a:rPr lang="ru-RU" smtClean="0"/>
              <a:t>15.02.2021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EE7CD5-58DC-4F51-855F-D5D03430A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EC3169-D3A7-439C-80DB-A832057E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DFBF-E7FD-4192-911C-3AEF5B7DFA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210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3290E-9D36-4EBA-92DC-D557A0D65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DA3C65-2BD6-4A4C-A4FF-6D195E993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5C236A-8CD7-4830-95EE-4D3CAF50C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6FCE4D-36F1-4736-829E-F0998831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68FA-0D8E-46FD-8E5F-5430E0EF399E}" type="datetimeFigureOut">
              <a:rPr lang="ru-RU" smtClean="0"/>
              <a:t>15.02.2021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ECF111-4FDA-4DFA-BE29-0BB06BC84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1B907E-16EF-4562-95F9-BAF9B568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DFBF-E7FD-4192-911C-3AEF5B7DFA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83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4E0327-BBB2-4987-A399-1291499AA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3446821-6179-4BA7-ADD8-9801982CDB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96107A-898B-4791-A0C5-273489CA4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4965D9-E90C-446F-BC66-19C513040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68FA-0D8E-46FD-8E5F-5430E0EF399E}" type="datetimeFigureOut">
              <a:rPr lang="ru-RU" smtClean="0"/>
              <a:t>15.02.2021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F0DF74-2AE9-4D2B-A7DD-080D529F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CC378D-AD1D-4E1E-9CE7-325A0585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DFBF-E7FD-4192-911C-3AEF5B7DFA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56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1DAE0-78EC-4CCE-AAB5-3F5119AE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35AEA1-41D5-4A67-A6B1-456942624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809505-1F19-43C6-9292-BE8F41BC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68FA-0D8E-46FD-8E5F-5430E0EF399E}" type="datetimeFigureOut">
              <a:rPr lang="ru-RU" smtClean="0"/>
              <a:t>15.02.2021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2332F7-7405-44E4-B959-8C22E0635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FB3CCD-C171-47C0-B7F5-D4B4539F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DFBF-E7FD-4192-911C-3AEF5B7DFA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108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DA0C179-6087-4F0A-8031-6B8F12A286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1C3FD7-2E4C-466B-9058-905A818D0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1F8608-3506-43B2-AA17-0959A0907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68FA-0D8E-46FD-8E5F-5430E0EF399E}" type="datetimeFigureOut">
              <a:rPr lang="ru-RU" smtClean="0"/>
              <a:t>15.02.2021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33AC88-83E2-43D3-BA28-338F9C88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9AC912-E480-48FE-8BC5-EA1F480B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DFBF-E7FD-4192-911C-3AEF5B7DFA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66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FE750-53B5-41AC-9EC1-83467EED1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053D7A-B721-4A77-9EB3-AD6E322CE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7683E7-CFED-41C7-B980-A779E02C2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268FA-0D8E-46FD-8E5F-5430E0EF399E}" type="datetimeFigureOut">
              <a:rPr lang="ru-RU" smtClean="0"/>
              <a:t>15.02.2021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591ED8-5C9F-4BD9-A530-80A721A23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509543-F815-49D1-B021-B0D1A61F8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8DFBF-E7FD-4192-911C-3AEF5B7DFA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442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4A94E1-EC39-4BA5-B629-35422D0C0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Программирование</a:t>
            </a:r>
            <a:r>
              <a:rPr lang="ru-RU" dirty="0"/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0FDED6-96AC-4C40-B895-B478E4B84B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3600" dirty="0">
                <a:solidFill>
                  <a:srgbClr val="00B050"/>
                </a:solidFill>
              </a:rPr>
              <a:t>на языке </a:t>
            </a:r>
            <a:r>
              <a:rPr lang="en-US" sz="3600" dirty="0">
                <a:solidFill>
                  <a:srgbClr val="00B050"/>
                </a:solidFill>
              </a:rPr>
              <a:t>C#</a:t>
            </a:r>
          </a:p>
          <a:p>
            <a:r>
              <a:rPr lang="ru-RU" sz="3600" dirty="0">
                <a:solidFill>
                  <a:srgbClr val="00B050"/>
                </a:solidFill>
              </a:rPr>
              <a:t>Лекция 2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844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Преобразование типов данных в операциях присваивания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операциях присваивания часто переменной одного типа присваивается значение переменной другого типа. Например, переменной типа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float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можно присвоить значение переменной типа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как показано в следующем примере:</a:t>
            </a:r>
          </a:p>
          <a:p>
            <a:pPr marL="449580" indent="449580"/>
            <a:r>
              <a:rPr lang="en-US" sz="20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10;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</a:t>
            </a:r>
            <a:r>
              <a:rPr lang="en-US" sz="20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float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	           f =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в операции присваивания используются совместимые типы</a:t>
            </a:r>
            <a:r>
              <a:rPr lang="ru-RU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то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переменной, находящейся справа от оператора, автоматически преобразуется к типу переменной, находящейся слева от оператора. 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 не все типы данных являются совместимыми. Например,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bool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не совместимы.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6111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Преобразование типов данных в операциях присваивания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Преобразования бывают двух видов: 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явные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неявные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Неявные преобразования выполняются автоматически в случае, если: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два типа совместимы;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конечный типа(слева) больше исходного типа (справа).</a:t>
            </a:r>
          </a:p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выполнении этих двух условий происходит 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расширяющее преобразование.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Например, количества битов, выделенных под тип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всегда достаточно для хранения  значений типа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byte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 а так как оба эти типа целочисленные, то к ним может быть применено автоматическое (неявное) преобразование.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526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Преобразование типов данных в операциях присваивания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случаях, когда не работает неявное преобразование, применяется явное преобразование или приведение типов. 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Приведение типа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это инструкция компилятору для преобразования одного типа в другой. Операция приведения имеет следующий синтаксис:</a:t>
            </a:r>
          </a:p>
          <a:p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(тип) выражение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указывает к какому типу должно быть приведено выражение. Например, если необходимо преобразовать выражение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 типу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следует написать:</a:t>
            </a:r>
          </a:p>
          <a:p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</a:t>
            </a:r>
            <a:r>
              <a:rPr lang="ru-RU" sz="2400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 = (</a:t>
            </a:r>
            <a:r>
              <a:rPr lang="ru-RU" sz="2400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)(x / y);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9978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Условные выражения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Отдельный набор операций представляет условные выражения. Такие операции возвращают логическое значение, то есть значение типа 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bool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 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если выражение истинно, и 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если выражение ложно. К подобным операциям относятся операции сравнения и логические операции.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операциях сравнения сравниваются два операнда и возвращается значение типа 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bool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- 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если выражение верно, и 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если выражение неверно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r>
              <a:rPr lang="ru-RU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==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Сравнивает два операнда на равенство. Если они равны, то операция возвращает 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true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, если не равны, то возвращается 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false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= 10;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 = 4;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 = a == b;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false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1022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Условные выражения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!=</a:t>
            </a:r>
          </a:p>
          <a:p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Сравнивает два операнда и возвращает </a:t>
            </a:r>
            <a:r>
              <a:rPr lang="ru-RU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если операнды не равны, и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если они равны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= 10;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 = 4;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 = a != b;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true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 = a!=10;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false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 = 10;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b = 4;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 = a &lt; b;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// false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385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Условные выражения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Операция "больше чем". Сравнивает два операнда и возвращает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если первый операнд больше второго, иначе возвращает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= 10;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 = 4;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 = a &gt; b;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true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 = a &gt; 25;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false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&lt;=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Операция "меньше или равно". Сравнивает два операнда и возвращает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если первый операнд меньше или равен второму. Иначе возвращает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= 10;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 = 4;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 = a &lt;= b;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false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 = a &lt;= 25;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true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6471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Условные выражения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&gt;=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Операция "больше или равно". Сравнивает два операнда и возвращает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если первый операнд больше или равен второму, иначе возвращается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 = 10;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b = 4;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en-US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 = a &gt;= b;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// true</a:t>
            </a:r>
            <a:endParaRPr kumimoji="0" lang="en-US" altLang="ru-RU" sz="2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en-US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 = a &gt;= 25;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// false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2191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Логические операции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Также в C# определены логические операторы, которые также возвращают значение типа 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bool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 качестве операндов они принимают значения типа 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bool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Как правило, применяются к отношениям и объединяют несколько операций сравнения.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b="1" dirty="0"/>
              <a:t>||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Операция логического сложения. Возвращает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если хотя бы один из операндов возвращает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x1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(5 &gt; 6) || (4 &lt; 6);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5 &gt; 6 -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false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4 &lt; 6 -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поэтому возвращается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x2 = (5 &gt; 6) || (4 &gt; 6);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5 &gt; 6 -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false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4 &gt; 6 -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false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поэтому возвращается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false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400" b="1" dirty="0"/>
              <a:t>&amp;&amp;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Операция логического умножения. Возвращает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если оба операнда одновременно равны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x2 = (5 &lt; 6) &amp;&amp; (4 &lt; 6);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5 &lt; 6 -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4 &lt; 6 -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поэтому возвращается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476622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Логические операции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!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Операция логического отрицания. Производится над одним операндом и возвращает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если операнд равен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Если операнд равен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то операция возвращает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en-US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= true;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en-US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 = !a;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false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21864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 второму семестру обучения студенты ВКИ уже знакомы с ветвящимся алгоритмом и используемым для его реализации оператором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у этого оператора следующий синтаксис: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8255" marR="8255" indent="351790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(условие) 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#Скобки обязательны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 indent="351790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{ &lt;группа команд1&gt;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 indent="351790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 indent="351790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 indent="532130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{ &lt;группа команд2&gt;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 indent="532130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8255" indent="-8255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Ветвь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else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 является обязательной. Если группа команд состоит из одного оператора, то фигурные скобки можно не использовать.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Конструкция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elif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отсутствует (в отличие от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13891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8255" indent="450215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 использовать несколько вложенных операторов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При этом необходимо помнить, что во вложенных операторах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else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вторая часть оператора (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else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всегда относится к ближайшему оператору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Например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9580" indent="44958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9580" indent="635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a=8, b=7;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(a == b)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             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Console</a:t>
            </a:r>
            <a:r>
              <a:rPr lang="en-US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.WriteLine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равны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&gt; 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// последний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относится к этому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                 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Console</a:t>
            </a:r>
            <a:r>
              <a:rPr lang="en-US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.WriteLine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а больше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b"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Console</a:t>
            </a:r>
            <a:r>
              <a:rPr lang="en-US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.WriteLine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"a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меньше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b"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ru-RU" sz="18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Console</a:t>
            </a:r>
            <a:r>
              <a:rPr lang="ru-RU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.ReadLine</a:t>
            </a:r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();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65386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1.12.1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Определить, является ли шестизначное число номером «счастливого билета»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"Введите шестизначный номер билета"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tick = Convert.ToInt32(s);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t1 = tick / 1000;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t2 = tick % 1000;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c1, c2, c3, s1, s2;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20181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828800" lvl="4" indent="0">
              <a:buNone/>
            </a:pPr>
            <a:r>
              <a:rPr lang="en-US" sz="1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c3 = t1 % 10;</a:t>
            </a:r>
            <a:endParaRPr lang="ru-RU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c2 = t1 / 10 %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c1 = t1 / 100;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s1 = c1 + c2 + c3;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c3 = t2 %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c2 = t2 / 10 %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c1 = t2 / 100;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s2 = c1 + c2 + c3;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(s1 == s2)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"Сегодня мне повезет"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"Сегодня не мой день"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8255" indent="450215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79839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1768C62-5CBD-4077-9D7B-99067F8EC3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R="8255" indent="450215" algn="just"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ru-RU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 1.12.2. 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Найти корни квадратного уравнения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</m:t>
                    </m:r>
                    <m:sSup>
                      <m:s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𝑏𝑥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𝑐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R="8255" indent="450215" algn="just"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static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</a:t>
                </a:r>
                <a:r>
                  <a:rPr lang="en-US" sz="180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void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Main(</a:t>
                </a:r>
                <a:r>
                  <a:rPr lang="en-US" sz="180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string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[]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args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)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       {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           </a:t>
                </a:r>
                <a:r>
                  <a:rPr lang="en-US" sz="180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double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a, b, c, x1, x2;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           </a:t>
                </a:r>
                <a:r>
                  <a:rPr lang="en-US" sz="1800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string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s;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          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Console.WriteLine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</a:t>
                </a:r>
                <a:r>
                  <a:rPr lang="en-US" sz="180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"</a:t>
                </a:r>
                <a:r>
                  <a:rPr lang="ru-RU" sz="180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Введите коэффициент</a:t>
                </a:r>
                <a:r>
                  <a:rPr lang="en-US" sz="180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a"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);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           s =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Console.ReadLine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();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           a =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Convert.ToDouble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(s);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          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Console.WriteLine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</a:t>
                </a:r>
                <a:r>
                  <a:rPr lang="en-US" sz="180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"</a:t>
                </a:r>
                <a:r>
                  <a:rPr lang="ru-RU" sz="180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Введите коэффициент</a:t>
                </a:r>
                <a:r>
                  <a:rPr lang="en-US" sz="180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b"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);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           s =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Console.ReadLine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();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           b =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Convert.ToDouble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(s);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          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Console.WriteLine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</a:t>
                </a:r>
                <a:r>
                  <a:rPr lang="en-US" sz="180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"</a:t>
                </a:r>
                <a:r>
                  <a:rPr lang="ru-RU" sz="180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Введите коэффициент</a:t>
                </a:r>
                <a:r>
                  <a:rPr lang="en-US" sz="1800" dirty="0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c"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);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           s =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Console.ReadLine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();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           c =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Convert.ToDouble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(s);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1768C62-5CBD-4077-9D7B-99067F8EC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967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 = (b * b - 4 * a * c);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((a==0)&amp;&amp;(b==0)&amp;&amp; (c==0))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"Вырожденное уравнение. Бесконечное множество решений"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((a==0)&amp;&amp;(b==0))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Нет решений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(a==0)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{ x1 = -c / b;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Один корень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{x1: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#.##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8255" indent="450215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75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(d&lt;0)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Нет решений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(d==0)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{ x1 = -b / (2 * a);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Один корень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{x1: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#.##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{ x1 = (-b 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Math.Sqrt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(d)) / (2 * a);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x2 = (-b 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Math.Sqrt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(d)) / (2 * a);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Первый корень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{x1: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#.##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Второй корень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{x2: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#.##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8255" indent="450215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8255" indent="450215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532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R="8255" indent="450215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1.12.3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Определить тип треугольника (равносторонний, равнобедренный, остроугольный, тупоугольный, прямоугольный).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a, b, c;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 = 0.000001;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Введите сторону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a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Convert.ToDouble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"Введите сторону b"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Convert.ToDouble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"Введите сторону c"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c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Convert.ToDouble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8255" indent="450215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430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((a&lt;(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b+c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))&amp;&amp;(b&lt;(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a+c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))&amp;&amp;(c&lt;(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a+b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)&amp;&amp;(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"Равносторонний треугольник"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((a==b)||(b==c)||(a==c))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Равнобедренный треугольник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(((a*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a+b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*b)&lt;c*c)||((a*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a+c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*c)&lt;b*b)||((b*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b+c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*c)&lt;a*a))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Тупоугольный треугольник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(((a*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a+b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*b-c*c)&lt;e)||((a*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a+c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*c-b*b)&lt;e)||((c*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c+b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*b-a*a)&lt;e))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Прямоугольный треугольник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"Остроугольный треугольник"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Ошибка ввода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8255" indent="450215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801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Оператор альтернативного выбора </a:t>
            </a:r>
            <a:r>
              <a:rPr lang="ru-RU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switch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позволяет программе выбрать нужное действие из перечня вариантов. Синтаксис оператора следующий: </a:t>
            </a:r>
          </a:p>
          <a:p>
            <a:pPr marL="8255" marR="825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switch</a:t>
            </a: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(&lt;выражение&gt;)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case</a:t>
            </a: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&lt;константа 1&gt;: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 группа операторов1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case</a:t>
            </a: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&lt;константа 2&gt;: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группа операторов2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...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US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default</a:t>
            </a: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группа операторов3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55" marR="825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8255" indent="0" algn="just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037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Значение выражения последовательно сравнивается с каждой константой из списка. При совпадении значения с одной из констант выполняется ассоциированная с ней последовательность операторов. </a:t>
            </a:r>
          </a:p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Выражение в операторе должно быть целочисленного (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byte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short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или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либо строкового типа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string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Выражения с плавающей точкой запрещены. Константы должны быть литералами и иметь тип, совместимый с типом выражения. Ветвь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default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не является обязательной. </a:t>
            </a:r>
          </a:p>
          <a:p>
            <a:pPr marR="8255" indent="0" algn="just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774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8255" indent="0" algn="just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Оператор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switch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может иметь любое число вариантов (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case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но не может быть двух вариантов с одинаковыми значениями. Выполнение оператора начинается с выбранного варианта и продолжается до выполнения оператора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завершает выполнение оператора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switch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требуется после выполнения любого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case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-утверждения, включая утверждение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default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Пример использования оператора:  </a:t>
            </a:r>
          </a:p>
          <a:p>
            <a:pPr marR="8255" indent="0" algn="just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118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1.12.4.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</a:t>
            </a:r>
            <a:r>
              <a:rPr lang="ru-RU" sz="1800" dirty="0" err="1">
                <a:solidFill>
                  <a:srgbClr val="2B91A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.WriteLine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"Введите оценку за экзамен "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        </a:t>
            </a:r>
            <a:r>
              <a:rPr lang="en-US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k = </a:t>
            </a:r>
            <a:r>
              <a:rPr lang="en-US" sz="1800" dirty="0">
                <a:solidFill>
                  <a:srgbClr val="2B91A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Int32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.Parse(</a:t>
            </a:r>
            <a:r>
              <a:rPr lang="en-US" sz="1800" dirty="0" err="1">
                <a:solidFill>
                  <a:srgbClr val="2B91A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.ReadLine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switch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(k)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800" dirty="0" err="1">
                <a:solidFill>
                  <a:srgbClr val="2B91A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.WriteLine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Неудовлетворительно</a:t>
            </a:r>
            <a:r>
              <a:rPr lang="en-US" sz="18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222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3: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400" dirty="0" err="1">
                <a:solidFill>
                  <a:srgbClr val="2B91A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.WriteLine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Удовлетворительно</a:t>
            </a:r>
            <a:r>
              <a:rPr lang="en-US" sz="1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4: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400" dirty="0" err="1">
                <a:solidFill>
                  <a:srgbClr val="2B91A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.WriteLine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Хорошо</a:t>
            </a:r>
            <a:r>
              <a:rPr lang="en-US" sz="1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5: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400" dirty="0" err="1">
                <a:solidFill>
                  <a:srgbClr val="2B91A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.WriteLine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Отлично</a:t>
            </a:r>
            <a:r>
              <a:rPr lang="en-US" sz="1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default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400" dirty="0" err="1">
                <a:solidFill>
                  <a:srgbClr val="2B91A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.WriteLine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Ошибка</a:t>
            </a:r>
            <a:r>
              <a:rPr lang="en-US" sz="140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}</a:t>
            </a:r>
          </a:p>
        </p:txBody>
      </p:sp>
    </p:spTree>
    <p:extLst>
      <p:ext uri="{BB962C8B-B14F-4D97-AF65-F5344CB8AC3E}">
        <p14:creationId xmlns:p14="http://schemas.microsoft.com/office/powerpoint/2010/main" val="3533090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Операторы </a:t>
            </a:r>
            <a:r>
              <a:rPr lang="en-US" dirty="0">
                <a:solidFill>
                  <a:srgbClr val="00B050"/>
                </a:solidFill>
              </a:rPr>
              <a:t>if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en-US" dirty="0">
                <a:solidFill>
                  <a:srgbClr val="00B050"/>
                </a:solidFill>
              </a:rPr>
              <a:t>switch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приведенном примере в зависимости от введенного пользователем числа на экран выводится та или иная оценка. Если число 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не лежит в промежутке от 1 до 5, то выполняются операторы в ветке </a:t>
            </a:r>
            <a:r>
              <a:rPr lang="ru-RU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default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выводится надпись "Ошибка". Обратите внимание на оператор </a:t>
            </a:r>
            <a:r>
              <a:rPr lang="ru-RU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Если его не написать, то будут выполняться операторы из следующей ветки </a:t>
            </a:r>
            <a:r>
              <a:rPr lang="ru-RU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case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до строки с </a:t>
            </a:r>
            <a:r>
              <a:rPr lang="ru-RU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(т. е. в данном примере если пользователь введет 1 или 2, то программы выведет "Неудовлетворительно"). Обратите внимание, что если в некоторой ветке </a:t>
            </a:r>
            <a:r>
              <a:rPr lang="ru-RU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case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или </a:t>
            </a:r>
            <a:r>
              <a:rPr lang="ru-RU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default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есть операторы, то написание </a:t>
            </a:r>
            <a:r>
              <a:rPr lang="ru-RU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обязательно</a:t>
            </a:r>
          </a:p>
        </p:txBody>
      </p:sp>
    </p:spTree>
    <p:extLst>
      <p:ext uri="{BB962C8B-B14F-4D97-AF65-F5344CB8AC3E}">
        <p14:creationId xmlns:p14="http://schemas.microsoft.com/office/powerpoint/2010/main" val="2869461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Циклический алгоритм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жизни нам часто приходится совершать повторяющиеся действия. Ходьба с точки зрения программирования – это циклическая перестановка ног. Естественно, что среди алгоритмов программирования есть циклические алгоритмы. Циклический алгоритм или цикл – это последовательность действий, которая повторяется более одного раза.</a:t>
            </a:r>
          </a:p>
          <a:p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542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Циклический алгоритм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Циклы бывают двух видов. Иногда мы заранее знаем, сколько раз нам нужно совершить то или иное действие. Например, пройти сто шагов и остановиться. Такой цикл называют циклом со счетчиком. А иногда нам нужно прекратить действие или, как говорят программисты, выйти из цикла при выполнении некоторого условия. Например, дойти до автобусной остановки. Условием прекращения ходьбы является совпадение координат остановки с вашими координатами. Такой цикл называют циклом с условием</a:t>
            </a:r>
          </a:p>
        </p:txBody>
      </p:sp>
    </p:spTree>
    <p:extLst>
      <p:ext uri="{BB962C8B-B14F-4D97-AF65-F5344CB8AC3E}">
        <p14:creationId xmlns:p14="http://schemas.microsoft.com/office/powerpoint/2010/main" val="3796741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Начнем с оператора цикла со счетчиком.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Такие циклы называют также циклами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for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так как во многих языках, в том числе в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#, для создания таких циклов применяется ключевое слово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for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Синтаксис оператора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имеет следующий вид:</a:t>
            </a:r>
          </a:p>
          <a:p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457200"/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(&lt;начальные значения&gt;; &lt;условия выхода из цикла&gt;; &lt;инкремент&gt;)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&lt;тело цикла&gt;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178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68C62-5CBD-4077-9D7B-99067F8E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части первом блоке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начальные значения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инициализируются переменные, которые будут использоваться в цикле. Во втором блоке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условия выхода из цикла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задается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условие выхода из цикла. Третий блок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задает шаг, на который будет изменяться значение счетчика цикла. Эти три основных элемента цикла должны быть разделены точкой с запятой.</a:t>
            </a: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Рассмотрим стандартный цикл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for: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2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&lt; 9;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++)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($</a:t>
            </a:r>
            <a:r>
              <a:rPr lang="en-US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Квадрат числа</a:t>
            </a:r>
            <a:r>
              <a:rPr lang="en-US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{</a:t>
            </a:r>
            <a:r>
              <a:rPr lang="en-US" sz="24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 </a:t>
            </a:r>
            <a:r>
              <a:rPr lang="ru-RU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равен</a:t>
            </a:r>
            <a:r>
              <a:rPr lang="en-US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{</a:t>
            </a:r>
            <a:r>
              <a:rPr lang="en-US" sz="24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lang="en-US" sz="24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}"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686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F9DD2B1-0444-4EEF-B4AD-E4EC16F050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0216" y="2262358"/>
            <a:ext cx="1017156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Первая часть объявления цикла -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i = 0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- создает и инициализирует счетчик i. </a:t>
            </a: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Отметим, что счетчик может быть объявлен до цикла.</a:t>
            </a: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Перед выполнением цикла его значение будет равно 0.</a:t>
            </a: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В данном случае это то же самое, что и объявление переменной.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Вторая часть - условие, при котором будет выполняться цикл. </a:t>
            </a: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Пока условное выражение возвращает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true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будет выполняться цикл. </a:t>
            </a: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данном случае цикл будет выполняться, пока счетчик i не достигнет 9.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 третья часть - приращение счетчика на единицу. </a:t>
            </a: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Опять же нам необязательно увеличивать на единицу. Можно уменьшать: i--.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итоге блок цикла сработает 9 раз, пока значение i не станет равным 9. </a:t>
            </a: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 каждый раз это значение будет увеличиваться на 1.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6643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Синтаксис оператора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достаточно гибкий и допускает различные варианты его построения. Рассмотрим этот вопрос на примерах. Это будут варианты вычисления суммы нечетных чисел в диапазоне от 1 до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450215"/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"Сумма нечетных чисел от 1 до 10"</a:t>
            </a: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n = 10, s = 0;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&lt;= n;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s += 2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- 1; 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Сумма нечетных чисел</a:t>
            </a:r>
            <a:r>
              <a:rPr lang="en-US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 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{s}</a:t>
            </a:r>
            <a:r>
              <a:rPr lang="en-US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Здесь переменные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описаны перед циклом. Счетчик получает начальное значение в первом блоке цикла.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7501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"Сумма нечетных чисел от 1 до 10"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n = 10, s = 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&lt;= n;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s += 2 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- 1;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Сумма нечетных чисел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{s}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первом блоке счетчик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описан и ему присвоено начальное значение.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5012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"Сумма нечетных чисел от 1 до 10"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n = 10, s 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1, s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&lt;= n; s += 2 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- 1,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 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Сумма нечетных чисел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{s}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данном случае переменные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объявляются в главной программе, но начальные значения переменным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присваиваются в первом блоке оператора цикла. Команда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2 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– 1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из тела цикла перенесена в третий блок (кроме нее там есть еще инструкция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++). В результате тело цикла остается пустым, поэтому сразу после команды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for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стоит точка с запятой.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11968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indent="54038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"Сумма нечетных чисел от 1 до 10"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=1, n = 10, s=0 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 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&lt;= n;)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s += 2 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Сумма нечетных чисел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{s}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Здесь переменные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получают начальные значения при объявлении, поэтому нет в первом блоке нет необходимости выполнять присваивание переменным. Что касается третьего блока, то команды из него вынесены в тело оператора цикла. Поэтому третий блок тоже пустой.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52209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«Пустой» цикл.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"Сумма нечетных чисел от 1 до 10"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=1, n = 10, s=0 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 ; ; )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s += 2 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i++;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(i &gt; n)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//Условие выхода из цикла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$"Сумма нечетных чисел=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{s}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Здесь формально мы получаем бесконечный цикл. Чтобы его остановить использована инструкция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условным оператором.</a:t>
            </a:r>
          </a:p>
          <a:p>
            <a:pPr indent="54038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23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540385"/>
            <a:r>
              <a:rPr lang="ru-RU" sz="2000" dirty="0"/>
              <a:t>Пример цикла </a:t>
            </a:r>
            <a:r>
              <a:rPr lang="en-US" sz="2000" dirty="0"/>
              <a:t>for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//Вычисляем сумму ряда 1,1/2.,....1/n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Введите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 = Convert.ToInt16(s);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    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1; i &lt; n; i++)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sum +=1.0/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Сумма равна {0:#.###}"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sum);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6290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indent="540385"/>
            <a:r>
              <a:rPr lang="ru-RU" sz="2000" dirty="0"/>
              <a:t>Пример цикла </a:t>
            </a:r>
            <a:r>
              <a:rPr lang="en-US" sz="2000" dirty="0"/>
              <a:t>for</a:t>
            </a:r>
          </a:p>
          <a:p>
            <a:r>
              <a:rPr lang="pt-BR" sz="1800" dirty="0">
                <a:solidFill>
                  <a:srgbClr val="008000"/>
                </a:solidFill>
                <a:latin typeface="Consolas" panose="020B0609020204030204" pitchFamily="49" charset="0"/>
              </a:rPr>
              <a:t>// Сумма ряда ряда cos(a), cos(cos(a), и т. д.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Введите аргумент косинуса"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(s);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Math.Cos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sum = 0;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1; i &lt; n; i++)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sum += b;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b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Math.Cos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Сумма равна {0:#.###}"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sum);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17802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предусловием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Циклы с предусловием используются тогда, когда выполнение операторов тела цикла зависит от некоторого условия, которое проверяется перед очередным шагом цикла, поэтому цикл носит название цикла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предусловием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Синтаксис цикла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while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приведен ниже:</a:t>
            </a:r>
          </a:p>
          <a:p>
            <a:pPr indent="900430"/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while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&lt;условие&gt;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900430"/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 &lt;операторы тела цикла&gt;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900430"/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18286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предусловием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Операторы тела цикла выполняются до тех пор, пока условие истинно. При использовании цикла с предусловием необходимо понимать, что:</a:t>
            </a:r>
          </a:p>
          <a:p>
            <a:pPr marL="342900" lvl="0" indent="-342900" algn="just">
              <a:buFont typeface="+mj-lt"/>
              <a:buAutoNum type="arabicPeriod"/>
              <a:tabLst>
                <a:tab pos="588645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значение условия выполнения цикла должно быть определено до начала цикла;</a:t>
            </a:r>
          </a:p>
          <a:p>
            <a:pPr marL="342900" lvl="0" indent="-342900" algn="just">
              <a:buFont typeface="+mj-lt"/>
              <a:buAutoNum type="arabicPeriod"/>
              <a:tabLst>
                <a:tab pos="588645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 условие входа в цикл ложно, то происходит выход из цикла;</a:t>
            </a:r>
          </a:p>
          <a:p>
            <a:pPr marL="342900" lvl="0" indent="-342900" algn="just">
              <a:buFont typeface="+mj-lt"/>
              <a:buAutoNum type="arabicPeriod"/>
              <a:tabLst>
                <a:tab pos="588645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хотя бы один из операторов тела цикла должен влиять на условие выполнения цикла, иначе цикл будет повторяться бесконечное число раз;</a:t>
            </a:r>
          </a:p>
          <a:p>
            <a:pPr marL="342900" lvl="0" indent="-342900" algn="just">
              <a:buFont typeface="+mj-lt"/>
              <a:buAutoNum type="arabicPeriod"/>
              <a:tabLst>
                <a:tab pos="588645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цикл может не выполниться ни разу, если условие выполнения цикла ложно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54038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97385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предусловием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примерах мы будем решать ту же задачу: вычисление суммы нечетных чисел.</a:t>
            </a:r>
          </a:p>
          <a:p>
            <a:pPr indent="54038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"Сумма нечетных чисел от 1 до 10"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=1, n = 10, s=0 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&lt;=n)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s += 2 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Сумма нечетных чисел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{s}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1106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предусловием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«Убывающий» цикл.</a:t>
            </a: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"Сумма нечетных чисел от 1 до 10"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n = 10, s=0 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(n&gt;0)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s += 2 * n - 1;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n--;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Сумма нечетных чисел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{s}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28308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постусловием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Цикл с постусловием напоминает цикл с предусловием. Отличие заключается в том, что проверка выхода из цикла выполняется в конце цикла. Синтаксис цикла имеет следующий вид:</a:t>
            </a:r>
          </a:p>
          <a:p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ru-RU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ru-RU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{ &lt;тело цикла&gt;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 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while</a:t>
            </a:r>
            <a:r>
              <a:rPr lang="ru-RU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(условие);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Операторы тела цикла будут выполняться пока условие истинно. </a:t>
            </a:r>
          </a:p>
          <a:p>
            <a:pPr indent="54038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38866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while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450215"/>
            <a:r>
              <a:rPr lang="ru-RU" sz="1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Пример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</a:p>
          <a:p>
            <a:r>
              <a:rPr lang="ru-RU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300" dirty="0">
                <a:solidFill>
                  <a:srgbClr val="008000"/>
                </a:solidFill>
                <a:latin typeface="Consolas" panose="020B0609020204030204" pitchFamily="49" charset="0"/>
              </a:rPr>
              <a:t>//Количество четных и нечетных цифр в числе</a:t>
            </a:r>
            <a:endParaRPr lang="ru-RU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300" dirty="0">
                <a:solidFill>
                  <a:srgbClr val="A31515"/>
                </a:solidFill>
                <a:latin typeface="Consolas" panose="020B0609020204030204" pitchFamily="49" charset="0"/>
              </a:rPr>
              <a:t>Введите </a:t>
            </a:r>
            <a:r>
              <a:rPr lang="en-US" sz="2300" dirty="0">
                <a:solidFill>
                  <a:srgbClr val="A31515"/>
                </a:solidFill>
                <a:latin typeface="Consolas" panose="020B0609020204030204" pitchFamily="49" charset="0"/>
              </a:rPr>
              <a:t>n&gt;10"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 = </a:t>
            </a:r>
            <a:r>
              <a:rPr 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n = Convert.ToInt32(s);</a:t>
            </a: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sch = 0, </a:t>
            </a:r>
            <a:r>
              <a:rPr 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snch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(n&gt;10)</a:t>
            </a:r>
          </a:p>
          <a:p>
            <a:r>
              <a:rPr lang="ru-RU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((n % 10) % 2 == 0)</a:t>
            </a: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sch++;</a:t>
            </a: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53912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while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450215"/>
            <a:r>
              <a:rPr lang="en-US" sz="230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snch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n = n / 10;</a:t>
            </a:r>
          </a:p>
          <a:p>
            <a:r>
              <a:rPr lang="ru-RU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(n % 2 == 0)</a:t>
            </a: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sch++;</a:t>
            </a: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snch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ru-RU" sz="2300" dirty="0">
                <a:solidFill>
                  <a:srgbClr val="A31515"/>
                </a:solidFill>
                <a:latin typeface="Consolas" panose="020B0609020204030204" pitchFamily="49" charset="0"/>
              </a:rPr>
              <a:t>Сумма четных </a:t>
            </a:r>
            <a:r>
              <a:rPr lang="ru-RU" sz="23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sch}</a:t>
            </a:r>
            <a:r>
              <a:rPr lang="en-US" sz="23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ru-RU" sz="2300" dirty="0">
                <a:solidFill>
                  <a:srgbClr val="A31515"/>
                </a:solidFill>
                <a:latin typeface="Consolas" panose="020B0609020204030204" pitchFamily="49" charset="0"/>
              </a:rPr>
              <a:t>Сумма нечетных </a:t>
            </a:r>
            <a:r>
              <a:rPr lang="ru-RU" sz="23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snch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ru-RU" sz="2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777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Операторы </a:t>
            </a:r>
            <a:r>
              <a:rPr lang="en-US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40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ontinue</a:t>
            </a:r>
            <a:r>
              <a:rPr lang="ru-RU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sz="40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reak</a:t>
            </a:r>
            <a:r>
              <a:rPr lang="ru-RU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теле цикла могут использоваться операторы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continue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Оператор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обеспечивает выход из циклов и продолжает выполнение программы с оператора, непосредственно следующего за циклом. Мы уже использовали его в коде примера 1.13.5. В данном учебном примере в теле бесконечного цикла выполняется изменение переменной </a:t>
            </a:r>
            <a:r>
              <a:rPr lang="en-US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если значение </a:t>
            </a:r>
            <a:r>
              <a:rPr lang="en-US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становится больше 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то с помощью оператора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выполняется выход из цикла.</a:t>
            </a:r>
          </a:p>
          <a:p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Оператор 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en-US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ontinue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позволяет перейти на начало цикла. В следующем примере печатаются все целые числа от 1 до 10 кроме числа 5: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2567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3970B-268E-4CB0-88E9-9D72C4E6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Операторы </a:t>
            </a:r>
            <a:r>
              <a:rPr lang="en-US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40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ontinue</a:t>
            </a:r>
            <a:r>
              <a:rPr lang="ru-RU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sz="40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reak</a:t>
            </a:r>
            <a:r>
              <a:rPr lang="ru-RU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73B19-2FF5-4754-B1B7-025E33CA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n = 1; n &lt;= 10; n++)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(n == 5) 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continue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</a:t>
            </a:r>
            <a:r>
              <a:rPr lang="ru-RU" sz="1800" dirty="0" err="1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Console</a:t>
            </a:r>
            <a:r>
              <a:rPr lang="ru-RU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.Write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ru-RU" sz="1800" dirty="0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"{0} "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n);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9580" indent="449580"/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ru-RU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30659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7606F-06E8-4E33-B339-1E5EC51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До следующей лекции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A4A963E-FA14-44A6-9A7C-976698A80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54" y="1825625"/>
            <a:ext cx="2900892" cy="4351338"/>
          </a:xfrm>
        </p:spPr>
      </p:pic>
    </p:spTree>
    <p:extLst>
      <p:ext uri="{BB962C8B-B14F-4D97-AF65-F5344CB8AC3E}">
        <p14:creationId xmlns:p14="http://schemas.microsoft.com/office/powerpoint/2010/main" val="18692001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4177</Words>
  <Application>Microsoft Office PowerPoint</Application>
  <PresentationFormat>Широкоэкранный</PresentationFormat>
  <Paragraphs>458</Paragraphs>
  <Slides>47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8" baseType="lpstr">
      <vt:lpstr>Arial</vt:lpstr>
      <vt:lpstr>Arial Unicode MS</vt:lpstr>
      <vt:lpstr>Calibri</vt:lpstr>
      <vt:lpstr>Calibri Light</vt:lpstr>
      <vt:lpstr>Cambria Math</vt:lpstr>
      <vt:lpstr>Consolas</vt:lpstr>
      <vt:lpstr>Courier New</vt:lpstr>
      <vt:lpstr>Symbol</vt:lpstr>
      <vt:lpstr>Times New Roman</vt:lpstr>
      <vt:lpstr>Verdana</vt:lpstr>
      <vt:lpstr>Тема Office</vt:lpstr>
      <vt:lpstr>Программирование </vt:lpstr>
      <vt:lpstr>Преобразование типов данных в операциях присваивания</vt:lpstr>
      <vt:lpstr>Преобразование типов данных в операциях присваивания</vt:lpstr>
      <vt:lpstr>Преобразование типов данных в операциях присваивания</vt:lpstr>
      <vt:lpstr>Условные выражения</vt:lpstr>
      <vt:lpstr>Условные выражения</vt:lpstr>
      <vt:lpstr>Условные выражения</vt:lpstr>
      <vt:lpstr>Условные выражения</vt:lpstr>
      <vt:lpstr>Логические операции</vt:lpstr>
      <vt:lpstr>Логические операции</vt:lpstr>
      <vt:lpstr>Операторы if и switch</vt:lpstr>
      <vt:lpstr>Операторы if и switch</vt:lpstr>
      <vt:lpstr>Операторы if и switch</vt:lpstr>
      <vt:lpstr>Операторы if и switch</vt:lpstr>
      <vt:lpstr>Операторы if и switch</vt:lpstr>
      <vt:lpstr>Операторы if и switch</vt:lpstr>
      <vt:lpstr>Операторы if и switch</vt:lpstr>
      <vt:lpstr>Операторы if и switch</vt:lpstr>
      <vt:lpstr>Операторы if и switch</vt:lpstr>
      <vt:lpstr>Операторы if и switch</vt:lpstr>
      <vt:lpstr>Операторы if и switch</vt:lpstr>
      <vt:lpstr>Операторы if и switch</vt:lpstr>
      <vt:lpstr>Операторы if и switch</vt:lpstr>
      <vt:lpstr>Операторы if и switch</vt:lpstr>
      <vt:lpstr>Операторы if и switch</vt:lpstr>
      <vt:lpstr>Циклический алгоритм</vt:lpstr>
      <vt:lpstr>Циклический алгоритм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 предусловием</vt:lpstr>
      <vt:lpstr>Цикл с предусловием</vt:lpstr>
      <vt:lpstr>Цикл с предусловием</vt:lpstr>
      <vt:lpstr>Цикл с предусловием</vt:lpstr>
      <vt:lpstr>Цикл с постусловием</vt:lpstr>
      <vt:lpstr>Цикл с while</vt:lpstr>
      <vt:lpstr>Цикл с while</vt:lpstr>
      <vt:lpstr>Операторы continue и break </vt:lpstr>
      <vt:lpstr>Операторы continue и break </vt:lpstr>
      <vt:lpstr>До следующей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</dc:title>
  <dc:creator>Леонид Попов</dc:creator>
  <cp:lastModifiedBy>Леонид Попов</cp:lastModifiedBy>
  <cp:revision>19</cp:revision>
  <dcterms:created xsi:type="dcterms:W3CDTF">2021-01-19T02:49:25Z</dcterms:created>
  <dcterms:modified xsi:type="dcterms:W3CDTF">2021-02-15T01:49:41Z</dcterms:modified>
</cp:coreProperties>
</file>