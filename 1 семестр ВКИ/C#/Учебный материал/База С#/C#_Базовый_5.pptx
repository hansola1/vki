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8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B0CB3-38CC-42ED-8985-774DE3BA7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D11762-E373-410B-8C29-AB78FB93D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EDDB37-DC08-4435-9AA0-E2E66B33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07D2A3-BBA8-4086-A956-9BF114C0B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E9872C-CF5A-40E8-857C-24850559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97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EF40D-4582-439D-A787-23711CCE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8EB07A-F587-483A-BE43-CAA6F589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E60ADE-684E-4231-9570-D7D2EA8E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CC304A-FE01-4C47-98AE-38C34FE41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200049-58E3-45DE-8713-8E150459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15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37E2F-DD09-4AD4-957A-EA37654FF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D16D2A-30F5-47FC-8899-C02F3D10F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B56840-9FA3-4766-98CA-6DCBE4B5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8950FF-1089-4A44-9C55-4DD31F33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959397-DACD-4DA2-8851-AF514C8B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9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2CD8F-5F93-4095-A79A-D5A2622E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ADD0B-2167-4FDE-99F0-09F21A6E7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062BED-0D5B-40C6-88A1-09FC12A4E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2379AE-1C38-42E3-9CD6-F3D0A469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BF9C7B-730F-4BE8-B898-7A360238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19E907-4BF9-4E79-B242-636FF605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37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30EBF-E182-4B50-ACC7-F55F08D4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79A706-79B2-4897-A3E5-7F2A4794A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7EC2EE-33A0-4832-B7E7-41EF121E6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C3F857-D3A2-4F18-BFFC-A20FCCCAC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CDC859D-0D26-4C84-A2F9-6B272F999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039ECB-246B-4D5A-8989-2CD9A0D7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802CDE-48CF-46F4-AD1C-617CEE1CC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DE423DF-2B5D-4625-98EF-2A95C469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45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9F944-74B6-4301-92C9-D58CE280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E4667C9-EEE6-4E29-AC97-A16C6A48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4AAFE9-8DB4-4AD9-BAF2-E8623A36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B5B1E5-46CE-42DE-A169-554D41F2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04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138524B-FCCD-47DA-8ABF-D4E19DA1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3ACED1-86F8-458E-9E78-5609B84AB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377463-4592-420F-979B-3A814D68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42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6C63A-8243-4C4C-BC4A-24D7BB47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CA673B-C63A-4912-BA75-F1B7C2986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DA3882-AF84-4EF5-BD6B-790EB3C5E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ACCEA5-D6F0-4505-A21B-754CCE88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406E3-EC59-4C86-AB39-7B80185B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80D3B3-999B-42CE-AAD0-C117FF93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87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2911B-7528-4413-887F-C9369E90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389F0B-820B-43AE-AC72-043D67837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F7B88E-5A6E-4B21-BA78-14A9E7B81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E7311B-7452-493F-909A-833EA42E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E95846-1127-4BF0-B00E-4E960C0F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B993FB-8B41-490E-A9EA-672120E6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22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240B5-3875-4F5A-A363-1FC0F75F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734E61-5714-45E6-BE85-7DF51B6EB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2834B1-A0B8-41BF-81E7-D04AC75D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B779C0-1AB9-4FAC-BED2-13DE5E251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48F6E1-A780-49AB-9EA2-77AD6A19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18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836F4C-8F06-40AA-8953-7FA1BB5A5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6642E7-6EA7-4F1A-9E59-B63DC471E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5B791E-140A-4DAE-9ED5-1FB4661B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5DC92E-9A8A-471A-B203-A6B6F8ED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AA09DE-CE06-4AEE-9218-43C9555F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94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FBC77-C214-4A64-9390-E4C379C0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776A09-6D3C-4513-AF1A-6D93C2B8B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0BF50-5759-4593-B615-5AF04F458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F269D-425E-46BD-95B6-6DF591CABFC0}" type="datetimeFigureOut">
              <a:rPr lang="ru-RU" smtClean="0"/>
              <a:t>15.03.2021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944DB4-729D-480E-87BA-DB1B0B576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ADFC25-3608-42A4-B815-CC5DEE6B3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CC7EE-5BE4-4788-AF81-4D34CCB26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03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7DCAC-694E-4C3D-ADD8-0C13B9702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D673F6-8628-44F0-80BB-6FD9A88CA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5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Компоненты формы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30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приложения, как правило, состоят из нескольких взаимодействующих между собой окон. В этом разделе мы познакомимся с техникой создания многооконных приложений в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 Forms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indent="450215" algn="just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того, чтобы добавить в проект форму, нужно войти в меню Проект и выбрать пункт Добавить форму. В выпадающем списке выбрать пункт Форма. После этого в проекте появляется новая форма.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399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Предположим, теперь у нас две формы. Но пока они никак не взаимодействуют и ничего друг про друга не знают. Объявим в коде первой формы вторую форму и дадим ей имя: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 frm2;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//Объявляем Form2 и даем ей имя frm2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 же поступаем со второй формой: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 frm1;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507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Положим на обе формы кнопку (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button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и метку (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label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 По нашему замыслу мы нажатием кнопки в первой форме будем менять текст в метке второй формы и наоборот. Чтобы это стало возможным, мы должны у обеих меток установить свойство </a:t>
            </a:r>
            <a:r>
              <a:rPr lang="en-US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Modifiers public 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(по умолчанию – 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private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Дальнейшие действия представлены в обработчиках кнопок первой и второй формы и комментариях к ним.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74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Первая форма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форму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frm2.frm1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//Передаем форме 2 указатель на форму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frm2.BackColor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Color.Cyan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цвет формы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frm2.Show();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//Показываем форму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frm2.label1.Text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"Привет"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текст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973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Вторая форма: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frm1.label1.Text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Ответ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Прячем форму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frm1.Show();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Показывем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форму 1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006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Важно:</a:t>
            </a:r>
            <a:r>
              <a:rPr lang="ru-R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определении функций и переменных, к которым мы хотим получить доступ, должен присутствовать модификатор доступа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 для элементов управления свойство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Modifiers</a:t>
            </a:r>
            <a:r>
              <a:rPr lang="ru-R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должно быть установлено в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758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7030A0"/>
                </a:solidFill>
              </a:rPr>
              <a:t>Многооконные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показаны первая форма, вторая форма и первая форма после взаимодействия со второй.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74D8B8-445B-47BB-B0C2-F0D79EF4EA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0411" y="3317715"/>
            <a:ext cx="1828800" cy="267202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E0212B-D174-43ED-81F6-21CA139F064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31422" y="3317714"/>
            <a:ext cx="2261002" cy="267202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32A513-6DDE-4710-B7E5-00C1FD8158C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26260" y="3317714"/>
            <a:ext cx="1753299" cy="267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6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Контейнеры в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Windows Forms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Назначение контейнера понятно из его названия – хранение и группировка компонентов формы.</a:t>
            </a:r>
          </a:p>
          <a:p>
            <a:r>
              <a:rPr lang="ru-RU" sz="1800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Контейнер </a:t>
            </a:r>
            <a:r>
              <a:rPr lang="ru-RU" sz="1800" dirty="0" err="1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представляет собой специальный контейнер, который ограничен от остальной формы границей.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Он имеет заголовок, который устанавливается через свойство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alt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Нередко этот элемент используется для группирования переключателей - элементов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RadioButton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так как позволяет разграничить их группы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C895D9B-C983-4E78-9391-12C7D87AE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085554"/>
              </p:ext>
            </p:extLst>
          </p:nvPr>
        </p:nvGraphicFramePr>
        <p:xfrm>
          <a:off x="3036684" y="3776329"/>
          <a:ext cx="5934075" cy="1859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6720">
                  <a:extLst>
                    <a:ext uri="{9D8B030D-6E8A-4147-A177-3AD203B41FA5}">
                      <a16:colId xmlns:a16="http://schemas.microsoft.com/office/drawing/2014/main" val="2688500908"/>
                    </a:ext>
                  </a:extLst>
                </a:gridCol>
                <a:gridCol w="2967355">
                  <a:extLst>
                    <a:ext uri="{9D8B030D-6E8A-4147-A177-3AD203B41FA5}">
                      <a16:colId xmlns:a16="http://schemas.microsoft.com/office/drawing/2014/main" val="22224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78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Text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Заголовок — текст, поясняющий назначение компонентов, которые находятся в поле компонента GroupBox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2779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Enabled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Позволяет управлять доступом к компонентам, находящимся в поле (на поверхности) компонента GroupBox. Если значение свойства равно false, то все находящиеся в поле GroupBox компоненты недоступны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1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900">
                          <a:effectLst/>
                        </a:rPr>
                        <a:t>Visible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Позволяет скрыть (сделать невидимым) компонент </a:t>
                      </a:r>
                      <a:r>
                        <a:rPr lang="ru-RU" sz="1000" dirty="0" err="1">
                          <a:effectLst/>
                        </a:rPr>
                        <a:t>GroupBox</a:t>
                      </a:r>
                      <a:r>
                        <a:rPr lang="ru-RU" sz="1000" dirty="0">
                          <a:effectLst/>
                        </a:rPr>
                        <a:t> и все компоненты, которые находятся на его поверхности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8281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331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Контейнеры в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Windows Forms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Контейнер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72D0011-A0A2-4333-A9CB-699D009B2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6365"/>
              </p:ext>
            </p:extLst>
          </p:nvPr>
        </p:nvGraphicFramePr>
        <p:xfrm>
          <a:off x="2206306" y="3147853"/>
          <a:ext cx="6856732" cy="2414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27999">
                  <a:extLst>
                    <a:ext uri="{9D8B030D-6E8A-4147-A177-3AD203B41FA5}">
                      <a16:colId xmlns:a16="http://schemas.microsoft.com/office/drawing/2014/main" val="565024958"/>
                    </a:ext>
                  </a:extLst>
                </a:gridCol>
                <a:gridCol w="3428733">
                  <a:extLst>
                    <a:ext uri="{9D8B030D-6E8A-4147-A177-3AD203B41FA5}">
                      <a16:colId xmlns:a16="http://schemas.microsoft.com/office/drawing/2014/main" val="405394763"/>
                    </a:ext>
                  </a:extLst>
                </a:gridCol>
              </a:tblGrid>
              <a:tr h="258648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3109315"/>
                  </a:ext>
                </a:extLst>
              </a:tr>
              <a:tr h="86216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Dock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Определяет границу формы, к которой привязана (прикреплена) панель. Панель может быть прикреплена к левой (Left), правой (Right), верхней (Top) или нижней (Bottom) границе формы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2832700"/>
                  </a:ext>
                </a:extLst>
              </a:tr>
              <a:tr h="64662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BorderStyle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Вид границы панели: FixedSingle — рамка; Fixed3D — объемная граница; None — граница не отображается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9581572"/>
                  </a:ext>
                </a:extLst>
              </a:tr>
              <a:tr h="43108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Enabled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Свойство позволяет сделать недоступными (false) все компоненты, которые находятся на панели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5609720"/>
                  </a:ext>
                </a:extLst>
              </a:tr>
              <a:tr h="215540">
                <a:tc>
                  <a:txBody>
                    <a:bodyPr/>
                    <a:lstStyle/>
                    <a:p>
                      <a:pPr algn="just"/>
                      <a:r>
                        <a:rPr lang="en-US" sz="900">
                          <a:effectLst/>
                        </a:rPr>
                        <a:t>Visible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000" dirty="0">
                          <a:effectLst/>
                        </a:rPr>
                        <a:t>Позволяет скрыть (</a:t>
                      </a:r>
                      <a:r>
                        <a:rPr lang="ru-RU" sz="1000" dirty="0" err="1">
                          <a:effectLst/>
                        </a:rPr>
                        <a:t>false</a:t>
                      </a:r>
                      <a:r>
                        <a:rPr lang="ru-RU" sz="1000" dirty="0">
                          <a:effectLst/>
                        </a:rPr>
                        <a:t>) панель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125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67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Переключатель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ComboBox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Переключатели в некотором смысле являются визуальными аналогами операторов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switch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собой переключатель, который может находиться в одном из двух состояний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выбранном или невыбранном.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Приведем пример. В представленном на рис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унке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окне вы видите два переключателя, один из которых выбран. Кнопка меняет выбор переключателя и отображает текст выбранного переключателя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Флажки помещены в контейнер </a:t>
            </a:r>
            <a:r>
              <a:rPr lang="ru-RU" sz="1800" dirty="0" err="1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r>
              <a:rPr lang="ru-RU" sz="1800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14A5B2-F576-4928-AAD4-9745124D12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27677" y="3429000"/>
            <a:ext cx="1932299" cy="278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0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Переключатель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ComboBox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(checkBox1.Checked)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label1.Text = checkBox1.Text;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checkBox1.Checked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checkBox2.Checked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label1.Text = checkBox2.Text;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checkBox2.Checked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checkBox1.Checked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188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Переключатель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RadioButton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Радиокнопка это зависимый переключатель, это означает, что из нескольких радиокнопок во включенном состоянии может находиться только одна кнопка.  Радиокнопки, помещенные в контейнер работают, как группа зависимых переключателей, т.е. во включенном состоянии может находиться только одна кнопка. Контейнером для радиокнопок может служить форма, элементы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GroupBox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Основные свойства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идентичны свойствам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CheckBox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и вы можете видеть их в табл.12.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представлена форма с тремя переключателями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RadioButton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зависимости от их выбора, кнопка переключает цвет метки.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0FA6BF-3DF2-42D1-88F4-DA740EB9E9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00506" y="3854595"/>
            <a:ext cx="1513654" cy="232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Переключатель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RadioButton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программы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(radioButton1.Checked) label1.BackColor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(radioButton2.Checked) label1.BackColor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Color.Blue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(radioButton3.Checked) label1.BackColor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8028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Окно сообщений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MessageBox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Этот материал вы изучите самостоятельно по учебному пособию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4482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Диалоги открытия и сохранения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D869EF-AD59-4065-9283-3F52E685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Окна открытия и сохранения файла представлены классами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Они имеют во многом схожую функциональность, поэтому рассмотрим их вместе.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находится на вкладке «Диалоговые окна» панели инструментов и позволяет для выбора использовать стандартный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Windows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-диалог. Этот компонент является «невидимым». Его вызов осуществляется программным путем.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2694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Диалоги открытия и сохранения файлов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4572122-2ED1-46F2-98E4-46CE7F4A6F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28962" y="1903571"/>
          <a:ext cx="5934075" cy="40430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6720">
                  <a:extLst>
                    <a:ext uri="{9D8B030D-6E8A-4147-A177-3AD203B41FA5}">
                      <a16:colId xmlns:a16="http://schemas.microsoft.com/office/drawing/2014/main" val="109082755"/>
                    </a:ext>
                  </a:extLst>
                </a:gridCol>
                <a:gridCol w="2967355">
                  <a:extLst>
                    <a:ext uri="{9D8B030D-6E8A-4147-A177-3AD203B41FA5}">
                      <a16:colId xmlns:a16="http://schemas.microsoft.com/office/drawing/2014/main" val="2923789517"/>
                    </a:ext>
                  </a:extLst>
                </a:gridCol>
              </a:tblGrid>
              <a:tr h="233045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638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Title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Текст в заголовке окна. Если значение свойства не указано, то в заголовке отображается текст Открыть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285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Filter 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9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Свойство задает описание и фильтр (маску) имени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файла. В списке файлов отображаются только те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файлы, имена которых соответствуют указанной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маске. Описание отображается в поле Тип файла.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Например, значение Текст|*.txt указывает, что в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списке файлов надо отобразить только те файлы,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расширение которых txt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084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FilterIndex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Фильтр состоит из нескольких элементов (на-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пример, Текст|*.txt|Все файлы|*.*), то значение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свойства задает фильтр, который используется в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000">
                          <a:effectLst/>
                        </a:rPr>
                        <a:t>момент появления диалога на экране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5788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FileNa</a:t>
                      </a:r>
                      <a:r>
                        <a:rPr lang="en-US" sz="900">
                          <a:effectLst/>
                        </a:rPr>
                        <a:t>m</a:t>
                      </a:r>
                      <a:r>
                        <a:rPr lang="ru-RU" sz="900">
                          <a:effectLst/>
                        </a:rPr>
                        <a:t>e Имя выбранного пользователем файла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9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Имя выбранного пользователем файла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6959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InitialDirectory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Каталог, содержимое которого отображается при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появлении диалога на экране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0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570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900">
                          <a:effectLst/>
                        </a:rPr>
                        <a:t>RestoreDirectory 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9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Признак необходимости отображать содержимое каталога, указанного в свойстве </a:t>
                      </a:r>
                      <a:r>
                        <a:rPr lang="ru-RU" sz="1000" dirty="0" err="1">
                          <a:effectLst/>
                        </a:rPr>
                        <a:t>InitialDirectory</a:t>
                      </a:r>
                      <a:r>
                        <a:rPr lang="ru-RU" sz="1000" dirty="0">
                          <a:effectLst/>
                        </a:rPr>
                        <a:t>,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>
                          <a:effectLst/>
                        </a:rPr>
                        <a:t>при каждом появлении окна. Если значение свойства равно </a:t>
                      </a:r>
                      <a:r>
                        <a:rPr lang="ru-RU" sz="1000" dirty="0" err="1">
                          <a:effectLst/>
                        </a:rPr>
                        <a:t>False</a:t>
                      </a:r>
                      <a:r>
                        <a:rPr lang="ru-RU" sz="1000" dirty="0">
                          <a:effectLst/>
                        </a:rPr>
                        <a:t>, то при следующем появлении окна отображается содержимое каталога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5508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175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Диалоги открытия и сохранения файлов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найти на вкладке «Диалоговые окна».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OpenFileDialog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имеют ряд общих свойств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таблице приведены свойства, специфические для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SaveFileDialog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C837B6C-77A8-4FA7-9766-74CAC516D20E}"/>
              </a:ext>
            </a:extLst>
          </p:cNvPr>
          <p:cNvGraphicFramePr>
            <a:graphicFrameLocks noGrp="1"/>
          </p:cNvGraphicFramePr>
          <p:nvPr/>
        </p:nvGraphicFramePr>
        <p:xfrm>
          <a:off x="3128962" y="3147854"/>
          <a:ext cx="5934075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6720">
                  <a:extLst>
                    <a:ext uri="{9D8B030D-6E8A-4147-A177-3AD203B41FA5}">
                      <a16:colId xmlns:a16="http://schemas.microsoft.com/office/drawing/2014/main" val="242917703"/>
                    </a:ext>
                  </a:extLst>
                </a:gridCol>
                <a:gridCol w="2967355">
                  <a:extLst>
                    <a:ext uri="{9D8B030D-6E8A-4147-A177-3AD203B41FA5}">
                      <a16:colId xmlns:a16="http://schemas.microsoft.com/office/drawing/2014/main" val="3802705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201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CheckPathExists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>
                          <a:effectLst/>
                        </a:rPr>
                        <a:t>Признак необходимости проверки существования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каталога, в котором следует сохранить файл. Если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1000">
                          <a:effectLst/>
                        </a:rPr>
                        <a:t>указанного каталога нет, то выводится информационное сообщение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227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CheckFileExists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effectLst/>
                        </a:rPr>
                        <a:t>Признак необходимости проверки существования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>
                          <a:effectLst/>
                        </a:rPr>
                        <a:t>файла с заданным именем. Если значение свойства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>
                          <a:effectLst/>
                        </a:rPr>
                        <a:t>равно </a:t>
                      </a:r>
                      <a:r>
                        <a:rPr lang="ru-RU" sz="1000" dirty="0" err="1">
                          <a:effectLst/>
                        </a:rPr>
                        <a:t>True</a:t>
                      </a:r>
                      <a:r>
                        <a:rPr lang="ru-RU" sz="1000" dirty="0">
                          <a:effectLst/>
                        </a:rPr>
                        <a:t> и файл с указанным именем уже суще-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1000" dirty="0" err="1">
                          <a:effectLst/>
                        </a:rPr>
                        <a:t>ствует</a:t>
                      </a:r>
                      <a:r>
                        <a:rPr lang="ru-RU" sz="1000" dirty="0">
                          <a:effectLst/>
                        </a:rPr>
                        <a:t>, то появляется окно запроса, в котором пользователь может подтвердить необходимость замены (перезаписи) существующего файла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2742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657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Диалоги открытия и сохранения файлов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Чтение из файла в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Textbox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запись текста в файл.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Чтение из файла в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(openFileDialog1.ShowDialog()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DialogResult.OK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openFileDialog1.FileName;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string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fileText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File.ReadAllText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textBox1.Text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fileText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49580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672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Диалоги открытия и сохранения файлов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Запись из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TextBox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файл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saveFileDialog1.Filter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"Text files(*.txt)|*.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txt|All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files(*.*)|*.*"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(saveFileDialog1.ShowDialog()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DialogResult.Cancel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saveFileDialog1.FileName;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File.WriteAllText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(filename, textBox1.Text);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8114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ListBox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представляет собой список, в котором можно выбрать нужный элемент.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Ключевым свойством этого элемента является свойство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которое как раз и хранит набор всех элементов списка</a:t>
            </a:r>
            <a:r>
              <a:rPr lang="ru-RU" sz="1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01064AE-AD69-45E9-BDD9-8F69EB46E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744849"/>
              </p:ext>
            </p:extLst>
          </p:nvPr>
        </p:nvGraphicFramePr>
        <p:xfrm>
          <a:off x="2801791" y="2970672"/>
          <a:ext cx="5934075" cy="2804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6720">
                  <a:extLst>
                    <a:ext uri="{9D8B030D-6E8A-4147-A177-3AD203B41FA5}">
                      <a16:colId xmlns:a16="http://schemas.microsoft.com/office/drawing/2014/main" val="2383863178"/>
                    </a:ext>
                  </a:extLst>
                </a:gridCol>
                <a:gridCol w="2967355">
                  <a:extLst>
                    <a:ext uri="{9D8B030D-6E8A-4147-A177-3AD203B41FA5}">
                      <a16:colId xmlns:a16="http://schemas.microsoft.com/office/drawing/2014/main" val="4208489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140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Items 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Элементы списка — коллекция строк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535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Items.Count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Количество элементов списка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299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SelectedIndex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Номер элемента, выбранного в списке. Если ни один из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850">
                          <a:effectLst/>
                        </a:rPr>
                        <a:t>элементов списка не выбран, то значение свойства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850">
                          <a:effectLst/>
                        </a:rPr>
                        <a:t>равно –1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850">
                          <a:effectLst/>
                        </a:rPr>
                        <a:t> 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4646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Sorted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Признак необходимости автоматической сортировки</a:t>
                      </a:r>
                      <a:endParaRPr lang="ru-RU" sz="1200">
                        <a:effectLst/>
                      </a:endParaRPr>
                    </a:p>
                    <a:p>
                      <a:r>
                        <a:rPr lang="ru-RU" sz="850">
                          <a:effectLst/>
                        </a:rPr>
                        <a:t>(True) списка после добавления очередного элемента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508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SelectionMode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 dirty="0">
                          <a:effectLst/>
                        </a:rPr>
                        <a:t>Определяет режим выбора элементов списка: </a:t>
                      </a:r>
                      <a:r>
                        <a:rPr lang="ru-RU" sz="850" dirty="0" err="1">
                          <a:effectLst/>
                        </a:rPr>
                        <a:t>One</a:t>
                      </a:r>
                      <a:r>
                        <a:rPr lang="ru-RU" sz="850" dirty="0">
                          <a:effectLst/>
                        </a:rPr>
                        <a:t> —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850" dirty="0">
                          <a:effectLst/>
                        </a:rPr>
                        <a:t>только один элемент; </a:t>
                      </a:r>
                      <a:r>
                        <a:rPr lang="ru-RU" sz="850" dirty="0" err="1">
                          <a:effectLst/>
                        </a:rPr>
                        <a:t>MultiSimple</a:t>
                      </a:r>
                      <a:r>
                        <a:rPr lang="ru-RU" sz="850" dirty="0">
                          <a:effectLst/>
                        </a:rPr>
                        <a:t> — можно выбрать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850" dirty="0">
                          <a:effectLst/>
                        </a:rPr>
                        <a:t>несколько элементов, сделав щелчок на нужных эле-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850" dirty="0">
                          <a:effectLst/>
                        </a:rPr>
                        <a:t>ментах списка; </a:t>
                      </a:r>
                      <a:r>
                        <a:rPr lang="ru-RU" sz="850" dirty="0" err="1">
                          <a:effectLst/>
                        </a:rPr>
                        <a:t>MultiExtended</a:t>
                      </a:r>
                      <a:r>
                        <a:rPr lang="ru-RU" sz="850" dirty="0">
                          <a:effectLst/>
                        </a:rPr>
                        <a:t> — можно выбрать </a:t>
                      </a:r>
                      <a:r>
                        <a:rPr lang="ru-RU" sz="850" dirty="0" err="1">
                          <a:effectLst/>
                        </a:rPr>
                        <a:t>не-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850" dirty="0">
                          <a:effectLst/>
                        </a:rPr>
                        <a:t>сколько элементов, сделав щелчок на нужных </a:t>
                      </a:r>
                      <a:r>
                        <a:rPr lang="ru-RU" sz="850" dirty="0" err="1">
                          <a:effectLst/>
                        </a:rPr>
                        <a:t>элемен</a:t>
                      </a:r>
                      <a:r>
                        <a:rPr lang="ru-RU" sz="850" dirty="0">
                          <a:effectLst/>
                        </a:rPr>
                        <a:t>-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850" dirty="0" err="1">
                          <a:effectLst/>
                        </a:rPr>
                        <a:t>тах</a:t>
                      </a:r>
                      <a:r>
                        <a:rPr lang="ru-RU" sz="850" dirty="0">
                          <a:effectLst/>
                        </a:rPr>
                        <a:t> списка при нажатой клавише &lt;</a:t>
                      </a:r>
                      <a:r>
                        <a:rPr lang="ru-RU" sz="850" dirty="0" err="1">
                          <a:effectLst/>
                        </a:rPr>
                        <a:t>Ctrl</a:t>
                      </a:r>
                      <a:r>
                        <a:rPr lang="ru-RU" sz="850" dirty="0">
                          <a:effectLst/>
                        </a:rPr>
                        <a:t>&gt;, или выделить</a:t>
                      </a:r>
                      <a:endParaRPr lang="ru-RU" sz="1200" dirty="0">
                        <a:effectLst/>
                      </a:endParaRPr>
                    </a:p>
                    <a:p>
                      <a:r>
                        <a:rPr lang="ru-RU" sz="850" dirty="0">
                          <a:effectLst/>
                        </a:rPr>
                        <a:t>диапазон, щелкнув при нажатой клавише &lt;</a:t>
                      </a:r>
                      <a:r>
                        <a:rPr lang="ru-RU" sz="850" dirty="0" err="1">
                          <a:effectLst/>
                        </a:rPr>
                        <a:t>Shift</a:t>
                      </a:r>
                      <a:r>
                        <a:rPr lang="ru-RU" sz="850" dirty="0">
                          <a:effectLst/>
                        </a:rPr>
                        <a:t>&gt; на</a:t>
                      </a:r>
                      <a:endParaRPr lang="ru-RU" sz="1200" dirty="0">
                        <a:effectLst/>
                      </a:endParaRPr>
                    </a:p>
                    <a:p>
                      <a:pPr algn="just"/>
                      <a:r>
                        <a:rPr lang="ru-RU" sz="850" dirty="0">
                          <a:effectLst/>
                        </a:rPr>
                        <a:t>первом и последнем элементе диапазона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024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478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Элементы в список могут добавляться как во время разработки, так и программным способом. В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Studio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окне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Properties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(Свойства) для элемента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мы можем найти свойство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 двойного щелчка на свойство нам отобразится окно для добавления элементов в список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EFC6F4-68FE-4196-BEA5-8E6D78F6E9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83434" y="3155056"/>
            <a:ext cx="4070088" cy="275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12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Все элементы списка входят в свойство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которое представляет собой коллекцию. Для добавления нового элемента в эту коллекцию, а значит и в список, надо использовать метод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например: </a:t>
            </a:r>
            <a:r>
              <a:rPr lang="ru-R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listBox1.Items.Add("Новый элемент");.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использовании этого метода каждый добавляемый элемент добавляется в конец списка.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добавить сразу несколько элементов, например, массив. Для этого используется метод </a:t>
            </a:r>
            <a:r>
              <a:rPr lang="ru-RU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AddRange</a:t>
            </a:r>
            <a:r>
              <a:rPr lang="ru-R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lnSpc>
                <a:spcPts val="1465"/>
              </a:lnSpc>
              <a:buNone/>
            </a:pP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{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1800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Бразилия","Аргентина","Чили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", "Уругвай", "Колумбия"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listBox1.Items.AddRange(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отличие от простого добавления вставка производится по определенному индексу списка с помощью метода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данном случае вставляем элемент на вторую позицию в списке, так как отсчет позиций начинается с нуля.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listBox1.Items.Insert(1,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endParaRPr lang="ru-RU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0030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удаления элемента по его тексту используется метод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60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listBox1.Items.Remove(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"Чили"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ts val="1560"/>
              </a:lnSpc>
            </a:pPr>
            <a:endParaRPr lang="ru-RU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удалить элемент по его индексу в списке, используется метод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RemoveAt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listBox1.Items.RemoveAt(1);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Кроме того, можно очистить сразу весь список, применив метод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Clear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altLang="ru-RU" sz="1800" dirty="0">
              <a:solidFill>
                <a:srgbClr val="00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listBox1.Items.Clear();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2151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Используя индекс элемента, можно найти сам элемент в списке. Например, получим первый элемент списка: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firstElement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listBox1.Items[0];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just"/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позволяет определить количество элементов в списке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выделении элементов списка мы можем ими управлять как через индекс, так и через сам выделенный элемент. Получить выделенные элементы можно с помощью следующих свойств элемента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SelectedIndex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возвращает или устанавливает номер выделенного элемента списка. Если выделенные элементы отсутствуют, тогда свойство имеет значение -1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SelectedIndices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возвращает или устанавливает коллекцию выделенных элементов в виде набора их индексов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SelectedItem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возвращает или устанавливает текст выделенного элемента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SelectedItems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возвращает или устанавливает выделенные элементы в виде коллекции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0021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Рассмотрим пример. На рисунке представлена форма со списком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текстовый файл, в котором он сохранен. Ниже приведен код программы.</a:t>
            </a: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22C579-4914-4870-B7D8-0C32FF6189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50253" y="3159098"/>
            <a:ext cx="1837189" cy="25873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C30614-39A3-4105-BB0E-4607F7318B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96125" y="3159098"/>
            <a:ext cx="2259225" cy="258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77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button4_Click(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Сохранение в файле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saveFileDialog1.Filter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"Text files(*.txt)|*.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txt|All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files(*.*)|*.*"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(saveFileDialog1.ShowDialog()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DialogResult.Cancel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filename = saveFileDialog1.FileName;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WriteToFile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(filename, listBox1);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56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WriteToFile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path,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StreamWriter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FileStream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FileMode.Create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(var item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listBox.Items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 таком же порядке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item.ToString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81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Компонент </a:t>
            </a:r>
            <a:r>
              <a:rPr lang="en-US" dirty="0" err="1">
                <a:solidFill>
                  <a:srgbClr val="C00000"/>
                </a:solidFill>
              </a:rPr>
              <a:t>ListBox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Добаляем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элемент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listBox1.Items.Add(textBox1.Text);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//Удаляем элемент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listBox1.Items.Remove(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Горох"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button3_Click(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//Очищаем список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listBox1.Items.Clear();</a:t>
            </a:r>
          </a:p>
          <a:p>
            <a:r>
              <a:rPr lang="ru-RU" sz="18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94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Эта учебная программа поможет вам в освоении методов, о которых речь шла в предыдущих параграфах.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Суть игры проста: игрок загадывает и вводит цифру, а программа генерирует случайное число. Если эти числа совпали, игрок получает бонусы. Код программы с комментариями приведен ниже.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15A5FF-CFEF-425A-BA8D-9CF32FC41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86" y="3147727"/>
            <a:ext cx="2620729" cy="30292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3FC89D-3582-471B-A0BF-987F6DAAA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708" y="3076284"/>
            <a:ext cx="2187200" cy="310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02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Ugadai_chislo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Form2 frm2;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Конец игры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635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frm2 =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Form2();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//Создаем указатель на форму 2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frm2.frm1 =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//Передаем форме 2 указатель на форму 1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frm2.BackColor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Color.Cyan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Меняем цвет формы 2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frm2.Show();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//Показываем форму 2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frm2.label1.Text = textBox1.Text +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textBox2.Text +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"! </a:t>
            </a:r>
            <a:r>
              <a:rPr lang="ru-RU" sz="1800" dirty="0">
                <a:solidFill>
                  <a:srgbClr val="A31515"/>
                </a:solidFill>
                <a:latin typeface="Consolas" panose="020B0609020204030204" pitchFamily="49" charset="0"/>
              </a:rPr>
              <a:t>Поиграем?"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853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Ugadai_chislo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Form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Form1 frm1;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k = 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Random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 panose="020B0609020204030204" pitchFamily="49" charset="0"/>
              </a:rPr>
              <a:t>Form2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275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b,d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f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s = textBox1.Text;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считываем число игрока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//Проверка: вдруг не число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d = Convert.ToInt32(s);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счет ходов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textBox1.Text 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f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                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300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(f)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//Если число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b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(1,6);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(d==b)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k++;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Счет совпадений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 = s +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-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listBox1.Items.Add(s);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(c==5)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//Всего пять ходов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textBox1.Enabled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button1.Enabled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124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Учебная программа «Угадай число»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4806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ru-R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.Hide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//Прячем форму 2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frm1.Show();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Показывем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форму 1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frm1.label4.Text +=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k.ToString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Передаем очки на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Form1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518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Список </a:t>
            </a:r>
            <a:r>
              <a:rPr lang="en-US" dirty="0" err="1">
                <a:solidFill>
                  <a:srgbClr val="C00000"/>
                </a:solidFill>
              </a:rPr>
              <a:t>ComboBox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4806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Компонент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совмещает в себе список и текстовое поле. По этой причине у него есть свойство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текст, находящийся в поле ввода/редактирования. Отметим также свойство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DropDownStyle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вид компонента: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DropDown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поле ввода и раскрывающийся список;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Simple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поле ввода со списком;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DropDownList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раскрывающийся список. Ниже мы поясним действие этого свойства на примерах. Остальные его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свойства аналогичны свойствам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153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Список </a:t>
            </a:r>
            <a:r>
              <a:rPr lang="en-US" dirty="0" err="1">
                <a:solidFill>
                  <a:srgbClr val="C00000"/>
                </a:solidFill>
              </a:rPr>
              <a:t>ComboBox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4806"/>
            <a:ext cx="10515600" cy="4351338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хранения элементов списка в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также предназначено свойство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Подобным образом, как и с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мы можем в окне свойств выбрать свойство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Items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нам отобразится окно для добавления элементов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60FB01-6645-46F4-9557-6A5AE4E6D2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78623" y="3304915"/>
            <a:ext cx="3634754" cy="2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363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Список </a:t>
            </a:r>
            <a:r>
              <a:rPr lang="en-US" dirty="0" err="1">
                <a:solidFill>
                  <a:srgbClr val="C00000"/>
                </a:solidFill>
              </a:rPr>
              <a:t>ComboBox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4806"/>
            <a:ext cx="10515600" cy="4351338"/>
          </a:xfrm>
        </p:spPr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И, как и с компонентом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здесь мы также можем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управлять элементами.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Добавление элементов:</a:t>
            </a: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один элемент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comboBox1.Items.Add(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набор элементов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Items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AddRange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[] {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"Уругвай", "Эквадор"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добавляем один элемент на определенную позицию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comboBox1.Items.Insert(1, 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"Боливия"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772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Список </a:t>
            </a:r>
            <a:r>
              <a:rPr lang="en-US" dirty="0" err="1">
                <a:solidFill>
                  <a:srgbClr val="C00000"/>
                </a:solidFill>
              </a:rPr>
              <a:t>ComboBox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4806"/>
            <a:ext cx="10515600" cy="4351338"/>
          </a:xfrm>
        </p:spPr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элементов: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один элемент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comboBox1.Items.Remove(</a:t>
            </a:r>
            <a:r>
              <a:rPr lang="ru-RU" sz="18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"Аргентина"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элемент по индексу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comboBox1.Items.RemoveAt(1);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удаляем все элементы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comboBox1.Items.Clear();</a:t>
            </a:r>
          </a:p>
          <a:p>
            <a:pPr indent="450215">
              <a:lnSpc>
                <a:spcPts val="1465"/>
              </a:lnSpc>
            </a:pPr>
            <a:endParaRPr lang="ru-RU" sz="18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indent="450215">
              <a:lnSpc>
                <a:spcPts val="1465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 можем получить элемент по индексу и производить с ним разные действия. Например, изменить его</a:t>
            </a:r>
          </a:p>
          <a:p>
            <a:pPr indent="450215">
              <a:lnSpc>
                <a:spcPts val="1465"/>
              </a:lnSpc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450215">
              <a:lnSpc>
                <a:spcPts val="1465"/>
              </a:lnSpc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comboBox1.Items[0] =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"Парагвай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indent="450215">
              <a:lnSpc>
                <a:spcPts val="1465"/>
              </a:lnSpc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0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Список </a:t>
            </a:r>
            <a:r>
              <a:rPr lang="en-US" dirty="0" err="1">
                <a:solidFill>
                  <a:srgbClr val="C00000"/>
                </a:solidFill>
              </a:rPr>
              <a:t>ComboBox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358"/>
            <a:ext cx="10515600" cy="4442786"/>
          </a:xfrm>
        </p:spPr>
        <p:txBody>
          <a:bodyPr>
            <a:normAutofit/>
          </a:bodyPr>
          <a:lstStyle/>
          <a:p>
            <a:pPr indent="450215" algn="just">
              <a:lnSpc>
                <a:spcPts val="1560"/>
              </a:lnSpc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ряда свойств можно настроить стиль оформления компонента. Так, свойство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DropDownWidth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ширину выпадающего списка. С помощью свойства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DropDownHeight</a:t>
            </a:r>
            <a:r>
              <a:rPr lang="ru-RU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можно установить высоту выпадающего списка.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Еще одно свойство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MaxDropDownItems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позволяет задать число видимых элементов списка - от 1 до 100. По умолчанию это число равно 8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Другое свойство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DropDownStyle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задает стиль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Оно может принимать три возможных значения: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642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Список </a:t>
            </a:r>
            <a:r>
              <a:rPr lang="en-US" dirty="0" err="1">
                <a:solidFill>
                  <a:srgbClr val="C00000"/>
                </a:solidFill>
              </a:rPr>
              <a:t>ComboBox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6BCEA5-65DC-48AD-8FFF-108024B00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3358"/>
            <a:ext cx="10515600" cy="44427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используется по умолчанию. Мы можем открыть выпадающий список вариантов при вводе значения в текстовое поле или нажав на кнопку со стрелкой в правой части элемента, и нам отобразится собственно выпадающий список, в котором можно выбрать возможный вариант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DropdownList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чтобы открыть выпадающий список, надо нажать на кнопку со стрелкой в правой стороне элемента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Simple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ComboBox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представляет простое текстовое поле, в котором для перехода между элементами мы можем использовать клавиши клавиатуры вверх/вниз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2AA9B5-4D54-404B-BC56-97F4F3AB31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44161" y="4013881"/>
            <a:ext cx="2968687" cy="229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95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FE9A1-4D7F-44E4-B1AD-72BC94F3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До следующей лекции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6647252-35E6-4C92-8C00-020E91725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862" y="1811614"/>
            <a:ext cx="2962275" cy="4443413"/>
          </a:xfrm>
        </p:spPr>
      </p:pic>
    </p:spTree>
    <p:extLst>
      <p:ext uri="{BB962C8B-B14F-4D97-AF65-F5344CB8AC3E}">
        <p14:creationId xmlns:p14="http://schemas.microsoft.com/office/powerpoint/2010/main" val="3180932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3163</Words>
  <Application>Microsoft Office PowerPoint</Application>
  <PresentationFormat>Широкоэкранный</PresentationFormat>
  <Paragraphs>409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Verdana</vt:lpstr>
      <vt:lpstr>Тема Office</vt:lpstr>
      <vt:lpstr>Windows приложения</vt:lpstr>
      <vt:lpstr>Многооконные приложения</vt:lpstr>
      <vt:lpstr>Многооконные приложения</vt:lpstr>
      <vt:lpstr>Многооконные приложения</vt:lpstr>
      <vt:lpstr>Многооконные приложения</vt:lpstr>
      <vt:lpstr>Многооконные приложения</vt:lpstr>
      <vt:lpstr>Многооконные приложения</vt:lpstr>
      <vt:lpstr>Многооконные приложения</vt:lpstr>
      <vt:lpstr>Контейнеры в Windows Forms</vt:lpstr>
      <vt:lpstr>Контейнеры в Windows Forms</vt:lpstr>
      <vt:lpstr>Переключатель ComboBox</vt:lpstr>
      <vt:lpstr>Переключатель ComboBox</vt:lpstr>
      <vt:lpstr>Переключатель RadioButton</vt:lpstr>
      <vt:lpstr>Переключатель RadioButton</vt:lpstr>
      <vt:lpstr>Окно сообщений MessageBox</vt:lpstr>
      <vt:lpstr>Диалоги открытия и сохранения файлов</vt:lpstr>
      <vt:lpstr>Диалоги открытия и сохранения файлов</vt:lpstr>
      <vt:lpstr>Диалоги открытия и сохранения файлов</vt:lpstr>
      <vt:lpstr>Диалоги открытия и сохранения файлов</vt:lpstr>
      <vt:lpstr>Диалоги открытия и сохранения файлов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Компонент ListBox</vt:lpstr>
      <vt:lpstr>Учебная программа «Угадай число»</vt:lpstr>
      <vt:lpstr>Учебная программа «Угадай число»</vt:lpstr>
      <vt:lpstr>Учебная программа «Угадай число»</vt:lpstr>
      <vt:lpstr>Учебная программа «Угадай число»</vt:lpstr>
      <vt:lpstr>Учебная программа «Угадай число»</vt:lpstr>
      <vt:lpstr>Учебная программа «Угадай число»</vt:lpstr>
      <vt:lpstr>Учебная программа «Угадай число»</vt:lpstr>
      <vt:lpstr>Список ComboBox</vt:lpstr>
      <vt:lpstr>Список ComboBox</vt:lpstr>
      <vt:lpstr>Список ComboBox</vt:lpstr>
      <vt:lpstr>Список ComboBox</vt:lpstr>
      <vt:lpstr>Список ComboBox</vt:lpstr>
      <vt:lpstr>Список ComboBox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18</cp:revision>
  <dcterms:created xsi:type="dcterms:W3CDTF">2021-01-26T02:32:51Z</dcterms:created>
  <dcterms:modified xsi:type="dcterms:W3CDTF">2021-03-15T03:30:50Z</dcterms:modified>
</cp:coreProperties>
</file>