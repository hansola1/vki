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2AE5F66-B9E3-485B-9C91-1B3EA18A5B78}"/>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0F84D0E2-A903-47A7-ABA9-B00D97971A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D17DE362-E89B-413E-985D-3D764455602E}"/>
              </a:ext>
            </a:extLst>
          </p:cNvPr>
          <p:cNvSpPr>
            <a:spLocks noGrp="1"/>
          </p:cNvSpPr>
          <p:nvPr>
            <p:ph type="dt" sz="half" idx="10"/>
          </p:nvPr>
        </p:nvSpPr>
        <p:spPr/>
        <p:txBody>
          <a:bodyPr/>
          <a:lstStyle/>
          <a:p>
            <a:fld id="{13846C7E-812B-4278-9E39-01365622E659}" type="datetimeFigureOut">
              <a:rPr lang="ru-RU" smtClean="0"/>
              <a:t>20.01.2021</a:t>
            </a:fld>
            <a:endParaRPr lang="ru-RU"/>
          </a:p>
        </p:txBody>
      </p:sp>
      <p:sp>
        <p:nvSpPr>
          <p:cNvPr id="5" name="Нижний колонтитул 4">
            <a:extLst>
              <a:ext uri="{FF2B5EF4-FFF2-40B4-BE49-F238E27FC236}">
                <a16:creationId xmlns:a16="http://schemas.microsoft.com/office/drawing/2014/main" id="{08F16846-B422-4600-9424-80BE8636BCF5}"/>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A229A390-F763-45A7-89A5-F2BCDB7A004E}"/>
              </a:ext>
            </a:extLst>
          </p:cNvPr>
          <p:cNvSpPr>
            <a:spLocks noGrp="1"/>
          </p:cNvSpPr>
          <p:nvPr>
            <p:ph type="sldNum" sz="quarter" idx="12"/>
          </p:nvPr>
        </p:nvSpPr>
        <p:spPr/>
        <p:txBody>
          <a:bodyPr/>
          <a:lstStyle/>
          <a:p>
            <a:fld id="{3A65A622-2682-4E94-98C9-5F0A15761D43}" type="slidenum">
              <a:rPr lang="ru-RU" smtClean="0"/>
              <a:t>‹#›</a:t>
            </a:fld>
            <a:endParaRPr lang="ru-RU"/>
          </a:p>
        </p:txBody>
      </p:sp>
    </p:spTree>
    <p:extLst>
      <p:ext uri="{BB962C8B-B14F-4D97-AF65-F5344CB8AC3E}">
        <p14:creationId xmlns:p14="http://schemas.microsoft.com/office/powerpoint/2010/main" val="23676272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1CF197A-8C15-4001-A7DE-E00DD0D778F3}"/>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2DAFDA16-9BF5-4BAA-A81C-36C9C6E51552}"/>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C7579B9E-B297-440E-AB81-EDBDB173CA6A}"/>
              </a:ext>
            </a:extLst>
          </p:cNvPr>
          <p:cNvSpPr>
            <a:spLocks noGrp="1"/>
          </p:cNvSpPr>
          <p:nvPr>
            <p:ph type="dt" sz="half" idx="10"/>
          </p:nvPr>
        </p:nvSpPr>
        <p:spPr/>
        <p:txBody>
          <a:bodyPr/>
          <a:lstStyle/>
          <a:p>
            <a:fld id="{13846C7E-812B-4278-9E39-01365622E659}" type="datetimeFigureOut">
              <a:rPr lang="ru-RU" smtClean="0"/>
              <a:t>20.01.2021</a:t>
            </a:fld>
            <a:endParaRPr lang="ru-RU"/>
          </a:p>
        </p:txBody>
      </p:sp>
      <p:sp>
        <p:nvSpPr>
          <p:cNvPr id="5" name="Нижний колонтитул 4">
            <a:extLst>
              <a:ext uri="{FF2B5EF4-FFF2-40B4-BE49-F238E27FC236}">
                <a16:creationId xmlns:a16="http://schemas.microsoft.com/office/drawing/2014/main" id="{E02E91FA-F57A-4B28-B31D-4E3A418954D6}"/>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911DF702-A515-414F-8E72-5B2DBD4E5858}"/>
              </a:ext>
            </a:extLst>
          </p:cNvPr>
          <p:cNvSpPr>
            <a:spLocks noGrp="1"/>
          </p:cNvSpPr>
          <p:nvPr>
            <p:ph type="sldNum" sz="quarter" idx="12"/>
          </p:nvPr>
        </p:nvSpPr>
        <p:spPr/>
        <p:txBody>
          <a:bodyPr/>
          <a:lstStyle/>
          <a:p>
            <a:fld id="{3A65A622-2682-4E94-98C9-5F0A15761D43}" type="slidenum">
              <a:rPr lang="ru-RU" smtClean="0"/>
              <a:t>‹#›</a:t>
            </a:fld>
            <a:endParaRPr lang="ru-RU"/>
          </a:p>
        </p:txBody>
      </p:sp>
    </p:spTree>
    <p:extLst>
      <p:ext uri="{BB962C8B-B14F-4D97-AF65-F5344CB8AC3E}">
        <p14:creationId xmlns:p14="http://schemas.microsoft.com/office/powerpoint/2010/main" val="398431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C4E67D-7736-49E7-934F-0119E90D735A}"/>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5FC3DEA3-ACF2-400A-8633-86117DFC4FF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B4D70033-9705-40C1-893D-FC3C7A0984D4}"/>
              </a:ext>
            </a:extLst>
          </p:cNvPr>
          <p:cNvSpPr>
            <a:spLocks noGrp="1"/>
          </p:cNvSpPr>
          <p:nvPr>
            <p:ph type="dt" sz="half" idx="10"/>
          </p:nvPr>
        </p:nvSpPr>
        <p:spPr/>
        <p:txBody>
          <a:bodyPr/>
          <a:lstStyle/>
          <a:p>
            <a:fld id="{13846C7E-812B-4278-9E39-01365622E659}" type="datetimeFigureOut">
              <a:rPr lang="ru-RU" smtClean="0"/>
              <a:t>20.01.2021</a:t>
            </a:fld>
            <a:endParaRPr lang="ru-RU"/>
          </a:p>
        </p:txBody>
      </p:sp>
      <p:sp>
        <p:nvSpPr>
          <p:cNvPr id="5" name="Нижний колонтитул 4">
            <a:extLst>
              <a:ext uri="{FF2B5EF4-FFF2-40B4-BE49-F238E27FC236}">
                <a16:creationId xmlns:a16="http://schemas.microsoft.com/office/drawing/2014/main" id="{3022044F-02F2-499C-BE0A-DF1E3A5E3756}"/>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0D7D2A8B-DCA7-43AF-8662-D6424414A7F8}"/>
              </a:ext>
            </a:extLst>
          </p:cNvPr>
          <p:cNvSpPr>
            <a:spLocks noGrp="1"/>
          </p:cNvSpPr>
          <p:nvPr>
            <p:ph type="sldNum" sz="quarter" idx="12"/>
          </p:nvPr>
        </p:nvSpPr>
        <p:spPr/>
        <p:txBody>
          <a:bodyPr/>
          <a:lstStyle/>
          <a:p>
            <a:fld id="{3A65A622-2682-4E94-98C9-5F0A15761D43}" type="slidenum">
              <a:rPr lang="ru-RU" smtClean="0"/>
              <a:t>‹#›</a:t>
            </a:fld>
            <a:endParaRPr lang="ru-RU"/>
          </a:p>
        </p:txBody>
      </p:sp>
    </p:spTree>
    <p:extLst>
      <p:ext uri="{BB962C8B-B14F-4D97-AF65-F5344CB8AC3E}">
        <p14:creationId xmlns:p14="http://schemas.microsoft.com/office/powerpoint/2010/main" val="9597386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993536-4FC0-45A2-ADE1-F275AEFA48B4}"/>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EB592EF6-9C7F-4E30-BFD1-89EA087E9C18}"/>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78B8BBB6-772E-458F-8FD1-A409566D20BC}"/>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30470C6D-0CF7-4993-B656-E94894E3C231}"/>
              </a:ext>
            </a:extLst>
          </p:cNvPr>
          <p:cNvSpPr>
            <a:spLocks noGrp="1"/>
          </p:cNvSpPr>
          <p:nvPr>
            <p:ph type="dt" sz="half" idx="10"/>
          </p:nvPr>
        </p:nvSpPr>
        <p:spPr/>
        <p:txBody>
          <a:bodyPr/>
          <a:lstStyle/>
          <a:p>
            <a:fld id="{13846C7E-812B-4278-9E39-01365622E659}" type="datetimeFigureOut">
              <a:rPr lang="ru-RU" smtClean="0"/>
              <a:t>20.01.2021</a:t>
            </a:fld>
            <a:endParaRPr lang="ru-RU"/>
          </a:p>
        </p:txBody>
      </p:sp>
      <p:sp>
        <p:nvSpPr>
          <p:cNvPr id="6" name="Нижний колонтитул 5">
            <a:extLst>
              <a:ext uri="{FF2B5EF4-FFF2-40B4-BE49-F238E27FC236}">
                <a16:creationId xmlns:a16="http://schemas.microsoft.com/office/drawing/2014/main" id="{81CE42F1-0C58-4C77-A1E2-8DE6D4D6FB38}"/>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724C099F-E748-4641-BFB5-8DD150005C87}"/>
              </a:ext>
            </a:extLst>
          </p:cNvPr>
          <p:cNvSpPr>
            <a:spLocks noGrp="1"/>
          </p:cNvSpPr>
          <p:nvPr>
            <p:ph type="sldNum" sz="quarter" idx="12"/>
          </p:nvPr>
        </p:nvSpPr>
        <p:spPr/>
        <p:txBody>
          <a:bodyPr/>
          <a:lstStyle/>
          <a:p>
            <a:fld id="{3A65A622-2682-4E94-98C9-5F0A15761D43}" type="slidenum">
              <a:rPr lang="ru-RU" smtClean="0"/>
              <a:t>‹#›</a:t>
            </a:fld>
            <a:endParaRPr lang="ru-RU"/>
          </a:p>
        </p:txBody>
      </p:sp>
    </p:spTree>
    <p:extLst>
      <p:ext uri="{BB962C8B-B14F-4D97-AF65-F5344CB8AC3E}">
        <p14:creationId xmlns:p14="http://schemas.microsoft.com/office/powerpoint/2010/main" val="41854350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C5F536F-3552-49AF-B20A-E965FA3C5B2A}"/>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F518074F-B517-4ED4-BFC9-3E7A66C057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2BE3DB17-0732-4D74-B2D2-668E0D3C3FB2}"/>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FB95808E-8393-410C-9B82-B7EA836037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0363A9C2-C20C-4C43-8E79-4FFE0867CC74}"/>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8FF8AF3C-CBBB-4880-97CA-71099F343D6C}"/>
              </a:ext>
            </a:extLst>
          </p:cNvPr>
          <p:cNvSpPr>
            <a:spLocks noGrp="1"/>
          </p:cNvSpPr>
          <p:nvPr>
            <p:ph type="dt" sz="half" idx="10"/>
          </p:nvPr>
        </p:nvSpPr>
        <p:spPr/>
        <p:txBody>
          <a:bodyPr/>
          <a:lstStyle/>
          <a:p>
            <a:fld id="{13846C7E-812B-4278-9E39-01365622E659}" type="datetimeFigureOut">
              <a:rPr lang="ru-RU" smtClean="0"/>
              <a:t>20.01.2021</a:t>
            </a:fld>
            <a:endParaRPr lang="ru-RU"/>
          </a:p>
        </p:txBody>
      </p:sp>
      <p:sp>
        <p:nvSpPr>
          <p:cNvPr id="8" name="Нижний колонтитул 7">
            <a:extLst>
              <a:ext uri="{FF2B5EF4-FFF2-40B4-BE49-F238E27FC236}">
                <a16:creationId xmlns:a16="http://schemas.microsoft.com/office/drawing/2014/main" id="{2F37392F-8A88-42D0-89AE-41380E07FE91}"/>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CA30EF9F-485B-44D4-89C4-761FE1889716}"/>
              </a:ext>
            </a:extLst>
          </p:cNvPr>
          <p:cNvSpPr>
            <a:spLocks noGrp="1"/>
          </p:cNvSpPr>
          <p:nvPr>
            <p:ph type="sldNum" sz="quarter" idx="12"/>
          </p:nvPr>
        </p:nvSpPr>
        <p:spPr/>
        <p:txBody>
          <a:bodyPr/>
          <a:lstStyle/>
          <a:p>
            <a:fld id="{3A65A622-2682-4E94-98C9-5F0A15761D43}" type="slidenum">
              <a:rPr lang="ru-RU" smtClean="0"/>
              <a:t>‹#›</a:t>
            </a:fld>
            <a:endParaRPr lang="ru-RU"/>
          </a:p>
        </p:txBody>
      </p:sp>
    </p:spTree>
    <p:extLst>
      <p:ext uri="{BB962C8B-B14F-4D97-AF65-F5344CB8AC3E}">
        <p14:creationId xmlns:p14="http://schemas.microsoft.com/office/powerpoint/2010/main" val="699046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FD4673-5B3D-4EB7-A009-ECC1C430C80E}"/>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24B6D07C-3BDB-4185-A009-B464B5668E5F}"/>
              </a:ext>
            </a:extLst>
          </p:cNvPr>
          <p:cNvSpPr>
            <a:spLocks noGrp="1"/>
          </p:cNvSpPr>
          <p:nvPr>
            <p:ph type="dt" sz="half" idx="10"/>
          </p:nvPr>
        </p:nvSpPr>
        <p:spPr/>
        <p:txBody>
          <a:bodyPr/>
          <a:lstStyle/>
          <a:p>
            <a:fld id="{13846C7E-812B-4278-9E39-01365622E659}" type="datetimeFigureOut">
              <a:rPr lang="ru-RU" smtClean="0"/>
              <a:t>20.01.2021</a:t>
            </a:fld>
            <a:endParaRPr lang="ru-RU"/>
          </a:p>
        </p:txBody>
      </p:sp>
      <p:sp>
        <p:nvSpPr>
          <p:cNvPr id="4" name="Нижний колонтитул 3">
            <a:extLst>
              <a:ext uri="{FF2B5EF4-FFF2-40B4-BE49-F238E27FC236}">
                <a16:creationId xmlns:a16="http://schemas.microsoft.com/office/drawing/2014/main" id="{69DC77C2-42CB-46B6-A979-F5875849CF5B}"/>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A6AADA55-472E-4598-9B33-5AF3DCD454D0}"/>
              </a:ext>
            </a:extLst>
          </p:cNvPr>
          <p:cNvSpPr>
            <a:spLocks noGrp="1"/>
          </p:cNvSpPr>
          <p:nvPr>
            <p:ph type="sldNum" sz="quarter" idx="12"/>
          </p:nvPr>
        </p:nvSpPr>
        <p:spPr/>
        <p:txBody>
          <a:bodyPr/>
          <a:lstStyle/>
          <a:p>
            <a:fld id="{3A65A622-2682-4E94-98C9-5F0A15761D43}" type="slidenum">
              <a:rPr lang="ru-RU" smtClean="0"/>
              <a:t>‹#›</a:t>
            </a:fld>
            <a:endParaRPr lang="ru-RU"/>
          </a:p>
        </p:txBody>
      </p:sp>
    </p:spTree>
    <p:extLst>
      <p:ext uri="{BB962C8B-B14F-4D97-AF65-F5344CB8AC3E}">
        <p14:creationId xmlns:p14="http://schemas.microsoft.com/office/powerpoint/2010/main" val="14701042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EA6FBEAE-6FEA-4CC9-9737-ABD56D8A5EE8}"/>
              </a:ext>
            </a:extLst>
          </p:cNvPr>
          <p:cNvSpPr>
            <a:spLocks noGrp="1"/>
          </p:cNvSpPr>
          <p:nvPr>
            <p:ph type="dt" sz="half" idx="10"/>
          </p:nvPr>
        </p:nvSpPr>
        <p:spPr/>
        <p:txBody>
          <a:bodyPr/>
          <a:lstStyle/>
          <a:p>
            <a:fld id="{13846C7E-812B-4278-9E39-01365622E659}" type="datetimeFigureOut">
              <a:rPr lang="ru-RU" smtClean="0"/>
              <a:t>20.01.2021</a:t>
            </a:fld>
            <a:endParaRPr lang="ru-RU"/>
          </a:p>
        </p:txBody>
      </p:sp>
      <p:sp>
        <p:nvSpPr>
          <p:cNvPr id="3" name="Нижний колонтитул 2">
            <a:extLst>
              <a:ext uri="{FF2B5EF4-FFF2-40B4-BE49-F238E27FC236}">
                <a16:creationId xmlns:a16="http://schemas.microsoft.com/office/drawing/2014/main" id="{7E503133-113C-4B1B-8009-587A2ABD11EE}"/>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7D26A8AD-9BD8-4EDC-991A-FF3260D854DD}"/>
              </a:ext>
            </a:extLst>
          </p:cNvPr>
          <p:cNvSpPr>
            <a:spLocks noGrp="1"/>
          </p:cNvSpPr>
          <p:nvPr>
            <p:ph type="sldNum" sz="quarter" idx="12"/>
          </p:nvPr>
        </p:nvSpPr>
        <p:spPr/>
        <p:txBody>
          <a:bodyPr/>
          <a:lstStyle/>
          <a:p>
            <a:fld id="{3A65A622-2682-4E94-98C9-5F0A15761D43}" type="slidenum">
              <a:rPr lang="ru-RU" smtClean="0"/>
              <a:t>‹#›</a:t>
            </a:fld>
            <a:endParaRPr lang="ru-RU"/>
          </a:p>
        </p:txBody>
      </p:sp>
    </p:spTree>
    <p:extLst>
      <p:ext uri="{BB962C8B-B14F-4D97-AF65-F5344CB8AC3E}">
        <p14:creationId xmlns:p14="http://schemas.microsoft.com/office/powerpoint/2010/main" val="21883715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0993F7-BB75-45D2-A1D4-8E6DCC0904FD}"/>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EBC66829-968F-499E-AD97-BA2CE77426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3A7FF8A3-2C69-4AC6-A001-D4091437D2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26C3EAD4-6A44-410E-9A11-9D2F7AB0ED23}"/>
              </a:ext>
            </a:extLst>
          </p:cNvPr>
          <p:cNvSpPr>
            <a:spLocks noGrp="1"/>
          </p:cNvSpPr>
          <p:nvPr>
            <p:ph type="dt" sz="half" idx="10"/>
          </p:nvPr>
        </p:nvSpPr>
        <p:spPr/>
        <p:txBody>
          <a:bodyPr/>
          <a:lstStyle/>
          <a:p>
            <a:fld id="{13846C7E-812B-4278-9E39-01365622E659}" type="datetimeFigureOut">
              <a:rPr lang="ru-RU" smtClean="0"/>
              <a:t>20.01.2021</a:t>
            </a:fld>
            <a:endParaRPr lang="ru-RU"/>
          </a:p>
        </p:txBody>
      </p:sp>
      <p:sp>
        <p:nvSpPr>
          <p:cNvPr id="6" name="Нижний колонтитул 5">
            <a:extLst>
              <a:ext uri="{FF2B5EF4-FFF2-40B4-BE49-F238E27FC236}">
                <a16:creationId xmlns:a16="http://schemas.microsoft.com/office/drawing/2014/main" id="{CA59F9E6-B7CA-48CD-BF52-B83B3DFF3503}"/>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D7F62E06-0B2E-4E23-98E2-168A22359F95}"/>
              </a:ext>
            </a:extLst>
          </p:cNvPr>
          <p:cNvSpPr>
            <a:spLocks noGrp="1"/>
          </p:cNvSpPr>
          <p:nvPr>
            <p:ph type="sldNum" sz="quarter" idx="12"/>
          </p:nvPr>
        </p:nvSpPr>
        <p:spPr/>
        <p:txBody>
          <a:bodyPr/>
          <a:lstStyle/>
          <a:p>
            <a:fld id="{3A65A622-2682-4E94-98C9-5F0A15761D43}" type="slidenum">
              <a:rPr lang="ru-RU" smtClean="0"/>
              <a:t>‹#›</a:t>
            </a:fld>
            <a:endParaRPr lang="ru-RU"/>
          </a:p>
        </p:txBody>
      </p:sp>
    </p:spTree>
    <p:extLst>
      <p:ext uri="{BB962C8B-B14F-4D97-AF65-F5344CB8AC3E}">
        <p14:creationId xmlns:p14="http://schemas.microsoft.com/office/powerpoint/2010/main" val="34567130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A12362F-4496-4E0F-8C58-FD0AE7755851}"/>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D6008A16-C0C3-48B1-A8A6-279873B3C5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2F539699-3C71-4C36-862F-0A66B6901A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AE1B6B21-6616-4C63-859D-9C62E0386CDC}"/>
              </a:ext>
            </a:extLst>
          </p:cNvPr>
          <p:cNvSpPr>
            <a:spLocks noGrp="1"/>
          </p:cNvSpPr>
          <p:nvPr>
            <p:ph type="dt" sz="half" idx="10"/>
          </p:nvPr>
        </p:nvSpPr>
        <p:spPr/>
        <p:txBody>
          <a:bodyPr/>
          <a:lstStyle/>
          <a:p>
            <a:fld id="{13846C7E-812B-4278-9E39-01365622E659}" type="datetimeFigureOut">
              <a:rPr lang="ru-RU" smtClean="0"/>
              <a:t>20.01.2021</a:t>
            </a:fld>
            <a:endParaRPr lang="ru-RU"/>
          </a:p>
        </p:txBody>
      </p:sp>
      <p:sp>
        <p:nvSpPr>
          <p:cNvPr id="6" name="Нижний колонтитул 5">
            <a:extLst>
              <a:ext uri="{FF2B5EF4-FFF2-40B4-BE49-F238E27FC236}">
                <a16:creationId xmlns:a16="http://schemas.microsoft.com/office/drawing/2014/main" id="{64E00651-0138-492D-B714-B192137A63A3}"/>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94D68B1C-9B1B-4240-9C14-9A623AB7D49B}"/>
              </a:ext>
            </a:extLst>
          </p:cNvPr>
          <p:cNvSpPr>
            <a:spLocks noGrp="1"/>
          </p:cNvSpPr>
          <p:nvPr>
            <p:ph type="sldNum" sz="quarter" idx="12"/>
          </p:nvPr>
        </p:nvSpPr>
        <p:spPr/>
        <p:txBody>
          <a:bodyPr/>
          <a:lstStyle/>
          <a:p>
            <a:fld id="{3A65A622-2682-4E94-98C9-5F0A15761D43}" type="slidenum">
              <a:rPr lang="ru-RU" smtClean="0"/>
              <a:t>‹#›</a:t>
            </a:fld>
            <a:endParaRPr lang="ru-RU"/>
          </a:p>
        </p:txBody>
      </p:sp>
    </p:spTree>
    <p:extLst>
      <p:ext uri="{BB962C8B-B14F-4D97-AF65-F5344CB8AC3E}">
        <p14:creationId xmlns:p14="http://schemas.microsoft.com/office/powerpoint/2010/main" val="27689505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EDF98DF-252D-4DF2-9031-5784581125DA}"/>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2953BD1D-5654-4201-98BC-4B42AD5705B7}"/>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D3A7DE53-9A07-4895-AF45-8DA1544110C5}"/>
              </a:ext>
            </a:extLst>
          </p:cNvPr>
          <p:cNvSpPr>
            <a:spLocks noGrp="1"/>
          </p:cNvSpPr>
          <p:nvPr>
            <p:ph type="dt" sz="half" idx="10"/>
          </p:nvPr>
        </p:nvSpPr>
        <p:spPr/>
        <p:txBody>
          <a:bodyPr/>
          <a:lstStyle/>
          <a:p>
            <a:fld id="{13846C7E-812B-4278-9E39-01365622E659}" type="datetimeFigureOut">
              <a:rPr lang="ru-RU" smtClean="0"/>
              <a:t>20.01.2021</a:t>
            </a:fld>
            <a:endParaRPr lang="ru-RU"/>
          </a:p>
        </p:txBody>
      </p:sp>
      <p:sp>
        <p:nvSpPr>
          <p:cNvPr id="5" name="Нижний колонтитул 4">
            <a:extLst>
              <a:ext uri="{FF2B5EF4-FFF2-40B4-BE49-F238E27FC236}">
                <a16:creationId xmlns:a16="http://schemas.microsoft.com/office/drawing/2014/main" id="{98904A8F-E72F-453B-895A-8E62E8A2A0C5}"/>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41BAE31B-9FE0-48C7-A366-6B7A4EA32839}"/>
              </a:ext>
            </a:extLst>
          </p:cNvPr>
          <p:cNvSpPr>
            <a:spLocks noGrp="1"/>
          </p:cNvSpPr>
          <p:nvPr>
            <p:ph type="sldNum" sz="quarter" idx="12"/>
          </p:nvPr>
        </p:nvSpPr>
        <p:spPr/>
        <p:txBody>
          <a:bodyPr/>
          <a:lstStyle/>
          <a:p>
            <a:fld id="{3A65A622-2682-4E94-98C9-5F0A15761D43}" type="slidenum">
              <a:rPr lang="ru-RU" smtClean="0"/>
              <a:t>‹#›</a:t>
            </a:fld>
            <a:endParaRPr lang="ru-RU"/>
          </a:p>
        </p:txBody>
      </p:sp>
    </p:spTree>
    <p:extLst>
      <p:ext uri="{BB962C8B-B14F-4D97-AF65-F5344CB8AC3E}">
        <p14:creationId xmlns:p14="http://schemas.microsoft.com/office/powerpoint/2010/main" val="13341394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9112657B-A3FF-4732-A874-6B566A819337}"/>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879AFB08-450D-489A-97C4-CB8B711938FE}"/>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09D60028-10B0-4031-93F3-CBBE4A5DBA24}"/>
              </a:ext>
            </a:extLst>
          </p:cNvPr>
          <p:cNvSpPr>
            <a:spLocks noGrp="1"/>
          </p:cNvSpPr>
          <p:nvPr>
            <p:ph type="dt" sz="half" idx="10"/>
          </p:nvPr>
        </p:nvSpPr>
        <p:spPr/>
        <p:txBody>
          <a:bodyPr/>
          <a:lstStyle/>
          <a:p>
            <a:fld id="{13846C7E-812B-4278-9E39-01365622E659}" type="datetimeFigureOut">
              <a:rPr lang="ru-RU" smtClean="0"/>
              <a:t>20.01.2021</a:t>
            </a:fld>
            <a:endParaRPr lang="ru-RU"/>
          </a:p>
        </p:txBody>
      </p:sp>
      <p:sp>
        <p:nvSpPr>
          <p:cNvPr id="5" name="Нижний колонтитул 4">
            <a:extLst>
              <a:ext uri="{FF2B5EF4-FFF2-40B4-BE49-F238E27FC236}">
                <a16:creationId xmlns:a16="http://schemas.microsoft.com/office/drawing/2014/main" id="{3A8E8AED-574E-4424-9EAE-21CB8174EE52}"/>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88E26031-4C40-4E88-8D5A-83379AEB6C74}"/>
              </a:ext>
            </a:extLst>
          </p:cNvPr>
          <p:cNvSpPr>
            <a:spLocks noGrp="1"/>
          </p:cNvSpPr>
          <p:nvPr>
            <p:ph type="sldNum" sz="quarter" idx="12"/>
          </p:nvPr>
        </p:nvSpPr>
        <p:spPr/>
        <p:txBody>
          <a:bodyPr/>
          <a:lstStyle/>
          <a:p>
            <a:fld id="{3A65A622-2682-4E94-98C9-5F0A15761D43}" type="slidenum">
              <a:rPr lang="ru-RU" smtClean="0"/>
              <a:t>‹#›</a:t>
            </a:fld>
            <a:endParaRPr lang="ru-RU"/>
          </a:p>
        </p:txBody>
      </p:sp>
    </p:spTree>
    <p:extLst>
      <p:ext uri="{BB962C8B-B14F-4D97-AF65-F5344CB8AC3E}">
        <p14:creationId xmlns:p14="http://schemas.microsoft.com/office/powerpoint/2010/main" val="13864686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798FEFF-5E85-4302-A12B-51FABA417A5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2A1915E6-CF28-4CCB-960F-1F85B7DCE7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B3E971EB-525C-4DB1-A981-094A8B3E44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846C7E-812B-4278-9E39-01365622E659}" type="datetimeFigureOut">
              <a:rPr lang="ru-RU" smtClean="0"/>
              <a:t>20.01.2021</a:t>
            </a:fld>
            <a:endParaRPr lang="ru-RU"/>
          </a:p>
        </p:txBody>
      </p:sp>
      <p:sp>
        <p:nvSpPr>
          <p:cNvPr id="5" name="Нижний колонтитул 4">
            <a:extLst>
              <a:ext uri="{FF2B5EF4-FFF2-40B4-BE49-F238E27FC236}">
                <a16:creationId xmlns:a16="http://schemas.microsoft.com/office/drawing/2014/main" id="{DAA5CCA0-DB71-4135-AEC6-868F5F4D59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673D9354-B444-49B0-B34B-CB4BCAE4E5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65A622-2682-4E94-98C9-5F0A15761D43}" type="slidenum">
              <a:rPr lang="ru-RU" smtClean="0"/>
              <a:t>‹#›</a:t>
            </a:fld>
            <a:endParaRPr lang="ru-RU"/>
          </a:p>
        </p:txBody>
      </p:sp>
    </p:spTree>
    <p:extLst>
      <p:ext uri="{BB962C8B-B14F-4D97-AF65-F5344CB8AC3E}">
        <p14:creationId xmlns:p14="http://schemas.microsoft.com/office/powerpoint/2010/main" val="36759959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ru.wikipedia.org/wiki/%D0%90%D0%BD%D0%B3%D0%BB%D0%B8%D0%B9%D1%81%D0%BA%D0%B8%D0%B9_%D1%8F%D0%B7%D1%8B%D0%BA"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28F1FE0-8E23-4D1B-919F-C43FF471C0B9}"/>
              </a:ext>
            </a:extLst>
          </p:cNvPr>
          <p:cNvSpPr>
            <a:spLocks noGrp="1"/>
          </p:cNvSpPr>
          <p:nvPr>
            <p:ph type="ctrTitle"/>
          </p:nvPr>
        </p:nvSpPr>
        <p:spPr/>
        <p:txBody>
          <a:bodyPr/>
          <a:lstStyle/>
          <a:p>
            <a:r>
              <a:rPr lang="en-US" dirty="0">
                <a:solidFill>
                  <a:srgbClr val="FF0000"/>
                </a:solidFill>
              </a:rPr>
              <a:t>Windows </a:t>
            </a:r>
            <a:r>
              <a:rPr lang="ru-RU" dirty="0">
                <a:solidFill>
                  <a:srgbClr val="FF0000"/>
                </a:solidFill>
              </a:rPr>
              <a:t>приложения</a:t>
            </a:r>
          </a:p>
        </p:txBody>
      </p:sp>
      <p:sp>
        <p:nvSpPr>
          <p:cNvPr id="3" name="Подзаголовок 2">
            <a:extLst>
              <a:ext uri="{FF2B5EF4-FFF2-40B4-BE49-F238E27FC236}">
                <a16:creationId xmlns:a16="http://schemas.microsoft.com/office/drawing/2014/main" id="{040C247E-FAB9-4854-BBCD-5DCA9BF08D20}"/>
              </a:ext>
            </a:extLst>
          </p:cNvPr>
          <p:cNvSpPr>
            <a:spLocks noGrp="1"/>
          </p:cNvSpPr>
          <p:nvPr>
            <p:ph type="subTitle" idx="1"/>
          </p:nvPr>
        </p:nvSpPr>
        <p:spPr/>
        <p:txBody>
          <a:bodyPr>
            <a:normAutofit/>
          </a:bodyPr>
          <a:lstStyle/>
          <a:p>
            <a:r>
              <a:rPr lang="ru-RU" sz="3200" dirty="0">
                <a:solidFill>
                  <a:srgbClr val="00B050"/>
                </a:solidFill>
              </a:rPr>
              <a:t>На языке </a:t>
            </a:r>
            <a:r>
              <a:rPr lang="en-US" sz="3200" dirty="0">
                <a:solidFill>
                  <a:srgbClr val="00B050"/>
                </a:solidFill>
              </a:rPr>
              <a:t>C#</a:t>
            </a:r>
            <a:endParaRPr lang="ru-RU" sz="3200" dirty="0">
              <a:solidFill>
                <a:srgbClr val="00B050"/>
              </a:solidFill>
            </a:endParaRPr>
          </a:p>
          <a:p>
            <a:r>
              <a:rPr lang="ru-RU" sz="3200" dirty="0">
                <a:solidFill>
                  <a:srgbClr val="00B050"/>
                </a:solidFill>
              </a:rPr>
              <a:t>Тема 1</a:t>
            </a:r>
          </a:p>
        </p:txBody>
      </p:sp>
    </p:spTree>
    <p:extLst>
      <p:ext uri="{BB962C8B-B14F-4D97-AF65-F5344CB8AC3E}">
        <p14:creationId xmlns:p14="http://schemas.microsoft.com/office/powerpoint/2010/main" val="22327788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ED3A22-6DF4-4BC2-8503-F400E041EAC8}"/>
              </a:ext>
            </a:extLst>
          </p:cNvPr>
          <p:cNvSpPr>
            <a:spLocks noGrp="1"/>
          </p:cNvSpPr>
          <p:nvPr>
            <p:ph type="title"/>
          </p:nvPr>
        </p:nvSpPr>
        <p:spPr/>
        <p:txBody>
          <a:bodyPr/>
          <a:lstStyle/>
          <a:p>
            <a:pPr algn="ctr"/>
            <a:r>
              <a:rPr lang="ru-RU" dirty="0">
                <a:solidFill>
                  <a:srgbClr val="FF0000"/>
                </a:solidFill>
              </a:rPr>
              <a:t>Задачи курса</a:t>
            </a:r>
          </a:p>
        </p:txBody>
      </p:sp>
      <p:sp>
        <p:nvSpPr>
          <p:cNvPr id="3" name="Объект 2">
            <a:extLst>
              <a:ext uri="{FF2B5EF4-FFF2-40B4-BE49-F238E27FC236}">
                <a16:creationId xmlns:a16="http://schemas.microsoft.com/office/drawing/2014/main" id="{19204AB0-EEB0-4A8E-8F02-6515E8509C20}"/>
              </a:ext>
            </a:extLst>
          </p:cNvPr>
          <p:cNvSpPr>
            <a:spLocks noGrp="1"/>
          </p:cNvSpPr>
          <p:nvPr>
            <p:ph idx="1"/>
          </p:nvPr>
        </p:nvSpPr>
        <p:spPr/>
        <p:txBody>
          <a:bodyPr/>
          <a:lstStyle/>
          <a:p>
            <a:r>
              <a:rPr lang="ru-RU" dirty="0"/>
              <a:t>Задача 1.</a:t>
            </a:r>
          </a:p>
          <a:p>
            <a:r>
              <a:rPr lang="ru-RU" sz="2400" dirty="0">
                <a:latin typeface="Times New Roman" panose="02020603050405020304" pitchFamily="18" charset="0"/>
                <a:ea typeface="Times New Roman" panose="02020603050405020304" pitchFamily="18" charset="0"/>
              </a:rPr>
              <a:t>О</a:t>
            </a:r>
            <a:r>
              <a:rPr lang="ru-RU" sz="2400" dirty="0">
                <a:effectLst/>
                <a:latin typeface="Times New Roman" panose="02020603050405020304" pitchFamily="18" charset="0"/>
                <a:ea typeface="Times New Roman" panose="02020603050405020304" pitchFamily="18" charset="0"/>
              </a:rPr>
              <a:t>бучение студентов технологии создания </a:t>
            </a:r>
            <a:r>
              <a:rPr lang="en-US" sz="2400" dirty="0">
                <a:effectLst/>
                <a:latin typeface="Times New Roman" panose="02020603050405020304" pitchFamily="18" charset="0"/>
                <a:ea typeface="Times New Roman" panose="02020603050405020304" pitchFamily="18" charset="0"/>
              </a:rPr>
              <a:t>GUI</a:t>
            </a:r>
            <a:r>
              <a:rPr lang="ru-RU" sz="2400" dirty="0">
                <a:effectLst/>
                <a:latin typeface="Times New Roman" panose="02020603050405020304" pitchFamily="18" charset="0"/>
                <a:ea typeface="Times New Roman" panose="02020603050405020304" pitchFamily="18" charset="0"/>
              </a:rPr>
              <a:t>.</a:t>
            </a:r>
          </a:p>
          <a:p>
            <a:r>
              <a:rPr lang="ru-RU" sz="2400" dirty="0">
                <a:solidFill>
                  <a:srgbClr val="202122"/>
                </a:solidFill>
                <a:effectLst/>
                <a:latin typeface="Times New Roman" panose="02020603050405020304" pitchFamily="18" charset="0"/>
                <a:ea typeface="Times New Roman" panose="02020603050405020304" pitchFamily="18" charset="0"/>
              </a:rPr>
              <a:t>Графический интерфейс пользователя (</a:t>
            </a:r>
            <a:r>
              <a:rPr lang="ru-RU" sz="2400" u="sng" dirty="0">
                <a:solidFill>
                  <a:srgbClr val="0B0080"/>
                </a:solidFill>
                <a:effectLst/>
                <a:latin typeface="Times New Roman" panose="02020603050405020304" pitchFamily="18" charset="0"/>
                <a:ea typeface="Times New Roman" panose="02020603050405020304" pitchFamily="18" charset="0"/>
                <a:hlinkClick r:id="rId2" tooltip="Английский язык"/>
              </a:rPr>
              <a:t>англ.</a:t>
            </a:r>
            <a:r>
              <a:rPr lang="ru-RU" sz="2400" dirty="0">
                <a:solidFill>
                  <a:srgbClr val="202122"/>
                </a:solidFill>
                <a:effectLst/>
                <a:latin typeface="Times New Roman" panose="02020603050405020304" pitchFamily="18" charset="0"/>
                <a:ea typeface="Times New Roman" panose="02020603050405020304" pitchFamily="18" charset="0"/>
              </a:rPr>
              <a:t> </a:t>
            </a:r>
            <a:r>
              <a:rPr lang="ru-RU" sz="2400" i="1" dirty="0" err="1">
                <a:solidFill>
                  <a:srgbClr val="202122"/>
                </a:solidFill>
                <a:effectLst/>
                <a:latin typeface="Times New Roman" panose="02020603050405020304" pitchFamily="18" charset="0"/>
                <a:ea typeface="Times New Roman" panose="02020603050405020304" pitchFamily="18" charset="0"/>
              </a:rPr>
              <a:t>graphical</a:t>
            </a:r>
            <a:r>
              <a:rPr lang="ru-RU" sz="2400" i="1" dirty="0">
                <a:solidFill>
                  <a:srgbClr val="202122"/>
                </a:solidFill>
                <a:effectLst/>
                <a:latin typeface="Times New Roman" panose="02020603050405020304" pitchFamily="18" charset="0"/>
                <a:ea typeface="Times New Roman" panose="02020603050405020304" pitchFamily="18" charset="0"/>
              </a:rPr>
              <a:t> </a:t>
            </a:r>
            <a:r>
              <a:rPr lang="ru-RU" sz="2400" i="1" dirty="0" err="1">
                <a:solidFill>
                  <a:srgbClr val="202122"/>
                </a:solidFill>
                <a:effectLst/>
                <a:latin typeface="Times New Roman" panose="02020603050405020304" pitchFamily="18" charset="0"/>
                <a:ea typeface="Times New Roman" panose="02020603050405020304" pitchFamily="18" charset="0"/>
              </a:rPr>
              <a:t>user</a:t>
            </a:r>
            <a:r>
              <a:rPr lang="ru-RU" sz="2400" i="1" dirty="0">
                <a:solidFill>
                  <a:srgbClr val="202122"/>
                </a:solidFill>
                <a:effectLst/>
                <a:latin typeface="Times New Roman" panose="02020603050405020304" pitchFamily="18" charset="0"/>
                <a:ea typeface="Times New Roman" panose="02020603050405020304" pitchFamily="18" charset="0"/>
              </a:rPr>
              <a:t> </a:t>
            </a:r>
            <a:r>
              <a:rPr lang="ru-RU" sz="2400" i="1" dirty="0" err="1">
                <a:solidFill>
                  <a:srgbClr val="202122"/>
                </a:solidFill>
                <a:effectLst/>
                <a:latin typeface="Times New Roman" panose="02020603050405020304" pitchFamily="18" charset="0"/>
                <a:ea typeface="Times New Roman" panose="02020603050405020304" pitchFamily="18" charset="0"/>
              </a:rPr>
              <a:t>interface</a:t>
            </a:r>
            <a:r>
              <a:rPr lang="ru-RU" sz="2400" i="1" dirty="0">
                <a:solidFill>
                  <a:srgbClr val="202122"/>
                </a:solidFill>
                <a:effectLst/>
                <a:latin typeface="Times New Roman" panose="02020603050405020304" pitchFamily="18" charset="0"/>
                <a:ea typeface="Times New Roman" panose="02020603050405020304" pitchFamily="18" charset="0"/>
              </a:rPr>
              <a:t>, GUI</a:t>
            </a:r>
            <a:r>
              <a:rPr lang="ru-RU" sz="2400" dirty="0">
                <a:solidFill>
                  <a:srgbClr val="202122"/>
                </a:solidFill>
                <a:effectLst/>
                <a:latin typeface="Times New Roman" panose="02020603050405020304" pitchFamily="18" charset="0"/>
                <a:ea typeface="Times New Roman" panose="02020603050405020304" pitchFamily="18" charset="0"/>
              </a:rPr>
              <a:t>) </a:t>
            </a:r>
            <a:r>
              <a:rPr lang="ru-RU" sz="2400" dirty="0">
                <a:solidFill>
                  <a:srgbClr val="202122"/>
                </a:solidFill>
                <a:effectLst/>
                <a:latin typeface="Times New Roman" panose="02020603050405020304" pitchFamily="18" charset="0"/>
                <a:ea typeface="Times New Roman" panose="02020603050405020304" pitchFamily="18" charset="0"/>
                <a:sym typeface="Symbol" panose="05050102010706020507" pitchFamily="18" charset="2"/>
              </a:rPr>
              <a:t></a:t>
            </a:r>
            <a:r>
              <a:rPr lang="ru-RU" sz="2400" dirty="0">
                <a:solidFill>
                  <a:srgbClr val="202122"/>
                </a:solidFill>
                <a:effectLst/>
                <a:latin typeface="Times New Roman" panose="02020603050405020304" pitchFamily="18" charset="0"/>
                <a:ea typeface="Times New Roman" panose="02020603050405020304" pitchFamily="18" charset="0"/>
              </a:rPr>
              <a:t> это система средств для взаимодействия пользователя с компьютером, основанная на представлении всех доступных пользователю системных объектов и функций в виде графических компонентов экрана (окон, значков, меню, кнопок, списков и т. п.). </a:t>
            </a:r>
            <a:r>
              <a:rPr lang="ru-RU" sz="2400" dirty="0">
                <a:solidFill>
                  <a:srgbClr val="34363B"/>
                </a:solidFill>
                <a:effectLst/>
                <a:latin typeface="Times New Roman" panose="02020603050405020304" pitchFamily="18" charset="0"/>
                <a:ea typeface="Times New Roman" panose="02020603050405020304" pitchFamily="18" charset="0"/>
              </a:rPr>
              <a:t>Все основные операционные системы, такие как </a:t>
            </a:r>
            <a:r>
              <a:rPr lang="ru-RU" sz="2400" dirty="0" err="1">
                <a:solidFill>
                  <a:srgbClr val="34363B"/>
                </a:solidFill>
                <a:effectLst/>
                <a:latin typeface="Times New Roman" panose="02020603050405020304" pitchFamily="18" charset="0"/>
                <a:ea typeface="Times New Roman" panose="02020603050405020304" pitchFamily="18" charset="0"/>
              </a:rPr>
              <a:t>Windows</a:t>
            </a:r>
            <a:r>
              <a:rPr lang="ru-RU" sz="2400" dirty="0">
                <a:solidFill>
                  <a:srgbClr val="34363B"/>
                </a:solidFill>
                <a:effectLst/>
                <a:latin typeface="Times New Roman" panose="02020603050405020304" pitchFamily="18" charset="0"/>
                <a:ea typeface="Times New Roman" panose="02020603050405020304" pitchFamily="18" charset="0"/>
              </a:rPr>
              <a:t>, </a:t>
            </a:r>
            <a:r>
              <a:rPr lang="ru-RU" sz="2400" dirty="0" err="1">
                <a:solidFill>
                  <a:srgbClr val="34363B"/>
                </a:solidFill>
                <a:effectLst/>
                <a:latin typeface="Times New Roman" panose="02020603050405020304" pitchFamily="18" charset="0"/>
                <a:ea typeface="Times New Roman" panose="02020603050405020304" pitchFamily="18" charset="0"/>
              </a:rPr>
              <a:t>Mac</a:t>
            </a:r>
            <a:r>
              <a:rPr lang="ru-RU" sz="2400" dirty="0">
                <a:solidFill>
                  <a:srgbClr val="34363B"/>
                </a:solidFill>
                <a:effectLst/>
                <a:latin typeface="Times New Roman" panose="02020603050405020304" pitchFamily="18" charset="0"/>
                <a:ea typeface="Times New Roman" panose="02020603050405020304" pitchFamily="18" charset="0"/>
              </a:rPr>
              <a:t>, </a:t>
            </a:r>
            <a:r>
              <a:rPr lang="ru-RU" sz="2400" dirty="0" err="1">
                <a:solidFill>
                  <a:srgbClr val="34363B"/>
                </a:solidFill>
                <a:effectLst/>
                <a:latin typeface="Times New Roman" panose="02020603050405020304" pitchFamily="18" charset="0"/>
                <a:ea typeface="Times New Roman" panose="02020603050405020304" pitchFamily="18" charset="0"/>
              </a:rPr>
              <a:t>iOS</a:t>
            </a:r>
            <a:r>
              <a:rPr lang="ru-RU" sz="2400" dirty="0">
                <a:solidFill>
                  <a:srgbClr val="34363B"/>
                </a:solidFill>
                <a:effectLst/>
                <a:latin typeface="Times New Roman" panose="02020603050405020304" pitchFamily="18" charset="0"/>
                <a:ea typeface="Times New Roman" panose="02020603050405020304" pitchFamily="18" charset="0"/>
              </a:rPr>
              <a:t> и </a:t>
            </a:r>
            <a:r>
              <a:rPr lang="ru-RU" sz="2400" dirty="0" err="1">
                <a:solidFill>
                  <a:srgbClr val="34363B"/>
                </a:solidFill>
                <a:effectLst/>
                <a:latin typeface="Times New Roman" panose="02020603050405020304" pitchFamily="18" charset="0"/>
                <a:ea typeface="Times New Roman" panose="02020603050405020304" pitchFamily="18" charset="0"/>
              </a:rPr>
              <a:t>Android</a:t>
            </a:r>
            <a:r>
              <a:rPr lang="ru-RU" sz="2400" dirty="0">
                <a:solidFill>
                  <a:srgbClr val="34363B"/>
                </a:solidFill>
                <a:effectLst/>
                <a:latin typeface="Times New Roman" panose="02020603050405020304" pitchFamily="18" charset="0"/>
                <a:ea typeface="Times New Roman" panose="02020603050405020304" pitchFamily="18" charset="0"/>
              </a:rPr>
              <a:t>, имеют графический интерфейс, в котором вы можете щелкнуть значок, чтобы выполнить такое действие, как открытие приложения, просмотр меню или перемещение по вашему устройству. Известная вам оболочка </a:t>
            </a:r>
            <a:r>
              <a:rPr lang="en-US" sz="2400" dirty="0">
                <a:solidFill>
                  <a:srgbClr val="34363B"/>
                </a:solidFill>
                <a:effectLst/>
                <a:latin typeface="Times New Roman" panose="02020603050405020304" pitchFamily="18" charset="0"/>
                <a:ea typeface="Times New Roman" panose="02020603050405020304" pitchFamily="18" charset="0"/>
              </a:rPr>
              <a:t>Shell </a:t>
            </a:r>
            <a:r>
              <a:rPr lang="ru-RU" sz="2400" dirty="0">
                <a:solidFill>
                  <a:srgbClr val="34363B"/>
                </a:solidFill>
                <a:effectLst/>
                <a:latin typeface="Times New Roman" panose="02020603050405020304" pitchFamily="18" charset="0"/>
                <a:ea typeface="Times New Roman" panose="02020603050405020304" pitchFamily="18" charset="0"/>
              </a:rPr>
              <a:t>так же является примером </a:t>
            </a:r>
            <a:r>
              <a:rPr lang="en-US" sz="2400" dirty="0">
                <a:solidFill>
                  <a:srgbClr val="34363B"/>
                </a:solidFill>
                <a:effectLst/>
                <a:latin typeface="Times New Roman" panose="02020603050405020304" pitchFamily="18" charset="0"/>
                <a:ea typeface="Times New Roman" panose="02020603050405020304" pitchFamily="18" charset="0"/>
              </a:rPr>
              <a:t>GUI</a:t>
            </a:r>
            <a:r>
              <a:rPr lang="ru-RU" sz="2400" dirty="0">
                <a:solidFill>
                  <a:srgbClr val="34363B"/>
                </a:solidFill>
                <a:effectLst/>
                <a:latin typeface="Times New Roman" panose="02020603050405020304" pitchFamily="18" charset="0"/>
                <a:ea typeface="Times New Roman" panose="02020603050405020304" pitchFamily="18" charset="0"/>
              </a:rPr>
              <a:t>.</a:t>
            </a:r>
            <a:endParaRPr lang="ru-RU" sz="2400" dirty="0">
              <a:effectLst/>
              <a:latin typeface="Times New Roman" panose="02020603050405020304" pitchFamily="18" charset="0"/>
              <a:ea typeface="Times New Roman" panose="02020603050405020304" pitchFamily="18" charset="0"/>
            </a:endParaRPr>
          </a:p>
          <a:p>
            <a:endParaRPr lang="ru-RU" sz="1800" dirty="0">
              <a:effectLst/>
              <a:latin typeface="Times New Roman" panose="02020603050405020304" pitchFamily="18" charset="0"/>
              <a:ea typeface="Times New Roman" panose="02020603050405020304" pitchFamily="18" charset="0"/>
            </a:endParaRPr>
          </a:p>
          <a:p>
            <a:endParaRPr lang="ru-RU" dirty="0"/>
          </a:p>
        </p:txBody>
      </p:sp>
    </p:spTree>
    <p:extLst>
      <p:ext uri="{BB962C8B-B14F-4D97-AF65-F5344CB8AC3E}">
        <p14:creationId xmlns:p14="http://schemas.microsoft.com/office/powerpoint/2010/main" val="12540462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ED3A22-6DF4-4BC2-8503-F400E041EAC8}"/>
              </a:ext>
            </a:extLst>
          </p:cNvPr>
          <p:cNvSpPr>
            <a:spLocks noGrp="1"/>
          </p:cNvSpPr>
          <p:nvPr>
            <p:ph type="title"/>
          </p:nvPr>
        </p:nvSpPr>
        <p:spPr/>
        <p:txBody>
          <a:bodyPr/>
          <a:lstStyle/>
          <a:p>
            <a:pPr algn="ctr"/>
            <a:r>
              <a:rPr lang="ru-RU" dirty="0">
                <a:solidFill>
                  <a:srgbClr val="FF0000"/>
                </a:solidFill>
              </a:rPr>
              <a:t>Задачи курса</a:t>
            </a:r>
          </a:p>
        </p:txBody>
      </p:sp>
      <p:sp>
        <p:nvSpPr>
          <p:cNvPr id="3" name="Объект 2">
            <a:extLst>
              <a:ext uri="{FF2B5EF4-FFF2-40B4-BE49-F238E27FC236}">
                <a16:creationId xmlns:a16="http://schemas.microsoft.com/office/drawing/2014/main" id="{19204AB0-EEB0-4A8E-8F02-6515E8509C20}"/>
              </a:ext>
            </a:extLst>
          </p:cNvPr>
          <p:cNvSpPr>
            <a:spLocks noGrp="1"/>
          </p:cNvSpPr>
          <p:nvPr>
            <p:ph idx="1"/>
          </p:nvPr>
        </p:nvSpPr>
        <p:spPr/>
        <p:txBody>
          <a:bodyPr/>
          <a:lstStyle/>
          <a:p>
            <a:r>
              <a:rPr lang="ru-RU" dirty="0"/>
              <a:t>Задача 1.</a:t>
            </a:r>
          </a:p>
          <a:p>
            <a:pPr indent="450215" algn="just"/>
            <a:r>
              <a:rPr lang="ru-RU" sz="2400" dirty="0">
                <a:solidFill>
                  <a:srgbClr val="34363B"/>
                </a:solidFill>
                <a:effectLst/>
                <a:latin typeface="Times New Roman" panose="02020603050405020304" pitchFamily="18" charset="0"/>
                <a:ea typeface="Times New Roman" panose="02020603050405020304" pitchFamily="18" charset="0"/>
              </a:rPr>
              <a:t>Главным преимуществом GUI является то, что эти системы, доступны для людей всех уровней знаний, от абсолютного новичка до продвинутого разработчика или других технологов. Они позволяют простым пользователям открывать меню, перемещать файлы, запускать программы или искать в Интернете, не указывая компьютеру функции для выполнения через командную строку. GUI также обеспечивают мгновенную обратную связь. Например, щелчок на значке откроет некоторое приложение, и это можно увидеть в режиме реального времени.</a:t>
            </a:r>
            <a:endParaRPr lang="ru-RU" sz="2400" dirty="0">
              <a:effectLst/>
              <a:latin typeface="Times New Roman" panose="02020603050405020304" pitchFamily="18" charset="0"/>
              <a:ea typeface="Times New Roman" panose="02020603050405020304" pitchFamily="18" charset="0"/>
            </a:endParaRPr>
          </a:p>
          <a:p>
            <a:pPr indent="450215" algn="just"/>
            <a:r>
              <a:rPr lang="ru-RU" sz="2400" dirty="0">
                <a:solidFill>
                  <a:srgbClr val="363636"/>
                </a:solidFill>
                <a:effectLst/>
                <a:latin typeface="Times New Roman" panose="02020603050405020304" pitchFamily="18" charset="0"/>
                <a:ea typeface="Times New Roman" panose="02020603050405020304" pitchFamily="18" charset="0"/>
              </a:rPr>
              <a:t>В настоящее время почти все приложения, которые создаются для конечного пользователя, имеют GUI.</a:t>
            </a:r>
            <a:endParaRPr lang="ru-RU" sz="2400" dirty="0">
              <a:effectLst/>
              <a:latin typeface="Times New Roman" panose="02020603050405020304" pitchFamily="18" charset="0"/>
              <a:ea typeface="Times New Roman" panose="02020603050405020304" pitchFamily="18" charset="0"/>
            </a:endParaRPr>
          </a:p>
          <a:p>
            <a:endParaRPr lang="ru-RU" sz="1800" dirty="0">
              <a:effectLst/>
              <a:latin typeface="Times New Roman" panose="02020603050405020304" pitchFamily="18" charset="0"/>
              <a:ea typeface="Times New Roman" panose="02020603050405020304" pitchFamily="18" charset="0"/>
            </a:endParaRPr>
          </a:p>
          <a:p>
            <a:endParaRPr lang="ru-RU" dirty="0"/>
          </a:p>
        </p:txBody>
      </p:sp>
    </p:spTree>
    <p:extLst>
      <p:ext uri="{BB962C8B-B14F-4D97-AF65-F5344CB8AC3E}">
        <p14:creationId xmlns:p14="http://schemas.microsoft.com/office/powerpoint/2010/main" val="19796852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ED3A22-6DF4-4BC2-8503-F400E041EAC8}"/>
              </a:ext>
            </a:extLst>
          </p:cNvPr>
          <p:cNvSpPr>
            <a:spLocks noGrp="1"/>
          </p:cNvSpPr>
          <p:nvPr>
            <p:ph type="title"/>
          </p:nvPr>
        </p:nvSpPr>
        <p:spPr/>
        <p:txBody>
          <a:bodyPr/>
          <a:lstStyle/>
          <a:p>
            <a:pPr algn="ctr"/>
            <a:r>
              <a:rPr lang="ru-RU" dirty="0">
                <a:solidFill>
                  <a:srgbClr val="FF0000"/>
                </a:solidFill>
              </a:rPr>
              <a:t>Задачи курса</a:t>
            </a:r>
          </a:p>
        </p:txBody>
      </p:sp>
      <p:sp>
        <p:nvSpPr>
          <p:cNvPr id="3" name="Объект 2">
            <a:extLst>
              <a:ext uri="{FF2B5EF4-FFF2-40B4-BE49-F238E27FC236}">
                <a16:creationId xmlns:a16="http://schemas.microsoft.com/office/drawing/2014/main" id="{19204AB0-EEB0-4A8E-8F02-6515E8509C20}"/>
              </a:ext>
            </a:extLst>
          </p:cNvPr>
          <p:cNvSpPr>
            <a:spLocks noGrp="1"/>
          </p:cNvSpPr>
          <p:nvPr>
            <p:ph idx="1"/>
          </p:nvPr>
        </p:nvSpPr>
        <p:spPr/>
        <p:txBody>
          <a:bodyPr/>
          <a:lstStyle/>
          <a:p>
            <a:r>
              <a:rPr lang="ru-RU" dirty="0"/>
              <a:t>Задача 2.</a:t>
            </a:r>
          </a:p>
          <a:p>
            <a:r>
              <a:rPr lang="ru-RU" sz="2400" dirty="0">
                <a:latin typeface="Times New Roman" panose="02020603050405020304" pitchFamily="18" charset="0"/>
                <a:ea typeface="Times New Roman" panose="02020603050405020304" pitchFamily="18" charset="0"/>
              </a:rPr>
              <a:t>К</a:t>
            </a:r>
            <a:r>
              <a:rPr lang="ru-RU" sz="2400" dirty="0">
                <a:effectLst/>
                <a:latin typeface="Times New Roman" panose="02020603050405020304" pitchFamily="18" charset="0"/>
                <a:ea typeface="Times New Roman" panose="02020603050405020304" pitchFamily="18" charset="0"/>
              </a:rPr>
              <a:t>ак и в первом семестре обучения, мы продолжаем обучать студентов основам алгоритмизации и, в частности, навыкам работы с двумерными массивами. Поэтому конечной целью обучения студента является курсовой проект, содержанием которого является создание логической игры, управляемой с помощью разработанного им </a:t>
            </a:r>
            <a:r>
              <a:rPr lang="en-US" sz="2400" dirty="0">
                <a:effectLst/>
                <a:latin typeface="Times New Roman" panose="02020603050405020304" pitchFamily="18" charset="0"/>
                <a:ea typeface="Times New Roman" panose="02020603050405020304" pitchFamily="18" charset="0"/>
              </a:rPr>
              <a:t>GUI</a:t>
            </a:r>
            <a:r>
              <a:rPr lang="ru-RU" sz="2400" dirty="0">
                <a:effectLst/>
                <a:latin typeface="Times New Roman" panose="02020603050405020304" pitchFamily="18" charset="0"/>
                <a:ea typeface="Times New Roman" panose="02020603050405020304" pitchFamily="18" charset="0"/>
              </a:rPr>
              <a:t>.</a:t>
            </a:r>
          </a:p>
          <a:p>
            <a:endParaRPr lang="ru-RU" sz="1800" dirty="0">
              <a:effectLst/>
              <a:latin typeface="Times New Roman" panose="02020603050405020304" pitchFamily="18" charset="0"/>
              <a:ea typeface="Times New Roman" panose="02020603050405020304" pitchFamily="18" charset="0"/>
            </a:endParaRPr>
          </a:p>
          <a:p>
            <a:endParaRPr lang="ru-RU" dirty="0"/>
          </a:p>
        </p:txBody>
      </p:sp>
    </p:spTree>
    <p:extLst>
      <p:ext uri="{BB962C8B-B14F-4D97-AF65-F5344CB8AC3E}">
        <p14:creationId xmlns:p14="http://schemas.microsoft.com/office/powerpoint/2010/main" val="9012433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ED3A22-6DF4-4BC2-8503-F400E041EAC8}"/>
              </a:ext>
            </a:extLst>
          </p:cNvPr>
          <p:cNvSpPr>
            <a:spLocks noGrp="1"/>
          </p:cNvSpPr>
          <p:nvPr>
            <p:ph type="title"/>
          </p:nvPr>
        </p:nvSpPr>
        <p:spPr/>
        <p:txBody>
          <a:bodyPr/>
          <a:lstStyle/>
          <a:p>
            <a:pPr algn="ctr"/>
            <a:r>
              <a:rPr lang="ru-RU" dirty="0">
                <a:solidFill>
                  <a:srgbClr val="00B050"/>
                </a:solidFill>
              </a:rPr>
              <a:t>Начало работы</a:t>
            </a:r>
          </a:p>
        </p:txBody>
      </p:sp>
      <p:sp>
        <p:nvSpPr>
          <p:cNvPr id="3" name="Объект 2">
            <a:extLst>
              <a:ext uri="{FF2B5EF4-FFF2-40B4-BE49-F238E27FC236}">
                <a16:creationId xmlns:a16="http://schemas.microsoft.com/office/drawing/2014/main" id="{19204AB0-EEB0-4A8E-8F02-6515E8509C20}"/>
              </a:ext>
            </a:extLst>
          </p:cNvPr>
          <p:cNvSpPr>
            <a:spLocks noGrp="1"/>
          </p:cNvSpPr>
          <p:nvPr>
            <p:ph idx="1"/>
          </p:nvPr>
        </p:nvSpPr>
        <p:spPr/>
        <p:txBody>
          <a:bodyPr>
            <a:normAutofit/>
          </a:bodyPr>
          <a:lstStyle/>
          <a:p>
            <a:r>
              <a:rPr lang="ru-RU" dirty="0">
                <a:effectLst/>
                <a:latin typeface="Times New Roman" panose="02020603050405020304" pitchFamily="18" charset="0"/>
                <a:ea typeface="Times New Roman" panose="02020603050405020304" pitchFamily="18" charset="0"/>
              </a:rPr>
              <a:t>Для работы в </a:t>
            </a:r>
            <a:r>
              <a:rPr lang="en-US" dirty="0">
                <a:effectLst/>
                <a:latin typeface="Times New Roman" panose="02020603050405020304" pitchFamily="18" charset="0"/>
                <a:ea typeface="Times New Roman" panose="02020603050405020304" pitchFamily="18" charset="0"/>
              </a:rPr>
              <a:t>C</a:t>
            </a:r>
            <a:r>
              <a:rPr lang="ru-RU" dirty="0">
                <a:effectLst/>
                <a:latin typeface="Times New Roman" panose="02020603050405020304" pitchFamily="18" charset="0"/>
                <a:ea typeface="Times New Roman" panose="02020603050405020304" pitchFamily="18" charset="0"/>
              </a:rPr>
              <a:t># мы будем использовать среду </a:t>
            </a:r>
            <a:r>
              <a:rPr lang="en-US" dirty="0">
                <a:effectLst/>
                <a:latin typeface="Times New Roman" panose="02020603050405020304" pitchFamily="18" charset="0"/>
                <a:ea typeface="Times New Roman" panose="02020603050405020304" pitchFamily="18" charset="0"/>
              </a:rPr>
              <a:t>Microsoft Visual Studio</a:t>
            </a:r>
            <a:r>
              <a:rPr lang="ru-RU" dirty="0">
                <a:effectLst/>
                <a:latin typeface="Times New Roman" panose="02020603050405020304" pitchFamily="18" charset="0"/>
                <a:ea typeface="Times New Roman" panose="02020603050405020304" pitchFamily="18" charset="0"/>
              </a:rPr>
              <a:t>. Этот пакет установлен в сети ВКИ. Его установка на домашний компьютер не представляет трудности, и мы не будем на этом останавливаться. Мы будем использовать </a:t>
            </a:r>
            <a:r>
              <a:rPr lang="en-US" dirty="0">
                <a:effectLst/>
                <a:latin typeface="Times New Roman" panose="02020603050405020304" pitchFamily="18" charset="0"/>
                <a:ea typeface="Times New Roman" panose="02020603050405020304" pitchFamily="18" charset="0"/>
              </a:rPr>
              <a:t>Microsoft Visual Studio</a:t>
            </a:r>
            <a:r>
              <a:rPr lang="ru-RU" dirty="0">
                <a:effectLst/>
                <a:latin typeface="Times New Roman" panose="02020603050405020304" pitchFamily="18" charset="0"/>
                <a:ea typeface="Times New Roman" panose="02020603050405020304" pitchFamily="18" charset="0"/>
              </a:rPr>
              <a:t> 2019. Ее первый запуск можно осуществить нажатием кнопки </a:t>
            </a:r>
            <a:r>
              <a:rPr lang="en-US" dirty="0">
                <a:effectLst/>
                <a:latin typeface="Times New Roman" panose="02020603050405020304" pitchFamily="18" charset="0"/>
                <a:ea typeface="Times New Roman" panose="02020603050405020304" pitchFamily="18" charset="0"/>
              </a:rPr>
              <a:t>Microsoft Visual Studio</a:t>
            </a:r>
            <a:r>
              <a:rPr lang="ru-RU" dirty="0">
                <a:effectLst/>
                <a:latin typeface="Times New Roman" panose="02020603050405020304" pitchFamily="18" charset="0"/>
                <a:ea typeface="Times New Roman" panose="02020603050405020304" pitchFamily="18" charset="0"/>
              </a:rPr>
              <a:t> в меню Пуск. Порядок начала работы с более ранними версиями можно найти, например, в [1]. В дальнейшем можно использовать пункты меню </a:t>
            </a:r>
            <a:r>
              <a:rPr lang="ru-RU" i="1" dirty="0">
                <a:effectLst/>
                <a:latin typeface="Times New Roman" panose="02020603050405020304" pitchFamily="18" charset="0"/>
                <a:ea typeface="Times New Roman" panose="02020603050405020304" pitchFamily="18" charset="0"/>
              </a:rPr>
              <a:t>Файл | Создать | Проект.</a:t>
            </a:r>
            <a:r>
              <a:rPr lang="ru-RU" dirty="0">
                <a:effectLst/>
                <a:latin typeface="Times New Roman" panose="02020603050405020304" pitchFamily="18" charset="0"/>
                <a:ea typeface="Times New Roman" panose="02020603050405020304" pitchFamily="18" charset="0"/>
              </a:rPr>
              <a:t> После запуска откроется следующее окно</a:t>
            </a:r>
            <a:endParaRPr lang="ru-RU" dirty="0"/>
          </a:p>
        </p:txBody>
      </p:sp>
    </p:spTree>
    <p:extLst>
      <p:ext uri="{BB962C8B-B14F-4D97-AF65-F5344CB8AC3E}">
        <p14:creationId xmlns:p14="http://schemas.microsoft.com/office/powerpoint/2010/main" val="35611312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ED3A22-6DF4-4BC2-8503-F400E041EAC8}"/>
              </a:ext>
            </a:extLst>
          </p:cNvPr>
          <p:cNvSpPr>
            <a:spLocks noGrp="1"/>
          </p:cNvSpPr>
          <p:nvPr>
            <p:ph type="title"/>
          </p:nvPr>
        </p:nvSpPr>
        <p:spPr/>
        <p:txBody>
          <a:bodyPr/>
          <a:lstStyle/>
          <a:p>
            <a:pPr algn="ctr"/>
            <a:r>
              <a:rPr lang="ru-RU" dirty="0">
                <a:solidFill>
                  <a:srgbClr val="00B050"/>
                </a:solidFill>
              </a:rPr>
              <a:t>Начало работы</a:t>
            </a:r>
          </a:p>
        </p:txBody>
      </p:sp>
      <p:pic>
        <p:nvPicPr>
          <p:cNvPr id="4" name="Объект 3">
            <a:extLst>
              <a:ext uri="{FF2B5EF4-FFF2-40B4-BE49-F238E27FC236}">
                <a16:creationId xmlns:a16="http://schemas.microsoft.com/office/drawing/2014/main" id="{583F98E8-EA0A-4203-B986-6673246FF019}"/>
              </a:ext>
            </a:extLst>
          </p:cNvPr>
          <p:cNvPicPr>
            <a:picLocks noGrp="1"/>
          </p:cNvPicPr>
          <p:nvPr>
            <p:ph idx="1"/>
          </p:nvPr>
        </p:nvPicPr>
        <p:blipFill>
          <a:blip r:embed="rId2"/>
          <a:stretch>
            <a:fillRect/>
          </a:stretch>
        </p:blipFill>
        <p:spPr>
          <a:xfrm>
            <a:off x="2819698" y="1825625"/>
            <a:ext cx="6552603" cy="4351338"/>
          </a:xfrm>
          <a:prstGeom prst="rect">
            <a:avLst/>
          </a:prstGeom>
        </p:spPr>
      </p:pic>
    </p:spTree>
    <p:extLst>
      <p:ext uri="{BB962C8B-B14F-4D97-AF65-F5344CB8AC3E}">
        <p14:creationId xmlns:p14="http://schemas.microsoft.com/office/powerpoint/2010/main" val="27770739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ED3A22-6DF4-4BC2-8503-F400E041EAC8}"/>
              </a:ext>
            </a:extLst>
          </p:cNvPr>
          <p:cNvSpPr>
            <a:spLocks noGrp="1"/>
          </p:cNvSpPr>
          <p:nvPr>
            <p:ph type="title"/>
          </p:nvPr>
        </p:nvSpPr>
        <p:spPr/>
        <p:txBody>
          <a:bodyPr/>
          <a:lstStyle/>
          <a:p>
            <a:pPr algn="ctr"/>
            <a:r>
              <a:rPr lang="ru-RU" dirty="0">
                <a:solidFill>
                  <a:srgbClr val="00B050"/>
                </a:solidFill>
              </a:rPr>
              <a:t>Начало работы</a:t>
            </a:r>
          </a:p>
        </p:txBody>
      </p:sp>
      <p:sp>
        <p:nvSpPr>
          <p:cNvPr id="8" name="Объект 7">
            <a:extLst>
              <a:ext uri="{FF2B5EF4-FFF2-40B4-BE49-F238E27FC236}">
                <a16:creationId xmlns:a16="http://schemas.microsoft.com/office/drawing/2014/main" id="{B74AD74D-7E40-4F76-9E29-948F47BE8255}"/>
              </a:ext>
            </a:extLst>
          </p:cNvPr>
          <p:cNvSpPr>
            <a:spLocks noGrp="1"/>
          </p:cNvSpPr>
          <p:nvPr>
            <p:ph idx="1"/>
          </p:nvPr>
        </p:nvSpPr>
        <p:spPr/>
        <p:txBody>
          <a:bodyPr/>
          <a:lstStyle/>
          <a:p>
            <a:pPr indent="450215" algn="just"/>
            <a:r>
              <a:rPr lang="ru-RU" sz="1800" dirty="0">
                <a:effectLst/>
                <a:latin typeface="Times New Roman" panose="02020603050405020304" pitchFamily="18" charset="0"/>
                <a:ea typeface="Times New Roman" panose="02020603050405020304" pitchFamily="18" charset="0"/>
              </a:rPr>
              <a:t>Выбираем в списке проектов слева «Приложение </a:t>
            </a:r>
            <a:r>
              <a:rPr lang="en-US" sz="1800" dirty="0">
                <a:effectLst/>
                <a:latin typeface="Times New Roman" panose="02020603050405020304" pitchFamily="18" charset="0"/>
                <a:ea typeface="Times New Roman" panose="02020603050405020304" pitchFamily="18" charset="0"/>
              </a:rPr>
              <a:t>Windows Forms</a:t>
            </a:r>
            <a:r>
              <a:rPr lang="ru-RU" sz="1800" dirty="0">
                <a:effectLst/>
                <a:latin typeface="Times New Roman" panose="02020603050405020304" pitchFamily="18" charset="0"/>
                <a:ea typeface="Times New Roman" panose="02020603050405020304" pitchFamily="18" charset="0"/>
              </a:rPr>
              <a:t>» и нажимаем кнопку «Далее». </a:t>
            </a:r>
          </a:p>
          <a:p>
            <a:r>
              <a:rPr lang="en-US" sz="1800" dirty="0">
                <a:effectLst/>
                <a:latin typeface="Times New Roman" panose="02020603050405020304" pitchFamily="18" charset="0"/>
                <a:ea typeface="Times New Roman" panose="02020603050405020304" pitchFamily="18" charset="0"/>
              </a:rPr>
              <a:t>Windows</a:t>
            </a:r>
            <a:r>
              <a:rPr lang="ru-RU" sz="1800" dirty="0">
                <a:effectLst/>
                <a:latin typeface="Times New Roman" panose="02020603050405020304" pitchFamily="18" charset="0"/>
                <a:ea typeface="Times New Roman" panose="02020603050405020304" pitchFamily="18" charset="0"/>
              </a:rPr>
              <a:t>-приложение создается в виде проекта. Проект состоит из нескольких файлов разного назначения. В табл. 1 приводится описание некоторых файлов проекта:</a:t>
            </a:r>
          </a:p>
          <a:p>
            <a:endParaRPr lang="ru-RU" dirty="0"/>
          </a:p>
        </p:txBody>
      </p:sp>
      <p:graphicFrame>
        <p:nvGraphicFramePr>
          <p:cNvPr id="9" name="Таблица 8">
            <a:extLst>
              <a:ext uri="{FF2B5EF4-FFF2-40B4-BE49-F238E27FC236}">
                <a16:creationId xmlns:a16="http://schemas.microsoft.com/office/drawing/2014/main" id="{FCA32D99-4CEF-48C1-BC28-A261CA4336F6}"/>
              </a:ext>
            </a:extLst>
          </p:cNvPr>
          <p:cNvGraphicFramePr>
            <a:graphicFrameLocks noGrp="1"/>
          </p:cNvGraphicFramePr>
          <p:nvPr>
            <p:extLst>
              <p:ext uri="{D42A27DB-BD31-4B8C-83A1-F6EECF244321}">
                <p14:modId xmlns:p14="http://schemas.microsoft.com/office/powerpoint/2010/main" val="3414787900"/>
              </p:ext>
            </p:extLst>
          </p:nvPr>
        </p:nvGraphicFramePr>
        <p:xfrm>
          <a:off x="3204595" y="3361214"/>
          <a:ext cx="5048818" cy="2410414"/>
        </p:xfrm>
        <a:graphic>
          <a:graphicData uri="http://schemas.openxmlformats.org/drawingml/2006/table">
            <a:tbl>
              <a:tblPr firstRow="1" firstCol="1" bandRow="1">
                <a:tableStyleId>{5C22544A-7EE6-4342-B048-85BDC9FD1C3A}</a:tableStyleId>
              </a:tblPr>
              <a:tblGrid>
                <a:gridCol w="1102641">
                  <a:extLst>
                    <a:ext uri="{9D8B030D-6E8A-4147-A177-3AD203B41FA5}">
                      <a16:colId xmlns:a16="http://schemas.microsoft.com/office/drawing/2014/main" val="1290105044"/>
                    </a:ext>
                  </a:extLst>
                </a:gridCol>
                <a:gridCol w="3946177">
                  <a:extLst>
                    <a:ext uri="{9D8B030D-6E8A-4147-A177-3AD203B41FA5}">
                      <a16:colId xmlns:a16="http://schemas.microsoft.com/office/drawing/2014/main" val="1428899060"/>
                    </a:ext>
                  </a:extLst>
                </a:gridCol>
              </a:tblGrid>
              <a:tr h="344345">
                <a:tc>
                  <a:txBody>
                    <a:bodyPr/>
                    <a:lstStyle/>
                    <a:p>
                      <a:pPr algn="ctr"/>
                      <a:r>
                        <a:rPr lang="ru-RU" sz="1200">
                          <a:effectLst/>
                        </a:rPr>
                        <a:t>Имя файла</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ru-RU" sz="1200">
                          <a:effectLst/>
                        </a:rPr>
                        <a:t>Описание</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990114235"/>
                  </a:ext>
                </a:extLst>
              </a:tr>
              <a:tr h="344345">
                <a:tc>
                  <a:txBody>
                    <a:bodyPr/>
                    <a:lstStyle/>
                    <a:p>
                      <a:pPr algn="just"/>
                      <a:r>
                        <a:rPr lang="ru-RU" sz="1200">
                          <a:effectLst/>
                        </a:rPr>
                        <a:t>*.</a:t>
                      </a:r>
                      <a:r>
                        <a:rPr lang="en-US" sz="1200">
                          <a:effectLst/>
                        </a:rPr>
                        <a:t>sln</a:t>
                      </a:r>
                      <a:r>
                        <a:rPr lang="ru-RU" sz="1200">
                          <a:effectLst/>
                        </a:rPr>
                        <a:t>  </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ru-RU" sz="1200">
                          <a:effectLst/>
                        </a:rPr>
                        <a:t>файл сборки проекта</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86404438"/>
                  </a:ext>
                </a:extLst>
              </a:tr>
              <a:tr h="344345">
                <a:tc>
                  <a:txBody>
                    <a:bodyPr/>
                    <a:lstStyle/>
                    <a:p>
                      <a:pPr algn="just"/>
                      <a:r>
                        <a:rPr lang="ru-RU" sz="1200">
                          <a:effectLst/>
                        </a:rPr>
                        <a:t>*.</a:t>
                      </a:r>
                      <a:r>
                        <a:rPr lang="en-US" sz="1200">
                          <a:effectLst/>
                        </a:rPr>
                        <a:t>suo</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ru-RU" sz="1200">
                          <a:effectLst/>
                        </a:rPr>
                        <a:t>файл опций проекта</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028810923"/>
                  </a:ext>
                </a:extLst>
              </a:tr>
              <a:tr h="344345">
                <a:tc>
                  <a:txBody>
                    <a:bodyPr/>
                    <a:lstStyle/>
                    <a:p>
                      <a:pPr algn="just"/>
                      <a:r>
                        <a:rPr lang="ru-RU" sz="1200">
                          <a:effectLst/>
                        </a:rPr>
                        <a:t>*.</a:t>
                      </a:r>
                      <a:r>
                        <a:rPr lang="en-US" sz="1200">
                          <a:effectLst/>
                        </a:rPr>
                        <a:t>csproj</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ru-RU" sz="1200">
                          <a:effectLst/>
                        </a:rPr>
                        <a:t>Проект</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14563630"/>
                  </a:ext>
                </a:extLst>
              </a:tr>
              <a:tr h="344345">
                <a:tc>
                  <a:txBody>
                    <a:bodyPr/>
                    <a:lstStyle/>
                    <a:p>
                      <a:pPr algn="just"/>
                      <a:r>
                        <a:rPr lang="ru-RU" sz="1200">
                          <a:effectLst/>
                        </a:rPr>
                        <a:t>*.</a:t>
                      </a:r>
                      <a:r>
                        <a:rPr lang="en-US" sz="1200">
                          <a:effectLst/>
                        </a:rPr>
                        <a:t>cs</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ru-RU" sz="1200">
                          <a:effectLst/>
                        </a:rPr>
                        <a:t>программные файлы на </a:t>
                      </a:r>
                      <a:r>
                        <a:rPr lang="en-US" sz="1200">
                          <a:effectLst/>
                        </a:rPr>
                        <a:t>C</a:t>
                      </a:r>
                      <a:r>
                        <a:rPr lang="ru-RU" sz="1200">
                          <a:effectLst/>
                        </a:rPr>
                        <a:t>#</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673307773"/>
                  </a:ext>
                </a:extLst>
              </a:tr>
              <a:tr h="688689">
                <a:tc>
                  <a:txBody>
                    <a:bodyPr/>
                    <a:lstStyle/>
                    <a:p>
                      <a:pPr algn="just"/>
                      <a:r>
                        <a:rPr lang="en-US" sz="1200">
                          <a:effectLst/>
                        </a:rPr>
                        <a:t>*.Designer.cs</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ru-RU" sz="1200" dirty="0">
                          <a:effectLst/>
                        </a:rPr>
                        <a:t>содержит графическое представление формы</a:t>
                      </a:r>
                      <a:endParaRPr lang="ru-RU"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533020357"/>
                  </a:ext>
                </a:extLst>
              </a:tr>
            </a:tbl>
          </a:graphicData>
        </a:graphic>
      </p:graphicFrame>
    </p:spTree>
    <p:extLst>
      <p:ext uri="{BB962C8B-B14F-4D97-AF65-F5344CB8AC3E}">
        <p14:creationId xmlns:p14="http://schemas.microsoft.com/office/powerpoint/2010/main" val="4222784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ED3A22-6DF4-4BC2-8503-F400E041EAC8}"/>
              </a:ext>
            </a:extLst>
          </p:cNvPr>
          <p:cNvSpPr>
            <a:spLocks noGrp="1"/>
          </p:cNvSpPr>
          <p:nvPr>
            <p:ph type="title"/>
          </p:nvPr>
        </p:nvSpPr>
        <p:spPr/>
        <p:txBody>
          <a:bodyPr/>
          <a:lstStyle/>
          <a:p>
            <a:pPr algn="ctr"/>
            <a:r>
              <a:rPr lang="ru-RU" dirty="0">
                <a:solidFill>
                  <a:srgbClr val="00B050"/>
                </a:solidFill>
              </a:rPr>
              <a:t>Начало работы</a:t>
            </a:r>
          </a:p>
        </p:txBody>
      </p:sp>
      <p:sp>
        <p:nvSpPr>
          <p:cNvPr id="8" name="Объект 7">
            <a:extLst>
              <a:ext uri="{FF2B5EF4-FFF2-40B4-BE49-F238E27FC236}">
                <a16:creationId xmlns:a16="http://schemas.microsoft.com/office/drawing/2014/main" id="{B74AD74D-7E40-4F76-9E29-948F47BE8255}"/>
              </a:ext>
            </a:extLst>
          </p:cNvPr>
          <p:cNvSpPr>
            <a:spLocks noGrp="1"/>
          </p:cNvSpPr>
          <p:nvPr>
            <p:ph idx="1"/>
          </p:nvPr>
        </p:nvSpPr>
        <p:spPr/>
        <p:txBody>
          <a:bodyPr>
            <a:normAutofit/>
          </a:bodyPr>
          <a:lstStyle/>
          <a:p>
            <a:r>
              <a:rPr lang="ru-RU" sz="2000" dirty="0">
                <a:effectLst/>
                <a:latin typeface="Times New Roman" panose="02020603050405020304" pitchFamily="18" charset="0"/>
                <a:ea typeface="Times New Roman" panose="02020603050405020304" pitchFamily="18" charset="0"/>
              </a:rPr>
              <a:t>Имя проекта вы выбираете самостоятельно. Для сохранения проекта необходимо создать отдельную папку. Нажав на кнопку с точками и воспользовавшись открывающимся при этом диалоговым окном, вы обеспечите сохранение проекта в этой папке. Необходимо также поставить галочку «Поместить решение и проект в одном проекте». </a:t>
            </a:r>
            <a:r>
              <a:rPr lang="ru-RU" sz="2000" dirty="0">
                <a:solidFill>
                  <a:srgbClr val="171717"/>
                </a:solidFill>
                <a:effectLst/>
                <a:latin typeface="Times New Roman" panose="02020603050405020304" pitchFamily="18" charset="0"/>
                <a:ea typeface="Times New Roman" panose="02020603050405020304" pitchFamily="18" charset="0"/>
              </a:rPr>
              <a:t>Проект находится внутри </a:t>
            </a:r>
            <a:r>
              <a:rPr lang="ru-RU" sz="2000" i="1" dirty="0">
                <a:solidFill>
                  <a:srgbClr val="171717"/>
                </a:solidFill>
                <a:effectLst/>
                <a:latin typeface="Times New Roman" panose="02020603050405020304" pitchFamily="18" charset="0"/>
                <a:ea typeface="Times New Roman" panose="02020603050405020304" pitchFamily="18" charset="0"/>
              </a:rPr>
              <a:t>решения</a:t>
            </a:r>
            <a:r>
              <a:rPr lang="ru-RU" sz="2000" dirty="0">
                <a:solidFill>
                  <a:srgbClr val="171717"/>
                </a:solidFill>
                <a:effectLst/>
                <a:latin typeface="Times New Roman" panose="02020603050405020304" pitchFamily="18" charset="0"/>
                <a:ea typeface="Times New Roman" panose="02020603050405020304" pitchFamily="18" charset="0"/>
              </a:rPr>
              <a:t>. Несмотря на название, под решением не подразумевается "решение вопроса". Это просто контейнер для одного или нескольких связанных проектов вместе с информацией о сборке, параметрами окна </a:t>
            </a:r>
            <a:r>
              <a:rPr lang="ru-RU" sz="2000" dirty="0" err="1">
                <a:solidFill>
                  <a:srgbClr val="171717"/>
                </a:solidFill>
                <a:effectLst/>
                <a:latin typeface="Times New Roman" panose="02020603050405020304" pitchFamily="18" charset="0"/>
                <a:ea typeface="Times New Roman" panose="02020603050405020304" pitchFamily="18" charset="0"/>
              </a:rPr>
              <a:t>Visual</a:t>
            </a:r>
            <a:r>
              <a:rPr lang="ru-RU" sz="2000" dirty="0">
                <a:solidFill>
                  <a:srgbClr val="171717"/>
                </a:solidFill>
                <a:effectLst/>
                <a:latin typeface="Times New Roman" panose="02020603050405020304" pitchFamily="18" charset="0"/>
                <a:ea typeface="Times New Roman" panose="02020603050405020304" pitchFamily="18" charset="0"/>
              </a:rPr>
              <a:t> </a:t>
            </a:r>
            <a:r>
              <a:rPr lang="ru-RU" sz="2000" dirty="0" err="1">
                <a:solidFill>
                  <a:srgbClr val="171717"/>
                </a:solidFill>
                <a:effectLst/>
                <a:latin typeface="Times New Roman" panose="02020603050405020304" pitchFamily="18" charset="0"/>
                <a:ea typeface="Times New Roman" panose="02020603050405020304" pitchFamily="18" charset="0"/>
              </a:rPr>
              <a:t>Studio</a:t>
            </a:r>
            <a:r>
              <a:rPr lang="ru-RU" sz="2000" dirty="0">
                <a:solidFill>
                  <a:srgbClr val="171717"/>
                </a:solidFill>
                <a:effectLst/>
                <a:latin typeface="Times New Roman" panose="02020603050405020304" pitchFamily="18" charset="0"/>
                <a:ea typeface="Times New Roman" panose="02020603050405020304" pitchFamily="18" charset="0"/>
              </a:rPr>
              <a:t> и любыми прочими файлами, которые не относятся к какому-либо конкретному проекту. Решение описывается текстовым файлом (</a:t>
            </a:r>
            <a:r>
              <a:rPr lang="ru-RU" sz="2000" i="1" dirty="0">
                <a:solidFill>
                  <a:srgbClr val="171717"/>
                </a:solidFill>
                <a:effectLst/>
                <a:latin typeface="Times New Roman" panose="02020603050405020304" pitchFamily="18" charset="0"/>
                <a:ea typeface="Times New Roman" panose="02020603050405020304" pitchFamily="18" charset="0"/>
              </a:rPr>
              <a:t>SLN</a:t>
            </a:r>
            <a:r>
              <a:rPr lang="ru-RU" sz="2000" dirty="0">
                <a:solidFill>
                  <a:srgbClr val="171717"/>
                </a:solidFill>
                <a:effectLst/>
                <a:latin typeface="Times New Roman" panose="02020603050405020304" pitchFamily="18" charset="0"/>
                <a:ea typeface="Times New Roman" panose="02020603050405020304" pitchFamily="18" charset="0"/>
              </a:rPr>
              <a:t>) в собственном уникальном формате; его обычно не изменяют вручную. Нажимаем кнопку «Создать». Откроется окно редактора </a:t>
            </a:r>
            <a:r>
              <a:rPr lang="en-US" sz="2000" dirty="0">
                <a:effectLst/>
                <a:latin typeface="Times New Roman" panose="02020603050405020304" pitchFamily="18" charset="0"/>
                <a:ea typeface="Times New Roman" panose="02020603050405020304" pitchFamily="18" charset="0"/>
              </a:rPr>
              <a:t>Microsoft Visual Studio</a:t>
            </a:r>
            <a:r>
              <a:rPr lang="ru-RU" sz="2000" dirty="0">
                <a:effectLst/>
                <a:latin typeface="Times New Roman" panose="02020603050405020304" pitchFamily="18" charset="0"/>
                <a:ea typeface="Times New Roman" panose="02020603050405020304" pitchFamily="18" charset="0"/>
              </a:rPr>
              <a:t>, в котором вы увидите свою первую форму – будущее окно </a:t>
            </a:r>
            <a:r>
              <a:rPr lang="en-US" sz="2000" dirty="0">
                <a:effectLst/>
                <a:latin typeface="Times New Roman" panose="02020603050405020304" pitchFamily="18" charset="0"/>
                <a:ea typeface="Times New Roman" panose="02020603050405020304" pitchFamily="18" charset="0"/>
              </a:rPr>
              <a:t>Windows</a:t>
            </a:r>
            <a:r>
              <a:rPr lang="ru-RU" sz="2000" dirty="0">
                <a:effectLst/>
                <a:latin typeface="Times New Roman" panose="02020603050405020304" pitchFamily="18" charset="0"/>
                <a:ea typeface="Times New Roman" panose="02020603050405020304" pitchFamily="18" charset="0"/>
              </a:rPr>
              <a:t>-приложения </a:t>
            </a:r>
            <a:endParaRPr lang="ru-RU" sz="2000" dirty="0"/>
          </a:p>
        </p:txBody>
      </p:sp>
    </p:spTree>
    <p:extLst>
      <p:ext uri="{BB962C8B-B14F-4D97-AF65-F5344CB8AC3E}">
        <p14:creationId xmlns:p14="http://schemas.microsoft.com/office/powerpoint/2010/main" val="26298060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ED3A22-6DF4-4BC2-8503-F400E041EAC8}"/>
              </a:ext>
            </a:extLst>
          </p:cNvPr>
          <p:cNvSpPr>
            <a:spLocks noGrp="1"/>
          </p:cNvSpPr>
          <p:nvPr>
            <p:ph type="title"/>
          </p:nvPr>
        </p:nvSpPr>
        <p:spPr/>
        <p:txBody>
          <a:bodyPr/>
          <a:lstStyle/>
          <a:p>
            <a:pPr algn="ctr"/>
            <a:r>
              <a:rPr lang="ru-RU" dirty="0">
                <a:solidFill>
                  <a:srgbClr val="00B050"/>
                </a:solidFill>
              </a:rPr>
              <a:t>Начало работы</a:t>
            </a:r>
          </a:p>
        </p:txBody>
      </p:sp>
      <p:sp>
        <p:nvSpPr>
          <p:cNvPr id="8" name="Объект 7">
            <a:extLst>
              <a:ext uri="{FF2B5EF4-FFF2-40B4-BE49-F238E27FC236}">
                <a16:creationId xmlns:a16="http://schemas.microsoft.com/office/drawing/2014/main" id="{B74AD74D-7E40-4F76-9E29-948F47BE8255}"/>
              </a:ext>
            </a:extLst>
          </p:cNvPr>
          <p:cNvSpPr>
            <a:spLocks noGrp="1"/>
          </p:cNvSpPr>
          <p:nvPr>
            <p:ph idx="1"/>
          </p:nvPr>
        </p:nvSpPr>
        <p:spPr/>
        <p:txBody>
          <a:bodyPr>
            <a:normAutofit/>
          </a:bodyPr>
          <a:lstStyle/>
          <a:p>
            <a:r>
              <a:rPr lang="ru-RU" sz="2000" dirty="0">
                <a:effectLst/>
                <a:latin typeface="Times New Roman" panose="02020603050405020304" pitchFamily="18" charset="0"/>
                <a:ea typeface="Times New Roman" panose="02020603050405020304" pitchFamily="18" charset="0"/>
              </a:rPr>
              <a:t>Имя проекта вы выбираете самостоятельно. Для сохранения проекта необходимо создать отдельную папку. Нажав на кнопку с точками и воспользовавшись открывающимся при этом диалоговым окном, вы обеспечите сохранение проекта в этой папке. Необходимо также поставить галочку «Поместить решение и проект в одном проекте». </a:t>
            </a:r>
            <a:r>
              <a:rPr lang="ru-RU" sz="2000" dirty="0">
                <a:solidFill>
                  <a:srgbClr val="171717"/>
                </a:solidFill>
                <a:effectLst/>
                <a:latin typeface="Times New Roman" panose="02020603050405020304" pitchFamily="18" charset="0"/>
                <a:ea typeface="Times New Roman" panose="02020603050405020304" pitchFamily="18" charset="0"/>
              </a:rPr>
              <a:t>Проект находится внутри </a:t>
            </a:r>
            <a:r>
              <a:rPr lang="ru-RU" sz="2000" i="1" dirty="0">
                <a:solidFill>
                  <a:srgbClr val="171717"/>
                </a:solidFill>
                <a:effectLst/>
                <a:latin typeface="Times New Roman" panose="02020603050405020304" pitchFamily="18" charset="0"/>
                <a:ea typeface="Times New Roman" panose="02020603050405020304" pitchFamily="18" charset="0"/>
              </a:rPr>
              <a:t>решения</a:t>
            </a:r>
            <a:r>
              <a:rPr lang="ru-RU" sz="2000" dirty="0">
                <a:solidFill>
                  <a:srgbClr val="171717"/>
                </a:solidFill>
                <a:effectLst/>
                <a:latin typeface="Times New Roman" panose="02020603050405020304" pitchFamily="18" charset="0"/>
                <a:ea typeface="Times New Roman" panose="02020603050405020304" pitchFamily="18" charset="0"/>
              </a:rPr>
              <a:t>. Несмотря на название, под решением не подразумевается "решение вопроса". Это просто контейнер для одного или нескольких связанных проектов вместе с информацией о сборке, параметрами окна </a:t>
            </a:r>
            <a:r>
              <a:rPr lang="ru-RU" sz="2000" dirty="0" err="1">
                <a:solidFill>
                  <a:srgbClr val="171717"/>
                </a:solidFill>
                <a:effectLst/>
                <a:latin typeface="Times New Roman" panose="02020603050405020304" pitchFamily="18" charset="0"/>
                <a:ea typeface="Times New Roman" panose="02020603050405020304" pitchFamily="18" charset="0"/>
              </a:rPr>
              <a:t>Visual</a:t>
            </a:r>
            <a:r>
              <a:rPr lang="ru-RU" sz="2000" dirty="0">
                <a:solidFill>
                  <a:srgbClr val="171717"/>
                </a:solidFill>
                <a:effectLst/>
                <a:latin typeface="Times New Roman" panose="02020603050405020304" pitchFamily="18" charset="0"/>
                <a:ea typeface="Times New Roman" panose="02020603050405020304" pitchFamily="18" charset="0"/>
              </a:rPr>
              <a:t> </a:t>
            </a:r>
            <a:r>
              <a:rPr lang="ru-RU" sz="2000" dirty="0" err="1">
                <a:solidFill>
                  <a:srgbClr val="171717"/>
                </a:solidFill>
                <a:effectLst/>
                <a:latin typeface="Times New Roman" panose="02020603050405020304" pitchFamily="18" charset="0"/>
                <a:ea typeface="Times New Roman" panose="02020603050405020304" pitchFamily="18" charset="0"/>
              </a:rPr>
              <a:t>Studio</a:t>
            </a:r>
            <a:r>
              <a:rPr lang="ru-RU" sz="2000" dirty="0">
                <a:solidFill>
                  <a:srgbClr val="171717"/>
                </a:solidFill>
                <a:effectLst/>
                <a:latin typeface="Times New Roman" panose="02020603050405020304" pitchFamily="18" charset="0"/>
                <a:ea typeface="Times New Roman" panose="02020603050405020304" pitchFamily="18" charset="0"/>
              </a:rPr>
              <a:t> и любыми прочими файлами, которые не относятся к какому-либо конкретному проекту. Решение описывается текстовым файлом (</a:t>
            </a:r>
            <a:r>
              <a:rPr lang="ru-RU" sz="2000" i="1" dirty="0">
                <a:solidFill>
                  <a:srgbClr val="171717"/>
                </a:solidFill>
                <a:effectLst/>
                <a:latin typeface="Times New Roman" panose="02020603050405020304" pitchFamily="18" charset="0"/>
                <a:ea typeface="Times New Roman" panose="02020603050405020304" pitchFamily="18" charset="0"/>
              </a:rPr>
              <a:t>SLN</a:t>
            </a:r>
            <a:r>
              <a:rPr lang="ru-RU" sz="2000" dirty="0">
                <a:solidFill>
                  <a:srgbClr val="171717"/>
                </a:solidFill>
                <a:effectLst/>
                <a:latin typeface="Times New Roman" panose="02020603050405020304" pitchFamily="18" charset="0"/>
                <a:ea typeface="Times New Roman" panose="02020603050405020304" pitchFamily="18" charset="0"/>
              </a:rPr>
              <a:t>) в собственном уникальном формате; его обычно не изменяют вручную. Нажимаем кнопку «Создать». Откроется окно редактора </a:t>
            </a:r>
            <a:r>
              <a:rPr lang="en-US" sz="2000" dirty="0">
                <a:effectLst/>
                <a:latin typeface="Times New Roman" panose="02020603050405020304" pitchFamily="18" charset="0"/>
                <a:ea typeface="Times New Roman" panose="02020603050405020304" pitchFamily="18" charset="0"/>
              </a:rPr>
              <a:t>Microsoft Visual Studio</a:t>
            </a:r>
            <a:r>
              <a:rPr lang="ru-RU" sz="2000" dirty="0">
                <a:effectLst/>
                <a:latin typeface="Times New Roman" panose="02020603050405020304" pitchFamily="18" charset="0"/>
                <a:ea typeface="Times New Roman" panose="02020603050405020304" pitchFamily="18" charset="0"/>
              </a:rPr>
              <a:t>, в котором вы увидите свою первую форму – будущее окно </a:t>
            </a:r>
            <a:r>
              <a:rPr lang="en-US" sz="2000" dirty="0">
                <a:effectLst/>
                <a:latin typeface="Times New Roman" panose="02020603050405020304" pitchFamily="18" charset="0"/>
                <a:ea typeface="Times New Roman" panose="02020603050405020304" pitchFamily="18" charset="0"/>
              </a:rPr>
              <a:t>Windows</a:t>
            </a:r>
            <a:r>
              <a:rPr lang="ru-RU" sz="2000" dirty="0">
                <a:effectLst/>
                <a:latin typeface="Times New Roman" panose="02020603050405020304" pitchFamily="18" charset="0"/>
                <a:ea typeface="Times New Roman" panose="02020603050405020304" pitchFamily="18" charset="0"/>
              </a:rPr>
              <a:t>-приложения </a:t>
            </a:r>
            <a:endParaRPr lang="ru-RU" sz="2000" dirty="0"/>
          </a:p>
        </p:txBody>
      </p:sp>
    </p:spTree>
    <p:extLst>
      <p:ext uri="{BB962C8B-B14F-4D97-AF65-F5344CB8AC3E}">
        <p14:creationId xmlns:p14="http://schemas.microsoft.com/office/powerpoint/2010/main" val="41053692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ED3A22-6DF4-4BC2-8503-F400E041EAC8}"/>
              </a:ext>
            </a:extLst>
          </p:cNvPr>
          <p:cNvSpPr>
            <a:spLocks noGrp="1"/>
          </p:cNvSpPr>
          <p:nvPr>
            <p:ph type="title"/>
          </p:nvPr>
        </p:nvSpPr>
        <p:spPr/>
        <p:txBody>
          <a:bodyPr/>
          <a:lstStyle/>
          <a:p>
            <a:pPr algn="ctr"/>
            <a:r>
              <a:rPr lang="ru-RU" dirty="0">
                <a:solidFill>
                  <a:srgbClr val="00B050"/>
                </a:solidFill>
              </a:rPr>
              <a:t>Начало работы</a:t>
            </a:r>
          </a:p>
        </p:txBody>
      </p:sp>
      <p:pic>
        <p:nvPicPr>
          <p:cNvPr id="4" name="Объект 3">
            <a:extLst>
              <a:ext uri="{FF2B5EF4-FFF2-40B4-BE49-F238E27FC236}">
                <a16:creationId xmlns:a16="http://schemas.microsoft.com/office/drawing/2014/main" id="{DC80063C-4523-47BC-BEC1-8880979BB68F}"/>
              </a:ext>
            </a:extLst>
          </p:cNvPr>
          <p:cNvPicPr>
            <a:picLocks noGrp="1"/>
          </p:cNvPicPr>
          <p:nvPr>
            <p:ph idx="1"/>
          </p:nvPr>
        </p:nvPicPr>
        <p:blipFill>
          <a:blip r:embed="rId2"/>
          <a:stretch>
            <a:fillRect/>
          </a:stretch>
        </p:blipFill>
        <p:spPr>
          <a:xfrm>
            <a:off x="2044754" y="1825625"/>
            <a:ext cx="8102491" cy="4351338"/>
          </a:xfrm>
          <a:prstGeom prst="rect">
            <a:avLst/>
          </a:prstGeom>
        </p:spPr>
      </p:pic>
    </p:spTree>
    <p:extLst>
      <p:ext uri="{BB962C8B-B14F-4D97-AF65-F5344CB8AC3E}">
        <p14:creationId xmlns:p14="http://schemas.microsoft.com/office/powerpoint/2010/main" val="6564212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ED3A22-6DF4-4BC2-8503-F400E041EAC8}"/>
              </a:ext>
            </a:extLst>
          </p:cNvPr>
          <p:cNvSpPr>
            <a:spLocks noGrp="1"/>
          </p:cNvSpPr>
          <p:nvPr>
            <p:ph type="title"/>
          </p:nvPr>
        </p:nvSpPr>
        <p:spPr/>
        <p:txBody>
          <a:bodyPr/>
          <a:lstStyle/>
          <a:p>
            <a:pPr algn="ctr"/>
            <a:r>
              <a:rPr lang="ru-RU" dirty="0">
                <a:solidFill>
                  <a:srgbClr val="00B050"/>
                </a:solidFill>
              </a:rPr>
              <a:t>Начало работы</a:t>
            </a:r>
          </a:p>
        </p:txBody>
      </p:sp>
      <p:sp>
        <p:nvSpPr>
          <p:cNvPr id="5" name="Объект 4">
            <a:extLst>
              <a:ext uri="{FF2B5EF4-FFF2-40B4-BE49-F238E27FC236}">
                <a16:creationId xmlns:a16="http://schemas.microsoft.com/office/drawing/2014/main" id="{3B58D3E1-AC52-4F8C-89D0-08F5276A3578}"/>
              </a:ext>
            </a:extLst>
          </p:cNvPr>
          <p:cNvSpPr>
            <a:spLocks noGrp="1"/>
          </p:cNvSpPr>
          <p:nvPr>
            <p:ph idx="1"/>
          </p:nvPr>
        </p:nvSpPr>
        <p:spPr/>
        <p:txBody>
          <a:bodyPr/>
          <a:lstStyle/>
          <a:p>
            <a:r>
              <a:rPr lang="ru-RU" dirty="0">
                <a:effectLst/>
                <a:latin typeface="Times New Roman" panose="02020603050405020304" pitchFamily="18" charset="0"/>
                <a:ea typeface="Times New Roman" panose="02020603050405020304" pitchFamily="18" charset="0"/>
              </a:rPr>
              <a:t>Затем необходимо вывести на экран окно с кодом программы, с помощью которой вы будете работать с формой и ее компонентами. Для этого следует нажать </a:t>
            </a:r>
            <a:r>
              <a:rPr lang="en-US" dirty="0">
                <a:effectLst/>
                <a:latin typeface="Times New Roman" panose="02020603050405020304" pitchFamily="18" charset="0"/>
                <a:ea typeface="Times New Roman" panose="02020603050405020304" pitchFamily="18" charset="0"/>
              </a:rPr>
              <a:t>F</a:t>
            </a:r>
            <a:r>
              <a:rPr lang="ru-RU" dirty="0">
                <a:effectLst/>
                <a:latin typeface="Times New Roman" panose="02020603050405020304" pitchFamily="18" charset="0"/>
                <a:ea typeface="Times New Roman" panose="02020603050405020304" pitchFamily="18" charset="0"/>
              </a:rPr>
              <a:t>7 или выбрать в пункте меню «Вид» подпункт «Код». В дальнейшем не раз придется между конструктором и кодом. Для этого ниже основного меню есть специальное подменю. В итоге откроется следующий код</a:t>
            </a:r>
            <a:r>
              <a:rPr lang="en-US" dirty="0">
                <a:effectLst/>
                <a:latin typeface="Times New Roman" panose="02020603050405020304" pitchFamily="18" charset="0"/>
                <a:ea typeface="Times New Roman" panose="02020603050405020304" pitchFamily="18" charset="0"/>
              </a:rPr>
              <a:t>:</a:t>
            </a:r>
            <a:endParaRPr lang="ru-RU" dirty="0">
              <a:effectLst/>
              <a:latin typeface="Times New Roman" panose="02020603050405020304" pitchFamily="18" charset="0"/>
              <a:ea typeface="Times New Roman" panose="02020603050405020304" pitchFamily="18" charset="0"/>
            </a:endParaRPr>
          </a:p>
          <a:p>
            <a:endParaRPr lang="ru-RU" dirty="0"/>
          </a:p>
        </p:txBody>
      </p:sp>
    </p:spTree>
    <p:extLst>
      <p:ext uri="{BB962C8B-B14F-4D97-AF65-F5344CB8AC3E}">
        <p14:creationId xmlns:p14="http://schemas.microsoft.com/office/powerpoint/2010/main" val="32168662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ED3A22-6DF4-4BC2-8503-F400E041EAC8}"/>
              </a:ext>
            </a:extLst>
          </p:cNvPr>
          <p:cNvSpPr>
            <a:spLocks noGrp="1"/>
          </p:cNvSpPr>
          <p:nvPr>
            <p:ph type="title"/>
          </p:nvPr>
        </p:nvSpPr>
        <p:spPr/>
        <p:txBody>
          <a:bodyPr/>
          <a:lstStyle/>
          <a:p>
            <a:pPr algn="ctr"/>
            <a:r>
              <a:rPr lang="ru-RU" dirty="0">
                <a:solidFill>
                  <a:srgbClr val="00B050"/>
                </a:solidFill>
              </a:rPr>
              <a:t>Начало работы</a:t>
            </a:r>
          </a:p>
        </p:txBody>
      </p:sp>
      <p:sp>
        <p:nvSpPr>
          <p:cNvPr id="5" name="Объект 4">
            <a:extLst>
              <a:ext uri="{FF2B5EF4-FFF2-40B4-BE49-F238E27FC236}">
                <a16:creationId xmlns:a16="http://schemas.microsoft.com/office/drawing/2014/main" id="{3B58D3E1-AC52-4F8C-89D0-08F5276A3578}"/>
              </a:ext>
            </a:extLst>
          </p:cNvPr>
          <p:cNvSpPr>
            <a:spLocks noGrp="1"/>
          </p:cNvSpPr>
          <p:nvPr>
            <p:ph idx="1"/>
          </p:nvPr>
        </p:nvSpPr>
        <p:spPr/>
        <p:txBody>
          <a:bodyPr>
            <a:normAutofit/>
          </a:bodyPr>
          <a:lstStyle/>
          <a:p>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using</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System;</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using</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System.Collections.Generic</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using</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System.ComponentModel</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using</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System.Data</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using</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System.Drawing</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using</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System.Linq</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using</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System.Text</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using</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System.Threading.Tasks</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using</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System.Windows.Forms</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endParaRPr lang="ru-RU" dirty="0"/>
          </a:p>
        </p:txBody>
      </p:sp>
    </p:spTree>
    <p:extLst>
      <p:ext uri="{BB962C8B-B14F-4D97-AF65-F5344CB8AC3E}">
        <p14:creationId xmlns:p14="http://schemas.microsoft.com/office/powerpoint/2010/main" val="15512904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ED3A22-6DF4-4BC2-8503-F400E041EAC8}"/>
              </a:ext>
            </a:extLst>
          </p:cNvPr>
          <p:cNvSpPr>
            <a:spLocks noGrp="1"/>
          </p:cNvSpPr>
          <p:nvPr>
            <p:ph type="title"/>
          </p:nvPr>
        </p:nvSpPr>
        <p:spPr/>
        <p:txBody>
          <a:bodyPr/>
          <a:lstStyle/>
          <a:p>
            <a:pPr algn="ctr"/>
            <a:r>
              <a:rPr lang="ru-RU" dirty="0">
                <a:solidFill>
                  <a:srgbClr val="00B050"/>
                </a:solidFill>
              </a:rPr>
              <a:t>Начало работы</a:t>
            </a:r>
          </a:p>
        </p:txBody>
      </p:sp>
      <p:sp>
        <p:nvSpPr>
          <p:cNvPr id="5" name="Объект 4">
            <a:extLst>
              <a:ext uri="{FF2B5EF4-FFF2-40B4-BE49-F238E27FC236}">
                <a16:creationId xmlns:a16="http://schemas.microsoft.com/office/drawing/2014/main" id="{3B58D3E1-AC52-4F8C-89D0-08F5276A3578}"/>
              </a:ext>
            </a:extLst>
          </p:cNvPr>
          <p:cNvSpPr>
            <a:spLocks noGrp="1"/>
          </p:cNvSpPr>
          <p:nvPr>
            <p:ph idx="1"/>
          </p:nvPr>
        </p:nvSpPr>
        <p:spPr/>
        <p:txBody>
          <a:bodyPr>
            <a:normAutofit/>
          </a:bodyPr>
          <a:lstStyle/>
          <a:p>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namespace</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First_form</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public</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partial</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class</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2B91AF"/>
                </a:solidFill>
                <a:effectLst/>
                <a:latin typeface="Consolas" panose="020B0609020204030204" pitchFamily="49" charset="0"/>
                <a:ea typeface="Calibri" panose="020F0502020204030204" pitchFamily="34" charset="0"/>
                <a:cs typeface="Consolas" panose="020B0609020204030204" pitchFamily="49" charset="0"/>
              </a:rPr>
              <a:t>Form1</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 Form</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ru-RU" sz="1800" dirty="0" err="1">
                <a:solidFill>
                  <a:srgbClr val="0000FF"/>
                </a:solidFill>
                <a:effectLst/>
                <a:latin typeface="Consolas" panose="020B0609020204030204" pitchFamily="49" charset="0"/>
                <a:ea typeface="Calibri" panose="020F0502020204030204" pitchFamily="34" charset="0"/>
                <a:cs typeface="Consolas" panose="020B0609020204030204" pitchFamily="49" charset="0"/>
              </a:rPr>
              <a:t>public</a:t>
            </a:r>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ru-RU" sz="1800" dirty="0">
                <a:solidFill>
                  <a:srgbClr val="2B91AF"/>
                </a:solidFill>
                <a:effectLst/>
                <a:latin typeface="Consolas" panose="020B0609020204030204" pitchFamily="49" charset="0"/>
                <a:ea typeface="Calibri" panose="020F0502020204030204" pitchFamily="34" charset="0"/>
                <a:cs typeface="Consolas" panose="020B0609020204030204" pitchFamily="49" charset="0"/>
              </a:rPr>
              <a:t>Form1</a:t>
            </a:r>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ru-RU"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InitializeComponent</a:t>
            </a:r>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pPr indent="450215" algn="just"/>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endParaRPr lang="ru-RU" dirty="0"/>
          </a:p>
        </p:txBody>
      </p:sp>
    </p:spTree>
    <p:extLst>
      <p:ext uri="{BB962C8B-B14F-4D97-AF65-F5344CB8AC3E}">
        <p14:creationId xmlns:p14="http://schemas.microsoft.com/office/powerpoint/2010/main" val="29810329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ED3A22-6DF4-4BC2-8503-F400E041EAC8}"/>
              </a:ext>
            </a:extLst>
          </p:cNvPr>
          <p:cNvSpPr>
            <a:spLocks noGrp="1"/>
          </p:cNvSpPr>
          <p:nvPr>
            <p:ph type="title"/>
          </p:nvPr>
        </p:nvSpPr>
        <p:spPr/>
        <p:txBody>
          <a:bodyPr/>
          <a:lstStyle/>
          <a:p>
            <a:pPr algn="ctr"/>
            <a:r>
              <a:rPr lang="ru-RU" dirty="0">
                <a:solidFill>
                  <a:srgbClr val="00B050"/>
                </a:solidFill>
              </a:rPr>
              <a:t>Начало работы</a:t>
            </a:r>
          </a:p>
        </p:txBody>
      </p:sp>
      <p:sp>
        <p:nvSpPr>
          <p:cNvPr id="5" name="Объект 4">
            <a:extLst>
              <a:ext uri="{FF2B5EF4-FFF2-40B4-BE49-F238E27FC236}">
                <a16:creationId xmlns:a16="http://schemas.microsoft.com/office/drawing/2014/main" id="{3B58D3E1-AC52-4F8C-89D0-08F5276A3578}"/>
              </a:ext>
            </a:extLst>
          </p:cNvPr>
          <p:cNvSpPr>
            <a:spLocks noGrp="1"/>
          </p:cNvSpPr>
          <p:nvPr>
            <p:ph idx="1"/>
          </p:nvPr>
        </p:nvSpPr>
        <p:spPr/>
        <p:txBody>
          <a:bodyPr>
            <a:normAutofit/>
          </a:bodyPr>
          <a:lstStyle/>
          <a:p>
            <a:r>
              <a:rPr lang="ru-RU" dirty="0">
                <a:effectLst/>
                <a:latin typeface="Times New Roman" panose="02020603050405020304" pitchFamily="18" charset="0"/>
                <a:ea typeface="Times New Roman" panose="02020603050405020304" pitchFamily="18" charset="0"/>
              </a:rPr>
              <a:t>Команды, использующие слово </a:t>
            </a:r>
            <a:r>
              <a:rPr lang="en-US" dirty="0">
                <a:effectLst/>
                <a:latin typeface="Times New Roman" panose="02020603050405020304" pitchFamily="18" charset="0"/>
                <a:ea typeface="Times New Roman" panose="02020603050405020304" pitchFamily="18" charset="0"/>
              </a:rPr>
              <a:t>using</a:t>
            </a:r>
            <a:r>
              <a:rPr lang="ru-RU" dirty="0">
                <a:effectLst/>
                <a:latin typeface="Times New Roman" panose="02020603050405020304" pitchFamily="18" charset="0"/>
                <a:ea typeface="Times New Roman" panose="02020603050405020304" pitchFamily="18" charset="0"/>
              </a:rPr>
              <a:t>, подключают к программе необходимые для ее работы пространства имен. Далее объявляется класс </a:t>
            </a:r>
            <a:r>
              <a:rPr lang="en-US" dirty="0">
                <a:effectLst/>
                <a:latin typeface="Times New Roman" panose="02020603050405020304" pitchFamily="18" charset="0"/>
                <a:ea typeface="Times New Roman" panose="02020603050405020304" pitchFamily="18" charset="0"/>
              </a:rPr>
              <a:t>Form</a:t>
            </a:r>
            <a:r>
              <a:rPr lang="ru-RU" dirty="0">
                <a:effectLst/>
                <a:latin typeface="Times New Roman" panose="02020603050405020304" pitchFamily="18" charset="0"/>
                <a:ea typeface="Times New Roman" panose="02020603050405020304" pitchFamily="18" charset="0"/>
              </a:rPr>
              <a:t>1 как наследник класса </a:t>
            </a:r>
            <a:r>
              <a:rPr lang="en-US" dirty="0">
                <a:effectLst/>
                <a:latin typeface="Times New Roman" panose="02020603050405020304" pitchFamily="18" charset="0"/>
                <a:ea typeface="Times New Roman" panose="02020603050405020304" pitchFamily="18" charset="0"/>
              </a:rPr>
              <a:t>Form</a:t>
            </a:r>
            <a:r>
              <a:rPr lang="ru-RU" dirty="0">
                <a:effectLst/>
                <a:latin typeface="Times New Roman" panose="02020603050405020304" pitchFamily="18" charset="0"/>
                <a:ea typeface="Times New Roman" panose="02020603050405020304" pitchFamily="18" charset="0"/>
              </a:rPr>
              <a:t>. </a:t>
            </a:r>
            <a:r>
              <a:rPr lang="ru-RU" dirty="0">
                <a:solidFill>
                  <a:srgbClr val="000000"/>
                </a:solidFill>
                <a:effectLst/>
                <a:latin typeface="Times New Roman" panose="02020603050405020304" pitchFamily="18" charset="0"/>
                <a:ea typeface="Times New Roman" panose="02020603050405020304" pitchFamily="18" charset="0"/>
              </a:rPr>
              <a:t>Ключевое слово «</a:t>
            </a:r>
            <a:r>
              <a:rPr lang="ru-RU" dirty="0" err="1">
                <a:solidFill>
                  <a:srgbClr val="000000"/>
                </a:solidFill>
                <a:effectLst/>
                <a:latin typeface="Times New Roman" panose="02020603050405020304" pitchFamily="18" charset="0"/>
                <a:ea typeface="Times New Roman" panose="02020603050405020304" pitchFamily="18" charset="0"/>
              </a:rPr>
              <a:t>partial</a:t>
            </a:r>
            <a:r>
              <a:rPr lang="ru-RU" dirty="0">
                <a:solidFill>
                  <a:srgbClr val="000000"/>
                </a:solidFill>
                <a:effectLst/>
                <a:latin typeface="Times New Roman" panose="02020603050405020304" pitchFamily="18" charset="0"/>
                <a:ea typeface="Times New Roman" panose="02020603050405020304" pitchFamily="18" charset="0"/>
              </a:rPr>
              <a:t>» позволяет определению класса, структуры или интерфейса быть распределенным по нескольким файлам. Метод </a:t>
            </a:r>
            <a:r>
              <a:rPr lang="ru-RU" i="1" dirty="0" err="1">
                <a:solidFill>
                  <a:srgbClr val="000000"/>
                </a:solidFill>
                <a:effectLst/>
                <a:latin typeface="Times New Roman" panose="02020603050405020304" pitchFamily="18" charset="0"/>
                <a:ea typeface="Times New Roman" panose="02020603050405020304" pitchFamily="18" charset="0"/>
              </a:rPr>
              <a:t>InitializeComponent</a:t>
            </a:r>
            <a:r>
              <a:rPr lang="ru-RU" dirty="0">
                <a:solidFill>
                  <a:srgbClr val="000000"/>
                </a:solidFill>
                <a:effectLst/>
                <a:latin typeface="Times New Roman" panose="02020603050405020304" pitchFamily="18" charset="0"/>
                <a:ea typeface="Times New Roman" panose="02020603050405020304" pitchFamily="18" charset="0"/>
              </a:rPr>
              <a:t> позволяет инициализировать компоненты (элементы управления), которые будут помещены в форму</a:t>
            </a:r>
            <a:endParaRPr lang="ru-RU" dirty="0"/>
          </a:p>
        </p:txBody>
      </p:sp>
    </p:spTree>
    <p:extLst>
      <p:ext uri="{BB962C8B-B14F-4D97-AF65-F5344CB8AC3E}">
        <p14:creationId xmlns:p14="http://schemas.microsoft.com/office/powerpoint/2010/main" val="13628471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ED3A22-6DF4-4BC2-8503-F400E041EAC8}"/>
              </a:ext>
            </a:extLst>
          </p:cNvPr>
          <p:cNvSpPr>
            <a:spLocks noGrp="1"/>
          </p:cNvSpPr>
          <p:nvPr>
            <p:ph type="title"/>
          </p:nvPr>
        </p:nvSpPr>
        <p:spPr/>
        <p:txBody>
          <a:bodyPr/>
          <a:lstStyle/>
          <a:p>
            <a:pPr algn="ctr"/>
            <a:r>
              <a:rPr lang="ru-RU" dirty="0">
                <a:solidFill>
                  <a:srgbClr val="00B050"/>
                </a:solidFill>
              </a:rPr>
              <a:t>Начало работы</a:t>
            </a:r>
          </a:p>
        </p:txBody>
      </p:sp>
      <p:sp>
        <p:nvSpPr>
          <p:cNvPr id="5" name="Объект 4">
            <a:extLst>
              <a:ext uri="{FF2B5EF4-FFF2-40B4-BE49-F238E27FC236}">
                <a16:creationId xmlns:a16="http://schemas.microsoft.com/office/drawing/2014/main" id="{3B58D3E1-AC52-4F8C-89D0-08F5276A3578}"/>
              </a:ext>
            </a:extLst>
          </p:cNvPr>
          <p:cNvSpPr>
            <a:spLocks noGrp="1"/>
          </p:cNvSpPr>
          <p:nvPr>
            <p:ph idx="1"/>
          </p:nvPr>
        </p:nvSpPr>
        <p:spPr/>
        <p:txBody>
          <a:bodyPr>
            <a:normAutofit/>
          </a:bodyPr>
          <a:lstStyle/>
          <a:p>
            <a:r>
              <a:rPr lang="ru-RU" sz="1800" dirty="0">
                <a:effectLst/>
                <a:latin typeface="Times New Roman" panose="02020603050405020304" pitchFamily="18" charset="0"/>
                <a:ea typeface="Times New Roman" panose="02020603050405020304" pitchFamily="18" charset="0"/>
              </a:rPr>
              <a:t>Вернемся в конструктор формы. В правом верхнем углу окна проекта мы видим обозреватель решений В нем можно видеть все формы, входящие в сборку(решение), просматривать их, переключаться между ними.</a:t>
            </a:r>
          </a:p>
          <a:p>
            <a:endParaRPr lang="ru-RU" dirty="0"/>
          </a:p>
        </p:txBody>
      </p:sp>
      <p:pic>
        <p:nvPicPr>
          <p:cNvPr id="4" name="Рисунок 3">
            <a:extLst>
              <a:ext uri="{FF2B5EF4-FFF2-40B4-BE49-F238E27FC236}">
                <a16:creationId xmlns:a16="http://schemas.microsoft.com/office/drawing/2014/main" id="{3E679EF9-3F5E-4476-AACE-91C48FD4F2A0}"/>
              </a:ext>
            </a:extLst>
          </p:cNvPr>
          <p:cNvPicPr/>
          <p:nvPr/>
        </p:nvPicPr>
        <p:blipFill>
          <a:blip r:embed="rId2">
            <a:extLst>
              <a:ext uri="{28A0092B-C50C-407E-A947-70E740481C1C}">
                <a14:useLocalDpi xmlns:a14="http://schemas.microsoft.com/office/drawing/2010/main" val="0"/>
              </a:ext>
            </a:extLst>
          </a:blip>
          <a:stretch>
            <a:fillRect/>
          </a:stretch>
        </p:blipFill>
        <p:spPr>
          <a:xfrm>
            <a:off x="4630723" y="2878454"/>
            <a:ext cx="2827090" cy="2708613"/>
          </a:xfrm>
          <a:prstGeom prst="rect">
            <a:avLst/>
          </a:prstGeom>
        </p:spPr>
      </p:pic>
    </p:spTree>
    <p:extLst>
      <p:ext uri="{BB962C8B-B14F-4D97-AF65-F5344CB8AC3E}">
        <p14:creationId xmlns:p14="http://schemas.microsoft.com/office/powerpoint/2010/main" val="39736080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ED3A22-6DF4-4BC2-8503-F400E041EAC8}"/>
              </a:ext>
            </a:extLst>
          </p:cNvPr>
          <p:cNvSpPr>
            <a:spLocks noGrp="1"/>
          </p:cNvSpPr>
          <p:nvPr>
            <p:ph type="title"/>
          </p:nvPr>
        </p:nvSpPr>
        <p:spPr/>
        <p:txBody>
          <a:bodyPr/>
          <a:lstStyle/>
          <a:p>
            <a:pPr algn="ctr"/>
            <a:r>
              <a:rPr lang="ru-RU" dirty="0">
                <a:solidFill>
                  <a:srgbClr val="00B050"/>
                </a:solidFill>
              </a:rPr>
              <a:t>Начало работы</a:t>
            </a:r>
          </a:p>
        </p:txBody>
      </p:sp>
      <p:sp>
        <p:nvSpPr>
          <p:cNvPr id="5" name="Объект 4">
            <a:extLst>
              <a:ext uri="{FF2B5EF4-FFF2-40B4-BE49-F238E27FC236}">
                <a16:creationId xmlns:a16="http://schemas.microsoft.com/office/drawing/2014/main" id="{3B58D3E1-AC52-4F8C-89D0-08F5276A3578}"/>
              </a:ext>
            </a:extLst>
          </p:cNvPr>
          <p:cNvSpPr>
            <a:spLocks noGrp="1"/>
          </p:cNvSpPr>
          <p:nvPr>
            <p:ph idx="1"/>
          </p:nvPr>
        </p:nvSpPr>
        <p:spPr/>
        <p:txBody>
          <a:bodyPr>
            <a:normAutofit/>
          </a:bodyPr>
          <a:lstStyle/>
          <a:p>
            <a:r>
              <a:rPr lang="ru-RU" sz="1800" dirty="0">
                <a:effectLst/>
                <a:latin typeface="Times New Roman" panose="02020603050405020304" pitchFamily="18" charset="0"/>
                <a:ea typeface="Times New Roman" panose="02020603050405020304" pitchFamily="18" charset="0"/>
              </a:rPr>
              <a:t>В правом нижнем углу находится окно свойств и методов формы. Там же будут отображаться свойства и методы компонента (кнопки, надписи и т.д.), с которым вы в настоящий момент работаете </a:t>
            </a:r>
          </a:p>
          <a:p>
            <a:endParaRPr lang="ru-RU" dirty="0"/>
          </a:p>
        </p:txBody>
      </p:sp>
      <p:pic>
        <p:nvPicPr>
          <p:cNvPr id="6" name="Рисунок 5">
            <a:extLst>
              <a:ext uri="{FF2B5EF4-FFF2-40B4-BE49-F238E27FC236}">
                <a16:creationId xmlns:a16="http://schemas.microsoft.com/office/drawing/2014/main" id="{02D28927-5413-4776-974C-CB2BFE4A1914}"/>
              </a:ext>
            </a:extLst>
          </p:cNvPr>
          <p:cNvPicPr/>
          <p:nvPr/>
        </p:nvPicPr>
        <p:blipFill>
          <a:blip r:embed="rId2">
            <a:extLst>
              <a:ext uri="{28A0092B-C50C-407E-A947-70E740481C1C}">
                <a14:useLocalDpi xmlns:a14="http://schemas.microsoft.com/office/drawing/2010/main" val="0"/>
              </a:ext>
            </a:extLst>
          </a:blip>
          <a:stretch>
            <a:fillRect/>
          </a:stretch>
        </p:blipFill>
        <p:spPr>
          <a:xfrm>
            <a:off x="4152550" y="2647044"/>
            <a:ext cx="3132487" cy="3359473"/>
          </a:xfrm>
          <a:prstGeom prst="rect">
            <a:avLst/>
          </a:prstGeom>
        </p:spPr>
      </p:pic>
    </p:spTree>
    <p:extLst>
      <p:ext uri="{BB962C8B-B14F-4D97-AF65-F5344CB8AC3E}">
        <p14:creationId xmlns:p14="http://schemas.microsoft.com/office/powerpoint/2010/main" val="6435671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ED3A22-6DF4-4BC2-8503-F400E041EAC8}"/>
              </a:ext>
            </a:extLst>
          </p:cNvPr>
          <p:cNvSpPr>
            <a:spLocks noGrp="1"/>
          </p:cNvSpPr>
          <p:nvPr>
            <p:ph type="title"/>
          </p:nvPr>
        </p:nvSpPr>
        <p:spPr/>
        <p:txBody>
          <a:bodyPr/>
          <a:lstStyle/>
          <a:p>
            <a:pPr algn="ctr"/>
            <a:r>
              <a:rPr lang="ru-RU" dirty="0">
                <a:solidFill>
                  <a:srgbClr val="00B050"/>
                </a:solidFill>
              </a:rPr>
              <a:t>Начало работы</a:t>
            </a:r>
          </a:p>
        </p:txBody>
      </p:sp>
      <p:sp>
        <p:nvSpPr>
          <p:cNvPr id="5" name="Объект 4">
            <a:extLst>
              <a:ext uri="{FF2B5EF4-FFF2-40B4-BE49-F238E27FC236}">
                <a16:creationId xmlns:a16="http://schemas.microsoft.com/office/drawing/2014/main" id="{3B58D3E1-AC52-4F8C-89D0-08F5276A3578}"/>
              </a:ext>
            </a:extLst>
          </p:cNvPr>
          <p:cNvSpPr>
            <a:spLocks noGrp="1"/>
          </p:cNvSpPr>
          <p:nvPr>
            <p:ph idx="1"/>
          </p:nvPr>
        </p:nvSpPr>
        <p:spPr/>
        <p:txBody>
          <a:bodyPr>
            <a:normAutofit/>
          </a:bodyPr>
          <a:lstStyle/>
          <a:p>
            <a:r>
              <a:rPr lang="ru-RU" sz="1800" dirty="0">
                <a:effectLst/>
                <a:latin typeface="Times New Roman" panose="02020603050405020304" pitchFamily="18" charset="0"/>
                <a:ea typeface="Times New Roman" panose="02020603050405020304" pitchFamily="18" charset="0"/>
              </a:rPr>
              <a:t>Выполним нашу первую программу. Для этого нужно нажать </a:t>
            </a:r>
            <a:r>
              <a:rPr lang="en-US" sz="1800" dirty="0">
                <a:effectLst/>
                <a:latin typeface="Times New Roman" panose="02020603050405020304" pitchFamily="18" charset="0"/>
                <a:ea typeface="Times New Roman" panose="02020603050405020304" pitchFamily="18" charset="0"/>
              </a:rPr>
              <a:t>F</a:t>
            </a:r>
            <a:r>
              <a:rPr lang="ru-RU" sz="1800" dirty="0">
                <a:effectLst/>
                <a:latin typeface="Times New Roman" panose="02020603050405020304" pitchFamily="18" charset="0"/>
                <a:ea typeface="Times New Roman" panose="02020603050405020304" pitchFamily="18" charset="0"/>
              </a:rPr>
              <a:t>5 или нажать мышью на зеленую стрелку «Пуск». И мы увидим форму (окно) – наше первое </a:t>
            </a:r>
            <a:r>
              <a:rPr lang="en-US" sz="1800" dirty="0">
                <a:effectLst/>
                <a:latin typeface="Times New Roman" panose="02020603050405020304" pitchFamily="18" charset="0"/>
                <a:ea typeface="Times New Roman" panose="02020603050405020304" pitchFamily="18" charset="0"/>
              </a:rPr>
              <a:t>Windows </a:t>
            </a:r>
            <a:r>
              <a:rPr lang="ru-RU" sz="1800" dirty="0">
                <a:effectLst/>
                <a:latin typeface="Times New Roman" panose="02020603050405020304" pitchFamily="18" charset="0"/>
                <a:ea typeface="Times New Roman" panose="02020603050405020304" pitchFamily="18" charset="0"/>
              </a:rPr>
              <a:t>приложение</a:t>
            </a:r>
          </a:p>
          <a:p>
            <a:endParaRPr lang="ru-RU" dirty="0"/>
          </a:p>
        </p:txBody>
      </p:sp>
      <p:pic>
        <p:nvPicPr>
          <p:cNvPr id="7" name="Рисунок 6">
            <a:extLst>
              <a:ext uri="{FF2B5EF4-FFF2-40B4-BE49-F238E27FC236}">
                <a16:creationId xmlns:a16="http://schemas.microsoft.com/office/drawing/2014/main" id="{6C2423B0-8558-45DE-BEA3-ECF9E110C0DC}"/>
              </a:ext>
            </a:extLst>
          </p:cNvPr>
          <p:cNvPicPr/>
          <p:nvPr/>
        </p:nvPicPr>
        <p:blipFill>
          <a:blip r:embed="rId2"/>
          <a:stretch>
            <a:fillRect/>
          </a:stretch>
        </p:blipFill>
        <p:spPr>
          <a:xfrm>
            <a:off x="3598877" y="3003272"/>
            <a:ext cx="4432099" cy="3241516"/>
          </a:xfrm>
          <a:prstGeom prst="rect">
            <a:avLst/>
          </a:prstGeom>
        </p:spPr>
      </p:pic>
    </p:spTree>
    <p:extLst>
      <p:ext uri="{BB962C8B-B14F-4D97-AF65-F5344CB8AC3E}">
        <p14:creationId xmlns:p14="http://schemas.microsoft.com/office/powerpoint/2010/main" val="27751714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ED3A22-6DF4-4BC2-8503-F400E041EAC8}"/>
              </a:ext>
            </a:extLst>
          </p:cNvPr>
          <p:cNvSpPr>
            <a:spLocks noGrp="1"/>
          </p:cNvSpPr>
          <p:nvPr>
            <p:ph type="title"/>
          </p:nvPr>
        </p:nvSpPr>
        <p:spPr/>
        <p:txBody>
          <a:bodyPr/>
          <a:lstStyle/>
          <a:p>
            <a:pPr algn="ctr"/>
            <a:r>
              <a:rPr lang="ru-RU" dirty="0">
                <a:solidFill>
                  <a:srgbClr val="00B050"/>
                </a:solidFill>
              </a:rPr>
              <a:t>Начало работы</a:t>
            </a:r>
          </a:p>
        </p:txBody>
      </p:sp>
      <p:graphicFrame>
        <p:nvGraphicFramePr>
          <p:cNvPr id="3" name="Объект 2">
            <a:extLst>
              <a:ext uri="{FF2B5EF4-FFF2-40B4-BE49-F238E27FC236}">
                <a16:creationId xmlns:a16="http://schemas.microsoft.com/office/drawing/2014/main" id="{31093789-E832-40CD-AE2E-43E309295385}"/>
              </a:ext>
            </a:extLst>
          </p:cNvPr>
          <p:cNvGraphicFramePr>
            <a:graphicFrameLocks noGrp="1"/>
          </p:cNvGraphicFramePr>
          <p:nvPr>
            <p:ph idx="1"/>
            <p:extLst>
              <p:ext uri="{D42A27DB-BD31-4B8C-83A1-F6EECF244321}">
                <p14:modId xmlns:p14="http://schemas.microsoft.com/office/powerpoint/2010/main" val="1455112766"/>
              </p:ext>
            </p:extLst>
          </p:nvPr>
        </p:nvGraphicFramePr>
        <p:xfrm>
          <a:off x="2842886" y="2794875"/>
          <a:ext cx="6506227" cy="2439855"/>
        </p:xfrm>
        <a:graphic>
          <a:graphicData uri="http://schemas.openxmlformats.org/drawingml/2006/table">
            <a:tbl>
              <a:tblPr firstRow="1" firstCol="1" bandRow="1">
                <a:tableStyleId>{5C22544A-7EE6-4342-B048-85BDC9FD1C3A}</a:tableStyleId>
              </a:tblPr>
              <a:tblGrid>
                <a:gridCol w="1403788">
                  <a:extLst>
                    <a:ext uri="{9D8B030D-6E8A-4147-A177-3AD203B41FA5}">
                      <a16:colId xmlns:a16="http://schemas.microsoft.com/office/drawing/2014/main" val="3110180771"/>
                    </a:ext>
                  </a:extLst>
                </a:gridCol>
                <a:gridCol w="5102439">
                  <a:extLst>
                    <a:ext uri="{9D8B030D-6E8A-4147-A177-3AD203B41FA5}">
                      <a16:colId xmlns:a16="http://schemas.microsoft.com/office/drawing/2014/main" val="2904356200"/>
                    </a:ext>
                  </a:extLst>
                </a:gridCol>
              </a:tblGrid>
              <a:tr h="321151">
                <a:tc>
                  <a:txBody>
                    <a:bodyPr/>
                    <a:lstStyle/>
                    <a:p>
                      <a:pPr algn="ctr"/>
                      <a:r>
                        <a:rPr lang="ru-RU" sz="1200">
                          <a:effectLst/>
                        </a:rPr>
                        <a:t>Свойство</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ru-RU" sz="1200">
                          <a:effectLst/>
                        </a:rPr>
                        <a:t>Описание</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809158701"/>
                  </a:ext>
                </a:extLst>
              </a:tr>
              <a:tr h="642302">
                <a:tc>
                  <a:txBody>
                    <a:bodyPr/>
                    <a:lstStyle/>
                    <a:p>
                      <a:pPr algn="just"/>
                      <a:r>
                        <a:rPr lang="en-US" sz="1200">
                          <a:effectLst/>
                        </a:rPr>
                        <a:t>Name</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ru-RU" sz="1200">
                          <a:effectLst/>
                        </a:rPr>
                        <a:t>имя формы, как объекта класса, позволяет ссылаться на форму в программе</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669887881"/>
                  </a:ext>
                </a:extLst>
              </a:tr>
              <a:tr h="321151">
                <a:tc>
                  <a:txBody>
                    <a:bodyPr/>
                    <a:lstStyle/>
                    <a:p>
                      <a:pPr algn="just"/>
                      <a:r>
                        <a:rPr lang="en-US" sz="1200">
                          <a:effectLst/>
                        </a:rPr>
                        <a:t>Text</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ru-RU" sz="1200">
                          <a:effectLst/>
                        </a:rPr>
                        <a:t>задает заголовок окна формы</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610611790"/>
                  </a:ext>
                </a:extLst>
              </a:tr>
              <a:tr h="321151">
                <a:tc>
                  <a:txBody>
                    <a:bodyPr/>
                    <a:lstStyle/>
                    <a:p>
                      <a:pPr algn="just"/>
                      <a:r>
                        <a:rPr lang="en-US" sz="1200">
                          <a:effectLst/>
                        </a:rPr>
                        <a:t>BackColor</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ru-RU" sz="1200">
                          <a:effectLst/>
                        </a:rPr>
                        <a:t>задает цвет фона</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69780448"/>
                  </a:ext>
                </a:extLst>
              </a:tr>
              <a:tr h="321151">
                <a:tc>
                  <a:txBody>
                    <a:bodyPr/>
                    <a:lstStyle/>
                    <a:p>
                      <a:pPr algn="just"/>
                      <a:r>
                        <a:rPr lang="en-US" sz="1200">
                          <a:effectLst/>
                        </a:rPr>
                        <a:t>StartPosition</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ru-RU" sz="1200">
                          <a:effectLst/>
                        </a:rPr>
                        <a:t>задает стартовую позицию окна</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755564247"/>
                  </a:ext>
                </a:extLst>
              </a:tr>
              <a:tr h="512949">
                <a:tc>
                  <a:txBody>
                    <a:bodyPr/>
                    <a:lstStyle/>
                    <a:p>
                      <a:pPr algn="just"/>
                      <a:r>
                        <a:rPr lang="en-US" sz="1200">
                          <a:effectLst/>
                        </a:rPr>
                        <a:t>Size</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ru-RU" sz="1200" dirty="0">
                          <a:effectLst/>
                        </a:rPr>
                        <a:t>задает размер окна</a:t>
                      </a:r>
                      <a:endParaRPr lang="ru-RU"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96404805"/>
                  </a:ext>
                </a:extLst>
              </a:tr>
            </a:tbl>
          </a:graphicData>
        </a:graphic>
      </p:graphicFrame>
    </p:spTree>
    <p:extLst>
      <p:ext uri="{BB962C8B-B14F-4D97-AF65-F5344CB8AC3E}">
        <p14:creationId xmlns:p14="http://schemas.microsoft.com/office/powerpoint/2010/main" val="34812521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ED3A22-6DF4-4BC2-8503-F400E041EAC8}"/>
              </a:ext>
            </a:extLst>
          </p:cNvPr>
          <p:cNvSpPr>
            <a:spLocks noGrp="1"/>
          </p:cNvSpPr>
          <p:nvPr>
            <p:ph type="title"/>
          </p:nvPr>
        </p:nvSpPr>
        <p:spPr/>
        <p:txBody>
          <a:bodyPr/>
          <a:lstStyle/>
          <a:p>
            <a:pPr algn="ctr"/>
            <a:r>
              <a:rPr lang="ru-RU" dirty="0">
                <a:solidFill>
                  <a:srgbClr val="00B050"/>
                </a:solidFill>
              </a:rPr>
              <a:t>Начало работы</a:t>
            </a:r>
          </a:p>
        </p:txBody>
      </p:sp>
      <p:sp>
        <p:nvSpPr>
          <p:cNvPr id="5" name="Объект 4">
            <a:extLst>
              <a:ext uri="{FF2B5EF4-FFF2-40B4-BE49-F238E27FC236}">
                <a16:creationId xmlns:a16="http://schemas.microsoft.com/office/drawing/2014/main" id="{58D1561F-2FBB-4AA8-A141-A29CBB6ACFD6}"/>
              </a:ext>
            </a:extLst>
          </p:cNvPr>
          <p:cNvSpPr>
            <a:spLocks noGrp="1"/>
          </p:cNvSpPr>
          <p:nvPr>
            <p:ph idx="1"/>
          </p:nvPr>
        </p:nvSpPr>
        <p:spPr/>
        <p:txBody>
          <a:bodyPr/>
          <a:lstStyle/>
          <a:p>
            <a:r>
              <a:rPr lang="ru-RU" sz="1800" dirty="0">
                <a:effectLst/>
                <a:latin typeface="Times New Roman" panose="02020603050405020304" pitchFamily="18" charset="0"/>
                <a:ea typeface="Times New Roman" panose="02020603050405020304" pitchFamily="18" charset="0"/>
              </a:rPr>
              <a:t>С помощью окна свойств зададим заголовок и цвет фона нашего окна. </a:t>
            </a:r>
          </a:p>
          <a:p>
            <a:endParaRPr lang="ru-RU" dirty="0"/>
          </a:p>
        </p:txBody>
      </p:sp>
      <p:pic>
        <p:nvPicPr>
          <p:cNvPr id="6" name="Рисунок 5">
            <a:extLst>
              <a:ext uri="{FF2B5EF4-FFF2-40B4-BE49-F238E27FC236}">
                <a16:creationId xmlns:a16="http://schemas.microsoft.com/office/drawing/2014/main" id="{60BE9A95-AF5F-49EF-B13D-3EB4BD3A7F13}"/>
              </a:ext>
            </a:extLst>
          </p:cNvPr>
          <p:cNvPicPr/>
          <p:nvPr/>
        </p:nvPicPr>
        <p:blipFill>
          <a:blip r:embed="rId2"/>
          <a:stretch>
            <a:fillRect/>
          </a:stretch>
        </p:blipFill>
        <p:spPr>
          <a:xfrm>
            <a:off x="4228052" y="2501999"/>
            <a:ext cx="4495703" cy="3487740"/>
          </a:xfrm>
          <a:prstGeom prst="rect">
            <a:avLst/>
          </a:prstGeom>
        </p:spPr>
      </p:pic>
    </p:spTree>
    <p:extLst>
      <p:ext uri="{BB962C8B-B14F-4D97-AF65-F5344CB8AC3E}">
        <p14:creationId xmlns:p14="http://schemas.microsoft.com/office/powerpoint/2010/main" val="22151024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ED3A22-6DF4-4BC2-8503-F400E041EAC8}"/>
              </a:ext>
            </a:extLst>
          </p:cNvPr>
          <p:cNvSpPr>
            <a:spLocks noGrp="1"/>
          </p:cNvSpPr>
          <p:nvPr>
            <p:ph type="title"/>
          </p:nvPr>
        </p:nvSpPr>
        <p:spPr/>
        <p:txBody>
          <a:bodyPr/>
          <a:lstStyle/>
          <a:p>
            <a:pPr algn="ctr"/>
            <a:r>
              <a:rPr lang="ru-RU" dirty="0">
                <a:solidFill>
                  <a:srgbClr val="00B050"/>
                </a:solidFill>
              </a:rPr>
              <a:t>Начало работы</a:t>
            </a:r>
          </a:p>
        </p:txBody>
      </p:sp>
      <p:sp>
        <p:nvSpPr>
          <p:cNvPr id="5" name="Объект 4">
            <a:extLst>
              <a:ext uri="{FF2B5EF4-FFF2-40B4-BE49-F238E27FC236}">
                <a16:creationId xmlns:a16="http://schemas.microsoft.com/office/drawing/2014/main" id="{58D1561F-2FBB-4AA8-A141-A29CBB6ACFD6}"/>
              </a:ext>
            </a:extLst>
          </p:cNvPr>
          <p:cNvSpPr>
            <a:spLocks noGrp="1"/>
          </p:cNvSpPr>
          <p:nvPr>
            <p:ph idx="1"/>
          </p:nvPr>
        </p:nvSpPr>
        <p:spPr/>
        <p:txBody>
          <a:bodyPr>
            <a:normAutofit/>
          </a:bodyPr>
          <a:lstStyle/>
          <a:p>
            <a:pPr indent="450215" algn="just"/>
            <a:r>
              <a:rPr lang="ru-RU" dirty="0">
                <a:effectLst/>
                <a:latin typeface="Times New Roman" panose="02020603050405020304" pitchFamily="18" charset="0"/>
                <a:ea typeface="Times New Roman" panose="02020603050405020304" pitchFamily="18" charset="0"/>
              </a:rPr>
              <a:t>К настоящему моменту в нашем окне ничего нет. Пришло время познакомиться с элементами управления формы. Другие их название – виджеты или компоненты формы.</a:t>
            </a:r>
          </a:p>
          <a:p>
            <a:r>
              <a:rPr lang="ru-RU" dirty="0">
                <a:effectLst/>
                <a:latin typeface="Times New Roman" panose="02020603050405020304" pitchFamily="18" charset="0"/>
                <a:ea typeface="Times New Roman" panose="02020603050405020304" pitchFamily="18" charset="0"/>
              </a:rPr>
              <a:t>Более подробно с началом работы в </a:t>
            </a:r>
            <a:r>
              <a:rPr lang="en-US" dirty="0">
                <a:effectLst/>
                <a:latin typeface="Times New Roman" panose="02020603050405020304" pitchFamily="18" charset="0"/>
                <a:ea typeface="Times New Roman" panose="02020603050405020304" pitchFamily="18" charset="0"/>
              </a:rPr>
              <a:t>Windows Forms </a:t>
            </a:r>
            <a:r>
              <a:rPr lang="ru-RU" dirty="0">
                <a:effectLst/>
                <a:latin typeface="Times New Roman" panose="02020603050405020304" pitchFamily="18" charset="0"/>
                <a:ea typeface="Times New Roman" panose="02020603050405020304" pitchFamily="18" charset="0"/>
              </a:rPr>
              <a:t>можно познакомиться в документации </a:t>
            </a:r>
            <a:r>
              <a:rPr lang="en-US" dirty="0">
                <a:effectLst/>
                <a:latin typeface="Times New Roman" panose="02020603050405020304" pitchFamily="18" charset="0"/>
                <a:ea typeface="Times New Roman" panose="02020603050405020304" pitchFamily="18" charset="0"/>
              </a:rPr>
              <a:t>Microsoft </a:t>
            </a:r>
            <a:endParaRPr lang="ru-RU" dirty="0"/>
          </a:p>
        </p:txBody>
      </p:sp>
    </p:spTree>
    <p:extLst>
      <p:ext uri="{BB962C8B-B14F-4D97-AF65-F5344CB8AC3E}">
        <p14:creationId xmlns:p14="http://schemas.microsoft.com/office/powerpoint/2010/main" val="974629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ED3A22-6DF4-4BC2-8503-F400E041EAC8}"/>
              </a:ext>
            </a:extLst>
          </p:cNvPr>
          <p:cNvSpPr>
            <a:spLocks noGrp="1"/>
          </p:cNvSpPr>
          <p:nvPr>
            <p:ph type="title"/>
          </p:nvPr>
        </p:nvSpPr>
        <p:spPr/>
        <p:txBody>
          <a:bodyPr/>
          <a:lstStyle/>
          <a:p>
            <a:pPr algn="ctr"/>
            <a:r>
              <a:rPr lang="ru-RU" dirty="0">
                <a:solidFill>
                  <a:srgbClr val="7030A0"/>
                </a:solidFill>
              </a:rPr>
              <a:t>Элементы управления формы</a:t>
            </a:r>
          </a:p>
        </p:txBody>
      </p:sp>
      <p:sp>
        <p:nvSpPr>
          <p:cNvPr id="5" name="Объект 4">
            <a:extLst>
              <a:ext uri="{FF2B5EF4-FFF2-40B4-BE49-F238E27FC236}">
                <a16:creationId xmlns:a16="http://schemas.microsoft.com/office/drawing/2014/main" id="{58D1561F-2FBB-4AA8-A141-A29CBB6ACFD6}"/>
              </a:ext>
            </a:extLst>
          </p:cNvPr>
          <p:cNvSpPr>
            <a:spLocks noGrp="1"/>
          </p:cNvSpPr>
          <p:nvPr>
            <p:ph idx="1"/>
          </p:nvPr>
        </p:nvSpPr>
        <p:spPr/>
        <p:txBody>
          <a:bodyPr>
            <a:normAutofit/>
          </a:bodyPr>
          <a:lstStyle/>
          <a:p>
            <a:pPr indent="450215" algn="just"/>
            <a:r>
              <a:rPr lang="ru-RU" sz="3200" dirty="0">
                <a:effectLst/>
                <a:latin typeface="Times New Roman" panose="02020603050405020304" pitchFamily="18" charset="0"/>
                <a:ea typeface="Times New Roman" panose="02020603050405020304" pitchFamily="18" charset="0"/>
              </a:rPr>
              <a:t>В данном разделе мы познакомимся с основными элементами управления форм: кнопками, флажками, меню, списками и т.д. Элементы управления формы могут быть как визуальными, т.е. видимыми, так и не визуальными, т.е. видимыми только на этапе проектирования приложения</a:t>
            </a:r>
            <a:r>
              <a:rPr lang="ru-RU" sz="1800" dirty="0">
                <a:effectLst/>
                <a:latin typeface="Times New Roman" panose="02020603050405020304" pitchFamily="18" charset="0"/>
                <a:ea typeface="Times New Roman" panose="02020603050405020304" pitchFamily="18" charset="0"/>
              </a:rPr>
              <a:t>.</a:t>
            </a:r>
          </a:p>
        </p:txBody>
      </p:sp>
    </p:spTree>
    <p:extLst>
      <p:ext uri="{BB962C8B-B14F-4D97-AF65-F5344CB8AC3E}">
        <p14:creationId xmlns:p14="http://schemas.microsoft.com/office/powerpoint/2010/main" val="1206567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ED3A22-6DF4-4BC2-8503-F400E041EAC8}"/>
              </a:ext>
            </a:extLst>
          </p:cNvPr>
          <p:cNvSpPr>
            <a:spLocks noGrp="1"/>
          </p:cNvSpPr>
          <p:nvPr>
            <p:ph type="title"/>
          </p:nvPr>
        </p:nvSpPr>
        <p:spPr/>
        <p:txBody>
          <a:bodyPr/>
          <a:lstStyle/>
          <a:p>
            <a:pPr algn="ctr"/>
            <a:r>
              <a:rPr lang="ru-RU" dirty="0">
                <a:solidFill>
                  <a:srgbClr val="7030A0"/>
                </a:solidFill>
              </a:rPr>
              <a:t>Элементы управления формы</a:t>
            </a:r>
          </a:p>
        </p:txBody>
      </p:sp>
      <p:sp>
        <p:nvSpPr>
          <p:cNvPr id="5" name="Объект 4">
            <a:extLst>
              <a:ext uri="{FF2B5EF4-FFF2-40B4-BE49-F238E27FC236}">
                <a16:creationId xmlns:a16="http://schemas.microsoft.com/office/drawing/2014/main" id="{58D1561F-2FBB-4AA8-A141-A29CBB6ACFD6}"/>
              </a:ext>
            </a:extLst>
          </p:cNvPr>
          <p:cNvSpPr>
            <a:spLocks noGrp="1"/>
          </p:cNvSpPr>
          <p:nvPr>
            <p:ph idx="1"/>
          </p:nvPr>
        </p:nvSpPr>
        <p:spPr/>
        <p:txBody>
          <a:bodyPr>
            <a:normAutofit/>
          </a:bodyPr>
          <a:lstStyle/>
          <a:p>
            <a:pPr indent="450215" algn="just"/>
            <a:r>
              <a:rPr lang="ru-RU" sz="1800" dirty="0">
                <a:effectLst/>
                <a:latin typeface="Times New Roman" panose="02020603050405020304" pitchFamily="18" charset="0"/>
                <a:ea typeface="Times New Roman" panose="02020603050405020304" pitchFamily="18" charset="0"/>
              </a:rPr>
              <a:t>Все элементы управления располагаются на Панели элементов. Для ее вызова нужно выбрать в меню «Вид» пункт «Панель управления». </a:t>
            </a:r>
          </a:p>
          <a:p>
            <a:pPr indent="450215" algn="just"/>
            <a:endParaRPr lang="ru-RU" sz="1800" dirty="0">
              <a:effectLst/>
              <a:latin typeface="Times New Roman" panose="02020603050405020304" pitchFamily="18" charset="0"/>
              <a:ea typeface="Times New Roman" panose="02020603050405020304" pitchFamily="18" charset="0"/>
            </a:endParaRPr>
          </a:p>
        </p:txBody>
      </p:sp>
      <p:pic>
        <p:nvPicPr>
          <p:cNvPr id="4" name="Рисунок 3">
            <a:extLst>
              <a:ext uri="{FF2B5EF4-FFF2-40B4-BE49-F238E27FC236}">
                <a16:creationId xmlns:a16="http://schemas.microsoft.com/office/drawing/2014/main" id="{6F0F981F-9527-4F9C-93F8-21E6B76390F1}"/>
              </a:ext>
            </a:extLst>
          </p:cNvPr>
          <p:cNvPicPr/>
          <p:nvPr/>
        </p:nvPicPr>
        <p:blipFill>
          <a:blip r:embed="rId2"/>
          <a:stretch>
            <a:fillRect/>
          </a:stretch>
        </p:blipFill>
        <p:spPr>
          <a:xfrm>
            <a:off x="5192785" y="2518304"/>
            <a:ext cx="1845578" cy="4083831"/>
          </a:xfrm>
          <a:prstGeom prst="rect">
            <a:avLst/>
          </a:prstGeom>
        </p:spPr>
      </p:pic>
    </p:spTree>
    <p:extLst>
      <p:ext uri="{BB962C8B-B14F-4D97-AF65-F5344CB8AC3E}">
        <p14:creationId xmlns:p14="http://schemas.microsoft.com/office/powerpoint/2010/main" val="7016337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ED3A22-6DF4-4BC2-8503-F400E041EAC8}"/>
              </a:ext>
            </a:extLst>
          </p:cNvPr>
          <p:cNvSpPr>
            <a:spLocks noGrp="1"/>
          </p:cNvSpPr>
          <p:nvPr>
            <p:ph type="title"/>
          </p:nvPr>
        </p:nvSpPr>
        <p:spPr/>
        <p:txBody>
          <a:bodyPr/>
          <a:lstStyle/>
          <a:p>
            <a:pPr algn="ctr"/>
            <a:r>
              <a:rPr lang="ru-RU" dirty="0">
                <a:solidFill>
                  <a:srgbClr val="7030A0"/>
                </a:solidFill>
              </a:rPr>
              <a:t>Элементы управления формы</a:t>
            </a:r>
          </a:p>
        </p:txBody>
      </p:sp>
      <p:sp>
        <p:nvSpPr>
          <p:cNvPr id="5" name="Объект 4">
            <a:extLst>
              <a:ext uri="{FF2B5EF4-FFF2-40B4-BE49-F238E27FC236}">
                <a16:creationId xmlns:a16="http://schemas.microsoft.com/office/drawing/2014/main" id="{58D1561F-2FBB-4AA8-A141-A29CBB6ACFD6}"/>
              </a:ext>
            </a:extLst>
          </p:cNvPr>
          <p:cNvSpPr>
            <a:spLocks noGrp="1"/>
          </p:cNvSpPr>
          <p:nvPr>
            <p:ph idx="1"/>
          </p:nvPr>
        </p:nvSpPr>
        <p:spPr/>
        <p:txBody>
          <a:bodyPr>
            <a:normAutofit/>
          </a:bodyPr>
          <a:lstStyle/>
          <a:p>
            <a:r>
              <a:rPr lang="ru-RU" sz="1800" b="1" dirty="0">
                <a:effectLst/>
                <a:latin typeface="Times New Roman" panose="02020603050405020304" pitchFamily="18" charset="0"/>
                <a:ea typeface="Times New Roman" panose="02020603050405020304" pitchFamily="18" charset="0"/>
              </a:rPr>
              <a:t>Панель</a:t>
            </a:r>
            <a:r>
              <a:rPr lang="ru-RU" sz="1800" dirty="0">
                <a:effectLst/>
                <a:latin typeface="Times New Roman" panose="02020603050405020304" pitchFamily="18" charset="0"/>
                <a:ea typeface="Times New Roman" panose="02020603050405020304" pitchFamily="18" charset="0"/>
              </a:rPr>
              <a:t> </a:t>
            </a:r>
            <a:r>
              <a:rPr lang="ru-RU" sz="1800" b="1" dirty="0">
                <a:effectLst/>
                <a:latin typeface="Times New Roman" panose="02020603050405020304" pitchFamily="18" charset="0"/>
                <a:ea typeface="Times New Roman" panose="02020603050405020304" pitchFamily="18" charset="0"/>
              </a:rPr>
              <a:t>элементов</a:t>
            </a:r>
            <a:r>
              <a:rPr lang="ru-RU" sz="1800" dirty="0">
                <a:effectLst/>
                <a:latin typeface="Times New Roman" panose="02020603050405020304" pitchFamily="18" charset="0"/>
                <a:ea typeface="Times New Roman" panose="02020603050405020304" pitchFamily="18" charset="0"/>
              </a:rPr>
              <a:t> состоит из нескольких вкладок: </a:t>
            </a:r>
          </a:p>
          <a:p>
            <a:pPr marL="342900" lvl="0" indent="-342900" algn="just">
              <a:buFont typeface="Symbol" panose="05050102010706020507" pitchFamily="18" charset="2"/>
              <a:buChar char=""/>
            </a:pPr>
            <a:r>
              <a:rPr lang="ru-RU" sz="1800" b="1" dirty="0">
                <a:effectLst/>
                <a:latin typeface="Times New Roman" panose="02020603050405020304" pitchFamily="18" charset="0"/>
                <a:ea typeface="Times New Roman" panose="02020603050405020304" pitchFamily="18" charset="0"/>
              </a:rPr>
              <a:t>Стандартные элементы управления</a:t>
            </a:r>
            <a:r>
              <a:rPr lang="ru-RU" sz="1800" dirty="0">
                <a:effectLst/>
                <a:latin typeface="Times New Roman" panose="02020603050405020304" pitchFamily="18" charset="0"/>
                <a:ea typeface="Times New Roman" panose="02020603050405020304" pitchFamily="18" charset="0"/>
              </a:rPr>
              <a:t> – содержит основные элементы управления форм, такие как метки, списки, кнопки и т.д.</a:t>
            </a:r>
          </a:p>
          <a:p>
            <a:pPr marL="342900" lvl="0" indent="-342900" algn="just">
              <a:buFont typeface="Symbol" panose="05050102010706020507" pitchFamily="18" charset="2"/>
              <a:buChar char=""/>
            </a:pPr>
            <a:r>
              <a:rPr lang="ru-RU" sz="1800" b="1" dirty="0">
                <a:effectLst/>
                <a:latin typeface="Times New Roman" panose="02020603050405020304" pitchFamily="18" charset="0"/>
                <a:ea typeface="Times New Roman" panose="02020603050405020304" pitchFamily="18" charset="0"/>
              </a:rPr>
              <a:t>Контейнеры</a:t>
            </a:r>
            <a:r>
              <a:rPr lang="en-US" sz="1800" dirty="0">
                <a:effectLst/>
                <a:latin typeface="Times New Roman" panose="02020603050405020304" pitchFamily="18" charset="0"/>
                <a:ea typeface="Times New Roman" panose="02020603050405020304" pitchFamily="18" charset="0"/>
              </a:rPr>
              <a:t> – </a:t>
            </a:r>
            <a:r>
              <a:rPr lang="ru-RU" sz="1800" dirty="0">
                <a:effectLst/>
                <a:latin typeface="Times New Roman" panose="02020603050405020304" pitchFamily="18" charset="0"/>
                <a:ea typeface="Times New Roman" panose="02020603050405020304" pitchFamily="18" charset="0"/>
              </a:rPr>
              <a:t>элементы контейнеры</a:t>
            </a:r>
            <a:r>
              <a:rPr lang="en-US" sz="1800" dirty="0">
                <a:effectLst/>
                <a:latin typeface="Times New Roman" panose="02020603050405020304" pitchFamily="18" charset="0"/>
                <a:ea typeface="Times New Roman" panose="02020603050405020304" pitchFamily="18" charset="0"/>
              </a:rPr>
              <a:t>.</a:t>
            </a:r>
            <a:endParaRPr lang="ru-RU" sz="1800" dirty="0">
              <a:effectLst/>
              <a:latin typeface="Times New Roman" panose="02020603050405020304" pitchFamily="18" charset="0"/>
              <a:ea typeface="Times New Roman" panose="02020603050405020304" pitchFamily="18" charset="0"/>
            </a:endParaRPr>
          </a:p>
          <a:p>
            <a:pPr marL="342900" lvl="0" indent="-342900" algn="just">
              <a:buFont typeface="Symbol" panose="05050102010706020507" pitchFamily="18" charset="2"/>
              <a:buChar char=""/>
            </a:pPr>
            <a:r>
              <a:rPr lang="ru-RU" sz="1800" b="1" dirty="0">
                <a:effectLst/>
                <a:latin typeface="Times New Roman" panose="02020603050405020304" pitchFamily="18" charset="0"/>
                <a:ea typeface="Times New Roman" panose="02020603050405020304" pitchFamily="18" charset="0"/>
              </a:rPr>
              <a:t>Меню и панели инструментов</a:t>
            </a:r>
            <a:r>
              <a:rPr lang="ru-RU" sz="1800" dirty="0">
                <a:effectLst/>
                <a:latin typeface="Times New Roman" panose="02020603050405020304" pitchFamily="18" charset="0"/>
                <a:ea typeface="Times New Roman" panose="02020603050405020304" pitchFamily="18" charset="0"/>
              </a:rPr>
              <a:t> – меню и кнопочные панели.</a:t>
            </a:r>
          </a:p>
          <a:p>
            <a:pPr marL="342900" lvl="0" indent="-342900" algn="just">
              <a:buFont typeface="Symbol" panose="05050102010706020507" pitchFamily="18" charset="2"/>
              <a:buChar char=""/>
            </a:pPr>
            <a:r>
              <a:rPr lang="ru-RU" sz="1800" b="1" dirty="0">
                <a:effectLst/>
                <a:latin typeface="Times New Roman" panose="02020603050405020304" pitchFamily="18" charset="0"/>
                <a:ea typeface="Times New Roman" panose="02020603050405020304" pitchFamily="18" charset="0"/>
              </a:rPr>
              <a:t>Данные</a:t>
            </a:r>
            <a:r>
              <a:rPr lang="ru-RU" sz="1800" dirty="0">
                <a:effectLst/>
                <a:latin typeface="Times New Roman" panose="02020603050405020304" pitchFamily="18" charset="0"/>
                <a:ea typeface="Times New Roman" panose="02020603050405020304" pitchFamily="18" charset="0"/>
              </a:rPr>
              <a:t> – элементы для работы с данными (базами данных).</a:t>
            </a:r>
          </a:p>
          <a:p>
            <a:pPr marL="342900" lvl="0" indent="-342900" algn="just">
              <a:buFont typeface="Symbol" panose="05050102010706020507" pitchFamily="18" charset="2"/>
              <a:buChar char=""/>
            </a:pPr>
            <a:r>
              <a:rPr lang="ru-RU" sz="1800" b="1" dirty="0">
                <a:effectLst/>
                <a:latin typeface="Times New Roman" panose="02020603050405020304" pitchFamily="18" charset="0"/>
                <a:ea typeface="Times New Roman" panose="02020603050405020304" pitchFamily="18" charset="0"/>
              </a:rPr>
              <a:t>Компоненты</a:t>
            </a:r>
            <a:r>
              <a:rPr lang="ru-RU" sz="1800" dirty="0">
                <a:effectLst/>
                <a:latin typeface="Times New Roman" panose="02020603050405020304" pitchFamily="18" charset="0"/>
                <a:ea typeface="Times New Roman" panose="02020603050405020304" pitchFamily="18" charset="0"/>
              </a:rPr>
              <a:t> – различные вспомогательные компоненты, такие как </a:t>
            </a:r>
            <a:r>
              <a:rPr lang="en-US" sz="1800" dirty="0">
                <a:effectLst/>
                <a:latin typeface="Times New Roman" panose="02020603050405020304" pitchFamily="18" charset="0"/>
                <a:ea typeface="Times New Roman" panose="02020603050405020304" pitchFamily="18" charset="0"/>
              </a:rPr>
              <a:t>Timer</a:t>
            </a:r>
            <a:r>
              <a:rPr lang="ru-RU"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ImageList</a:t>
            </a:r>
            <a:r>
              <a:rPr lang="ru-RU" sz="180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Process</a:t>
            </a:r>
            <a:r>
              <a:rPr lang="ru-RU"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DirectorySearcher</a:t>
            </a:r>
            <a:r>
              <a:rPr lang="ru-RU" sz="1800" dirty="0">
                <a:effectLst/>
                <a:latin typeface="Times New Roman" panose="02020603050405020304" pitchFamily="18" charset="0"/>
                <a:ea typeface="Times New Roman" panose="02020603050405020304" pitchFamily="18" charset="0"/>
              </a:rPr>
              <a:t>.</a:t>
            </a:r>
          </a:p>
          <a:p>
            <a:pPr marL="342900" lvl="0" indent="-342900" algn="just">
              <a:buFont typeface="Symbol" panose="05050102010706020507" pitchFamily="18" charset="2"/>
              <a:buChar char=""/>
            </a:pPr>
            <a:r>
              <a:rPr lang="ru-RU" sz="1800" b="1" dirty="0">
                <a:effectLst/>
                <a:latin typeface="Times New Roman" panose="02020603050405020304" pitchFamily="18" charset="0"/>
                <a:ea typeface="Times New Roman" panose="02020603050405020304" pitchFamily="18" charset="0"/>
              </a:rPr>
              <a:t>Печать</a:t>
            </a:r>
            <a:r>
              <a:rPr lang="en-US" sz="1800" dirty="0">
                <a:effectLst/>
                <a:latin typeface="Times New Roman" panose="02020603050405020304" pitchFamily="18" charset="0"/>
                <a:ea typeface="Times New Roman" panose="02020603050405020304" pitchFamily="18" charset="0"/>
              </a:rPr>
              <a:t> – </a:t>
            </a:r>
            <a:r>
              <a:rPr lang="ru-RU" sz="1800" dirty="0">
                <a:effectLst/>
                <a:latin typeface="Times New Roman" panose="02020603050405020304" pitchFamily="18" charset="0"/>
                <a:ea typeface="Times New Roman" panose="02020603050405020304" pitchFamily="18" charset="0"/>
              </a:rPr>
              <a:t>элементы для печати</a:t>
            </a:r>
            <a:r>
              <a:rPr lang="en-US" sz="1800" dirty="0">
                <a:effectLst/>
                <a:latin typeface="Times New Roman" panose="02020603050405020304" pitchFamily="18" charset="0"/>
                <a:ea typeface="Times New Roman" panose="02020603050405020304" pitchFamily="18" charset="0"/>
              </a:rPr>
              <a:t>.</a:t>
            </a:r>
            <a:endParaRPr lang="ru-RU" sz="1800" dirty="0">
              <a:effectLst/>
              <a:latin typeface="Times New Roman" panose="02020603050405020304" pitchFamily="18" charset="0"/>
              <a:ea typeface="Times New Roman" panose="02020603050405020304" pitchFamily="18" charset="0"/>
            </a:endParaRPr>
          </a:p>
          <a:p>
            <a:pPr marL="342900" lvl="0" indent="-342900" algn="just">
              <a:buFont typeface="Symbol" panose="05050102010706020507" pitchFamily="18" charset="2"/>
              <a:buChar char=""/>
            </a:pPr>
            <a:r>
              <a:rPr lang="ru-RU" sz="1800" b="1" dirty="0">
                <a:effectLst/>
                <a:latin typeface="Times New Roman" panose="02020603050405020304" pitchFamily="18" charset="0"/>
                <a:ea typeface="Times New Roman" panose="02020603050405020304" pitchFamily="18" charset="0"/>
              </a:rPr>
              <a:t>Диалоговые окна </a:t>
            </a:r>
            <a:r>
              <a:rPr lang="ru-RU" sz="1800" dirty="0">
                <a:effectLst/>
                <a:latin typeface="Times New Roman" panose="02020603050405020304" pitchFamily="18" charset="0"/>
                <a:ea typeface="Times New Roman" panose="02020603050405020304" pitchFamily="18" charset="0"/>
              </a:rPr>
              <a:t>– для создания стандартных диалоговых окон </a:t>
            </a:r>
            <a:r>
              <a:rPr lang="en-US" sz="1800" dirty="0">
                <a:effectLst/>
                <a:latin typeface="Times New Roman" panose="02020603050405020304" pitchFamily="18" charset="0"/>
                <a:ea typeface="Times New Roman" panose="02020603050405020304" pitchFamily="18" charset="0"/>
              </a:rPr>
              <a:t>Windows</a:t>
            </a:r>
            <a:r>
              <a:rPr lang="ru-RU" sz="1800" dirty="0">
                <a:effectLst/>
                <a:latin typeface="Times New Roman" panose="02020603050405020304" pitchFamily="18" charset="0"/>
                <a:ea typeface="Times New Roman" panose="02020603050405020304" pitchFamily="18" charset="0"/>
              </a:rPr>
              <a:t>.</a:t>
            </a:r>
          </a:p>
          <a:p>
            <a:pPr marL="342900" lvl="0" indent="-342900" algn="just">
              <a:buFont typeface="Symbol" panose="05050102010706020507" pitchFamily="18" charset="2"/>
              <a:buChar char=""/>
            </a:pPr>
            <a:r>
              <a:rPr lang="ru-RU" sz="1800" b="1" dirty="0">
                <a:effectLst/>
                <a:latin typeface="Times New Roman" panose="02020603050405020304" pitchFamily="18" charset="0"/>
                <a:ea typeface="Times New Roman" panose="02020603050405020304" pitchFamily="18" charset="0"/>
              </a:rPr>
              <a:t>Отчеты</a:t>
            </a:r>
            <a:r>
              <a:rPr lang="ru-RU" sz="1800" dirty="0">
                <a:effectLst/>
                <a:latin typeface="Times New Roman" panose="02020603050405020304" pitchFamily="18" charset="0"/>
                <a:ea typeface="Times New Roman" panose="02020603050405020304" pitchFamily="18" charset="0"/>
              </a:rPr>
              <a:t> – компоненты для создания отчетов.</a:t>
            </a:r>
          </a:p>
          <a:p>
            <a:pPr indent="450215" algn="just"/>
            <a:endParaRPr lang="ru-RU"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1328246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ED3A22-6DF4-4BC2-8503-F400E041EAC8}"/>
              </a:ext>
            </a:extLst>
          </p:cNvPr>
          <p:cNvSpPr>
            <a:spLocks noGrp="1"/>
          </p:cNvSpPr>
          <p:nvPr>
            <p:ph type="title"/>
          </p:nvPr>
        </p:nvSpPr>
        <p:spPr/>
        <p:txBody>
          <a:bodyPr/>
          <a:lstStyle/>
          <a:p>
            <a:pPr algn="ctr"/>
            <a:r>
              <a:rPr lang="ru-RU" dirty="0">
                <a:solidFill>
                  <a:srgbClr val="7030A0"/>
                </a:solidFill>
              </a:rPr>
              <a:t>Элементы управления формы</a:t>
            </a:r>
          </a:p>
        </p:txBody>
      </p:sp>
      <p:sp>
        <p:nvSpPr>
          <p:cNvPr id="5" name="Объект 4">
            <a:extLst>
              <a:ext uri="{FF2B5EF4-FFF2-40B4-BE49-F238E27FC236}">
                <a16:creationId xmlns:a16="http://schemas.microsoft.com/office/drawing/2014/main" id="{58D1561F-2FBB-4AA8-A141-A29CBB6ACFD6}"/>
              </a:ext>
            </a:extLst>
          </p:cNvPr>
          <p:cNvSpPr>
            <a:spLocks noGrp="1"/>
          </p:cNvSpPr>
          <p:nvPr>
            <p:ph idx="1"/>
          </p:nvPr>
        </p:nvSpPr>
        <p:spPr/>
        <p:txBody>
          <a:bodyPr>
            <a:normAutofit/>
          </a:bodyPr>
          <a:lstStyle/>
          <a:p>
            <a:pPr marL="342900" indent="-342900">
              <a:lnSpc>
                <a:spcPts val="1560"/>
              </a:lnSpc>
              <a:buSzPts val="1000"/>
              <a:buFont typeface="Symbol" panose="05050102010706020507" pitchFamily="18" charset="2"/>
              <a:buChar char=""/>
              <a:tabLst>
                <a:tab pos="457200" algn="l"/>
              </a:tabLst>
            </a:pPr>
            <a:r>
              <a:rPr lang="ru-RU" sz="1800" dirty="0">
                <a:solidFill>
                  <a:srgbClr val="000000"/>
                </a:solidFill>
                <a:effectLst/>
                <a:latin typeface="Verdana" panose="020B0604030504040204" pitchFamily="34" charset="0"/>
                <a:ea typeface="Times New Roman" panose="02020603050405020304" pitchFamily="18" charset="0"/>
              </a:rPr>
              <a:t>Все элементы управления имеют ряд общих свойств:</a:t>
            </a:r>
            <a:endParaRPr lang="ru-RU" sz="1800" dirty="0">
              <a:effectLst/>
              <a:latin typeface="Times New Roman" panose="02020603050405020304" pitchFamily="18" charset="0"/>
              <a:ea typeface="Times New Roman" panose="02020603050405020304" pitchFamily="18" charset="0"/>
            </a:endParaRPr>
          </a:p>
          <a:p>
            <a:pPr marL="342900" lvl="0" indent="-342900">
              <a:lnSpc>
                <a:spcPts val="1560"/>
              </a:lnSpc>
              <a:buSzPts val="1000"/>
              <a:buFont typeface="Symbol" panose="05050102010706020507" pitchFamily="18" charset="2"/>
              <a:buChar char=""/>
              <a:tabLst>
                <a:tab pos="457200" algn="l"/>
              </a:tabLst>
            </a:pPr>
            <a:endParaRPr lang="ru-RU" sz="1800" b="1" dirty="0">
              <a:solidFill>
                <a:srgbClr val="000000"/>
              </a:solidFill>
              <a:effectLst/>
              <a:latin typeface="Verdana" panose="020B0604030504040204" pitchFamily="34" charset="0"/>
              <a:ea typeface="Times New Roman" panose="02020603050405020304" pitchFamily="18" charset="0"/>
            </a:endParaRPr>
          </a:p>
          <a:p>
            <a:pPr marL="342900" lvl="0" indent="-342900">
              <a:lnSpc>
                <a:spcPts val="1560"/>
              </a:lnSpc>
              <a:buSzPts val="1000"/>
              <a:buFont typeface="Symbol" panose="05050102010706020507" pitchFamily="18" charset="2"/>
              <a:buChar char=""/>
              <a:tabLst>
                <a:tab pos="457200" algn="l"/>
              </a:tabLst>
            </a:pPr>
            <a:r>
              <a:rPr lang="ru-RU" sz="1800" b="1" dirty="0" err="1">
                <a:solidFill>
                  <a:srgbClr val="000000"/>
                </a:solidFill>
                <a:effectLst/>
                <a:latin typeface="Verdana" panose="020B0604030504040204" pitchFamily="34" charset="0"/>
                <a:ea typeface="Times New Roman" panose="02020603050405020304" pitchFamily="18" charset="0"/>
              </a:rPr>
              <a:t>Anchor</a:t>
            </a:r>
            <a:r>
              <a:rPr lang="ru-RU" sz="1800" dirty="0">
                <a:solidFill>
                  <a:srgbClr val="000000"/>
                </a:solidFill>
                <a:effectLst/>
                <a:latin typeface="Verdana" panose="020B0604030504040204" pitchFamily="34" charset="0"/>
                <a:ea typeface="Times New Roman" panose="02020603050405020304" pitchFamily="18" charset="0"/>
              </a:rPr>
              <a:t>: Определяет, как элемент будет растягиваться</a:t>
            </a:r>
            <a:endParaRPr lang="ru-RU" sz="1800" dirty="0">
              <a:effectLst/>
              <a:latin typeface="Times New Roman" panose="02020603050405020304" pitchFamily="18" charset="0"/>
              <a:ea typeface="Times New Roman" panose="02020603050405020304" pitchFamily="18" charset="0"/>
            </a:endParaRPr>
          </a:p>
          <a:p>
            <a:pPr marL="342900" lvl="0" indent="-342900">
              <a:lnSpc>
                <a:spcPts val="1560"/>
              </a:lnSpc>
              <a:buSzPts val="1000"/>
              <a:buFont typeface="Symbol" panose="05050102010706020507" pitchFamily="18" charset="2"/>
              <a:buChar char=""/>
              <a:tabLst>
                <a:tab pos="457200" algn="l"/>
              </a:tabLst>
            </a:pPr>
            <a:r>
              <a:rPr lang="ru-RU" sz="1800" b="1" dirty="0" err="1">
                <a:solidFill>
                  <a:srgbClr val="000000"/>
                </a:solidFill>
                <a:effectLst/>
                <a:latin typeface="Verdana" panose="020B0604030504040204" pitchFamily="34" charset="0"/>
                <a:ea typeface="Times New Roman" panose="02020603050405020304" pitchFamily="18" charset="0"/>
              </a:rPr>
              <a:t>BackColor</a:t>
            </a:r>
            <a:r>
              <a:rPr lang="ru-RU" sz="1800" dirty="0">
                <a:solidFill>
                  <a:srgbClr val="000000"/>
                </a:solidFill>
                <a:effectLst/>
                <a:latin typeface="Verdana" panose="020B0604030504040204" pitchFamily="34" charset="0"/>
                <a:ea typeface="Times New Roman" panose="02020603050405020304" pitchFamily="18" charset="0"/>
              </a:rPr>
              <a:t>: Определяет фоновый цвет элемента</a:t>
            </a:r>
            <a:endParaRPr lang="ru-RU" sz="1800" dirty="0">
              <a:effectLst/>
              <a:latin typeface="Times New Roman" panose="02020603050405020304" pitchFamily="18" charset="0"/>
              <a:ea typeface="Times New Roman" panose="02020603050405020304" pitchFamily="18" charset="0"/>
            </a:endParaRPr>
          </a:p>
          <a:p>
            <a:pPr marL="342900" lvl="0" indent="-342900">
              <a:lnSpc>
                <a:spcPts val="1560"/>
              </a:lnSpc>
              <a:buSzPts val="1000"/>
              <a:buFont typeface="Symbol" panose="05050102010706020507" pitchFamily="18" charset="2"/>
              <a:buChar char=""/>
              <a:tabLst>
                <a:tab pos="457200" algn="l"/>
              </a:tabLst>
            </a:pPr>
            <a:r>
              <a:rPr lang="ru-RU" sz="1800" b="1" dirty="0" err="1">
                <a:solidFill>
                  <a:srgbClr val="000000"/>
                </a:solidFill>
                <a:effectLst/>
                <a:latin typeface="Verdana" panose="020B0604030504040204" pitchFamily="34" charset="0"/>
                <a:ea typeface="Times New Roman" panose="02020603050405020304" pitchFamily="18" charset="0"/>
              </a:rPr>
              <a:t>BackgroundImage</a:t>
            </a:r>
            <a:r>
              <a:rPr lang="ru-RU" sz="1800" dirty="0">
                <a:solidFill>
                  <a:srgbClr val="000000"/>
                </a:solidFill>
                <a:effectLst/>
                <a:latin typeface="Verdana" panose="020B0604030504040204" pitchFamily="34" charset="0"/>
                <a:ea typeface="Times New Roman" panose="02020603050405020304" pitchFamily="18" charset="0"/>
              </a:rPr>
              <a:t>: Определяет фоновое изображение элемента</a:t>
            </a:r>
            <a:endParaRPr lang="ru-RU" sz="1800" dirty="0">
              <a:effectLst/>
              <a:latin typeface="Times New Roman" panose="02020603050405020304" pitchFamily="18" charset="0"/>
              <a:ea typeface="Times New Roman" panose="02020603050405020304" pitchFamily="18" charset="0"/>
            </a:endParaRPr>
          </a:p>
          <a:p>
            <a:pPr marL="342900" lvl="0" indent="-342900">
              <a:lnSpc>
                <a:spcPts val="1560"/>
              </a:lnSpc>
              <a:buSzPts val="1000"/>
              <a:buFont typeface="Symbol" panose="05050102010706020507" pitchFamily="18" charset="2"/>
              <a:buChar char=""/>
              <a:tabLst>
                <a:tab pos="457200" algn="l"/>
              </a:tabLst>
            </a:pPr>
            <a:r>
              <a:rPr lang="ru-RU" sz="1800" b="1" dirty="0" err="1">
                <a:solidFill>
                  <a:srgbClr val="000000"/>
                </a:solidFill>
                <a:effectLst/>
                <a:latin typeface="Verdana" panose="020B0604030504040204" pitchFamily="34" charset="0"/>
                <a:ea typeface="Times New Roman" panose="02020603050405020304" pitchFamily="18" charset="0"/>
              </a:rPr>
              <a:t>ContextMenu</a:t>
            </a:r>
            <a:r>
              <a:rPr lang="ru-RU" sz="1800" dirty="0">
                <a:solidFill>
                  <a:srgbClr val="000000"/>
                </a:solidFill>
                <a:effectLst/>
                <a:latin typeface="Verdana" panose="020B0604030504040204" pitchFamily="34" charset="0"/>
                <a:ea typeface="Times New Roman" panose="02020603050405020304" pitchFamily="18" charset="0"/>
              </a:rPr>
              <a:t>: Контекстное меню, которое открывается при нажатии на элемент правой кнопкой мыши. Задается с помощью элемента </a:t>
            </a:r>
            <a:r>
              <a:rPr lang="ru-RU" sz="1800" dirty="0" err="1">
                <a:solidFill>
                  <a:srgbClr val="000000"/>
                </a:solidFill>
                <a:effectLst/>
                <a:latin typeface="Verdana" panose="020B0604030504040204" pitchFamily="34" charset="0"/>
                <a:ea typeface="Times New Roman" panose="02020603050405020304" pitchFamily="18" charset="0"/>
              </a:rPr>
              <a:t>ContextMenu</a:t>
            </a:r>
            <a:endParaRPr lang="ru-RU" sz="1800" dirty="0">
              <a:effectLst/>
              <a:latin typeface="Times New Roman" panose="02020603050405020304" pitchFamily="18" charset="0"/>
              <a:ea typeface="Times New Roman" panose="02020603050405020304" pitchFamily="18" charset="0"/>
            </a:endParaRPr>
          </a:p>
          <a:p>
            <a:pPr marL="342900" lvl="0" indent="-342900">
              <a:lnSpc>
                <a:spcPts val="1560"/>
              </a:lnSpc>
              <a:buSzPts val="1000"/>
              <a:buFont typeface="Symbol" panose="05050102010706020507" pitchFamily="18" charset="2"/>
              <a:buChar char=""/>
              <a:tabLst>
                <a:tab pos="457200" algn="l"/>
              </a:tabLst>
            </a:pPr>
            <a:r>
              <a:rPr lang="ru-RU" sz="1800" b="1" dirty="0" err="1">
                <a:solidFill>
                  <a:srgbClr val="000000"/>
                </a:solidFill>
                <a:effectLst/>
                <a:latin typeface="Verdana" panose="020B0604030504040204" pitchFamily="34" charset="0"/>
                <a:ea typeface="Times New Roman" panose="02020603050405020304" pitchFamily="18" charset="0"/>
              </a:rPr>
              <a:t>Cursor</a:t>
            </a:r>
            <a:r>
              <a:rPr lang="ru-RU" sz="1800" dirty="0">
                <a:solidFill>
                  <a:srgbClr val="000000"/>
                </a:solidFill>
                <a:effectLst/>
                <a:latin typeface="Verdana" panose="020B0604030504040204" pitchFamily="34" charset="0"/>
                <a:ea typeface="Times New Roman" panose="02020603050405020304" pitchFamily="18" charset="0"/>
              </a:rPr>
              <a:t>: Представляет, как будет отображаться курсор мыши при наведении на элемент</a:t>
            </a:r>
            <a:endParaRPr lang="ru-RU" sz="1800" dirty="0">
              <a:effectLst/>
              <a:latin typeface="Times New Roman" panose="02020603050405020304" pitchFamily="18" charset="0"/>
              <a:ea typeface="Times New Roman" panose="02020603050405020304" pitchFamily="18" charset="0"/>
            </a:endParaRPr>
          </a:p>
          <a:p>
            <a:pPr marL="342900" lvl="0" indent="-342900">
              <a:lnSpc>
                <a:spcPts val="1560"/>
              </a:lnSpc>
              <a:buSzPts val="1000"/>
              <a:buFont typeface="Symbol" panose="05050102010706020507" pitchFamily="18" charset="2"/>
              <a:buChar char=""/>
              <a:tabLst>
                <a:tab pos="457200" algn="l"/>
              </a:tabLst>
            </a:pPr>
            <a:r>
              <a:rPr lang="ru-RU" sz="1800" b="1" dirty="0" err="1">
                <a:solidFill>
                  <a:srgbClr val="000000"/>
                </a:solidFill>
                <a:effectLst/>
                <a:latin typeface="Verdana" panose="020B0604030504040204" pitchFamily="34" charset="0"/>
                <a:ea typeface="Times New Roman" panose="02020603050405020304" pitchFamily="18" charset="0"/>
              </a:rPr>
              <a:t>Dock</a:t>
            </a:r>
            <a:r>
              <a:rPr lang="ru-RU" sz="1800" dirty="0">
                <a:solidFill>
                  <a:srgbClr val="000000"/>
                </a:solidFill>
                <a:effectLst/>
                <a:latin typeface="Verdana" panose="020B0604030504040204" pitchFamily="34" charset="0"/>
                <a:ea typeface="Times New Roman" panose="02020603050405020304" pitchFamily="18" charset="0"/>
              </a:rPr>
              <a:t>: Задает расположение элемента на форме</a:t>
            </a:r>
            <a:endParaRPr lang="ru-RU" sz="1800" dirty="0">
              <a:effectLst/>
              <a:latin typeface="Times New Roman" panose="02020603050405020304" pitchFamily="18" charset="0"/>
              <a:ea typeface="Times New Roman" panose="02020603050405020304" pitchFamily="18" charset="0"/>
            </a:endParaRPr>
          </a:p>
          <a:p>
            <a:pPr marL="342900" lvl="0" indent="-342900">
              <a:lnSpc>
                <a:spcPts val="1560"/>
              </a:lnSpc>
              <a:buSzPts val="1000"/>
              <a:buFont typeface="Symbol" panose="05050102010706020507" pitchFamily="18" charset="2"/>
              <a:buChar char=""/>
              <a:tabLst>
                <a:tab pos="457200" algn="l"/>
              </a:tabLst>
            </a:pPr>
            <a:r>
              <a:rPr lang="ru-RU" sz="1800" b="1" dirty="0" err="1">
                <a:solidFill>
                  <a:srgbClr val="000000"/>
                </a:solidFill>
                <a:effectLst/>
                <a:latin typeface="Verdana" panose="020B0604030504040204" pitchFamily="34" charset="0"/>
                <a:ea typeface="Times New Roman" panose="02020603050405020304" pitchFamily="18" charset="0"/>
              </a:rPr>
              <a:t>Enabled</a:t>
            </a:r>
            <a:r>
              <a:rPr lang="ru-RU" sz="1800" dirty="0">
                <a:solidFill>
                  <a:srgbClr val="000000"/>
                </a:solidFill>
                <a:effectLst/>
                <a:latin typeface="Verdana" panose="020B0604030504040204" pitchFamily="34" charset="0"/>
                <a:ea typeface="Times New Roman" panose="02020603050405020304" pitchFamily="18" charset="0"/>
              </a:rPr>
              <a:t>: Определяет, будет ли доступен элемент для использования. Если это свойство имеет значение </a:t>
            </a:r>
            <a:r>
              <a:rPr lang="ru-RU" sz="1800" dirty="0" err="1">
                <a:solidFill>
                  <a:srgbClr val="000000"/>
                </a:solidFill>
                <a:effectLst/>
                <a:latin typeface="Verdana" panose="020B0604030504040204" pitchFamily="34" charset="0"/>
                <a:ea typeface="Times New Roman" panose="02020603050405020304" pitchFamily="18" charset="0"/>
              </a:rPr>
              <a:t>False</a:t>
            </a:r>
            <a:r>
              <a:rPr lang="ru-RU" sz="1800" dirty="0">
                <a:solidFill>
                  <a:srgbClr val="000000"/>
                </a:solidFill>
                <a:effectLst/>
                <a:latin typeface="Verdana" panose="020B0604030504040204" pitchFamily="34" charset="0"/>
                <a:ea typeface="Times New Roman" panose="02020603050405020304" pitchFamily="18" charset="0"/>
              </a:rPr>
              <a:t>, то элемент блокируется.</a:t>
            </a:r>
            <a:endParaRPr lang="ru-RU" sz="1800" dirty="0">
              <a:effectLst/>
              <a:latin typeface="Times New Roman" panose="02020603050405020304" pitchFamily="18" charset="0"/>
              <a:ea typeface="Times New Roman" panose="02020603050405020304" pitchFamily="18" charset="0"/>
            </a:endParaRPr>
          </a:p>
          <a:p>
            <a:pPr marL="342900" lvl="0" indent="-342900">
              <a:lnSpc>
                <a:spcPts val="1560"/>
              </a:lnSpc>
              <a:buSzPts val="1000"/>
              <a:buFont typeface="Symbol" panose="05050102010706020507" pitchFamily="18" charset="2"/>
              <a:buChar char=""/>
              <a:tabLst>
                <a:tab pos="457200" algn="l"/>
              </a:tabLst>
            </a:pPr>
            <a:r>
              <a:rPr lang="ru-RU" sz="1800" b="1" dirty="0" err="1">
                <a:solidFill>
                  <a:srgbClr val="000000"/>
                </a:solidFill>
                <a:effectLst/>
                <a:latin typeface="Verdana" panose="020B0604030504040204" pitchFamily="34" charset="0"/>
                <a:ea typeface="Times New Roman" panose="02020603050405020304" pitchFamily="18" charset="0"/>
              </a:rPr>
              <a:t>Font</a:t>
            </a:r>
            <a:r>
              <a:rPr lang="ru-RU" sz="1800" dirty="0">
                <a:solidFill>
                  <a:srgbClr val="000000"/>
                </a:solidFill>
                <a:effectLst/>
                <a:latin typeface="Verdana" panose="020B0604030504040204" pitchFamily="34" charset="0"/>
                <a:ea typeface="Times New Roman" panose="02020603050405020304" pitchFamily="18" charset="0"/>
              </a:rPr>
              <a:t>: Устанавливает шрифт текста для элемента</a:t>
            </a:r>
            <a:endParaRPr lang="ru-RU" sz="1800" dirty="0">
              <a:effectLst/>
              <a:latin typeface="Times New Roman" panose="02020603050405020304" pitchFamily="18" charset="0"/>
              <a:ea typeface="Times New Roman" panose="02020603050405020304" pitchFamily="18" charset="0"/>
            </a:endParaRPr>
          </a:p>
          <a:p>
            <a:pPr marL="342900" lvl="0" indent="-342900">
              <a:lnSpc>
                <a:spcPts val="1560"/>
              </a:lnSpc>
              <a:buSzPts val="1000"/>
              <a:buFont typeface="Symbol" panose="05050102010706020507" pitchFamily="18" charset="2"/>
              <a:buChar char=""/>
              <a:tabLst>
                <a:tab pos="457200" algn="l"/>
              </a:tabLst>
            </a:pPr>
            <a:r>
              <a:rPr lang="ru-RU" sz="1800" b="1" dirty="0" err="1">
                <a:solidFill>
                  <a:srgbClr val="000000"/>
                </a:solidFill>
                <a:effectLst/>
                <a:latin typeface="Verdana" panose="020B0604030504040204" pitchFamily="34" charset="0"/>
                <a:ea typeface="Times New Roman" panose="02020603050405020304" pitchFamily="18" charset="0"/>
              </a:rPr>
              <a:t>ForeColor</a:t>
            </a:r>
            <a:r>
              <a:rPr lang="ru-RU" sz="1800" dirty="0">
                <a:solidFill>
                  <a:srgbClr val="000000"/>
                </a:solidFill>
                <a:effectLst/>
                <a:latin typeface="Verdana" panose="020B0604030504040204" pitchFamily="34" charset="0"/>
                <a:ea typeface="Times New Roman" panose="02020603050405020304" pitchFamily="18" charset="0"/>
              </a:rPr>
              <a:t>: Определяет цвет шрифта</a:t>
            </a:r>
            <a:endParaRPr lang="ru-RU" sz="1800" dirty="0">
              <a:effectLst/>
              <a:latin typeface="Times New Roman" panose="02020603050405020304" pitchFamily="18" charset="0"/>
              <a:ea typeface="Times New Roman" panose="02020603050405020304" pitchFamily="18" charset="0"/>
            </a:endParaRPr>
          </a:p>
          <a:p>
            <a:pPr indent="450215" algn="just"/>
            <a:endParaRPr lang="ru-RU"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9335712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ED3A22-6DF4-4BC2-8503-F400E041EAC8}"/>
              </a:ext>
            </a:extLst>
          </p:cNvPr>
          <p:cNvSpPr>
            <a:spLocks noGrp="1"/>
          </p:cNvSpPr>
          <p:nvPr>
            <p:ph type="title"/>
          </p:nvPr>
        </p:nvSpPr>
        <p:spPr/>
        <p:txBody>
          <a:bodyPr/>
          <a:lstStyle/>
          <a:p>
            <a:pPr algn="ctr"/>
            <a:r>
              <a:rPr lang="ru-RU" dirty="0">
                <a:solidFill>
                  <a:srgbClr val="7030A0"/>
                </a:solidFill>
              </a:rPr>
              <a:t>Элементы управления формы</a:t>
            </a:r>
            <a:endParaRPr lang="ru-RU" dirty="0">
              <a:solidFill>
                <a:srgbClr val="0070C0"/>
              </a:solidFill>
            </a:endParaRPr>
          </a:p>
        </p:txBody>
      </p:sp>
      <p:sp>
        <p:nvSpPr>
          <p:cNvPr id="5" name="Объект 4">
            <a:extLst>
              <a:ext uri="{FF2B5EF4-FFF2-40B4-BE49-F238E27FC236}">
                <a16:creationId xmlns:a16="http://schemas.microsoft.com/office/drawing/2014/main" id="{58D1561F-2FBB-4AA8-A141-A29CBB6ACFD6}"/>
              </a:ext>
            </a:extLst>
          </p:cNvPr>
          <p:cNvSpPr>
            <a:spLocks noGrp="1"/>
          </p:cNvSpPr>
          <p:nvPr>
            <p:ph idx="1"/>
          </p:nvPr>
        </p:nvSpPr>
        <p:spPr/>
        <p:txBody>
          <a:bodyPr>
            <a:normAutofit/>
          </a:bodyPr>
          <a:lstStyle/>
          <a:p>
            <a:pPr marL="342900" lvl="0" indent="-342900">
              <a:lnSpc>
                <a:spcPts val="1560"/>
              </a:lnSpc>
              <a:buSzPts val="1000"/>
              <a:buFont typeface="Symbol" panose="05050102010706020507" pitchFamily="18" charset="2"/>
              <a:buChar char=""/>
              <a:tabLst>
                <a:tab pos="457200" algn="l"/>
              </a:tabLst>
            </a:pPr>
            <a:endParaRPr lang="ru-RU" sz="1800" b="1" dirty="0">
              <a:solidFill>
                <a:srgbClr val="000000"/>
              </a:solidFill>
              <a:effectLst/>
              <a:latin typeface="Verdana" panose="020B0604030504040204" pitchFamily="34" charset="0"/>
              <a:ea typeface="Times New Roman" panose="02020603050405020304" pitchFamily="18" charset="0"/>
            </a:endParaRPr>
          </a:p>
          <a:p>
            <a:pPr marL="342900" lvl="0" indent="-342900">
              <a:lnSpc>
                <a:spcPts val="1560"/>
              </a:lnSpc>
              <a:buSzPts val="1000"/>
              <a:buFont typeface="Symbol" panose="05050102010706020507" pitchFamily="18" charset="2"/>
              <a:buChar char=""/>
              <a:tabLst>
                <a:tab pos="457200" algn="l"/>
              </a:tabLst>
            </a:pPr>
            <a:r>
              <a:rPr lang="ru-RU" sz="1800" b="1" dirty="0" err="1">
                <a:solidFill>
                  <a:srgbClr val="000000"/>
                </a:solidFill>
                <a:effectLst/>
                <a:latin typeface="Verdana" panose="020B0604030504040204" pitchFamily="34" charset="0"/>
                <a:ea typeface="Times New Roman" panose="02020603050405020304" pitchFamily="18" charset="0"/>
              </a:rPr>
              <a:t>Location</a:t>
            </a:r>
            <a:r>
              <a:rPr lang="ru-RU" sz="1800" dirty="0">
                <a:solidFill>
                  <a:srgbClr val="000000"/>
                </a:solidFill>
                <a:effectLst/>
                <a:latin typeface="Verdana" panose="020B0604030504040204" pitchFamily="34" charset="0"/>
                <a:ea typeface="Times New Roman" panose="02020603050405020304" pitchFamily="18" charset="0"/>
              </a:rPr>
              <a:t>: Определяет координаты верхнего левого угла элемента управления</a:t>
            </a:r>
            <a:endParaRPr lang="ru-RU" sz="1800" dirty="0">
              <a:effectLst/>
              <a:latin typeface="Times New Roman" panose="02020603050405020304" pitchFamily="18" charset="0"/>
              <a:ea typeface="Times New Roman" panose="02020603050405020304" pitchFamily="18" charset="0"/>
            </a:endParaRPr>
          </a:p>
          <a:p>
            <a:pPr marL="342900" lvl="0" indent="-342900">
              <a:lnSpc>
                <a:spcPts val="1560"/>
              </a:lnSpc>
              <a:buSzPts val="1000"/>
              <a:buFont typeface="Symbol" panose="05050102010706020507" pitchFamily="18" charset="2"/>
              <a:buChar char=""/>
              <a:tabLst>
                <a:tab pos="457200" algn="l"/>
              </a:tabLst>
            </a:pPr>
            <a:r>
              <a:rPr lang="ru-RU" sz="1800" b="1" dirty="0" err="1">
                <a:solidFill>
                  <a:srgbClr val="000000"/>
                </a:solidFill>
                <a:effectLst/>
                <a:latin typeface="Verdana" panose="020B0604030504040204" pitchFamily="34" charset="0"/>
                <a:ea typeface="Times New Roman" panose="02020603050405020304" pitchFamily="18" charset="0"/>
              </a:rPr>
              <a:t>Name</a:t>
            </a:r>
            <a:r>
              <a:rPr lang="ru-RU" sz="1800" dirty="0">
                <a:solidFill>
                  <a:srgbClr val="000000"/>
                </a:solidFill>
                <a:effectLst/>
                <a:latin typeface="Verdana" panose="020B0604030504040204" pitchFamily="34" charset="0"/>
                <a:ea typeface="Times New Roman" panose="02020603050405020304" pitchFamily="18" charset="0"/>
              </a:rPr>
              <a:t>: Имя элемента управления</a:t>
            </a:r>
            <a:endParaRPr lang="ru-RU" sz="1800" dirty="0">
              <a:effectLst/>
              <a:latin typeface="Times New Roman" panose="02020603050405020304" pitchFamily="18" charset="0"/>
              <a:ea typeface="Times New Roman" panose="02020603050405020304" pitchFamily="18" charset="0"/>
            </a:endParaRPr>
          </a:p>
          <a:p>
            <a:pPr marL="342900" lvl="0" indent="-342900">
              <a:lnSpc>
                <a:spcPts val="1560"/>
              </a:lnSpc>
              <a:buSzPts val="1000"/>
              <a:buFont typeface="Symbol" panose="05050102010706020507" pitchFamily="18" charset="2"/>
              <a:buChar char=""/>
              <a:tabLst>
                <a:tab pos="457200" algn="l"/>
              </a:tabLst>
            </a:pPr>
            <a:r>
              <a:rPr lang="ru-RU" sz="1800" b="1" dirty="0" err="1">
                <a:solidFill>
                  <a:srgbClr val="000000"/>
                </a:solidFill>
                <a:effectLst/>
                <a:latin typeface="Verdana" panose="020B0604030504040204" pitchFamily="34" charset="0"/>
                <a:ea typeface="Times New Roman" panose="02020603050405020304" pitchFamily="18" charset="0"/>
              </a:rPr>
              <a:t>Size</a:t>
            </a:r>
            <a:r>
              <a:rPr lang="ru-RU" sz="1800" dirty="0">
                <a:solidFill>
                  <a:srgbClr val="000000"/>
                </a:solidFill>
                <a:effectLst/>
                <a:latin typeface="Verdana" panose="020B0604030504040204" pitchFamily="34" charset="0"/>
                <a:ea typeface="Times New Roman" panose="02020603050405020304" pitchFamily="18" charset="0"/>
              </a:rPr>
              <a:t>: Определяет размер элемента</a:t>
            </a:r>
            <a:endParaRPr lang="ru-RU" sz="1800" dirty="0">
              <a:effectLst/>
              <a:latin typeface="Times New Roman" panose="02020603050405020304" pitchFamily="18" charset="0"/>
              <a:ea typeface="Times New Roman" panose="02020603050405020304" pitchFamily="18" charset="0"/>
            </a:endParaRPr>
          </a:p>
          <a:p>
            <a:pPr marL="342900" lvl="0" indent="-342900">
              <a:lnSpc>
                <a:spcPts val="1560"/>
              </a:lnSpc>
              <a:buSzPts val="1000"/>
              <a:buFont typeface="Symbol" panose="05050102010706020507" pitchFamily="18" charset="2"/>
              <a:buChar char=""/>
              <a:tabLst>
                <a:tab pos="457200" algn="l"/>
              </a:tabLst>
            </a:pPr>
            <a:r>
              <a:rPr lang="ru-RU" sz="1800" b="1" dirty="0" err="1">
                <a:solidFill>
                  <a:srgbClr val="000000"/>
                </a:solidFill>
                <a:effectLst/>
                <a:latin typeface="Verdana" panose="020B0604030504040204" pitchFamily="34" charset="0"/>
                <a:ea typeface="Times New Roman" panose="02020603050405020304" pitchFamily="18" charset="0"/>
              </a:rPr>
              <a:t>Width</a:t>
            </a:r>
            <a:r>
              <a:rPr lang="ru-RU" sz="1800" dirty="0">
                <a:solidFill>
                  <a:srgbClr val="000000"/>
                </a:solidFill>
                <a:effectLst/>
                <a:latin typeface="Verdana" panose="020B0604030504040204" pitchFamily="34" charset="0"/>
                <a:ea typeface="Times New Roman" panose="02020603050405020304" pitchFamily="18" charset="0"/>
              </a:rPr>
              <a:t>: ширина элемента</a:t>
            </a:r>
            <a:endParaRPr lang="ru-RU" sz="1800" dirty="0">
              <a:effectLst/>
              <a:latin typeface="Times New Roman" panose="02020603050405020304" pitchFamily="18" charset="0"/>
              <a:ea typeface="Times New Roman" panose="02020603050405020304" pitchFamily="18" charset="0"/>
            </a:endParaRPr>
          </a:p>
          <a:p>
            <a:pPr marL="342900" lvl="0" indent="-342900">
              <a:lnSpc>
                <a:spcPts val="1560"/>
              </a:lnSpc>
              <a:buSzPts val="1000"/>
              <a:buFont typeface="Symbol" panose="05050102010706020507" pitchFamily="18" charset="2"/>
              <a:buChar char=""/>
              <a:tabLst>
                <a:tab pos="457200" algn="l"/>
              </a:tabLst>
            </a:pPr>
            <a:r>
              <a:rPr lang="ru-RU" sz="1800" b="1" dirty="0" err="1">
                <a:solidFill>
                  <a:srgbClr val="000000"/>
                </a:solidFill>
                <a:effectLst/>
                <a:latin typeface="Verdana" panose="020B0604030504040204" pitchFamily="34" charset="0"/>
                <a:ea typeface="Times New Roman" panose="02020603050405020304" pitchFamily="18" charset="0"/>
              </a:rPr>
              <a:t>Height</a:t>
            </a:r>
            <a:r>
              <a:rPr lang="ru-RU" sz="1800" dirty="0">
                <a:solidFill>
                  <a:srgbClr val="000000"/>
                </a:solidFill>
                <a:effectLst/>
                <a:latin typeface="Verdana" panose="020B0604030504040204" pitchFamily="34" charset="0"/>
                <a:ea typeface="Times New Roman" panose="02020603050405020304" pitchFamily="18" charset="0"/>
              </a:rPr>
              <a:t>: высота элемента</a:t>
            </a:r>
            <a:endParaRPr lang="ru-RU" sz="1800" dirty="0">
              <a:effectLst/>
              <a:latin typeface="Times New Roman" panose="02020603050405020304" pitchFamily="18" charset="0"/>
              <a:ea typeface="Times New Roman" panose="02020603050405020304" pitchFamily="18" charset="0"/>
            </a:endParaRPr>
          </a:p>
          <a:p>
            <a:pPr marL="342900" lvl="0" indent="-342900">
              <a:lnSpc>
                <a:spcPts val="1560"/>
              </a:lnSpc>
              <a:buSzPts val="1000"/>
              <a:buFont typeface="Symbol" panose="05050102010706020507" pitchFamily="18" charset="2"/>
              <a:buChar char=""/>
              <a:tabLst>
                <a:tab pos="457200" algn="l"/>
              </a:tabLst>
            </a:pPr>
            <a:r>
              <a:rPr lang="ru-RU" sz="1800" b="1" dirty="0" err="1">
                <a:solidFill>
                  <a:srgbClr val="000000"/>
                </a:solidFill>
                <a:effectLst/>
                <a:latin typeface="Verdana" panose="020B0604030504040204" pitchFamily="34" charset="0"/>
                <a:ea typeface="Times New Roman" panose="02020603050405020304" pitchFamily="18" charset="0"/>
              </a:rPr>
              <a:t>TabIndex</a:t>
            </a:r>
            <a:r>
              <a:rPr lang="ru-RU" sz="1800" dirty="0">
                <a:solidFill>
                  <a:srgbClr val="000000"/>
                </a:solidFill>
                <a:effectLst/>
                <a:latin typeface="Verdana" panose="020B0604030504040204" pitchFamily="34" charset="0"/>
                <a:ea typeface="Times New Roman" panose="02020603050405020304" pitchFamily="18" charset="0"/>
              </a:rPr>
              <a:t>: Определяет порядок обхода элемента по нажатию на клавишу </a:t>
            </a:r>
            <a:r>
              <a:rPr lang="ru-RU" sz="1800" dirty="0" err="1">
                <a:solidFill>
                  <a:srgbClr val="000000"/>
                </a:solidFill>
                <a:effectLst/>
                <a:latin typeface="Verdana" panose="020B0604030504040204" pitchFamily="34" charset="0"/>
                <a:ea typeface="Times New Roman" panose="02020603050405020304" pitchFamily="18" charset="0"/>
              </a:rPr>
              <a:t>Tab</a:t>
            </a:r>
            <a:endParaRPr lang="ru-RU" sz="1800" dirty="0">
              <a:effectLst/>
              <a:latin typeface="Times New Roman" panose="02020603050405020304" pitchFamily="18" charset="0"/>
              <a:ea typeface="Times New Roman" panose="02020603050405020304" pitchFamily="18" charset="0"/>
            </a:endParaRPr>
          </a:p>
          <a:p>
            <a:pPr marL="342900" lvl="0" indent="-342900">
              <a:lnSpc>
                <a:spcPts val="1560"/>
              </a:lnSpc>
              <a:buSzPts val="1000"/>
              <a:buFont typeface="Symbol" panose="05050102010706020507" pitchFamily="18" charset="2"/>
              <a:buChar char=""/>
              <a:tabLst>
                <a:tab pos="457200" algn="l"/>
              </a:tabLst>
            </a:pPr>
            <a:r>
              <a:rPr lang="ru-RU" sz="1800" b="1" dirty="0" err="1">
                <a:solidFill>
                  <a:srgbClr val="000000"/>
                </a:solidFill>
                <a:effectLst/>
                <a:latin typeface="Verdana" panose="020B0604030504040204" pitchFamily="34" charset="0"/>
                <a:ea typeface="Times New Roman" panose="02020603050405020304" pitchFamily="18" charset="0"/>
              </a:rPr>
              <a:t>Tag</a:t>
            </a:r>
            <a:r>
              <a:rPr lang="ru-RU" sz="1800" dirty="0">
                <a:solidFill>
                  <a:srgbClr val="000000"/>
                </a:solidFill>
                <a:effectLst/>
                <a:latin typeface="Verdana" panose="020B0604030504040204" pitchFamily="34" charset="0"/>
                <a:ea typeface="Times New Roman" panose="02020603050405020304" pitchFamily="18" charset="0"/>
              </a:rPr>
              <a:t>: Позволяет сохранять значение, ассоциированное с этим элементом управления</a:t>
            </a:r>
          </a:p>
          <a:p>
            <a:pPr marL="342900" indent="-342900">
              <a:lnSpc>
                <a:spcPts val="1560"/>
              </a:lnSpc>
              <a:buSzPts val="1000"/>
              <a:buFont typeface="Symbol" panose="05050102010706020507" pitchFamily="18" charset="2"/>
              <a:buChar char=""/>
              <a:tabLst>
                <a:tab pos="457200" algn="l"/>
              </a:tabLst>
            </a:pPr>
            <a:r>
              <a:rPr lang="ru-RU" sz="2400" dirty="0">
                <a:effectLst/>
                <a:latin typeface="Times New Roman" panose="02020603050405020304" pitchFamily="18" charset="0"/>
                <a:ea typeface="Times New Roman" panose="02020603050405020304" pitchFamily="18" charset="0"/>
              </a:rPr>
              <a:t>Для того, чтобы разместить элемент на форме необходимо перетащить его мышью с панели управления на форму.</a:t>
            </a:r>
          </a:p>
          <a:p>
            <a:pPr marL="342900" lvl="0" indent="-342900">
              <a:lnSpc>
                <a:spcPts val="1560"/>
              </a:lnSpc>
              <a:buSzPts val="1000"/>
              <a:buFont typeface="Symbol" panose="05050102010706020507" pitchFamily="18" charset="2"/>
              <a:buChar char=""/>
              <a:tabLst>
                <a:tab pos="457200" algn="l"/>
              </a:tabLst>
            </a:pPr>
            <a:endParaRPr lang="ru-RU" sz="1800" dirty="0">
              <a:effectLst/>
              <a:latin typeface="Times New Roman" panose="02020603050405020304" pitchFamily="18" charset="0"/>
              <a:ea typeface="Times New Roman" panose="02020603050405020304" pitchFamily="18" charset="0"/>
            </a:endParaRPr>
          </a:p>
          <a:p>
            <a:pPr indent="450215" algn="just"/>
            <a:endParaRPr lang="ru-RU"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9819373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ED3A22-6DF4-4BC2-8503-F400E041EAC8}"/>
              </a:ext>
            </a:extLst>
          </p:cNvPr>
          <p:cNvSpPr>
            <a:spLocks noGrp="1"/>
          </p:cNvSpPr>
          <p:nvPr>
            <p:ph type="title"/>
          </p:nvPr>
        </p:nvSpPr>
        <p:spPr/>
        <p:txBody>
          <a:bodyPr/>
          <a:lstStyle/>
          <a:p>
            <a:pPr algn="ctr"/>
            <a:r>
              <a:rPr lang="ru-RU" dirty="0">
                <a:solidFill>
                  <a:srgbClr val="0070C0"/>
                </a:solidFill>
              </a:rPr>
              <a:t>Элемент </a:t>
            </a:r>
            <a:r>
              <a:rPr lang="en-US" dirty="0">
                <a:solidFill>
                  <a:srgbClr val="0070C0"/>
                </a:solidFill>
              </a:rPr>
              <a:t>Label</a:t>
            </a:r>
            <a:endParaRPr lang="ru-RU" dirty="0">
              <a:solidFill>
                <a:srgbClr val="7030A0"/>
              </a:solidFill>
            </a:endParaRPr>
          </a:p>
        </p:txBody>
      </p:sp>
      <p:sp>
        <p:nvSpPr>
          <p:cNvPr id="5" name="Объект 4">
            <a:extLst>
              <a:ext uri="{FF2B5EF4-FFF2-40B4-BE49-F238E27FC236}">
                <a16:creationId xmlns:a16="http://schemas.microsoft.com/office/drawing/2014/main" id="{58D1561F-2FBB-4AA8-A141-A29CBB6ACFD6}"/>
              </a:ext>
            </a:extLst>
          </p:cNvPr>
          <p:cNvSpPr>
            <a:spLocks noGrp="1"/>
          </p:cNvSpPr>
          <p:nvPr>
            <p:ph idx="1"/>
          </p:nvPr>
        </p:nvSpPr>
        <p:spPr/>
        <p:txBody>
          <a:bodyPr>
            <a:normAutofit/>
          </a:bodyPr>
          <a:lstStyle/>
          <a:p>
            <a:pPr marL="342900" lvl="0" indent="-342900">
              <a:lnSpc>
                <a:spcPts val="1560"/>
              </a:lnSpc>
              <a:buSzPts val="1000"/>
              <a:buFont typeface="Symbol" panose="05050102010706020507" pitchFamily="18" charset="2"/>
              <a:buChar char=""/>
              <a:tabLst>
                <a:tab pos="457200" algn="l"/>
              </a:tabLst>
            </a:pPr>
            <a:endParaRPr lang="ru-RU" sz="1800" b="1" dirty="0">
              <a:solidFill>
                <a:srgbClr val="000000"/>
              </a:solidFill>
              <a:effectLst/>
              <a:latin typeface="Verdana" panose="020B0604030504040204" pitchFamily="34" charset="0"/>
              <a:ea typeface="Times New Roman" panose="02020603050405020304" pitchFamily="18" charset="0"/>
            </a:endParaRPr>
          </a:p>
          <a:p>
            <a:pPr indent="450215" algn="just"/>
            <a:r>
              <a:rPr lang="ru-RU"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Для отображения простого текста на форме, доступного только для чтения, служит элемент </a:t>
            </a:r>
            <a:r>
              <a:rPr lang="ru-RU"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Label</a:t>
            </a:r>
            <a:r>
              <a:rPr lang="ru-RU"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(метка). </a:t>
            </a:r>
            <a:r>
              <a:rPr lang="ru-RU" sz="1800" dirty="0">
                <a:effectLst/>
                <a:latin typeface="Times New Roman" panose="02020603050405020304" pitchFamily="18" charset="0"/>
                <a:ea typeface="Times New Roman" panose="02020603050405020304" pitchFamily="18" charset="0"/>
              </a:rPr>
              <a:t>Основные его свойства приведены в табл. 3.</a:t>
            </a:r>
          </a:p>
          <a:p>
            <a:pPr indent="450215" algn="just"/>
            <a:endParaRPr lang="ru-RU" sz="1800" dirty="0">
              <a:effectLst/>
              <a:latin typeface="Times New Roman" panose="02020603050405020304" pitchFamily="18" charset="0"/>
              <a:ea typeface="Times New Roman" panose="02020603050405020304" pitchFamily="18" charset="0"/>
            </a:endParaRPr>
          </a:p>
        </p:txBody>
      </p:sp>
      <p:graphicFrame>
        <p:nvGraphicFramePr>
          <p:cNvPr id="3" name="Таблица 2">
            <a:extLst>
              <a:ext uri="{FF2B5EF4-FFF2-40B4-BE49-F238E27FC236}">
                <a16:creationId xmlns:a16="http://schemas.microsoft.com/office/drawing/2014/main" id="{1D97B83E-CA40-48DB-9E62-862146D10E7D}"/>
              </a:ext>
            </a:extLst>
          </p:cNvPr>
          <p:cNvGraphicFramePr>
            <a:graphicFrameLocks noGrp="1"/>
          </p:cNvGraphicFramePr>
          <p:nvPr>
            <p:extLst>
              <p:ext uri="{D42A27DB-BD31-4B8C-83A1-F6EECF244321}">
                <p14:modId xmlns:p14="http://schemas.microsoft.com/office/powerpoint/2010/main" val="282505104"/>
              </p:ext>
            </p:extLst>
          </p:nvPr>
        </p:nvGraphicFramePr>
        <p:xfrm>
          <a:off x="2701256" y="3178334"/>
          <a:ext cx="6284312" cy="2425510"/>
        </p:xfrm>
        <a:graphic>
          <a:graphicData uri="http://schemas.openxmlformats.org/drawingml/2006/table">
            <a:tbl>
              <a:tblPr firstRow="1" firstCol="1" bandRow="1">
                <a:tableStyleId>{5C22544A-7EE6-4342-B048-85BDC9FD1C3A}</a:tableStyleId>
              </a:tblPr>
              <a:tblGrid>
                <a:gridCol w="1151767">
                  <a:extLst>
                    <a:ext uri="{9D8B030D-6E8A-4147-A177-3AD203B41FA5}">
                      <a16:colId xmlns:a16="http://schemas.microsoft.com/office/drawing/2014/main" val="967387196"/>
                    </a:ext>
                  </a:extLst>
                </a:gridCol>
                <a:gridCol w="5132545">
                  <a:extLst>
                    <a:ext uri="{9D8B030D-6E8A-4147-A177-3AD203B41FA5}">
                      <a16:colId xmlns:a16="http://schemas.microsoft.com/office/drawing/2014/main" val="11461430"/>
                    </a:ext>
                  </a:extLst>
                </a:gridCol>
              </a:tblGrid>
              <a:tr h="269501">
                <a:tc>
                  <a:txBody>
                    <a:bodyPr/>
                    <a:lstStyle/>
                    <a:p>
                      <a:pPr algn="ctr"/>
                      <a:r>
                        <a:rPr lang="ru-RU" sz="1200">
                          <a:effectLst/>
                        </a:rPr>
                        <a:t>Свойство</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ru-RU" sz="1200">
                          <a:effectLst/>
                        </a:rPr>
                        <a:t>Описание</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542890396"/>
                  </a:ext>
                </a:extLst>
              </a:tr>
              <a:tr h="269501">
                <a:tc>
                  <a:txBody>
                    <a:bodyPr/>
                    <a:lstStyle/>
                    <a:p>
                      <a:pPr algn="just"/>
                      <a:r>
                        <a:rPr lang="en-US" sz="1200">
                          <a:effectLst/>
                        </a:rPr>
                        <a:t>Name</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ru-RU" sz="1200">
                          <a:effectLst/>
                        </a:rPr>
                        <a:t>Задает имя объекта, используется для ссылки на объект в программе</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971262440"/>
                  </a:ext>
                </a:extLst>
              </a:tr>
              <a:tr h="269501">
                <a:tc>
                  <a:txBody>
                    <a:bodyPr/>
                    <a:lstStyle/>
                    <a:p>
                      <a:pPr algn="just"/>
                      <a:r>
                        <a:rPr lang="en-US" sz="1200">
                          <a:effectLst/>
                        </a:rPr>
                        <a:t>Text</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ru-RU" sz="1200">
                          <a:effectLst/>
                        </a:rPr>
                        <a:t>Строка, задает тот текст, который будет выведен в окне</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902946462"/>
                  </a:ext>
                </a:extLst>
              </a:tr>
              <a:tr h="539003">
                <a:tc>
                  <a:txBody>
                    <a:bodyPr/>
                    <a:lstStyle/>
                    <a:p>
                      <a:pPr algn="just"/>
                      <a:r>
                        <a:rPr lang="en-US" sz="1200">
                          <a:effectLst/>
                        </a:rPr>
                        <a:t>Autosize</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ru-RU" sz="1200">
                          <a:effectLst/>
                        </a:rPr>
                        <a:t>Если свойство равно </a:t>
                      </a:r>
                      <a:r>
                        <a:rPr lang="en-US" sz="1200">
                          <a:effectLst/>
                        </a:rPr>
                        <a:t>true</a:t>
                      </a:r>
                      <a:r>
                        <a:rPr lang="ru-RU" sz="1200">
                          <a:effectLst/>
                        </a:rPr>
                        <a:t>, то рамка объекта растягивается по размеру текста.</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691843245"/>
                  </a:ext>
                </a:extLst>
              </a:tr>
              <a:tr h="269501">
                <a:tc>
                  <a:txBody>
                    <a:bodyPr/>
                    <a:lstStyle/>
                    <a:p>
                      <a:pPr algn="just"/>
                      <a:r>
                        <a:rPr lang="en-US" sz="1200">
                          <a:effectLst/>
                        </a:rPr>
                        <a:t>Font</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ru-RU" sz="1200">
                          <a:effectLst/>
                        </a:rPr>
                        <a:t>Задает шрифт (размер, стиль, подчеркивание, зачеркивание)</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057238806"/>
                  </a:ext>
                </a:extLst>
              </a:tr>
              <a:tr h="269501">
                <a:tc>
                  <a:txBody>
                    <a:bodyPr/>
                    <a:lstStyle/>
                    <a:p>
                      <a:pPr algn="just"/>
                      <a:r>
                        <a:rPr lang="en-US" sz="1200">
                          <a:effectLst/>
                        </a:rPr>
                        <a:t>Image</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ru-RU" sz="1200">
                          <a:effectLst/>
                        </a:rPr>
                        <a:t>Задает рисунок, связанный с текстом</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883968074"/>
                  </a:ext>
                </a:extLst>
              </a:tr>
              <a:tr h="269501">
                <a:tc>
                  <a:txBody>
                    <a:bodyPr/>
                    <a:lstStyle/>
                    <a:p>
                      <a:pPr algn="just"/>
                      <a:r>
                        <a:rPr lang="en-US" sz="1200">
                          <a:effectLst/>
                        </a:rPr>
                        <a:t>TextAlign</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ru-RU" sz="1200">
                          <a:effectLst/>
                        </a:rPr>
                        <a:t>Задает выравнивание текста относительно рамки</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279404221"/>
                  </a:ext>
                </a:extLst>
              </a:tr>
              <a:tr h="269501">
                <a:tc>
                  <a:txBody>
                    <a:bodyPr/>
                    <a:lstStyle/>
                    <a:p>
                      <a:pPr algn="just"/>
                      <a:r>
                        <a:rPr lang="en-US" sz="1200">
                          <a:effectLst/>
                        </a:rPr>
                        <a:t>BackColor</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ru-RU" sz="1200" dirty="0">
                          <a:effectLst/>
                        </a:rPr>
                        <a:t>Задает цвет фона</a:t>
                      </a:r>
                      <a:endParaRPr lang="ru-RU"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137808338"/>
                  </a:ext>
                </a:extLst>
              </a:tr>
            </a:tbl>
          </a:graphicData>
        </a:graphic>
      </p:graphicFrame>
    </p:spTree>
    <p:extLst>
      <p:ext uri="{BB962C8B-B14F-4D97-AF65-F5344CB8AC3E}">
        <p14:creationId xmlns:p14="http://schemas.microsoft.com/office/powerpoint/2010/main" val="11171341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ED3A22-6DF4-4BC2-8503-F400E041EAC8}"/>
              </a:ext>
            </a:extLst>
          </p:cNvPr>
          <p:cNvSpPr>
            <a:spLocks noGrp="1"/>
          </p:cNvSpPr>
          <p:nvPr>
            <p:ph type="title"/>
          </p:nvPr>
        </p:nvSpPr>
        <p:spPr/>
        <p:txBody>
          <a:bodyPr/>
          <a:lstStyle/>
          <a:p>
            <a:pPr algn="ctr"/>
            <a:r>
              <a:rPr lang="ru-RU" dirty="0">
                <a:solidFill>
                  <a:srgbClr val="0070C0"/>
                </a:solidFill>
              </a:rPr>
              <a:t>Элемент </a:t>
            </a:r>
            <a:r>
              <a:rPr lang="en-US" dirty="0">
                <a:solidFill>
                  <a:srgbClr val="0070C0"/>
                </a:solidFill>
              </a:rPr>
              <a:t>Label</a:t>
            </a:r>
            <a:endParaRPr lang="ru-RU" dirty="0">
              <a:solidFill>
                <a:srgbClr val="7030A0"/>
              </a:solidFill>
            </a:endParaRPr>
          </a:p>
        </p:txBody>
      </p:sp>
      <p:sp>
        <p:nvSpPr>
          <p:cNvPr id="5" name="Объект 4">
            <a:extLst>
              <a:ext uri="{FF2B5EF4-FFF2-40B4-BE49-F238E27FC236}">
                <a16:creationId xmlns:a16="http://schemas.microsoft.com/office/drawing/2014/main" id="{58D1561F-2FBB-4AA8-A141-A29CBB6ACFD6}"/>
              </a:ext>
            </a:extLst>
          </p:cNvPr>
          <p:cNvSpPr>
            <a:spLocks noGrp="1"/>
          </p:cNvSpPr>
          <p:nvPr>
            <p:ph idx="1"/>
          </p:nvPr>
        </p:nvSpPr>
        <p:spPr/>
        <p:txBody>
          <a:bodyPr>
            <a:normAutofit/>
          </a:bodyPr>
          <a:lstStyle/>
          <a:p>
            <a:pPr marL="342900" lvl="0" indent="-342900">
              <a:lnSpc>
                <a:spcPts val="1560"/>
              </a:lnSpc>
              <a:buSzPts val="1000"/>
              <a:buFont typeface="Symbol" panose="05050102010706020507" pitchFamily="18" charset="2"/>
              <a:buChar char=""/>
              <a:tabLst>
                <a:tab pos="457200" algn="l"/>
              </a:tabLst>
            </a:pPr>
            <a:endParaRPr lang="ru-RU" sz="1800" b="1" dirty="0">
              <a:solidFill>
                <a:srgbClr val="000000"/>
              </a:solidFill>
              <a:effectLst/>
              <a:latin typeface="Verdana" panose="020B0604030504040204" pitchFamily="34" charset="0"/>
              <a:ea typeface="Times New Roman" panose="02020603050405020304" pitchFamily="18" charset="0"/>
            </a:endParaRPr>
          </a:p>
          <a:p>
            <a:pPr indent="450215" algn="just"/>
            <a:r>
              <a:rPr lang="ru-RU" sz="1800" dirty="0">
                <a:effectLst/>
                <a:latin typeface="Times New Roman" panose="02020603050405020304" pitchFamily="18" charset="0"/>
                <a:ea typeface="Times New Roman" panose="02020603050405020304" pitchFamily="18" charset="0"/>
              </a:rPr>
              <a:t>Разместим на нашей форме </a:t>
            </a:r>
            <a:r>
              <a:rPr lang="en-US" sz="1800" dirty="0">
                <a:effectLst/>
                <a:latin typeface="Times New Roman" panose="02020603050405020304" pitchFamily="18" charset="0"/>
                <a:ea typeface="Times New Roman" panose="02020603050405020304" pitchFamily="18" charset="0"/>
              </a:rPr>
              <a:t>Label</a:t>
            </a:r>
            <a:endParaRPr lang="ru-RU" sz="1800" dirty="0">
              <a:effectLst/>
              <a:latin typeface="Times New Roman" panose="02020603050405020304" pitchFamily="18" charset="0"/>
              <a:ea typeface="Times New Roman" panose="02020603050405020304" pitchFamily="18" charset="0"/>
            </a:endParaRPr>
          </a:p>
          <a:p>
            <a:pPr indent="450215" algn="just"/>
            <a:r>
              <a:rPr lang="en-US" sz="1800" dirty="0">
                <a:effectLst/>
                <a:latin typeface="Times New Roman" panose="02020603050405020304" pitchFamily="18" charset="0"/>
                <a:ea typeface="Times New Roman" panose="02020603050405020304" pitchFamily="18" charset="0"/>
              </a:rPr>
              <a:t> </a:t>
            </a:r>
            <a:r>
              <a:rPr lang="ru-RU" sz="1800" dirty="0">
                <a:effectLst/>
                <a:latin typeface="Times New Roman" panose="02020603050405020304" pitchFamily="18" charset="0"/>
                <a:ea typeface="Times New Roman" panose="02020603050405020304" pitchFamily="18" charset="0"/>
              </a:rPr>
              <a:t>и с помощью свойства Текст создадим на ней надпись. </a:t>
            </a:r>
          </a:p>
        </p:txBody>
      </p:sp>
      <p:pic>
        <p:nvPicPr>
          <p:cNvPr id="6" name="Рисунок 5">
            <a:extLst>
              <a:ext uri="{FF2B5EF4-FFF2-40B4-BE49-F238E27FC236}">
                <a16:creationId xmlns:a16="http://schemas.microsoft.com/office/drawing/2014/main" id="{0A14DD18-26B0-456F-B292-EDE954D171C2}"/>
              </a:ext>
            </a:extLst>
          </p:cNvPr>
          <p:cNvPicPr/>
          <p:nvPr/>
        </p:nvPicPr>
        <p:blipFill>
          <a:blip r:embed="rId2"/>
          <a:stretch>
            <a:fillRect/>
          </a:stretch>
        </p:blipFill>
        <p:spPr>
          <a:xfrm>
            <a:off x="4756559" y="3280095"/>
            <a:ext cx="2199906" cy="2896868"/>
          </a:xfrm>
          <a:prstGeom prst="rect">
            <a:avLst/>
          </a:prstGeom>
        </p:spPr>
      </p:pic>
    </p:spTree>
    <p:extLst>
      <p:ext uri="{BB962C8B-B14F-4D97-AF65-F5344CB8AC3E}">
        <p14:creationId xmlns:p14="http://schemas.microsoft.com/office/powerpoint/2010/main" val="33429813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ED3A22-6DF4-4BC2-8503-F400E041EAC8}"/>
              </a:ext>
            </a:extLst>
          </p:cNvPr>
          <p:cNvSpPr>
            <a:spLocks noGrp="1"/>
          </p:cNvSpPr>
          <p:nvPr>
            <p:ph type="title"/>
          </p:nvPr>
        </p:nvSpPr>
        <p:spPr/>
        <p:txBody>
          <a:bodyPr/>
          <a:lstStyle/>
          <a:p>
            <a:pPr algn="ctr"/>
            <a:r>
              <a:rPr lang="ru-RU" dirty="0">
                <a:solidFill>
                  <a:srgbClr val="0070C0"/>
                </a:solidFill>
              </a:rPr>
              <a:t>Элемент </a:t>
            </a:r>
            <a:r>
              <a:rPr lang="en-US" dirty="0">
                <a:solidFill>
                  <a:srgbClr val="0070C0"/>
                </a:solidFill>
              </a:rPr>
              <a:t>Button </a:t>
            </a:r>
            <a:r>
              <a:rPr lang="ru-RU" dirty="0">
                <a:solidFill>
                  <a:srgbClr val="0070C0"/>
                </a:solidFill>
              </a:rPr>
              <a:t>(кнопка)</a:t>
            </a:r>
            <a:endParaRPr lang="ru-RU" dirty="0">
              <a:solidFill>
                <a:srgbClr val="7030A0"/>
              </a:solidFill>
            </a:endParaRPr>
          </a:p>
        </p:txBody>
      </p:sp>
      <p:sp>
        <p:nvSpPr>
          <p:cNvPr id="5" name="Объект 4">
            <a:extLst>
              <a:ext uri="{FF2B5EF4-FFF2-40B4-BE49-F238E27FC236}">
                <a16:creationId xmlns:a16="http://schemas.microsoft.com/office/drawing/2014/main" id="{58D1561F-2FBB-4AA8-A141-A29CBB6ACFD6}"/>
              </a:ext>
            </a:extLst>
          </p:cNvPr>
          <p:cNvSpPr>
            <a:spLocks noGrp="1"/>
          </p:cNvSpPr>
          <p:nvPr>
            <p:ph idx="1"/>
          </p:nvPr>
        </p:nvSpPr>
        <p:spPr/>
        <p:txBody>
          <a:bodyPr>
            <a:normAutofit/>
          </a:bodyPr>
          <a:lstStyle/>
          <a:p>
            <a:pPr marL="342900" indent="-342900">
              <a:lnSpc>
                <a:spcPts val="1560"/>
              </a:lnSpc>
              <a:buSzPts val="1000"/>
              <a:buFont typeface="Symbol" panose="05050102010706020507" pitchFamily="18" charset="2"/>
              <a:buChar char=""/>
              <a:tabLst>
                <a:tab pos="457200" algn="l"/>
              </a:tabLst>
            </a:pPr>
            <a:r>
              <a:rPr lang="ru-RU" sz="1800" dirty="0">
                <a:solidFill>
                  <a:srgbClr val="000000"/>
                </a:solidFill>
                <a:effectLst/>
                <a:latin typeface="Times New Roman" panose="02020603050405020304" pitchFamily="18" charset="0"/>
                <a:ea typeface="Times New Roman" panose="02020603050405020304" pitchFamily="18" charset="0"/>
              </a:rPr>
              <a:t>Наиболее часто используемым элементом управления является кнопка. Обрабатывая событие нажатия кнопки, мы может производить те или иные действия.</a:t>
            </a:r>
            <a:endParaRPr lang="ru-RU" sz="1800" dirty="0">
              <a:effectLst/>
              <a:latin typeface="Times New Roman" panose="02020603050405020304" pitchFamily="18" charset="0"/>
              <a:ea typeface="Times New Roman" panose="02020603050405020304" pitchFamily="18" charset="0"/>
            </a:endParaRPr>
          </a:p>
          <a:p>
            <a:pPr marL="342900" lvl="0" indent="-342900">
              <a:lnSpc>
                <a:spcPts val="1560"/>
              </a:lnSpc>
              <a:buSzPts val="1000"/>
              <a:buFont typeface="Symbol" panose="05050102010706020507" pitchFamily="18" charset="2"/>
              <a:buChar char=""/>
              <a:tabLst>
                <a:tab pos="457200" algn="l"/>
              </a:tabLst>
            </a:pPr>
            <a:endParaRPr lang="ru-RU" sz="1800" b="1" dirty="0">
              <a:solidFill>
                <a:srgbClr val="000000"/>
              </a:solidFill>
              <a:effectLst/>
              <a:latin typeface="Verdana" panose="020B0604030504040204" pitchFamily="34" charset="0"/>
              <a:ea typeface="Times New Roman" panose="02020603050405020304" pitchFamily="18" charset="0"/>
            </a:endParaRPr>
          </a:p>
        </p:txBody>
      </p:sp>
      <p:graphicFrame>
        <p:nvGraphicFramePr>
          <p:cNvPr id="3" name="Таблица 2">
            <a:extLst>
              <a:ext uri="{FF2B5EF4-FFF2-40B4-BE49-F238E27FC236}">
                <a16:creationId xmlns:a16="http://schemas.microsoft.com/office/drawing/2014/main" id="{2CB7C4B0-926C-4380-B706-5DBFC0236EE1}"/>
              </a:ext>
            </a:extLst>
          </p:cNvPr>
          <p:cNvGraphicFramePr>
            <a:graphicFrameLocks noGrp="1"/>
          </p:cNvGraphicFramePr>
          <p:nvPr>
            <p:extLst>
              <p:ext uri="{D42A27DB-BD31-4B8C-83A1-F6EECF244321}">
                <p14:modId xmlns:p14="http://schemas.microsoft.com/office/powerpoint/2010/main" val="2805024582"/>
              </p:ext>
            </p:extLst>
          </p:nvPr>
        </p:nvGraphicFramePr>
        <p:xfrm>
          <a:off x="2961314" y="3086894"/>
          <a:ext cx="5536256" cy="2634400"/>
        </p:xfrm>
        <a:graphic>
          <a:graphicData uri="http://schemas.openxmlformats.org/drawingml/2006/table">
            <a:tbl>
              <a:tblPr firstRow="1" firstCol="1" bandRow="1">
                <a:tableStyleId>{5C22544A-7EE6-4342-B048-85BDC9FD1C3A}</a:tableStyleId>
              </a:tblPr>
              <a:tblGrid>
                <a:gridCol w="1564849">
                  <a:extLst>
                    <a:ext uri="{9D8B030D-6E8A-4147-A177-3AD203B41FA5}">
                      <a16:colId xmlns:a16="http://schemas.microsoft.com/office/drawing/2014/main" val="2718252984"/>
                    </a:ext>
                  </a:extLst>
                </a:gridCol>
                <a:gridCol w="3971407">
                  <a:extLst>
                    <a:ext uri="{9D8B030D-6E8A-4147-A177-3AD203B41FA5}">
                      <a16:colId xmlns:a16="http://schemas.microsoft.com/office/drawing/2014/main" val="2729064892"/>
                    </a:ext>
                  </a:extLst>
                </a:gridCol>
              </a:tblGrid>
              <a:tr h="263440">
                <a:tc>
                  <a:txBody>
                    <a:bodyPr/>
                    <a:lstStyle/>
                    <a:p>
                      <a:pPr algn="ctr"/>
                      <a:r>
                        <a:rPr lang="ru-RU" sz="1200">
                          <a:effectLst/>
                        </a:rPr>
                        <a:t>Свойство</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ru-RU" sz="1200">
                          <a:effectLst/>
                        </a:rPr>
                        <a:t>Описание</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729995008"/>
                  </a:ext>
                </a:extLst>
              </a:tr>
              <a:tr h="263440">
                <a:tc>
                  <a:txBody>
                    <a:bodyPr/>
                    <a:lstStyle/>
                    <a:p>
                      <a:pPr algn="just"/>
                      <a:r>
                        <a:rPr lang="en-US" sz="1200">
                          <a:effectLst/>
                        </a:rPr>
                        <a:t>Text</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ru-RU" sz="1200">
                          <a:effectLst/>
                        </a:rPr>
                        <a:t>Текст на кнопке</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667661325"/>
                  </a:ext>
                </a:extLst>
              </a:tr>
              <a:tr h="263440">
                <a:tc>
                  <a:txBody>
                    <a:bodyPr/>
                    <a:lstStyle/>
                    <a:p>
                      <a:pPr algn="just"/>
                      <a:r>
                        <a:rPr lang="en-US" sz="1200">
                          <a:effectLst/>
                        </a:rPr>
                        <a:t>TextAlign</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ru-RU" sz="1200">
                          <a:effectLst/>
                        </a:rPr>
                        <a:t>Выравнивание текста относительно рамки</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576606798"/>
                  </a:ext>
                </a:extLst>
              </a:tr>
              <a:tr h="263440">
                <a:tc>
                  <a:txBody>
                    <a:bodyPr/>
                    <a:lstStyle/>
                    <a:p>
                      <a:pPr algn="just"/>
                      <a:r>
                        <a:rPr lang="en-US" sz="1200">
                          <a:effectLst/>
                        </a:rPr>
                        <a:t>Size</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ru-RU" sz="1200">
                          <a:effectLst/>
                        </a:rPr>
                        <a:t>Размер кнопки</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900015014"/>
                  </a:ext>
                </a:extLst>
              </a:tr>
              <a:tr h="263440">
                <a:tc>
                  <a:txBody>
                    <a:bodyPr/>
                    <a:lstStyle/>
                    <a:p>
                      <a:pPr algn="just"/>
                      <a:r>
                        <a:rPr lang="en-US" sz="1200">
                          <a:effectLst/>
                        </a:rPr>
                        <a:t>Font</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ru-RU" sz="1200">
                          <a:effectLst/>
                        </a:rPr>
                        <a:t>Шрифт </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364464335"/>
                  </a:ext>
                </a:extLst>
              </a:tr>
              <a:tr h="263440">
                <a:tc>
                  <a:txBody>
                    <a:bodyPr/>
                    <a:lstStyle/>
                    <a:p>
                      <a:pPr algn="just"/>
                      <a:r>
                        <a:rPr lang="en-US" sz="1200">
                          <a:effectLst/>
                        </a:rPr>
                        <a:t>ForeColor</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ru-RU" sz="1200">
                          <a:effectLst/>
                        </a:rPr>
                        <a:t>Цвет букв</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86773261"/>
                  </a:ext>
                </a:extLst>
              </a:tr>
              <a:tr h="263440">
                <a:tc>
                  <a:txBody>
                    <a:bodyPr/>
                    <a:lstStyle/>
                    <a:p>
                      <a:pPr algn="just"/>
                      <a:r>
                        <a:rPr lang="en-US" sz="1200">
                          <a:effectLst/>
                        </a:rPr>
                        <a:t>BackColor </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ru-RU" sz="1200">
                          <a:effectLst/>
                        </a:rPr>
                        <a:t>Цвет фона</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65997829"/>
                  </a:ext>
                </a:extLst>
              </a:tr>
              <a:tr h="263440">
                <a:tc>
                  <a:txBody>
                    <a:bodyPr/>
                    <a:lstStyle/>
                    <a:p>
                      <a:pPr marL="457200" indent="3810"/>
                      <a:r>
                        <a:rPr lang="en-US" sz="1200">
                          <a:effectLst/>
                        </a:rPr>
                        <a:t>Image </a:t>
                      </a:r>
                      <a:endParaRPr lang="ru-RU"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457200" indent="3810"/>
                      <a:r>
                        <a:rPr lang="ru-RU" sz="1200" dirty="0">
                          <a:effectLst/>
                        </a:rPr>
                        <a:t>Картинка на кнопке</a:t>
                      </a:r>
                      <a:endParaRPr lang="ru-RU" sz="12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113171414"/>
                  </a:ext>
                </a:extLst>
              </a:tr>
              <a:tr h="526880">
                <a:tc>
                  <a:txBody>
                    <a:bodyPr/>
                    <a:lstStyle/>
                    <a:p>
                      <a:pPr marL="457200" indent="3810"/>
                      <a:r>
                        <a:rPr lang="en-US" sz="1200">
                          <a:effectLst/>
                        </a:rPr>
                        <a:t>ImageAlign </a:t>
                      </a:r>
                      <a:endParaRPr lang="ru-RU"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457200" indent="3810"/>
                      <a:r>
                        <a:rPr lang="ru-RU" sz="1200" dirty="0">
                          <a:effectLst/>
                        </a:rPr>
                        <a:t>Выравнивание картинки относительно рамки</a:t>
                      </a:r>
                      <a:endParaRPr lang="ru-RU" sz="12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470365278"/>
                  </a:ext>
                </a:extLst>
              </a:tr>
            </a:tbl>
          </a:graphicData>
        </a:graphic>
      </p:graphicFrame>
    </p:spTree>
    <p:extLst>
      <p:ext uri="{BB962C8B-B14F-4D97-AF65-F5344CB8AC3E}">
        <p14:creationId xmlns:p14="http://schemas.microsoft.com/office/powerpoint/2010/main" val="21089207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ED3A22-6DF4-4BC2-8503-F400E041EAC8}"/>
              </a:ext>
            </a:extLst>
          </p:cNvPr>
          <p:cNvSpPr>
            <a:spLocks noGrp="1"/>
          </p:cNvSpPr>
          <p:nvPr>
            <p:ph type="title"/>
          </p:nvPr>
        </p:nvSpPr>
        <p:spPr/>
        <p:txBody>
          <a:bodyPr/>
          <a:lstStyle/>
          <a:p>
            <a:pPr algn="ctr"/>
            <a:r>
              <a:rPr lang="ru-RU" dirty="0">
                <a:solidFill>
                  <a:srgbClr val="0070C0"/>
                </a:solidFill>
              </a:rPr>
              <a:t>Элемент </a:t>
            </a:r>
            <a:r>
              <a:rPr lang="en-US" dirty="0">
                <a:solidFill>
                  <a:srgbClr val="0070C0"/>
                </a:solidFill>
              </a:rPr>
              <a:t>Button </a:t>
            </a:r>
            <a:r>
              <a:rPr lang="ru-RU" dirty="0">
                <a:solidFill>
                  <a:srgbClr val="0070C0"/>
                </a:solidFill>
              </a:rPr>
              <a:t>(кнопка)</a:t>
            </a:r>
            <a:endParaRPr lang="ru-RU" dirty="0">
              <a:solidFill>
                <a:srgbClr val="7030A0"/>
              </a:solidFill>
            </a:endParaRPr>
          </a:p>
        </p:txBody>
      </p:sp>
      <p:sp>
        <p:nvSpPr>
          <p:cNvPr id="5" name="Объект 4">
            <a:extLst>
              <a:ext uri="{FF2B5EF4-FFF2-40B4-BE49-F238E27FC236}">
                <a16:creationId xmlns:a16="http://schemas.microsoft.com/office/drawing/2014/main" id="{58D1561F-2FBB-4AA8-A141-A29CBB6ACFD6}"/>
              </a:ext>
            </a:extLst>
          </p:cNvPr>
          <p:cNvSpPr>
            <a:spLocks noGrp="1"/>
          </p:cNvSpPr>
          <p:nvPr>
            <p:ph idx="1"/>
          </p:nvPr>
        </p:nvSpPr>
        <p:spPr/>
        <p:txBody>
          <a:bodyPr>
            <a:normAutofit/>
          </a:bodyPr>
          <a:lstStyle/>
          <a:p>
            <a:pPr marL="342900" lvl="0" indent="-342900">
              <a:lnSpc>
                <a:spcPts val="1560"/>
              </a:lnSpc>
              <a:buSzPts val="1000"/>
              <a:buFont typeface="Symbol" panose="05050102010706020507" pitchFamily="18" charset="2"/>
              <a:buChar char=""/>
              <a:tabLst>
                <a:tab pos="457200" algn="l"/>
              </a:tabLst>
            </a:pPr>
            <a:r>
              <a:rPr lang="ru-RU" sz="1800" dirty="0">
                <a:solidFill>
                  <a:srgbClr val="000000"/>
                </a:solidFill>
                <a:effectLst/>
                <a:latin typeface="Times New Roman" panose="02020603050405020304" pitchFamily="18" charset="0"/>
                <a:ea typeface="Times New Roman" panose="02020603050405020304" pitchFamily="18" charset="0"/>
              </a:rPr>
              <a:t>Установим для кнопки изображение. Для этого выберем кнопку и в окне Свойств нажмем на поле </a:t>
            </a:r>
            <a:r>
              <a:rPr lang="ru-RU" sz="1800" dirty="0" err="1">
                <a:solidFill>
                  <a:srgbClr val="000000"/>
                </a:solidFill>
                <a:effectLst/>
                <a:latin typeface="Times New Roman" panose="02020603050405020304" pitchFamily="18" charset="0"/>
                <a:ea typeface="Times New Roman" panose="02020603050405020304" pitchFamily="18" charset="0"/>
              </a:rPr>
              <a:t>Image</a:t>
            </a:r>
            <a:r>
              <a:rPr lang="ru-RU" sz="1800" dirty="0">
                <a:solidFill>
                  <a:srgbClr val="000000"/>
                </a:solidFill>
                <a:effectLst/>
                <a:latin typeface="Times New Roman" panose="02020603050405020304" pitchFamily="18" charset="0"/>
                <a:ea typeface="Times New Roman" panose="02020603050405020304" pitchFamily="18" charset="0"/>
              </a:rPr>
              <a:t>. Нам откроется диалоговое окно установки изображения</a:t>
            </a:r>
          </a:p>
          <a:p>
            <a:pPr marL="342900" lvl="0" indent="-342900">
              <a:lnSpc>
                <a:spcPts val="1560"/>
              </a:lnSpc>
              <a:buSzPts val="1000"/>
              <a:buFont typeface="Symbol" panose="05050102010706020507" pitchFamily="18" charset="2"/>
              <a:buChar char=""/>
              <a:tabLst>
                <a:tab pos="457200" algn="l"/>
              </a:tabLst>
            </a:pPr>
            <a:endParaRPr lang="ru-RU" sz="1800" b="1" dirty="0">
              <a:solidFill>
                <a:srgbClr val="000000"/>
              </a:solidFill>
              <a:effectLst/>
              <a:latin typeface="Verdana" panose="020B0604030504040204" pitchFamily="34" charset="0"/>
              <a:ea typeface="Times New Roman" panose="02020603050405020304" pitchFamily="18" charset="0"/>
            </a:endParaRPr>
          </a:p>
        </p:txBody>
      </p:sp>
      <p:pic>
        <p:nvPicPr>
          <p:cNvPr id="6" name="Рисунок 5">
            <a:extLst>
              <a:ext uri="{FF2B5EF4-FFF2-40B4-BE49-F238E27FC236}">
                <a16:creationId xmlns:a16="http://schemas.microsoft.com/office/drawing/2014/main" id="{A551A33B-8B2D-481B-A698-9CB8662C9B48}"/>
              </a:ext>
            </a:extLst>
          </p:cNvPr>
          <p:cNvPicPr/>
          <p:nvPr/>
        </p:nvPicPr>
        <p:blipFill>
          <a:blip r:embed="rId2"/>
          <a:stretch>
            <a:fillRect/>
          </a:stretch>
        </p:blipFill>
        <p:spPr>
          <a:xfrm>
            <a:off x="4622334" y="2711280"/>
            <a:ext cx="3450173" cy="2942899"/>
          </a:xfrm>
          <a:prstGeom prst="rect">
            <a:avLst/>
          </a:prstGeom>
        </p:spPr>
      </p:pic>
    </p:spTree>
    <p:extLst>
      <p:ext uri="{BB962C8B-B14F-4D97-AF65-F5344CB8AC3E}">
        <p14:creationId xmlns:p14="http://schemas.microsoft.com/office/powerpoint/2010/main" val="39884498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ED3A22-6DF4-4BC2-8503-F400E041EAC8}"/>
              </a:ext>
            </a:extLst>
          </p:cNvPr>
          <p:cNvSpPr>
            <a:spLocks noGrp="1"/>
          </p:cNvSpPr>
          <p:nvPr>
            <p:ph type="title"/>
          </p:nvPr>
        </p:nvSpPr>
        <p:spPr/>
        <p:txBody>
          <a:bodyPr/>
          <a:lstStyle/>
          <a:p>
            <a:pPr algn="ctr"/>
            <a:r>
              <a:rPr lang="ru-RU" dirty="0">
                <a:solidFill>
                  <a:srgbClr val="0070C0"/>
                </a:solidFill>
              </a:rPr>
              <a:t>Элемент </a:t>
            </a:r>
            <a:r>
              <a:rPr lang="en-US" dirty="0">
                <a:solidFill>
                  <a:srgbClr val="0070C0"/>
                </a:solidFill>
              </a:rPr>
              <a:t>Button </a:t>
            </a:r>
            <a:r>
              <a:rPr lang="ru-RU" dirty="0">
                <a:solidFill>
                  <a:srgbClr val="0070C0"/>
                </a:solidFill>
              </a:rPr>
              <a:t>(кнопка)</a:t>
            </a:r>
            <a:endParaRPr lang="ru-RU" dirty="0">
              <a:solidFill>
                <a:srgbClr val="7030A0"/>
              </a:solidFill>
            </a:endParaRPr>
          </a:p>
        </p:txBody>
      </p:sp>
      <p:sp>
        <p:nvSpPr>
          <p:cNvPr id="5" name="Объект 4">
            <a:extLst>
              <a:ext uri="{FF2B5EF4-FFF2-40B4-BE49-F238E27FC236}">
                <a16:creationId xmlns:a16="http://schemas.microsoft.com/office/drawing/2014/main" id="{58D1561F-2FBB-4AA8-A141-A29CBB6ACFD6}"/>
              </a:ext>
            </a:extLst>
          </p:cNvPr>
          <p:cNvSpPr>
            <a:spLocks noGrp="1"/>
          </p:cNvSpPr>
          <p:nvPr>
            <p:ph idx="1"/>
          </p:nvPr>
        </p:nvSpPr>
        <p:spPr/>
        <p:txBody>
          <a:bodyPr>
            <a:normAutofit fontScale="85000" lnSpcReduction="20000"/>
          </a:bodyPr>
          <a:lstStyle/>
          <a:p>
            <a:pPr marL="342900" lvl="0" indent="-342900">
              <a:lnSpc>
                <a:spcPts val="1560"/>
              </a:lnSpc>
              <a:buSzPts val="1000"/>
              <a:buFont typeface="Symbol" panose="05050102010706020507" pitchFamily="18" charset="2"/>
              <a:buChar char=""/>
              <a:tabLst>
                <a:tab pos="457200" algn="l"/>
              </a:tabLst>
            </a:pPr>
            <a:endParaRPr lang="ru-RU" sz="1800" b="1" dirty="0">
              <a:solidFill>
                <a:srgbClr val="000000"/>
              </a:solidFill>
              <a:effectLst/>
              <a:latin typeface="Verdana" panose="020B0604030504040204" pitchFamily="34" charset="0"/>
              <a:ea typeface="Times New Roman" panose="02020603050405020304" pitchFamily="18" charset="0"/>
            </a:endParaRPr>
          </a:p>
          <a:p>
            <a:pPr marL="342900" indent="-342900">
              <a:lnSpc>
                <a:spcPts val="1560"/>
              </a:lnSpc>
              <a:buSzPts val="1000"/>
              <a:buFont typeface="Symbol" panose="05050102010706020507" pitchFamily="18" charset="2"/>
              <a:buChar char=""/>
              <a:tabLst>
                <a:tab pos="457200" algn="l"/>
              </a:tabLst>
            </a:pPr>
            <a:r>
              <a:rPr lang="ru-RU" sz="1800" dirty="0">
                <a:effectLst/>
                <a:latin typeface="Times New Roman" panose="02020603050405020304" pitchFamily="18" charset="0"/>
                <a:ea typeface="Times New Roman" panose="02020603050405020304" pitchFamily="18" charset="0"/>
              </a:rPr>
              <a:t>При нажатии на кнопку в редакторе проекта мы получаем в коде программы обработчик события. В нем мы описываем действия, которые программа должна будет выполнить при нажатии кнопки после запуска программы на исполнение.</a:t>
            </a:r>
          </a:p>
          <a:p>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public</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partial</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class</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2B91AF"/>
                </a:solidFill>
                <a:effectLst/>
                <a:latin typeface="Consolas" panose="020B0609020204030204" pitchFamily="49" charset="0"/>
                <a:ea typeface="Calibri" panose="020F0502020204030204" pitchFamily="34" charset="0"/>
                <a:cs typeface="Consolas" panose="020B0609020204030204" pitchFamily="49" charset="0"/>
              </a:rPr>
              <a:t>Form1</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 Form</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public</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2B91AF"/>
                </a:solidFill>
                <a:effectLst/>
                <a:latin typeface="Consolas" panose="020B0609020204030204" pitchFamily="49" charset="0"/>
                <a:ea typeface="Calibri" panose="020F0502020204030204" pitchFamily="34" charset="0"/>
                <a:cs typeface="Consolas" panose="020B0609020204030204" pitchFamily="49" charset="0"/>
              </a:rPr>
              <a:t>Form1</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InitializeComponent</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private</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void</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button1_Click(</a:t>
            </a:r>
            <a:r>
              <a:rPr lang="en-US" sz="1800" dirty="0">
                <a:solidFill>
                  <a:srgbClr val="0000FF"/>
                </a:solidFill>
                <a:effectLst/>
                <a:latin typeface="Consolas" panose="020B0609020204030204" pitchFamily="49" charset="0"/>
                <a:ea typeface="Calibri" panose="020F0502020204030204" pitchFamily="34" charset="0"/>
                <a:cs typeface="Consolas" panose="020B0609020204030204" pitchFamily="49" charset="0"/>
              </a:rPr>
              <a:t>object</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sender, </a:t>
            </a:r>
            <a:r>
              <a:rPr lang="en-US" sz="1800" dirty="0" err="1">
                <a:solidFill>
                  <a:srgbClr val="000000"/>
                </a:solidFill>
                <a:effectLst/>
                <a:latin typeface="Consolas" panose="020B0609020204030204" pitchFamily="49" charset="0"/>
                <a:ea typeface="Calibri" panose="020F0502020204030204" pitchFamily="34" charset="0"/>
                <a:cs typeface="Consolas" panose="020B0609020204030204" pitchFamily="49" charset="0"/>
              </a:rPr>
              <a:t>EventArgs</a:t>
            </a:r>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e)</a:t>
            </a:r>
            <a:endParaRPr lang="ru-RU" sz="1800" dirty="0">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label1.Text += </a:t>
            </a:r>
            <a:r>
              <a:rPr lang="ru-RU" sz="1800" dirty="0">
                <a:solidFill>
                  <a:srgbClr val="A31515"/>
                </a:solidFill>
                <a:effectLst/>
                <a:latin typeface="Consolas" panose="020B0609020204030204" pitchFamily="49" charset="0"/>
                <a:ea typeface="Calibri" panose="020F0502020204030204" pitchFamily="34" charset="0"/>
                <a:cs typeface="Consolas" panose="020B0609020204030204" pitchFamily="49" charset="0"/>
              </a:rPr>
              <a:t>"! Где твой мяч?"</a:t>
            </a:r>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        }</a:t>
            </a:r>
            <a:endParaRPr lang="ru-RU" sz="1800" dirty="0">
              <a:effectLst/>
              <a:latin typeface="Times New Roman" panose="02020603050405020304" pitchFamily="18" charset="0"/>
              <a:ea typeface="Times New Roman" panose="02020603050405020304" pitchFamily="18" charset="0"/>
            </a:endParaRPr>
          </a:p>
          <a:p>
            <a:pPr indent="0" algn="just">
              <a:buNone/>
            </a:pPr>
            <a:r>
              <a:rPr lang="ru-RU" sz="18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sz="1800" dirty="0">
                <a:solidFill>
                  <a:srgbClr val="000000"/>
                </a:solidFill>
                <a:effectLst/>
                <a:latin typeface="Consolas" panose="020B0609020204030204" pitchFamily="49" charset="0"/>
                <a:ea typeface="Calibri" panose="020F0502020204030204" pitchFamily="34" charset="0"/>
                <a:cs typeface="Consolas" panose="020B0609020204030204" pitchFamily="49" charset="0"/>
              </a:rPr>
              <a:t>}</a:t>
            </a:r>
            <a:endParaRPr lang="ru-RU" sz="1800" dirty="0">
              <a:effectLst/>
              <a:latin typeface="Times New Roman" panose="02020603050405020304" pitchFamily="18" charset="0"/>
              <a:ea typeface="Times New Roman" panose="02020603050405020304" pitchFamily="18" charset="0"/>
            </a:endParaRPr>
          </a:p>
          <a:p>
            <a:pPr marL="342900" lvl="0" indent="-342900">
              <a:lnSpc>
                <a:spcPts val="1560"/>
              </a:lnSpc>
              <a:buSzPts val="1000"/>
              <a:buFont typeface="Symbol" panose="05050102010706020507" pitchFamily="18" charset="2"/>
              <a:buChar char=""/>
              <a:tabLst>
                <a:tab pos="457200" algn="l"/>
              </a:tabLst>
            </a:pPr>
            <a:endParaRPr lang="ru-RU" sz="1800" b="1" dirty="0">
              <a:solidFill>
                <a:srgbClr val="000000"/>
              </a:solidFill>
              <a:effectLst/>
              <a:latin typeface="Verdana" panose="020B0604030504040204" pitchFamily="34" charset="0"/>
              <a:ea typeface="Times New Roman" panose="02020603050405020304" pitchFamily="18" charset="0"/>
            </a:endParaRPr>
          </a:p>
        </p:txBody>
      </p:sp>
    </p:spTree>
    <p:extLst>
      <p:ext uri="{BB962C8B-B14F-4D97-AF65-F5344CB8AC3E}">
        <p14:creationId xmlns:p14="http://schemas.microsoft.com/office/powerpoint/2010/main" val="10029399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ED3A22-6DF4-4BC2-8503-F400E041EAC8}"/>
              </a:ext>
            </a:extLst>
          </p:cNvPr>
          <p:cNvSpPr>
            <a:spLocks noGrp="1"/>
          </p:cNvSpPr>
          <p:nvPr>
            <p:ph type="title"/>
          </p:nvPr>
        </p:nvSpPr>
        <p:spPr/>
        <p:txBody>
          <a:bodyPr/>
          <a:lstStyle/>
          <a:p>
            <a:pPr algn="ctr"/>
            <a:r>
              <a:rPr lang="ru-RU" dirty="0">
                <a:solidFill>
                  <a:srgbClr val="0070C0"/>
                </a:solidFill>
              </a:rPr>
              <a:t>Элемент </a:t>
            </a:r>
            <a:r>
              <a:rPr lang="en-US" dirty="0">
                <a:solidFill>
                  <a:srgbClr val="0070C0"/>
                </a:solidFill>
              </a:rPr>
              <a:t>Button </a:t>
            </a:r>
            <a:r>
              <a:rPr lang="ru-RU" dirty="0">
                <a:solidFill>
                  <a:srgbClr val="0070C0"/>
                </a:solidFill>
              </a:rPr>
              <a:t>(кнопка)</a:t>
            </a:r>
            <a:endParaRPr lang="ru-RU" dirty="0">
              <a:solidFill>
                <a:srgbClr val="7030A0"/>
              </a:solidFill>
            </a:endParaRPr>
          </a:p>
        </p:txBody>
      </p:sp>
      <p:sp>
        <p:nvSpPr>
          <p:cNvPr id="5" name="Объект 4">
            <a:extLst>
              <a:ext uri="{FF2B5EF4-FFF2-40B4-BE49-F238E27FC236}">
                <a16:creationId xmlns:a16="http://schemas.microsoft.com/office/drawing/2014/main" id="{58D1561F-2FBB-4AA8-A141-A29CBB6ACFD6}"/>
              </a:ext>
            </a:extLst>
          </p:cNvPr>
          <p:cNvSpPr>
            <a:spLocks noGrp="1"/>
          </p:cNvSpPr>
          <p:nvPr>
            <p:ph idx="1"/>
          </p:nvPr>
        </p:nvSpPr>
        <p:spPr/>
        <p:txBody>
          <a:bodyPr>
            <a:normAutofit/>
          </a:bodyPr>
          <a:lstStyle/>
          <a:p>
            <a:pPr marL="342900" lvl="0" indent="-342900">
              <a:lnSpc>
                <a:spcPts val="1560"/>
              </a:lnSpc>
              <a:buSzPts val="1000"/>
              <a:buFont typeface="Symbol" panose="05050102010706020507" pitchFamily="18" charset="2"/>
              <a:buChar char=""/>
              <a:tabLst>
                <a:tab pos="457200" algn="l"/>
              </a:tabLst>
            </a:pPr>
            <a:endParaRPr lang="ru-RU" sz="1800" b="1" dirty="0">
              <a:solidFill>
                <a:srgbClr val="000000"/>
              </a:solidFill>
              <a:effectLst/>
              <a:latin typeface="Verdana" panose="020B0604030504040204" pitchFamily="34" charset="0"/>
              <a:ea typeface="Times New Roman" panose="02020603050405020304" pitchFamily="18" charset="0"/>
            </a:endParaRPr>
          </a:p>
          <a:p>
            <a:pPr marL="342900" lvl="0" indent="-342900">
              <a:lnSpc>
                <a:spcPts val="1560"/>
              </a:lnSpc>
              <a:buSzPts val="1000"/>
              <a:buFont typeface="Symbol" panose="05050102010706020507" pitchFamily="18" charset="2"/>
              <a:buChar char=""/>
              <a:tabLst>
                <a:tab pos="457200" algn="l"/>
              </a:tabLst>
            </a:pPr>
            <a:endParaRPr lang="ru-RU" sz="1800" b="1" dirty="0">
              <a:solidFill>
                <a:srgbClr val="000000"/>
              </a:solidFill>
              <a:effectLst/>
              <a:latin typeface="Verdana" panose="020B0604030504040204" pitchFamily="34" charset="0"/>
              <a:ea typeface="Times New Roman" panose="02020603050405020304" pitchFamily="18" charset="0"/>
            </a:endParaRPr>
          </a:p>
        </p:txBody>
      </p:sp>
      <p:pic>
        <p:nvPicPr>
          <p:cNvPr id="4" name="Рисунок 3">
            <a:extLst>
              <a:ext uri="{FF2B5EF4-FFF2-40B4-BE49-F238E27FC236}">
                <a16:creationId xmlns:a16="http://schemas.microsoft.com/office/drawing/2014/main" id="{B5B08D4B-F6B9-438F-80ED-82159D587693}"/>
              </a:ext>
            </a:extLst>
          </p:cNvPr>
          <p:cNvPicPr/>
          <p:nvPr/>
        </p:nvPicPr>
        <p:blipFill>
          <a:blip r:embed="rId2"/>
          <a:stretch>
            <a:fillRect/>
          </a:stretch>
        </p:blipFill>
        <p:spPr>
          <a:xfrm>
            <a:off x="2499920" y="2714715"/>
            <a:ext cx="2175658" cy="2478070"/>
          </a:xfrm>
          <a:prstGeom prst="rect">
            <a:avLst/>
          </a:prstGeom>
        </p:spPr>
      </p:pic>
      <p:pic>
        <p:nvPicPr>
          <p:cNvPr id="6" name="Рисунок 5">
            <a:extLst>
              <a:ext uri="{FF2B5EF4-FFF2-40B4-BE49-F238E27FC236}">
                <a16:creationId xmlns:a16="http://schemas.microsoft.com/office/drawing/2014/main" id="{A9E5A18B-ECE2-4C3C-A463-67F93BA59734}"/>
              </a:ext>
            </a:extLst>
          </p:cNvPr>
          <p:cNvPicPr/>
          <p:nvPr/>
        </p:nvPicPr>
        <p:blipFill>
          <a:blip r:embed="rId3"/>
          <a:stretch>
            <a:fillRect/>
          </a:stretch>
        </p:blipFill>
        <p:spPr>
          <a:xfrm>
            <a:off x="7305746" y="2714715"/>
            <a:ext cx="1829866" cy="2478069"/>
          </a:xfrm>
          <a:prstGeom prst="rect">
            <a:avLst/>
          </a:prstGeom>
        </p:spPr>
      </p:pic>
    </p:spTree>
    <p:extLst>
      <p:ext uri="{BB962C8B-B14F-4D97-AF65-F5344CB8AC3E}">
        <p14:creationId xmlns:p14="http://schemas.microsoft.com/office/powerpoint/2010/main" val="243929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ED3A22-6DF4-4BC2-8503-F400E041EAC8}"/>
              </a:ext>
            </a:extLst>
          </p:cNvPr>
          <p:cNvSpPr>
            <a:spLocks noGrp="1"/>
          </p:cNvSpPr>
          <p:nvPr>
            <p:ph type="title"/>
          </p:nvPr>
        </p:nvSpPr>
        <p:spPr/>
        <p:txBody>
          <a:bodyPr/>
          <a:lstStyle/>
          <a:p>
            <a:pPr algn="ctr"/>
            <a:r>
              <a:rPr lang="ru-RU" dirty="0">
                <a:solidFill>
                  <a:srgbClr val="0070C0"/>
                </a:solidFill>
              </a:rPr>
              <a:t>Элемент </a:t>
            </a:r>
            <a:r>
              <a:rPr lang="en-US" dirty="0" err="1">
                <a:solidFill>
                  <a:srgbClr val="0070C0"/>
                </a:solidFill>
              </a:rPr>
              <a:t>TextBox</a:t>
            </a:r>
            <a:endParaRPr lang="ru-RU" dirty="0">
              <a:solidFill>
                <a:srgbClr val="7030A0"/>
              </a:solidFill>
            </a:endParaRPr>
          </a:p>
        </p:txBody>
      </p:sp>
      <p:sp>
        <p:nvSpPr>
          <p:cNvPr id="5" name="Объект 4">
            <a:extLst>
              <a:ext uri="{FF2B5EF4-FFF2-40B4-BE49-F238E27FC236}">
                <a16:creationId xmlns:a16="http://schemas.microsoft.com/office/drawing/2014/main" id="{58D1561F-2FBB-4AA8-A141-A29CBB6ACFD6}"/>
              </a:ext>
            </a:extLst>
          </p:cNvPr>
          <p:cNvSpPr>
            <a:spLocks noGrp="1"/>
          </p:cNvSpPr>
          <p:nvPr>
            <p:ph idx="1"/>
          </p:nvPr>
        </p:nvSpPr>
        <p:spPr/>
        <p:txBody>
          <a:bodyPr>
            <a:normAutofit/>
          </a:bodyPr>
          <a:lstStyle/>
          <a:p>
            <a:pPr marL="342900" lvl="0" indent="-342900">
              <a:lnSpc>
                <a:spcPts val="1560"/>
              </a:lnSpc>
              <a:buSzPts val="1000"/>
              <a:buFont typeface="Symbol" panose="05050102010706020507" pitchFamily="18" charset="2"/>
              <a:buChar char=""/>
              <a:tabLst>
                <a:tab pos="457200" algn="l"/>
              </a:tabLst>
            </a:pPr>
            <a:endParaRPr lang="ru-RU" sz="1800" b="1" dirty="0">
              <a:solidFill>
                <a:srgbClr val="000000"/>
              </a:solidFill>
              <a:effectLst/>
              <a:latin typeface="Verdana" panose="020B0604030504040204" pitchFamily="34" charset="0"/>
              <a:ea typeface="Times New Roman" panose="02020603050405020304" pitchFamily="18" charset="0"/>
            </a:endParaRPr>
          </a:p>
          <a:p>
            <a:pPr marL="342900" indent="-342900">
              <a:lnSpc>
                <a:spcPts val="1560"/>
              </a:lnSpc>
              <a:buSzPts val="1000"/>
              <a:buFont typeface="Symbol" panose="05050102010706020507" pitchFamily="18" charset="2"/>
              <a:buChar char=""/>
              <a:tabLst>
                <a:tab pos="457200" algn="l"/>
              </a:tabLst>
            </a:pPr>
            <a:r>
              <a:rPr lang="ru-RU" sz="1800" dirty="0">
                <a:solidFill>
                  <a:srgbClr val="000000"/>
                </a:solidFill>
                <a:effectLst/>
                <a:latin typeface="Times New Roman" panose="02020603050405020304" pitchFamily="18" charset="0"/>
                <a:ea typeface="Times New Roman" panose="02020603050405020304" pitchFamily="18" charset="0"/>
              </a:rPr>
              <a:t>Для ввода и редактирования текста предназначены текстовые поля - элемент </a:t>
            </a:r>
            <a:r>
              <a:rPr lang="ru-RU" sz="1800" dirty="0" err="1">
                <a:solidFill>
                  <a:srgbClr val="000000"/>
                </a:solidFill>
                <a:effectLst/>
                <a:latin typeface="Times New Roman" panose="02020603050405020304" pitchFamily="18" charset="0"/>
                <a:ea typeface="Times New Roman" panose="02020603050405020304" pitchFamily="18" charset="0"/>
              </a:rPr>
              <a:t>TextBox</a:t>
            </a:r>
            <a:r>
              <a:rPr lang="ru-RU" sz="1800" dirty="0">
                <a:solidFill>
                  <a:srgbClr val="000000"/>
                </a:solidFill>
                <a:effectLst/>
                <a:latin typeface="Times New Roman" panose="02020603050405020304" pitchFamily="18" charset="0"/>
                <a:ea typeface="Times New Roman" panose="02020603050405020304" pitchFamily="18" charset="0"/>
              </a:rPr>
              <a:t>. Также как и у элемента </a:t>
            </a:r>
            <a:r>
              <a:rPr lang="ru-RU" sz="1800" dirty="0" err="1">
                <a:solidFill>
                  <a:srgbClr val="000000"/>
                </a:solidFill>
                <a:effectLst/>
                <a:latin typeface="Times New Roman" panose="02020603050405020304" pitchFamily="18" charset="0"/>
                <a:ea typeface="Times New Roman" panose="02020603050405020304" pitchFamily="18" charset="0"/>
              </a:rPr>
              <a:t>Label</a:t>
            </a:r>
            <a:r>
              <a:rPr lang="ru-RU" sz="1800" dirty="0">
                <a:solidFill>
                  <a:srgbClr val="000000"/>
                </a:solidFill>
                <a:effectLst/>
                <a:latin typeface="Times New Roman" panose="02020603050405020304" pitchFamily="18" charset="0"/>
                <a:ea typeface="Times New Roman" panose="02020603050405020304" pitchFamily="18" charset="0"/>
              </a:rPr>
              <a:t> текст элемента </a:t>
            </a:r>
            <a:r>
              <a:rPr lang="ru-RU" sz="1800" dirty="0" err="1">
                <a:solidFill>
                  <a:srgbClr val="000000"/>
                </a:solidFill>
                <a:effectLst/>
                <a:latin typeface="Times New Roman" panose="02020603050405020304" pitchFamily="18" charset="0"/>
                <a:ea typeface="Times New Roman" panose="02020603050405020304" pitchFamily="18" charset="0"/>
              </a:rPr>
              <a:t>TextBox</a:t>
            </a:r>
            <a:r>
              <a:rPr lang="ru-RU" sz="1800" dirty="0">
                <a:solidFill>
                  <a:srgbClr val="000000"/>
                </a:solidFill>
                <a:effectLst/>
                <a:latin typeface="Times New Roman" panose="02020603050405020304" pitchFamily="18" charset="0"/>
                <a:ea typeface="Times New Roman" panose="02020603050405020304" pitchFamily="18" charset="0"/>
              </a:rPr>
              <a:t> можно установить или получить с помощью свойства </a:t>
            </a:r>
            <a:r>
              <a:rPr lang="ru-RU" sz="1800" dirty="0" err="1">
                <a:solidFill>
                  <a:srgbClr val="000000"/>
                </a:solidFill>
                <a:effectLst/>
                <a:latin typeface="Times New Roman" panose="02020603050405020304" pitchFamily="18" charset="0"/>
                <a:ea typeface="Times New Roman" panose="02020603050405020304" pitchFamily="18" charset="0"/>
              </a:rPr>
              <a:t>Text</a:t>
            </a:r>
            <a:r>
              <a:rPr lang="ru-RU" sz="1800" dirty="0">
                <a:solidFill>
                  <a:srgbClr val="000000"/>
                </a:solidFill>
                <a:effectLst/>
                <a:latin typeface="Times New Roman" panose="02020603050405020304" pitchFamily="18" charset="0"/>
                <a:ea typeface="Times New Roman" panose="02020603050405020304" pitchFamily="18" charset="0"/>
              </a:rPr>
              <a:t>.</a:t>
            </a:r>
            <a:endParaRPr lang="ru-RU" sz="1800" dirty="0">
              <a:effectLst/>
              <a:latin typeface="Times New Roman" panose="02020603050405020304" pitchFamily="18" charset="0"/>
              <a:ea typeface="Times New Roman" panose="02020603050405020304" pitchFamily="18" charset="0"/>
            </a:endParaRPr>
          </a:p>
          <a:p>
            <a:pPr marL="342900" lvl="0" indent="-342900">
              <a:lnSpc>
                <a:spcPts val="1560"/>
              </a:lnSpc>
              <a:buSzPts val="1000"/>
              <a:buFont typeface="Symbol" panose="05050102010706020507" pitchFamily="18" charset="2"/>
              <a:buChar char=""/>
              <a:tabLst>
                <a:tab pos="457200" algn="l"/>
              </a:tabLst>
            </a:pPr>
            <a:endParaRPr lang="ru-RU" sz="1800" b="1" dirty="0">
              <a:solidFill>
                <a:srgbClr val="000000"/>
              </a:solidFill>
              <a:effectLst/>
              <a:latin typeface="Verdana" panose="020B0604030504040204" pitchFamily="34" charset="0"/>
              <a:ea typeface="Times New Roman" panose="02020603050405020304" pitchFamily="18" charset="0"/>
            </a:endParaRPr>
          </a:p>
        </p:txBody>
      </p:sp>
      <p:graphicFrame>
        <p:nvGraphicFramePr>
          <p:cNvPr id="3" name="Таблица 2">
            <a:extLst>
              <a:ext uri="{FF2B5EF4-FFF2-40B4-BE49-F238E27FC236}">
                <a16:creationId xmlns:a16="http://schemas.microsoft.com/office/drawing/2014/main" id="{F47CF2B5-74A1-4519-8BE0-C39A1887D515}"/>
              </a:ext>
            </a:extLst>
          </p:cNvPr>
          <p:cNvGraphicFramePr>
            <a:graphicFrameLocks noGrp="1"/>
          </p:cNvGraphicFramePr>
          <p:nvPr>
            <p:extLst>
              <p:ext uri="{D42A27DB-BD31-4B8C-83A1-F6EECF244321}">
                <p14:modId xmlns:p14="http://schemas.microsoft.com/office/powerpoint/2010/main" val="1184742912"/>
              </p:ext>
            </p:extLst>
          </p:nvPr>
        </p:nvGraphicFramePr>
        <p:xfrm>
          <a:off x="2516697" y="2932536"/>
          <a:ext cx="6463537" cy="3379360"/>
        </p:xfrm>
        <a:graphic>
          <a:graphicData uri="http://schemas.openxmlformats.org/drawingml/2006/table">
            <a:tbl>
              <a:tblPr firstRow="1" firstCol="1" bandRow="1">
                <a:tableStyleId>{5C22544A-7EE6-4342-B048-85BDC9FD1C3A}</a:tableStyleId>
              </a:tblPr>
              <a:tblGrid>
                <a:gridCol w="1345126">
                  <a:extLst>
                    <a:ext uri="{9D8B030D-6E8A-4147-A177-3AD203B41FA5}">
                      <a16:colId xmlns:a16="http://schemas.microsoft.com/office/drawing/2014/main" val="498989839"/>
                    </a:ext>
                  </a:extLst>
                </a:gridCol>
                <a:gridCol w="5118411">
                  <a:extLst>
                    <a:ext uri="{9D8B030D-6E8A-4147-A177-3AD203B41FA5}">
                      <a16:colId xmlns:a16="http://schemas.microsoft.com/office/drawing/2014/main" val="585314590"/>
                    </a:ext>
                  </a:extLst>
                </a:gridCol>
              </a:tblGrid>
              <a:tr h="211210">
                <a:tc>
                  <a:txBody>
                    <a:bodyPr/>
                    <a:lstStyle/>
                    <a:p>
                      <a:pPr algn="ctr"/>
                      <a:r>
                        <a:rPr lang="ru-RU" sz="1200">
                          <a:effectLst/>
                        </a:rPr>
                        <a:t>Свойство</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ru-RU" sz="1200">
                          <a:effectLst/>
                        </a:rPr>
                        <a:t>Описание</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5341919"/>
                  </a:ext>
                </a:extLst>
              </a:tr>
              <a:tr h="211210">
                <a:tc>
                  <a:txBody>
                    <a:bodyPr/>
                    <a:lstStyle/>
                    <a:p>
                      <a:pPr algn="just"/>
                      <a:r>
                        <a:rPr lang="en-US" sz="1200">
                          <a:effectLst/>
                        </a:rPr>
                        <a:t>Text</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ru-RU" sz="1200">
                          <a:effectLst/>
                        </a:rPr>
                        <a:t>Строка, содержит то, что  ввел пользователь</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69942498"/>
                  </a:ext>
                </a:extLst>
              </a:tr>
              <a:tr h="211210">
                <a:tc>
                  <a:txBody>
                    <a:bodyPr/>
                    <a:lstStyle/>
                    <a:p>
                      <a:pPr algn="just"/>
                      <a:r>
                        <a:rPr lang="en-US" sz="1200">
                          <a:effectLst/>
                        </a:rPr>
                        <a:t>TextAlign</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ru-RU" sz="1200">
                          <a:effectLst/>
                        </a:rPr>
                        <a:t>Задает выравнивание текста относительно рамки</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20113658"/>
                  </a:ext>
                </a:extLst>
              </a:tr>
              <a:tr h="422420">
                <a:tc>
                  <a:txBody>
                    <a:bodyPr/>
                    <a:lstStyle/>
                    <a:p>
                      <a:pPr algn="just"/>
                      <a:r>
                        <a:rPr lang="en-US" sz="1200">
                          <a:effectLst/>
                        </a:rPr>
                        <a:t>Lines</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ru-RU" sz="1200">
                          <a:effectLst/>
                        </a:rPr>
                        <a:t>Свойство типа массив, содержит многострочный текст, который введен в поле.</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06580960"/>
                  </a:ext>
                </a:extLst>
              </a:tr>
              <a:tr h="422420">
                <a:tc>
                  <a:txBody>
                    <a:bodyPr/>
                    <a:lstStyle/>
                    <a:p>
                      <a:pPr algn="just"/>
                      <a:r>
                        <a:rPr lang="en-US" sz="1200">
                          <a:effectLst/>
                        </a:rPr>
                        <a:t>MultiLine</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ru-RU" sz="1200">
                          <a:effectLst/>
                        </a:rPr>
                        <a:t>Если свойство равно </a:t>
                      </a:r>
                      <a:r>
                        <a:rPr lang="en-US" sz="1200">
                          <a:effectLst/>
                        </a:rPr>
                        <a:t>true</a:t>
                      </a:r>
                      <a:r>
                        <a:rPr lang="ru-RU" sz="1200">
                          <a:effectLst/>
                        </a:rPr>
                        <a:t>, то элемент будет показывать многострочный текст</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131326441"/>
                  </a:ext>
                </a:extLst>
              </a:tr>
              <a:tr h="211210">
                <a:tc>
                  <a:txBody>
                    <a:bodyPr/>
                    <a:lstStyle/>
                    <a:p>
                      <a:pPr algn="just"/>
                      <a:r>
                        <a:rPr lang="en-US" sz="1200">
                          <a:effectLst/>
                        </a:rPr>
                        <a:t>Location</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ru-RU" sz="1200">
                          <a:effectLst/>
                        </a:rPr>
                        <a:t>Задает расположение элемента относительно окна</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882027173"/>
                  </a:ext>
                </a:extLst>
              </a:tr>
              <a:tr h="211210">
                <a:tc>
                  <a:txBody>
                    <a:bodyPr/>
                    <a:lstStyle/>
                    <a:p>
                      <a:pPr algn="just"/>
                      <a:r>
                        <a:rPr lang="en-US" sz="1200">
                          <a:effectLst/>
                        </a:rPr>
                        <a:t>Font</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ru-RU" sz="1200">
                          <a:effectLst/>
                        </a:rPr>
                        <a:t>Шрифт текста </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27283246"/>
                  </a:ext>
                </a:extLst>
              </a:tr>
              <a:tr h="211210">
                <a:tc>
                  <a:txBody>
                    <a:bodyPr/>
                    <a:lstStyle/>
                    <a:p>
                      <a:pPr algn="just"/>
                      <a:r>
                        <a:rPr lang="en-US" sz="1200">
                          <a:effectLst/>
                        </a:rPr>
                        <a:t>BackColor</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ru-RU" sz="1200">
                          <a:effectLst/>
                        </a:rPr>
                        <a:t>Цвет фона </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39867843"/>
                  </a:ext>
                </a:extLst>
              </a:tr>
              <a:tr h="211210">
                <a:tc>
                  <a:txBody>
                    <a:bodyPr/>
                    <a:lstStyle/>
                    <a:p>
                      <a:pPr algn="just"/>
                      <a:r>
                        <a:rPr lang="en-US" sz="1200">
                          <a:effectLst/>
                        </a:rPr>
                        <a:t>ForeColor</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ru-RU" sz="1200">
                          <a:effectLst/>
                        </a:rPr>
                        <a:t>Цвет текста</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359660872"/>
                  </a:ext>
                </a:extLst>
              </a:tr>
              <a:tr h="422420">
                <a:tc>
                  <a:txBody>
                    <a:bodyPr/>
                    <a:lstStyle/>
                    <a:p>
                      <a:pPr algn="just"/>
                      <a:r>
                        <a:rPr lang="en-US" sz="1200">
                          <a:effectLst/>
                        </a:rPr>
                        <a:t>WordWrap</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ru-RU" sz="1200">
                          <a:effectLst/>
                        </a:rPr>
                        <a:t>Если свойство равно </a:t>
                      </a:r>
                      <a:r>
                        <a:rPr lang="en-US" sz="1200">
                          <a:effectLst/>
                        </a:rPr>
                        <a:t>true</a:t>
                      </a:r>
                      <a:r>
                        <a:rPr lang="ru-RU" sz="1200">
                          <a:effectLst/>
                        </a:rPr>
                        <a:t>, то введенный текст разбивается на несколько строк по пробелам </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141610057"/>
                  </a:ext>
                </a:extLst>
              </a:tr>
              <a:tr h="211210">
                <a:tc>
                  <a:txBody>
                    <a:bodyPr/>
                    <a:lstStyle/>
                    <a:p>
                      <a:pPr algn="just"/>
                      <a:r>
                        <a:rPr lang="en-US" sz="1200">
                          <a:effectLst/>
                        </a:rPr>
                        <a:t>PasswordChar</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ru-RU" sz="1200">
                          <a:effectLst/>
                        </a:rPr>
                        <a:t>Задает символ, маскирующий ввод</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638135645"/>
                  </a:ext>
                </a:extLst>
              </a:tr>
              <a:tr h="211210">
                <a:tc>
                  <a:txBody>
                    <a:bodyPr/>
                    <a:lstStyle/>
                    <a:p>
                      <a:pPr algn="just"/>
                      <a:r>
                        <a:rPr lang="en-US" sz="1200">
                          <a:effectLst/>
                        </a:rPr>
                        <a:t>ReadOnly</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ru-RU" sz="1200">
                          <a:effectLst/>
                        </a:rPr>
                        <a:t>Если равен </a:t>
                      </a:r>
                      <a:r>
                        <a:rPr lang="en-US" sz="1200">
                          <a:effectLst/>
                        </a:rPr>
                        <a:t>true</a:t>
                      </a:r>
                      <a:r>
                        <a:rPr lang="ru-RU" sz="1200">
                          <a:effectLst/>
                        </a:rPr>
                        <a:t>, элемент только для чтения</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038076"/>
                  </a:ext>
                </a:extLst>
              </a:tr>
              <a:tr h="211210">
                <a:tc>
                  <a:txBody>
                    <a:bodyPr/>
                    <a:lstStyle/>
                    <a:p>
                      <a:pPr algn="just"/>
                      <a:r>
                        <a:rPr lang="en-US" sz="1200">
                          <a:effectLst/>
                        </a:rPr>
                        <a:t>ScrollBars</a:t>
                      </a:r>
                      <a:endParaRPr lang="ru-RU"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ru-RU" sz="1200" dirty="0">
                          <a:effectLst/>
                        </a:rPr>
                        <a:t>Позволяет добавить полосу скроллинга, если равен </a:t>
                      </a:r>
                      <a:r>
                        <a:rPr lang="en-US" sz="1200" dirty="0">
                          <a:effectLst/>
                        </a:rPr>
                        <a:t>true</a:t>
                      </a:r>
                      <a:endParaRPr lang="ru-RU" sz="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93205800"/>
                  </a:ext>
                </a:extLst>
              </a:tr>
            </a:tbl>
          </a:graphicData>
        </a:graphic>
      </p:graphicFrame>
    </p:spTree>
    <p:extLst>
      <p:ext uri="{BB962C8B-B14F-4D97-AF65-F5344CB8AC3E}">
        <p14:creationId xmlns:p14="http://schemas.microsoft.com/office/powerpoint/2010/main" val="20487440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ED3A22-6DF4-4BC2-8503-F400E041EAC8}"/>
              </a:ext>
            </a:extLst>
          </p:cNvPr>
          <p:cNvSpPr>
            <a:spLocks noGrp="1"/>
          </p:cNvSpPr>
          <p:nvPr>
            <p:ph type="title"/>
          </p:nvPr>
        </p:nvSpPr>
        <p:spPr/>
        <p:txBody>
          <a:bodyPr/>
          <a:lstStyle/>
          <a:p>
            <a:pPr algn="ctr"/>
            <a:r>
              <a:rPr lang="ru-RU" dirty="0">
                <a:solidFill>
                  <a:srgbClr val="0070C0"/>
                </a:solidFill>
              </a:rPr>
              <a:t>Элемент </a:t>
            </a:r>
            <a:r>
              <a:rPr lang="en-US" dirty="0" err="1">
                <a:solidFill>
                  <a:srgbClr val="0070C0"/>
                </a:solidFill>
              </a:rPr>
              <a:t>TextBox</a:t>
            </a:r>
            <a:endParaRPr lang="ru-RU" dirty="0">
              <a:solidFill>
                <a:srgbClr val="7030A0"/>
              </a:solidFill>
            </a:endParaRPr>
          </a:p>
        </p:txBody>
      </p:sp>
      <p:sp>
        <p:nvSpPr>
          <p:cNvPr id="5" name="Объект 4">
            <a:extLst>
              <a:ext uri="{FF2B5EF4-FFF2-40B4-BE49-F238E27FC236}">
                <a16:creationId xmlns:a16="http://schemas.microsoft.com/office/drawing/2014/main" id="{58D1561F-2FBB-4AA8-A141-A29CBB6ACFD6}"/>
              </a:ext>
            </a:extLst>
          </p:cNvPr>
          <p:cNvSpPr>
            <a:spLocks noGrp="1"/>
          </p:cNvSpPr>
          <p:nvPr>
            <p:ph idx="1"/>
          </p:nvPr>
        </p:nvSpPr>
        <p:spPr/>
        <p:txBody>
          <a:bodyPr>
            <a:normAutofit/>
          </a:bodyPr>
          <a:lstStyle/>
          <a:p>
            <a:pPr marL="342900" lvl="0" indent="-342900">
              <a:lnSpc>
                <a:spcPts val="1560"/>
              </a:lnSpc>
              <a:buSzPts val="1000"/>
              <a:buFont typeface="Symbol" panose="05050102010706020507" pitchFamily="18" charset="2"/>
              <a:buChar char=""/>
              <a:tabLst>
                <a:tab pos="457200" algn="l"/>
              </a:tabLst>
            </a:pPr>
            <a:endParaRPr lang="ru-RU" sz="1800" b="1" dirty="0">
              <a:solidFill>
                <a:srgbClr val="000000"/>
              </a:solidFill>
              <a:effectLst/>
              <a:latin typeface="Verdana" panose="020B0604030504040204" pitchFamily="34" charset="0"/>
              <a:ea typeface="Times New Roman" panose="02020603050405020304" pitchFamily="18" charset="0"/>
            </a:endParaRPr>
          </a:p>
          <a:p>
            <a:pPr marL="342900" indent="-342900">
              <a:lnSpc>
                <a:spcPts val="1560"/>
              </a:lnSpc>
              <a:buSzPts val="1000"/>
              <a:buFont typeface="Symbol" panose="05050102010706020507" pitchFamily="18" charset="2"/>
              <a:buChar char=""/>
              <a:tabLst>
                <a:tab pos="457200" algn="l"/>
              </a:tabLst>
            </a:pPr>
            <a:r>
              <a:rPr lang="ru-RU" sz="1800" dirty="0">
                <a:solidFill>
                  <a:srgbClr val="000000"/>
                </a:solidFill>
                <a:effectLst/>
                <a:latin typeface="Times New Roman" panose="02020603050405020304" pitchFamily="18" charset="0"/>
                <a:ea typeface="Times New Roman" panose="02020603050405020304" pitchFamily="18" charset="0"/>
              </a:rPr>
              <a:t>По умолчанию при переносе элемента с панели инструментов создается однострочное текстовое поле. </a:t>
            </a:r>
            <a:r>
              <a:rPr kumimoji="0" lang="ru-RU" altLang="ru-RU" sz="18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Для отображения больших объемов информации в текстовом поле нужно использовать его свойства </a:t>
            </a:r>
            <a:r>
              <a:rPr kumimoji="0" lang="ru-RU" altLang="ru-RU" sz="1800" b="0" i="0" u="none" strike="noStrike" cap="none" normalizeH="0" baseline="0" dirty="0" err="1">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Multiline</a:t>
            </a:r>
            <a:r>
              <a:rPr kumimoji="0" lang="ru-RU" altLang="ru-RU" sz="18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и </a:t>
            </a:r>
            <a:r>
              <a:rPr kumimoji="0" lang="ru-RU" altLang="ru-RU" sz="1800" b="0" i="0" u="none" strike="noStrike" cap="none" normalizeH="0" baseline="0" dirty="0" err="1">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ScrollBars</a:t>
            </a:r>
            <a:r>
              <a:rPr kumimoji="0" lang="ru-RU" altLang="ru-RU" sz="18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kumimoji="0" lang="en-US" altLang="ru-RU" sz="18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ru-RU" altLang="ru-RU" sz="18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При установке для свойства </a:t>
            </a:r>
            <a:r>
              <a:rPr kumimoji="0" lang="ru-RU" altLang="ru-RU" sz="1800" b="0" i="0" u="none" strike="noStrike" cap="none" normalizeH="0" baseline="0" dirty="0" err="1">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Multiline</a:t>
            </a:r>
            <a:r>
              <a:rPr kumimoji="0" lang="ru-RU" altLang="ru-RU" sz="18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значения </a:t>
            </a:r>
            <a:r>
              <a:rPr kumimoji="0" lang="ru-RU" altLang="ru-RU" sz="1800" b="0" i="0" u="none" strike="noStrike" cap="none" normalizeH="0" baseline="0" dirty="0" err="1">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true</a:t>
            </a:r>
            <a:r>
              <a:rPr kumimoji="0" lang="ru-RU" altLang="ru-RU" sz="18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все избыточные символы, которые выходят за границы поля, будут переноситься на новую строку.</a:t>
            </a:r>
            <a:endParaRPr kumimoji="0" lang="en-US" altLang="ru-RU" sz="18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lnSpc>
                <a:spcPts val="1560"/>
              </a:lnSpc>
              <a:buSzPts val="1000"/>
              <a:buFont typeface="Symbol" panose="05050102010706020507" pitchFamily="18" charset="2"/>
              <a:buChar char=""/>
              <a:tabLst>
                <a:tab pos="457200" algn="l"/>
              </a:tabLst>
            </a:pPr>
            <a:r>
              <a:rPr kumimoji="0" lang="ru-RU" altLang="ru-RU" sz="18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Кроме того, можно сделать прокрутку текстового поля, установив для его свойства </a:t>
            </a:r>
            <a:r>
              <a:rPr kumimoji="0" lang="ru-RU" altLang="ru-RU" sz="1800" b="0" i="0" u="none" strike="noStrike" cap="none" normalizeH="0" baseline="0" dirty="0" err="1">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ScrollBars</a:t>
            </a:r>
            <a:r>
              <a:rPr kumimoji="0" lang="ru-RU" altLang="ru-RU" sz="18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одно из значений</a:t>
            </a:r>
            <a:endParaRPr kumimoji="0" lang="en-US" altLang="ru-RU" sz="18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ts val="1560"/>
              </a:lnSpc>
              <a:buSzPts val="1000"/>
              <a:buFont typeface="Symbol" panose="05050102010706020507" pitchFamily="18" charset="2"/>
              <a:buChar char=""/>
              <a:tabLst>
                <a:tab pos="457200" algn="l"/>
              </a:tabLst>
            </a:pPr>
            <a:r>
              <a:rPr lang="ru-RU" sz="1800" b="1" dirty="0" err="1">
                <a:solidFill>
                  <a:srgbClr val="000000"/>
                </a:solidFill>
                <a:effectLst/>
                <a:latin typeface="Verdana" panose="020B0604030504040204" pitchFamily="34" charset="0"/>
                <a:ea typeface="Times New Roman" panose="02020603050405020304" pitchFamily="18" charset="0"/>
              </a:rPr>
              <a:t>None</a:t>
            </a:r>
            <a:r>
              <a:rPr lang="ru-RU" sz="1800" dirty="0">
                <a:solidFill>
                  <a:srgbClr val="000000"/>
                </a:solidFill>
                <a:effectLst/>
                <a:latin typeface="Verdana" panose="020B0604030504040204" pitchFamily="34" charset="0"/>
                <a:ea typeface="Times New Roman" panose="02020603050405020304" pitchFamily="18" charset="0"/>
              </a:rPr>
              <a:t>: без прокруток (по умолчанию)</a:t>
            </a:r>
            <a:endParaRPr lang="ru-RU" sz="1800" dirty="0">
              <a:effectLst/>
              <a:latin typeface="Times New Roman" panose="02020603050405020304" pitchFamily="18" charset="0"/>
              <a:ea typeface="Times New Roman" panose="02020603050405020304" pitchFamily="18" charset="0"/>
            </a:endParaRPr>
          </a:p>
          <a:p>
            <a:pPr marL="342900" lvl="0" indent="-342900">
              <a:lnSpc>
                <a:spcPts val="1560"/>
              </a:lnSpc>
              <a:buSzPts val="1000"/>
              <a:buFont typeface="Symbol" panose="05050102010706020507" pitchFamily="18" charset="2"/>
              <a:buChar char=""/>
              <a:tabLst>
                <a:tab pos="457200" algn="l"/>
              </a:tabLst>
            </a:pPr>
            <a:r>
              <a:rPr lang="ru-RU" sz="1800" b="1" dirty="0" err="1">
                <a:solidFill>
                  <a:srgbClr val="000000"/>
                </a:solidFill>
                <a:effectLst/>
                <a:latin typeface="Verdana" panose="020B0604030504040204" pitchFamily="34" charset="0"/>
                <a:ea typeface="Times New Roman" panose="02020603050405020304" pitchFamily="18" charset="0"/>
              </a:rPr>
              <a:t>Horizontal</a:t>
            </a:r>
            <a:r>
              <a:rPr lang="ru-RU" sz="1800" dirty="0">
                <a:solidFill>
                  <a:srgbClr val="000000"/>
                </a:solidFill>
                <a:effectLst/>
                <a:latin typeface="Verdana" panose="020B0604030504040204" pitchFamily="34" charset="0"/>
                <a:ea typeface="Times New Roman" panose="02020603050405020304" pitchFamily="18" charset="0"/>
              </a:rPr>
              <a:t>: создает горизонтальную прокрутку при длине строки, превышающей ширину текстового поля</a:t>
            </a:r>
            <a:endParaRPr lang="ru-RU" sz="1800" dirty="0">
              <a:effectLst/>
              <a:latin typeface="Times New Roman" panose="02020603050405020304" pitchFamily="18" charset="0"/>
              <a:ea typeface="Times New Roman" panose="02020603050405020304" pitchFamily="18" charset="0"/>
            </a:endParaRPr>
          </a:p>
          <a:p>
            <a:pPr marL="342900" lvl="0" indent="-342900">
              <a:lnSpc>
                <a:spcPts val="1560"/>
              </a:lnSpc>
              <a:buSzPts val="1000"/>
              <a:buFont typeface="Symbol" panose="05050102010706020507" pitchFamily="18" charset="2"/>
              <a:buChar char=""/>
              <a:tabLst>
                <a:tab pos="457200" algn="l"/>
              </a:tabLst>
            </a:pPr>
            <a:r>
              <a:rPr lang="ru-RU" sz="1800" b="1" dirty="0" err="1">
                <a:solidFill>
                  <a:srgbClr val="000000"/>
                </a:solidFill>
                <a:effectLst/>
                <a:latin typeface="Verdana" panose="020B0604030504040204" pitchFamily="34" charset="0"/>
                <a:ea typeface="Times New Roman" panose="02020603050405020304" pitchFamily="18" charset="0"/>
              </a:rPr>
              <a:t>Vertical</a:t>
            </a:r>
            <a:r>
              <a:rPr lang="ru-RU" sz="1800" dirty="0">
                <a:solidFill>
                  <a:srgbClr val="000000"/>
                </a:solidFill>
                <a:effectLst/>
                <a:latin typeface="Verdana" panose="020B0604030504040204" pitchFamily="34" charset="0"/>
                <a:ea typeface="Times New Roman" panose="02020603050405020304" pitchFamily="18" charset="0"/>
              </a:rPr>
              <a:t>: создает вертикальную прокрутку, если строки не помещаются в текстовом поле</a:t>
            </a:r>
            <a:endParaRPr lang="ru-RU" sz="1800" dirty="0">
              <a:effectLst/>
              <a:latin typeface="Times New Roman" panose="02020603050405020304" pitchFamily="18" charset="0"/>
              <a:ea typeface="Times New Roman" panose="02020603050405020304" pitchFamily="18" charset="0"/>
            </a:endParaRPr>
          </a:p>
          <a:p>
            <a:pPr marL="342900" lvl="0" indent="-342900">
              <a:lnSpc>
                <a:spcPts val="1560"/>
              </a:lnSpc>
              <a:buSzPts val="1000"/>
              <a:buFont typeface="Symbol" panose="05050102010706020507" pitchFamily="18" charset="2"/>
              <a:buChar char=""/>
              <a:tabLst>
                <a:tab pos="457200" algn="l"/>
              </a:tabLst>
            </a:pPr>
            <a:r>
              <a:rPr lang="ru-RU" sz="1800" b="1" dirty="0" err="1">
                <a:solidFill>
                  <a:srgbClr val="000000"/>
                </a:solidFill>
                <a:effectLst/>
                <a:latin typeface="Verdana" panose="020B0604030504040204" pitchFamily="34" charset="0"/>
                <a:ea typeface="Times New Roman" panose="02020603050405020304" pitchFamily="18" charset="0"/>
              </a:rPr>
              <a:t>Both</a:t>
            </a:r>
            <a:r>
              <a:rPr lang="ru-RU" sz="1800" dirty="0">
                <a:solidFill>
                  <a:srgbClr val="000000"/>
                </a:solidFill>
                <a:effectLst/>
                <a:latin typeface="Verdana" panose="020B0604030504040204" pitchFamily="34" charset="0"/>
                <a:ea typeface="Times New Roman" panose="02020603050405020304" pitchFamily="18" charset="0"/>
              </a:rPr>
              <a:t>: создает вертикальную и горизонтальную прокрутку</a:t>
            </a:r>
            <a:endParaRPr lang="ru-RU" sz="1800" dirty="0">
              <a:effectLst/>
              <a:latin typeface="Times New Roman" panose="02020603050405020304" pitchFamily="18" charset="0"/>
              <a:ea typeface="Times New Roman" panose="02020603050405020304" pitchFamily="18" charset="0"/>
            </a:endParaRPr>
          </a:p>
          <a:p>
            <a:pPr marL="342900" indent="-342900">
              <a:lnSpc>
                <a:spcPts val="1560"/>
              </a:lnSpc>
              <a:buSzPts val="1000"/>
              <a:buFont typeface="Symbol" panose="05050102010706020507" pitchFamily="18" charset="2"/>
              <a:buChar char=""/>
              <a:tabLst>
                <a:tab pos="457200" algn="l"/>
              </a:tabLst>
            </a:pPr>
            <a:endParaRPr lang="ru-RU"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ts val="1560"/>
              </a:lnSpc>
              <a:buSzPts val="1000"/>
              <a:buFont typeface="Symbol" panose="05050102010706020507" pitchFamily="18" charset="2"/>
              <a:buChar char=""/>
              <a:tabLst>
                <a:tab pos="457200" algn="l"/>
              </a:tabLst>
            </a:pPr>
            <a:endParaRPr lang="ru-RU" sz="1800" b="1" dirty="0">
              <a:solidFill>
                <a:srgbClr val="000000"/>
              </a:solidFill>
              <a:effectLst/>
              <a:latin typeface="Verdana" panose="020B0604030504040204" pitchFamily="34" charset="0"/>
              <a:ea typeface="Times New Roman" panose="02020603050405020304" pitchFamily="18" charset="0"/>
            </a:endParaRPr>
          </a:p>
        </p:txBody>
      </p:sp>
    </p:spTree>
    <p:extLst>
      <p:ext uri="{BB962C8B-B14F-4D97-AF65-F5344CB8AC3E}">
        <p14:creationId xmlns:p14="http://schemas.microsoft.com/office/powerpoint/2010/main" val="14008942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ED3A22-6DF4-4BC2-8503-F400E041EAC8}"/>
              </a:ext>
            </a:extLst>
          </p:cNvPr>
          <p:cNvSpPr>
            <a:spLocks noGrp="1"/>
          </p:cNvSpPr>
          <p:nvPr>
            <p:ph type="title"/>
          </p:nvPr>
        </p:nvSpPr>
        <p:spPr/>
        <p:txBody>
          <a:bodyPr/>
          <a:lstStyle/>
          <a:p>
            <a:pPr algn="ctr"/>
            <a:r>
              <a:rPr lang="ru-RU" dirty="0">
                <a:solidFill>
                  <a:srgbClr val="0070C0"/>
                </a:solidFill>
              </a:rPr>
              <a:t>Элемент </a:t>
            </a:r>
            <a:r>
              <a:rPr lang="en-US" dirty="0" err="1">
                <a:solidFill>
                  <a:srgbClr val="0070C0"/>
                </a:solidFill>
              </a:rPr>
              <a:t>TextBox</a:t>
            </a:r>
            <a:endParaRPr lang="ru-RU" dirty="0">
              <a:solidFill>
                <a:srgbClr val="7030A0"/>
              </a:solidFill>
            </a:endParaRPr>
          </a:p>
        </p:txBody>
      </p:sp>
      <p:sp>
        <p:nvSpPr>
          <p:cNvPr id="5" name="Объект 4">
            <a:extLst>
              <a:ext uri="{FF2B5EF4-FFF2-40B4-BE49-F238E27FC236}">
                <a16:creationId xmlns:a16="http://schemas.microsoft.com/office/drawing/2014/main" id="{58D1561F-2FBB-4AA8-A141-A29CBB6ACFD6}"/>
              </a:ext>
            </a:extLst>
          </p:cNvPr>
          <p:cNvSpPr>
            <a:spLocks noGrp="1"/>
          </p:cNvSpPr>
          <p:nvPr>
            <p:ph idx="1"/>
          </p:nvPr>
        </p:nvSpPr>
        <p:spPr/>
        <p:txBody>
          <a:bodyPr>
            <a:normAutofit/>
          </a:bodyPr>
          <a:lstStyle/>
          <a:p>
            <a:pPr marL="342900" lvl="0" indent="-342900">
              <a:lnSpc>
                <a:spcPts val="1560"/>
              </a:lnSpc>
              <a:buSzPts val="1000"/>
              <a:buFont typeface="Symbol" panose="05050102010706020507" pitchFamily="18" charset="2"/>
              <a:buChar char=""/>
              <a:tabLst>
                <a:tab pos="457200" algn="l"/>
              </a:tabLst>
            </a:pPr>
            <a:endParaRPr lang="ru-RU" sz="1800" b="1" dirty="0">
              <a:solidFill>
                <a:srgbClr val="000000"/>
              </a:solidFill>
              <a:effectLst/>
              <a:latin typeface="Verdana" panose="020B0604030504040204" pitchFamily="34" charset="0"/>
              <a:ea typeface="Times New Roman" panose="02020603050405020304" pitchFamily="18" charset="0"/>
            </a:endParaRPr>
          </a:p>
          <a:p>
            <a:pPr marL="342900" indent="-342900">
              <a:lnSpc>
                <a:spcPts val="1560"/>
              </a:lnSpc>
              <a:buSzPts val="1000"/>
              <a:buFont typeface="Symbol" panose="05050102010706020507" pitchFamily="18" charset="2"/>
              <a:buChar char=""/>
              <a:tabLst>
                <a:tab pos="457200" algn="l"/>
              </a:tabLst>
            </a:pPr>
            <a:endParaRPr lang="ru-RU"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ts val="1560"/>
              </a:lnSpc>
              <a:buSzPts val="1000"/>
              <a:buFont typeface="Symbol" panose="05050102010706020507" pitchFamily="18" charset="2"/>
              <a:buChar char=""/>
              <a:tabLst>
                <a:tab pos="457200" algn="l"/>
              </a:tabLst>
            </a:pPr>
            <a:endParaRPr lang="ru-RU" sz="1800" b="1" dirty="0">
              <a:solidFill>
                <a:srgbClr val="000000"/>
              </a:solidFill>
              <a:effectLst/>
              <a:latin typeface="Verdana" panose="020B0604030504040204" pitchFamily="34" charset="0"/>
              <a:ea typeface="Times New Roman" panose="02020603050405020304" pitchFamily="18" charset="0"/>
            </a:endParaRPr>
          </a:p>
        </p:txBody>
      </p:sp>
      <p:pic>
        <p:nvPicPr>
          <p:cNvPr id="4" name="Рисунок 3">
            <a:extLst>
              <a:ext uri="{FF2B5EF4-FFF2-40B4-BE49-F238E27FC236}">
                <a16:creationId xmlns:a16="http://schemas.microsoft.com/office/drawing/2014/main" id="{F80193AB-92C0-4DBE-891B-BD8153056B5F}"/>
              </a:ext>
            </a:extLst>
          </p:cNvPr>
          <p:cNvPicPr/>
          <p:nvPr/>
        </p:nvPicPr>
        <p:blipFill>
          <a:blip r:embed="rId2"/>
          <a:stretch>
            <a:fillRect/>
          </a:stretch>
        </p:blipFill>
        <p:spPr>
          <a:xfrm>
            <a:off x="4496499" y="2277753"/>
            <a:ext cx="4158577" cy="3225425"/>
          </a:xfrm>
          <a:prstGeom prst="rect">
            <a:avLst/>
          </a:prstGeom>
        </p:spPr>
      </p:pic>
    </p:spTree>
    <p:extLst>
      <p:ext uri="{BB962C8B-B14F-4D97-AF65-F5344CB8AC3E}">
        <p14:creationId xmlns:p14="http://schemas.microsoft.com/office/powerpoint/2010/main" val="648472723"/>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246</TotalTime>
  <Words>2032</Words>
  <Application>Microsoft Office PowerPoint</Application>
  <PresentationFormat>Широкоэкранный</PresentationFormat>
  <Paragraphs>223</Paragraphs>
  <Slides>34</Slides>
  <Notes>0</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34</vt:i4>
      </vt:variant>
    </vt:vector>
  </HeadingPairs>
  <TitlesOfParts>
    <vt:vector size="42" baseType="lpstr">
      <vt:lpstr>Arial</vt:lpstr>
      <vt:lpstr>Calibri</vt:lpstr>
      <vt:lpstr>Calibri Light</vt:lpstr>
      <vt:lpstr>Consolas</vt:lpstr>
      <vt:lpstr>Symbol</vt:lpstr>
      <vt:lpstr>Times New Roman</vt:lpstr>
      <vt:lpstr>Verdana</vt:lpstr>
      <vt:lpstr>Тема Office</vt:lpstr>
      <vt:lpstr>Windows приложения</vt:lpstr>
      <vt:lpstr>Задачи курса</vt:lpstr>
      <vt:lpstr>Задачи курса</vt:lpstr>
      <vt:lpstr>Задачи курса</vt:lpstr>
      <vt:lpstr>Начало работы</vt:lpstr>
      <vt:lpstr>Начало работы</vt:lpstr>
      <vt:lpstr>Начало работы</vt:lpstr>
      <vt:lpstr>Начало работы</vt:lpstr>
      <vt:lpstr>Начало работы</vt:lpstr>
      <vt:lpstr>Начало работы</vt:lpstr>
      <vt:lpstr>Начало работы</vt:lpstr>
      <vt:lpstr>Начало работы</vt:lpstr>
      <vt:lpstr>Начало работы</vt:lpstr>
      <vt:lpstr>Начало работы</vt:lpstr>
      <vt:lpstr>Начало работы</vt:lpstr>
      <vt:lpstr>Начало работы</vt:lpstr>
      <vt:lpstr>Начало работы</vt:lpstr>
      <vt:lpstr>Начало работы</vt:lpstr>
      <vt:lpstr>Начало работы</vt:lpstr>
      <vt:lpstr>Начало работы</vt:lpstr>
      <vt:lpstr>Элементы управления формы</vt:lpstr>
      <vt:lpstr>Элементы управления формы</vt:lpstr>
      <vt:lpstr>Элементы управления формы</vt:lpstr>
      <vt:lpstr>Элементы управления формы</vt:lpstr>
      <vt:lpstr>Элементы управления формы</vt:lpstr>
      <vt:lpstr>Элемент Label</vt:lpstr>
      <vt:lpstr>Элемент Label</vt:lpstr>
      <vt:lpstr>Элемент Button (кнопка)</vt:lpstr>
      <vt:lpstr>Элемент Button (кнопка)</vt:lpstr>
      <vt:lpstr>Элемент Button (кнопка)</vt:lpstr>
      <vt:lpstr>Элемент Button (кнопка)</vt:lpstr>
      <vt:lpstr>Элемент TextBox</vt:lpstr>
      <vt:lpstr>Элемент TextBox</vt:lpstr>
      <vt:lpstr>Элемент TextBox</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Windows приложения</dc:title>
  <dc:creator>Леонид Попов</dc:creator>
  <cp:lastModifiedBy>Леонид Попов</cp:lastModifiedBy>
  <cp:revision>9</cp:revision>
  <dcterms:created xsi:type="dcterms:W3CDTF">2021-01-19T04:09:16Z</dcterms:created>
  <dcterms:modified xsi:type="dcterms:W3CDTF">2021-01-20T09:58:31Z</dcterms:modified>
</cp:coreProperties>
</file>