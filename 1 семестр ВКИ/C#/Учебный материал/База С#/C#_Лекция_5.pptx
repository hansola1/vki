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65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47A729-4311-4BF4-95C7-1AF22C5EE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E77FC97-E65B-4C9C-AD5E-6A9191582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9E892B-AB82-452D-A9C1-4833EA6DA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90FDA-B33F-4C29-8B6B-72CBECB5EB89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893A04-88C8-47D2-BBC1-68DDED853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CA2F92-EA1C-45FD-863D-10349B552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A13B3-B49D-428E-8916-0BD0E25B67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3890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F8F635-E239-4882-A6EB-A2837DB67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ED2F42-ABB6-4E3B-858E-271E7A11A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00FCA0-2E98-4D41-8E12-B52795868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90FDA-B33F-4C29-8B6B-72CBECB5EB89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635081-E8AF-4D4A-AF37-BDB16CF2B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97A435-AEF8-484B-BEEE-FEADFA21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A13B3-B49D-428E-8916-0BD0E25B67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745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617171-B8AC-448D-89E9-2FEDF3124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CD54E4-1160-4D57-AF63-94342DC2D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4BBFBC-993D-498A-8B12-2BA6B317B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90FDA-B33F-4C29-8B6B-72CBECB5EB89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3E3D6B-6E8E-4BCC-9681-30D9CB900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6861D7-42DB-4687-BA25-F2174210F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A13B3-B49D-428E-8916-0BD0E25B67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1951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549A0B-A995-4B24-B206-F5491AF8E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B191DC-CC4F-4A77-9E61-65C4CBDC70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F84DE76-3E5B-44D1-B87B-9BEE61C24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067D5BF-4244-4291-B425-2E68593E6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90FDA-B33F-4C29-8B6B-72CBECB5EB89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978AFC-AADC-4813-A447-BF7893022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9FA30E-C985-4C34-A6E5-BCE611183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A13B3-B49D-428E-8916-0BD0E25B67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505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B78A3-AAC7-4F52-87D1-2D4864401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F7C191-7748-44D6-929C-F559B95CF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AC427D-45DD-47C7-83AB-6CB4A9482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F92408D-CD95-4757-9A70-94CC57B53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600693D-1AE0-4968-A73B-A330A6B42F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D25DD0-220D-4A71-B39C-F3E1B6584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90FDA-B33F-4C29-8B6B-72CBECB5EB89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BB9A4D9-328A-48D1-A769-12A76E704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D3D137B-8559-464E-8DFB-8C9987889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A13B3-B49D-428E-8916-0BD0E25B67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362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B5067A-0A4C-40FB-9146-B267DFB82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754DAF8-1CEF-4BB2-8F1A-B3ABD154D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90FDA-B33F-4C29-8B6B-72CBECB5EB89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3818317-12B8-4254-98BC-02FB13FB8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C62B743-7307-491E-AC90-4D836D454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A13B3-B49D-428E-8916-0BD0E25B67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7446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030838C-F47E-4963-94B2-E66C0DFDC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90FDA-B33F-4C29-8B6B-72CBECB5EB89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F076C24-D908-4FA7-8D99-6256A6604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4DF9608-F4D7-4B82-A625-B96E81B2D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A13B3-B49D-428E-8916-0BD0E25B67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7417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5CDA3-B5DB-42C2-B7C9-60C289A97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9522E5-AB7D-4744-9F38-FE86A1AE0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B26880B-1911-4241-8576-53C5BA500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F5BCF1-1A2F-42E2-ADE4-4226996B2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90FDA-B33F-4C29-8B6B-72CBECB5EB89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B28C7F-3EA8-408B-9620-E7CCFEA03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B7EDEA-5B18-457B-AE71-390457664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A13B3-B49D-428E-8916-0BD0E25B67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9269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4C38BA-1A02-4D9A-A9AA-0239F4418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86953CC-A305-4DDF-BF9B-6BCAF9E5AD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FD08583-70DD-44DD-8907-B95D2274A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8BAFA4-ACD5-475F-92EE-EE567714C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90FDA-B33F-4C29-8B6B-72CBECB5EB89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5CABB6-455D-469D-8D4A-A392B3488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AFB99DE-74E9-40A0-BAB8-50AA7FE85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A13B3-B49D-428E-8916-0BD0E25B67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03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578A74-06E7-401E-8AE3-4DA483345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6C5BDC5-398E-4D08-9C1D-BF70EBC32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6B8F13-5389-4583-9146-04C3705FD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90FDA-B33F-4C29-8B6B-72CBECB5EB89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55014F-EC5F-433B-A874-BE8156E9D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EA62D5-064B-4E6F-B36C-09A24C2E7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A13B3-B49D-428E-8916-0BD0E25B67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0457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848CF4D-D126-4C83-9D3A-52DAD8EFC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35EEB13-8A90-432A-BBF2-9C181FF1F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69B427-7297-4066-94FB-D42C741B2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90FDA-B33F-4C29-8B6B-72CBECB5EB89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CE0677-100E-4E15-AD0B-FA4800D85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56C750-5DA7-4D3A-93C3-BC60FEC0F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A13B3-B49D-428E-8916-0BD0E25B67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634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6A80B8-31FE-4E57-A592-1AB453E1D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B9AB8D-FC32-4504-897A-EF40AC7C0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E64295-4080-4514-98BC-B4BC751B4F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90FDA-B33F-4C29-8B6B-72CBECB5EB89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74B194-F5CB-4AD6-9EEF-2120685261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245763-0D2B-4D22-98D5-052E1B148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A13B3-B49D-428E-8916-0BD0E25B67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2572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AF%D0%B7%D1%8B%D0%BA_%D0%BF%D1%80%D0%BE%D0%B3%D1%80%D0%B0%D0%BC%D0%BC%D0%B8%D1%80%D0%BE%D0%B2%D0%B0%D0%BD%D0%B8%D1%8F" TargetMode="External"/><Relationship Id="rId2" Type="http://schemas.openxmlformats.org/officeDocument/2006/relationships/hyperlink" Target="https://ru.wikipedia.org/wiki/%D0%9C%D0%B0%D1%81%D1%81%D0%B8%D0%B2_(%D0%BF%D1%80%D0%BE%D0%B3%D1%80%D0%B0%D0%BC%D0%BC%D0%B8%D1%80%D0%BE%D0%B2%D0%B0%D0%BD%D0%B8%D0%B5)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619007-3649-4788-8DD0-54C96A6966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Программирование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00C2C9B-6E6D-4523-996A-9E9D750DBD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4800" dirty="0">
                <a:solidFill>
                  <a:srgbClr val="00B050"/>
                </a:solidFill>
              </a:rPr>
              <a:t>на языке </a:t>
            </a:r>
            <a:r>
              <a:rPr lang="en-US" sz="4800" dirty="0">
                <a:solidFill>
                  <a:srgbClr val="00B050"/>
                </a:solidFill>
              </a:rPr>
              <a:t>C#</a:t>
            </a:r>
          </a:p>
          <a:p>
            <a:r>
              <a:rPr lang="ru-RU" sz="4800" dirty="0">
                <a:solidFill>
                  <a:srgbClr val="00B050"/>
                </a:solidFill>
              </a:rPr>
              <a:t>Лекция 5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928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Использование цикла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foreach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Кроме операторов цикла, которые мы рассматривали ранее, в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есть еще один оператор цикла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foreach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который называется циклом по коллекции. С понятием коллекция наши студенты знакомы по курсу языка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Python 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(списки, кортежи словари – все они есть и в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#). Этот оператор (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foreach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может использоваться для перебора элементов в массиве. Синтаксис описания оператора цикла по коллекции такой: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foreach</a:t>
            </a:r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(&lt;тип&gt; &lt;переменная&gt; 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&lt;коллекция&gt;)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{ операторы тела цикла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288753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Использование цикла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foreach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круглых скобках после ключевого слова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foreach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объявляется локальная переменная. Она доступна только в теле оператора цикла. При объявлении переменной указывается ее тип и название, элементы которого перебираются в процессе выполнения оператора цикла. Команды, выполняемые за каждый цикл, указываются в фигурных скобках после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foreach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-инструкции. 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177082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Использование цикла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foreach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Оператор выполняется следующим образом. Объявленная в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foreach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-инструкции переменная последовательно принимает значения элементов массива, указанного после ключевого слова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Таким образом, в отличие от «классического» оператора цикла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в котором элементы массива перебираются помощью индексной переменной, в данном случае перебираются не индексы переменных, а сами переменные. Приведем примеры.</a:t>
            </a: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205283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Использование цикла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foreach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данном примере переменная </a:t>
            </a:r>
            <a:r>
              <a:rPr lang="en-US" sz="24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принимает значение очередного элемента массива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а в теле цикла суммируются все элементы массива, а сумма записывается в переменную </a:t>
            </a:r>
            <a:r>
              <a:rPr lang="ru-RU" sz="24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sum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/>
            <a:r>
              <a:rPr lang="en-US" sz="2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[] m = { -5, 4, 10 };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</a:t>
            </a:r>
            <a:r>
              <a:rPr lang="en-US" sz="2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sum = 0;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</a:t>
            </a:r>
            <a:r>
              <a:rPr lang="en-US" sz="2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foreach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(</a:t>
            </a:r>
            <a:r>
              <a:rPr lang="en-US" sz="2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m)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</a:t>
            </a:r>
            <a:r>
              <a:rPr lang="ru-RU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    </a:t>
            </a:r>
            <a:r>
              <a:rPr lang="ru-RU" sz="24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sum</a:t>
            </a:r>
            <a:r>
              <a:rPr lang="ru-RU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+= i;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}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081493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Использование цикла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foreach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Вывод элементов массива по порядку.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/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[] </a:t>
            </a:r>
            <a:r>
              <a:rPr lang="en-US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intArray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{ 2, 4, 6, 8, 10, -2, -3, -4, 8 };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foreach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intArray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</a:t>
            </a:r>
            <a:r>
              <a:rPr lang="ru-RU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System.</a:t>
            </a:r>
            <a:r>
              <a:rPr lang="ru-RU" sz="1800" dirty="0" err="1">
                <a:solidFill>
                  <a:srgbClr val="008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</a:t>
            </a:r>
            <a:r>
              <a:rPr lang="ru-RU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.WriteLine</a:t>
            </a:r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(i);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Вывод элементов массива по порядку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93166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</a:t>
            </a:r>
            <a:endParaRPr lang="ru-RU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Многомерным называется массив, который имеет две и более размерности, а доступ к отдельному элементу выполняется с помощью указания двух и более индексов. Самым простым является двухмерный массив, который мы здесь и рассмотрим.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212909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двумерном массиве для однозначной идентификации элемента в массиве необходимо указать два индекса. Двумерный массив удобно представлять в виде таблицы. Первый индекс определяет строку, в которой находится элемент, а второй индекс определяет столбец. Создается двумерный массив практически так же, как и одномерный: объявляется переменная массива, создается собственно массив, и ссылка на этот массив записывается в переменную массива.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2917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объявлении переменной двумерного массива после идентификатора типа указываются квадратные скобки с запятой внутри [,]. Например, если мы хотим объявить переменную для двумерного целочисленного массива, то соответствующая инструкция могла бы выглядеть как </a:t>
            </a: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[,]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nums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607915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создании двумерного массива используется инструкция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а после нее указывается идентификатор типа для элементов массива и в квадратных скобках разделенные через запятую два целых числа определяющих размер массива по каждому из индексов (количество строк и столбцов в двумерном массиве). Например, создать двумерный целочисленный массив из 3 строк и 5 столбцов можно инструкцией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 int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[3,5]. 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069090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 и для одномерного массива, значением инструкции, создающей двумерный массив, является ссылка на этот массив. Поэтому, если переменная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nums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предварительно объявлена командой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[,]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nums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то законной была бы команда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nums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 int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[3,5]. Команды объявления массива и создания массива можно объединить: </a:t>
            </a:r>
          </a:p>
          <a:p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[,]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nums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 int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[3,5].</a:t>
            </a: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106316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Ниже приведен шаблон объявления переменной для двумерного массива и создания двумерного массива: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тип[,] переменная;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переменная =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тип[размер, размер];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Можно использовать и такой шаблон: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тип[,] переменная =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тип[размер, размер];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Например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int[,]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= new int[3,4];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3200" dirty="0"/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260909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- инициализация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обращения к элементу массива указывают имя массива и в квадратных скобках через запятую – индексы этого элемента. Индексация по каждому индексу начинается с нуля. То есть инструкция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nums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[0,0] означает обращение к элементу массива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nums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который расположен в первой строке и первом столбце (строке с индексом 0 и столбце с индексом 0). Выражение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nums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[1,2] является обращением к элементу, находящемуся в строке с индексом 1 (вторая по порядку строка) и столбце с индексом 2 (третий по порядку столбец).</a:t>
            </a:r>
          </a:p>
          <a:p>
            <a:endParaRPr lang="ru-RU" sz="3200" dirty="0"/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254524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- инициализация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Инициализацию элементов массива можно выполнять несколькими способами: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Вручную с помощью нескольких операторов присваивания, как показано в следующем примере.</a:t>
            </a:r>
          </a:p>
          <a:p>
            <a:pPr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[,]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[4,4];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[0,0] = 1;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[1,0] = 2;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[2,2] = 3;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[3,3] = 5;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[3,3]);  </a:t>
            </a:r>
            <a:r>
              <a:rPr lang="en-US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5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3200" dirty="0"/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227205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- инициализация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Инициализировать массив сразу при его создании. </a:t>
            </a:r>
          </a:p>
          <a:p>
            <a:pPr indent="450215"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int[,] nums3 = 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int[2, 3] { { 0, 1, 2 }, { 3, 4, 5 } };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int[,] nums4 = 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int[,] { { 0, 1, 2 }, { 3, 4, 5 } };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int[,] nums5 = 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[,]{ { 0, 1, 2 }, { 3, 4, 5 } };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int[,] nums6 = { { 0, 1, 2 }, { 3, 4, 5 } };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Все перечисленные выше способы будут равноценны.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3200" dirty="0"/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673954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- инициализация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помощью случайных чисел. В следующем примере двумерный массив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nums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размерностью 4х4 элемента инициализируется случайным способом числами в диапазоне от -20 до 20.</a:t>
            </a: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31171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- инициализация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"Инициализация двумерного массива"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str, s;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Random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Random();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[,]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[4, 4];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str =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j = 0; j &lt; 4;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rnd.Next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(40) - 20;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s = 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\t"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str +=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+s;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(str);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450215" algn="just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996715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- инициализация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Инициализация двумерного массива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4       13      15      10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-9      10      7       -19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18      7       17      -17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19      11      5       -10</a:t>
            </a: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370526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- инициализация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Свойство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Length 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двумерного массива возвращает общее количество элементов в массиве. Для массива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 3 строк и 5 столбцов значением выражения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nums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Length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является число 15 (произведение 3 на 5). Чтобы узнать размер массива по какому-то индексу (то есть количество строк и количество столбцов в массиве), используют метод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GetLength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().  Например, если  массив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nums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состоит из 3 строк и 5 столбцов, то значением выражения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nums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GetLength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(0) является число 3 (размер по первому индексу – количество строк), а значением выражения 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nums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GetLength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(1) является число 5 (размер по второму индексу – количество столбцов.</a:t>
            </a: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286272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– Пример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ассмотрим код программы поиска значения минимального элемента в двумерном массиве.</a:t>
            </a:r>
          </a:p>
          <a:p>
            <a:pPr marL="449580" indent="635"/>
            <a:r>
              <a:rPr lang="ru-RU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j = 0; j &lt; 4;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rnd.Next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(40) - 20;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min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[0, 0];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j = 0; j &lt; 4;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 &lt; min) min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Минимальный элемент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{min}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421576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– Пример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Инициализация двумерного массива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18      14      -17     -4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18      -11     9       -6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-19     6       -4      11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19      -1      12      -7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Минимальный элемент = -19</a:t>
            </a: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139948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– Пример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sz="3200" dirty="0"/>
              <a:t>Найти сумму элементов четных строк и нечетных столбцов матрицы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Program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[,]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CrMass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[,]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n,n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Random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Random();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//Заполнение случайными числами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nums.GetLength(0); i++)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j = 0; j &lt;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nums.GetLength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(1);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i,j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rnd.Next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(-20, 21);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055403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– Пример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Printmass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[,]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str, s;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nums.GetLength(0); i++)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str =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j = 0; j &lt;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nums.GetLength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(1);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s=(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i,j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]}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\t"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str +=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+ s;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(str);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2859316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– Пример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Chet_Nechet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[,] A)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sch = 0;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snch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A.GetLength(0); i++)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% 2 == 0)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j = 0; j &lt;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A.GetLength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(1);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sch += A[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j = 0; j &lt;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A.GetLength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(1);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(j % 2 == 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A.GetLength(0); i++)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snch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+= A[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ru-RU" sz="1800" dirty="0">
                <a:solidFill>
                  <a:srgbClr val="A31515"/>
                </a:solidFill>
                <a:latin typeface="Consolas" panose="020B0609020204030204" pitchFamily="49" charset="0"/>
              </a:rPr>
              <a:t>Сумма четных строк 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sch}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, </a:t>
            </a:r>
            <a:r>
              <a:rPr lang="ru-RU" sz="1800" dirty="0">
                <a:solidFill>
                  <a:srgbClr val="A31515"/>
                </a:solidFill>
                <a:latin typeface="Consolas" panose="020B0609020204030204" pitchFamily="49" charset="0"/>
              </a:rPr>
              <a:t>сумма нечетных столбцов 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snch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1279207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– Пример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 = 4;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[,] A;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A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CrMass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(n);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Printmass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(A);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Chet_Nechet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(A);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215969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– Пример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Результат</a:t>
            </a:r>
          </a:p>
          <a:p>
            <a:r>
              <a:rPr lang="ru-RU" sz="3200" dirty="0"/>
              <a:t>  -20     0       14      -5</a:t>
            </a:r>
          </a:p>
          <a:p>
            <a:r>
              <a:rPr lang="ru-RU" sz="3200" dirty="0"/>
              <a:t> -16     -14     3       -5</a:t>
            </a:r>
          </a:p>
          <a:p>
            <a:r>
              <a:rPr lang="ru-RU" sz="3200" dirty="0"/>
              <a:t> 8       -5      -7      -10</a:t>
            </a:r>
          </a:p>
          <a:p>
            <a:r>
              <a:rPr lang="ru-RU" sz="3200" dirty="0"/>
              <a:t> 16      -6      11      -2</a:t>
            </a:r>
          </a:p>
          <a:p>
            <a:r>
              <a:rPr lang="ru-RU" sz="3200" dirty="0"/>
              <a:t>Сумма четных строк -25, сумма нечетных столбцов -47</a:t>
            </a:r>
          </a:p>
        </p:txBody>
      </p:sp>
    </p:spTree>
    <p:extLst>
      <p:ext uri="{BB962C8B-B14F-4D97-AF65-F5344CB8AC3E}">
        <p14:creationId xmlns:p14="http://schemas.microsoft.com/office/powerpoint/2010/main" val="1578308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– Пример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z="3200" dirty="0"/>
              <a:t>Найти сумму элементов столбца, в котором находится первый минимальный элемент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Program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[,]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CrMass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[,]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[n, n];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Random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Random();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//Заполнение случайными числами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nums.GetLength(0); i++)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j = 0; j &lt;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nums.GetLength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(1);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rnd.Next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(1, 100);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2196732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– Пример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sz="3200" dirty="0"/>
              <a:t>Найти сумму элементов столбца, в котором находится первый минимальный элемент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Printmass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[,]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str, s;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nums.GetLength(0); i++)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str =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j = 0; j &lt;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nums.GetLength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(1);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s = 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j]}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\t"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str +=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+ s;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(str);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5050324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– Пример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Min_j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[,] A)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nj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A[0,0];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A.GetLength(0); i++)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j = 0; j &lt;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A.GetLength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(1);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(A[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i,j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]&lt;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A[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nj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j;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nj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1424222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– Пример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 = 4;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[,] A;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nj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A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CrMass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(n);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Printmass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(A);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nj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Min_j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(A);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 = 0;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A.GetLength(0); i++)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s += A[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nj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latin typeface="Consolas" panose="020B0609020204030204" pitchFamily="49" charset="0"/>
              </a:rPr>
              <a:t>$"Сумма столбца с мин. элементом равна 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{s}</a:t>
            </a:r>
            <a:r>
              <a:rPr lang="ru-RU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9515449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– Пример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Результат:</a:t>
            </a:r>
          </a:p>
          <a:p>
            <a:r>
              <a:rPr lang="ru-RU" sz="3200" dirty="0"/>
              <a:t>88      83      69      43</a:t>
            </a:r>
          </a:p>
          <a:p>
            <a:r>
              <a:rPr lang="ru-RU" sz="3200" dirty="0"/>
              <a:t> 66      34      33      64</a:t>
            </a:r>
          </a:p>
          <a:p>
            <a:r>
              <a:rPr lang="ru-RU" sz="3200" dirty="0"/>
              <a:t> 70      61      29      29</a:t>
            </a:r>
          </a:p>
          <a:p>
            <a:r>
              <a:rPr lang="ru-RU" sz="3200" dirty="0"/>
              <a:t> 10      20      89      25</a:t>
            </a:r>
          </a:p>
          <a:p>
            <a:r>
              <a:rPr lang="ru-RU" sz="3200" dirty="0"/>
              <a:t>Сумма столбца с мин. элементом равна 234</a:t>
            </a:r>
          </a:p>
        </p:txBody>
      </p:sp>
    </p:spTree>
    <p:extLst>
      <p:ext uri="{BB962C8B-B14F-4D97-AF65-F5344CB8AC3E}">
        <p14:creationId xmlns:p14="http://schemas.microsoft.com/office/powerpoint/2010/main" val="550853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– Пример 4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Поменять местами первый и второй столбцы.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[,]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CrMass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[,]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[n, n];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Random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Random();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//Заполнение случайными числами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nums.GetLength(0); i++)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j = 0; j &lt;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nums.GetLength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(1);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rnd.Next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(1, 100);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0155256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– Пример 4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Printmass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[,]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str, s;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nums.GetLength(0); i++)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str =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j = 0; j &lt;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nums.GetLength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(1);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s = 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j]}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\t"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str +=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+ s;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(str);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361654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– Пример 4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Ch_Col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ref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[,] A,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[] b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[n];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i= 0; i&lt; n; i++)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b[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 = A[i,0];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A[i,0] = A[i,1];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A[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1] = b[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8400160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– Пример 4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 = 4;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[,] A;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A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CrMass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(n);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Printmass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(A);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Ch_Col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ref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A, n);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latin typeface="Consolas" panose="020B0609020204030204" pitchFamily="49" charset="0"/>
              </a:rPr>
              <a:t>"Матрица после перестановки"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Printmass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(A);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7934272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Двумерные массивы – Пример 4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sz="1800" dirty="0">
                <a:solidFill>
                  <a:srgbClr val="0000FF"/>
                </a:solidFill>
                <a:latin typeface="Consolas" panose="020B0609020204030204" pitchFamily="49" charset="0"/>
              </a:rPr>
              <a:t>Результат:</a:t>
            </a:r>
          </a:p>
          <a:p>
            <a:r>
              <a:rPr lang="ru-RU" sz="3200" dirty="0"/>
              <a:t> 23      16      46      31</a:t>
            </a:r>
          </a:p>
          <a:p>
            <a:r>
              <a:rPr lang="ru-RU" sz="3200" dirty="0"/>
              <a:t> 10      90      15      15</a:t>
            </a:r>
          </a:p>
          <a:p>
            <a:r>
              <a:rPr lang="ru-RU" sz="3200" dirty="0"/>
              <a:t> 16      11      96      54</a:t>
            </a:r>
          </a:p>
          <a:p>
            <a:r>
              <a:rPr lang="ru-RU" sz="3200" dirty="0"/>
              <a:t> 41      82      48      58</a:t>
            </a:r>
          </a:p>
          <a:p>
            <a:r>
              <a:rPr lang="ru-RU" sz="3200" dirty="0"/>
              <a:t>Матрица после перестановки</a:t>
            </a:r>
          </a:p>
          <a:p>
            <a:r>
              <a:rPr lang="ru-RU" sz="3200" dirty="0"/>
              <a:t> 16      23      46      31</a:t>
            </a:r>
          </a:p>
          <a:p>
            <a:r>
              <a:rPr lang="ru-RU" sz="3200" dirty="0"/>
              <a:t> 90      10      15      15</a:t>
            </a:r>
          </a:p>
          <a:p>
            <a:r>
              <a:rPr lang="ru-RU" sz="3200" dirty="0"/>
              <a:t> 11      16      96      54</a:t>
            </a:r>
          </a:p>
          <a:p>
            <a:r>
              <a:rPr lang="ru-RU" sz="3200" dirty="0"/>
              <a:t> 82      41      48      58</a:t>
            </a:r>
          </a:p>
        </p:txBody>
      </p:sp>
    </p:spTree>
    <p:extLst>
      <p:ext uri="{BB962C8B-B14F-4D97-AF65-F5344CB8AC3E}">
        <p14:creationId xmlns:p14="http://schemas.microsoft.com/office/powerpoint/2010/main" val="14091709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Динамические 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Динамическим</a:t>
            </a:r>
            <a:r>
              <a:rPr lang="ru-RU" sz="32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называется </a:t>
            </a:r>
            <a:r>
              <a:rPr lang="ru-RU" sz="3200" u="sng" dirty="0">
                <a:solidFill>
                  <a:srgbClr val="0B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 tooltip="Массив (программирование)"/>
              </a:rPr>
              <a:t>массив</a:t>
            </a:r>
            <a:r>
              <a:rPr lang="ru-RU" sz="32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размер которого может изменяться во время исполнения программы. Возможность изменения размера отличает динамический массив от статического, размер которого задаётся на момент компиляции программы. Для изменения размера динамического массива </a:t>
            </a:r>
            <a:r>
              <a:rPr lang="ru-RU" sz="3200" u="sng" dirty="0">
                <a:solidFill>
                  <a:srgbClr val="0B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 tooltip="Язык программирования"/>
              </a:rPr>
              <a:t>язык программирования</a:t>
            </a:r>
            <a:r>
              <a:rPr lang="ru-RU" sz="32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поддерживающий такие массивы, должен предоставлять встроенную функцию или оператор.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745319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Динамические 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 определяет динамический массив Википедия. Однако на практике есть два взгляда на это понятие. Иногда динамическим называют массив, размер которого можно задать по ходу исполнения программы с помощью переменной, а не константы (например, в языке </a:t>
            </a:r>
            <a:r>
              <a:rPr lang="en-US" sz="18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Pascal </a:t>
            </a:r>
            <a:r>
              <a:rPr lang="ru-RU" sz="18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массивы статические и их размеры задаются константами). В этом смысле все массивы в </a:t>
            </a:r>
            <a:r>
              <a:rPr lang="en-US" sz="18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18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динамические.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Например: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1260475"/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mass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[n];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Вопрос об изменении размеров более сложен, и мы рассмотрим его отдельно.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2321040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Динамические одномерные 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изменения размеров одномерного массива в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используют метод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Array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Resize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(). Шаблон его использования следующий:</a:t>
            </a:r>
          </a:p>
          <a:p>
            <a:pPr indent="450215" algn="just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Array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Resize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изменяемый массив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количество элементов в измененном массиве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Поясним его работу на примере.</a:t>
            </a: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8920747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Динамические одномерные 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Изменяем размер массива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449580" indent="635"/>
            <a:r>
              <a:rPr lang="ru-RU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"Создаем одномерный массив"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str =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 = 4;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[4] { 1, 2, 3, 4 };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&lt;4;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 str +=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+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(str);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3538595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Динамические одномерные 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Изменяем размер массива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Console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"Расширяем одномерный массив"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 =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Array.Resize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8);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nums.Length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 str +=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+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(str);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6657375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Динамические одномерные 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"Сокращаем одномерный массив"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 =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Array.Resize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3);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nums.Length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 str +=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+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(str);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2485316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Динамические одномерные 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48945" indent="450215" algn="just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Результат: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48945"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Создаем одномерный массив</a:t>
            </a:r>
          </a:p>
          <a:p>
            <a:pPr marL="448945"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1 2 3 4</a:t>
            </a:r>
          </a:p>
          <a:p>
            <a:pPr marL="448945"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Расширяем одномерный массив</a:t>
            </a:r>
          </a:p>
          <a:p>
            <a:pPr marL="448945"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1 2 3 4 0 0 0 0</a:t>
            </a:r>
          </a:p>
          <a:p>
            <a:pPr marL="448945"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Сокращаем одномерный массив</a:t>
            </a:r>
          </a:p>
          <a:p>
            <a:pPr marL="448945"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1 2 3</a:t>
            </a: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4561025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Динамические двумерные 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48945" indent="0" algn="just">
              <a:buNone/>
            </a:pP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изменения размерности двумерных массивов в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не предоставлен метод, подобный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Array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Resize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(). Поэтому для решения задач по изменению количества строк и столбцов в матрице следует воспользоваться одной из коллекций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- списком (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 Понимание этого вопроса облегчает знакомство с коллекциями языка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Python 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(списками, кортежами и словарями).</a:t>
            </a:r>
          </a:p>
          <a:p>
            <a:pPr marL="448945" indent="0" algn="just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2063220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Списки в </a:t>
            </a:r>
            <a:r>
              <a:rPr lang="en-US" dirty="0">
                <a:solidFill>
                  <a:srgbClr val="FF0000"/>
                </a:solidFill>
              </a:rPr>
              <a:t>C#</a:t>
            </a:r>
            <a:r>
              <a:rPr lang="ru-RU" dirty="0">
                <a:solidFill>
                  <a:srgbClr val="FF0000"/>
                </a:solidFill>
              </a:rPr>
              <a:t> (одномерные)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48945" indent="0" algn="just">
              <a:buNone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Список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принадлежит к пространству имен (библиотеке)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System.Collections.Generic</a:t>
            </a: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поэтому прежде, чем его использовать, необходимо подключить это пространство имен к нашей программе.</a:t>
            </a:r>
          </a:p>
          <a:p>
            <a:pPr indent="450215"/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System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System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Collections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Generic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48945" indent="0" algn="just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Список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представляет собой простейший список однотипных объектов. Как и массив, его необходимо первым делом объявить. Шаблон объявления следующий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.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48945" indent="0" algn="just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List&lt;</a:t>
            </a:r>
            <a:r>
              <a:rPr lang="ru-RU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тип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имя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List&lt;</a:t>
            </a:r>
            <a:r>
              <a:rPr lang="ru-RU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тип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48945" indent="0" algn="just">
              <a:buNone/>
            </a:pPr>
            <a:endParaRPr lang="ru-RU" alt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8945" indent="0" algn="just">
              <a:buNone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48945" indent="0" algn="just">
              <a:buNone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4530052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Списки в </a:t>
            </a:r>
            <a:r>
              <a:rPr lang="en-US" dirty="0">
                <a:solidFill>
                  <a:srgbClr val="FF0000"/>
                </a:solidFill>
              </a:rPr>
              <a:t>C#</a:t>
            </a:r>
            <a:r>
              <a:rPr lang="ru-RU" dirty="0">
                <a:solidFill>
                  <a:srgbClr val="FF0000"/>
                </a:solidFill>
              </a:rPr>
              <a:t> (одномерные)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48945" indent="0" algn="just"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Среди его методов можно выделить следующие:</a:t>
            </a:r>
          </a:p>
          <a:p>
            <a:pPr marL="448945" indent="0" algn="just">
              <a:buNone/>
            </a:pP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void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(значение): добавление нового элемента в список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void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AddRange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ICollection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collection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): добавление в список коллекции или массива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IndexOf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(значение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возвращает индекс первого вхождения элемента с данным значением в списке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 вставляет элемент со значением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 списке на позицию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Remove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 удаляет элемент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из списка, и если удаление прошло успешно, то возвращает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RemoveAt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 удаление элемента по указанному индексу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RemoveRange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 удаляет из списка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элементов, начиная с индекса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8945" indent="0" algn="just"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Свойство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возвращает количество элементов в списке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8945" indent="0" algn="just">
              <a:buNone/>
            </a:pPr>
            <a:endParaRPr lang="ru-RU" alt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8945" indent="0" algn="just">
              <a:buNone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48945" indent="0" algn="just">
              <a:buNone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9973592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Списки в </a:t>
            </a:r>
            <a:r>
              <a:rPr lang="en-US" dirty="0">
                <a:solidFill>
                  <a:srgbClr val="FF0000"/>
                </a:solidFill>
              </a:rPr>
              <a:t>C#</a:t>
            </a:r>
            <a:r>
              <a:rPr lang="ru-RU" dirty="0">
                <a:solidFill>
                  <a:srgbClr val="FF0000"/>
                </a:solidFill>
              </a:rPr>
              <a:t> (одномерные)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48945" indent="0" algn="just"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Одним из способов инициализации одномерного списка является присвоение значения его элементам в момент создания. Он идентичен подобному способу для массивов. Продемонстрируем на примере действие методов списка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List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9001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List&lt;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 numbers =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List&lt;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&gt;() { 1, 2, 3, 45 };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9001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numbers.Add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(6); //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добавление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элемента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9001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numbers.AddRange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(new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int[] { 7, 8, 9 });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numbers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Insert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(0, 666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 // вставляем на первое место число 666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</a:endParaRPr>
          </a:p>
          <a:p>
            <a:pPr marL="0" marR="0" lvl="0" indent="9001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numbers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RemoveAt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(1); //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удаляем второй элемент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kumimoji="0" lang="en-US" altLang="ru-RU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48945" indent="0" algn="just">
              <a:buNone/>
            </a:pPr>
            <a:endParaRPr lang="ru-RU" alt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8945" indent="0" algn="just">
              <a:buNone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48945" indent="0" algn="just">
              <a:buNone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5770497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Списки в </a:t>
            </a:r>
            <a:r>
              <a:rPr lang="en-US" dirty="0">
                <a:solidFill>
                  <a:srgbClr val="FF0000"/>
                </a:solidFill>
              </a:rPr>
              <a:t>C#</a:t>
            </a:r>
            <a:r>
              <a:rPr lang="ru-RU" dirty="0">
                <a:solidFill>
                  <a:srgbClr val="FF0000"/>
                </a:solidFill>
              </a:rPr>
              <a:t> (одномерные)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48945" indent="0" algn="just">
              <a:buNone/>
            </a:pPr>
            <a:r>
              <a:rPr lang="ru-RU" sz="3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Списки предоставляют возможность по ходу программы увеличивать или уменьшать количество их элементов. В следующем примере мы создадим список, добавляя в него случайные числа, а затем удалим два его элемента, начиная с конца.</a:t>
            </a:r>
            <a:endParaRPr lang="ru-RU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48945" indent="0" algn="just">
              <a:buNone/>
            </a:pPr>
            <a:endParaRPr lang="ru-RU" altLang="ru-RU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8945" indent="0" algn="just">
              <a:buNone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48945" indent="0" algn="just">
              <a:buNone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1444394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Списки в </a:t>
            </a:r>
            <a:r>
              <a:rPr lang="en-US" dirty="0">
                <a:solidFill>
                  <a:srgbClr val="FF0000"/>
                </a:solidFill>
              </a:rPr>
              <a:t>C#</a:t>
            </a:r>
            <a:r>
              <a:rPr lang="ru-RU" dirty="0">
                <a:solidFill>
                  <a:srgbClr val="FF0000"/>
                </a:solidFill>
              </a:rPr>
              <a:t> (одномерные)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System;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System.Collections.Generic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First_list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Program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Random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Random();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k;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List&lt;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List&lt;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&gt;();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Объявление списка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48945" indent="0" algn="just">
              <a:buNone/>
            </a:pPr>
            <a:endParaRPr lang="ru-RU" altLang="ru-RU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8945" indent="0" algn="just">
              <a:buNone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48945" indent="0" algn="just">
              <a:buNone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0606632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Списки в </a:t>
            </a:r>
            <a:r>
              <a:rPr lang="en-US" dirty="0">
                <a:solidFill>
                  <a:srgbClr val="FF0000"/>
                </a:solidFill>
              </a:rPr>
              <a:t>C#</a:t>
            </a:r>
            <a:r>
              <a:rPr lang="ru-RU" dirty="0">
                <a:solidFill>
                  <a:srgbClr val="FF0000"/>
                </a:solidFill>
              </a:rPr>
              <a:t> (одномерные)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48945" indent="0" algn="just">
              <a:buNone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"Создание и заполнение списка случайными числами"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5;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k=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rnd.Next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(1, 10);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nums.Add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(k);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48945" indent="0" algn="just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5683534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Списки в </a:t>
            </a:r>
            <a:r>
              <a:rPr lang="en-US" dirty="0">
                <a:solidFill>
                  <a:srgbClr val="FF0000"/>
                </a:solidFill>
              </a:rPr>
              <a:t>C#</a:t>
            </a:r>
            <a:r>
              <a:rPr lang="ru-RU" dirty="0">
                <a:solidFill>
                  <a:srgbClr val="FF0000"/>
                </a:solidFill>
              </a:rPr>
              <a:t> (одномерные)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48945" indent="0" algn="just">
              <a:buNone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nums.Count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Количество элементов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nums.Count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"Удаление двух элементов"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n-1;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&gt; 2;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nums.RemoveAt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После удаления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Printmass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9288598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Списки в </a:t>
            </a:r>
            <a:r>
              <a:rPr lang="en-US" dirty="0">
                <a:solidFill>
                  <a:srgbClr val="FF0000"/>
                </a:solidFill>
              </a:rPr>
              <a:t>C#</a:t>
            </a:r>
            <a:r>
              <a:rPr lang="ru-RU" dirty="0">
                <a:solidFill>
                  <a:srgbClr val="FF0000"/>
                </a:solidFill>
              </a:rPr>
              <a:t> (одномерные)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Printmass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(List&lt;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nums.Count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48945" indent="0" algn="just">
              <a:buNone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5857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Списки в </a:t>
            </a:r>
            <a:r>
              <a:rPr lang="en-US" dirty="0">
                <a:solidFill>
                  <a:srgbClr val="FF0000"/>
                </a:solidFill>
              </a:rPr>
              <a:t>C#</a:t>
            </a:r>
            <a:r>
              <a:rPr lang="ru-RU" dirty="0">
                <a:solidFill>
                  <a:srgbClr val="FF0000"/>
                </a:solidFill>
              </a:rPr>
              <a:t> (одномерные)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Результат: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Создание и заполнение списка случайными числами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8 1 5 7 1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Количество элементов = 5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Удаление двух элементов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После удаления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8 1 5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48945"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При практическом программировании добавление и удаление групп элементов может быть оформлено в виде соответствующих методов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1000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Списки в </a:t>
            </a:r>
            <a:r>
              <a:rPr lang="en-US" dirty="0">
                <a:solidFill>
                  <a:srgbClr val="FF0000"/>
                </a:solidFill>
              </a:rPr>
              <a:t>C#</a:t>
            </a:r>
            <a:r>
              <a:rPr lang="ru-RU" dirty="0">
                <a:solidFill>
                  <a:srgbClr val="FF0000"/>
                </a:solidFill>
              </a:rPr>
              <a:t> (двумерные)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/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Двумерный список – это список списков, также, как двумерный массив – массив массивов. Его можно создать, следуя следующему шаблону:</a:t>
            </a:r>
          </a:p>
          <a:p>
            <a:pPr indent="450215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63055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List&lt;List&lt;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&gt;&gt; Mas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имя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List&lt;List&lt;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&gt;&gt;();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динамический двумерный список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     List&lt;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&gt;row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имя строки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List&lt;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&gt;();   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строка списка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 двумерному списку в целом и к каждой его строке применимы методы, представленные в предыдущем параграфе. С их помощью можно создать и заполнить список, а также удалить из него любую строку или столбец. Порядок этих действий поясняет пример.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6170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Списки в </a:t>
            </a:r>
            <a:r>
              <a:rPr lang="en-US" dirty="0">
                <a:solidFill>
                  <a:srgbClr val="FF0000"/>
                </a:solidFill>
              </a:rPr>
              <a:t>C#</a:t>
            </a:r>
            <a:r>
              <a:rPr lang="ru-RU" dirty="0">
                <a:solidFill>
                  <a:srgbClr val="FF0000"/>
                </a:solidFill>
              </a:rPr>
              <a:t> (двумерные)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indent="450215" algn="just"/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Работа с двумерным списком.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System;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System.Collections.Generic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Second_list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Program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List&lt;List&lt;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 Mas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List&lt;List&lt;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&gt;&gt;();   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динамический двумерный массив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List&lt;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row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List&lt;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&gt;();               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строка массива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1192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Списки в </a:t>
            </a:r>
            <a:r>
              <a:rPr lang="en-US" dirty="0">
                <a:solidFill>
                  <a:srgbClr val="FF0000"/>
                </a:solidFill>
              </a:rPr>
              <a:t>C#</a:t>
            </a:r>
            <a:r>
              <a:rPr lang="ru-RU" dirty="0">
                <a:solidFill>
                  <a:srgbClr val="FF0000"/>
                </a:solidFill>
              </a:rPr>
              <a:t> (двумерные)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 = 6;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Создаем двумерный список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n;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row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List&lt;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j = 0; j &lt; n;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row.Add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j);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строка массива заполняется просто суммой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и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j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Mas.Add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row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                   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//строка добавляется в массив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Printmass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//Вывод матрицы на консоль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590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Списки в </a:t>
            </a:r>
            <a:r>
              <a:rPr lang="en-US" dirty="0">
                <a:solidFill>
                  <a:srgbClr val="FF0000"/>
                </a:solidFill>
              </a:rPr>
              <a:t>C#</a:t>
            </a:r>
            <a:r>
              <a:rPr lang="ru-RU" dirty="0">
                <a:solidFill>
                  <a:srgbClr val="FF0000"/>
                </a:solidFill>
              </a:rPr>
              <a:t> (двумерные)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"Удаляем последнюю строку"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Mas.RemoveAt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Mas.Count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- 1);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Mas.Count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количество строк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Printmass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//Вывод матрицы на консоль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"Удаляем последний столбец"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Mas.Count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- 1;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Mas[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RemoveAt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(Mas[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].Count - 1);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Mas.Count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 -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количество столбцов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элементов в строке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Printmass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//Вывод матрицы на консоль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4242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Списки в </a:t>
            </a:r>
            <a:r>
              <a:rPr lang="en-US" dirty="0">
                <a:solidFill>
                  <a:srgbClr val="FF0000"/>
                </a:solidFill>
              </a:rPr>
              <a:t>C#</a:t>
            </a:r>
            <a:r>
              <a:rPr lang="ru-RU" dirty="0">
                <a:solidFill>
                  <a:srgbClr val="FF0000"/>
                </a:solidFill>
              </a:rPr>
              <a:t> (двумерные)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Printmass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(List&lt;List&lt;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 Mas)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вывод массива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Mas.Count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                   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j = 0; j &lt; Mas[0].Count;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(Mas[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][j].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+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772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Списки в </a:t>
            </a:r>
            <a:r>
              <a:rPr lang="en-US" dirty="0">
                <a:solidFill>
                  <a:srgbClr val="FF0000"/>
                </a:solidFill>
              </a:rPr>
              <a:t>C#</a:t>
            </a:r>
            <a:r>
              <a:rPr lang="ru-RU" dirty="0">
                <a:solidFill>
                  <a:srgbClr val="FF0000"/>
                </a:solidFill>
              </a:rPr>
              <a:t> (двумерные)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3B889-C5F4-4062-9F94-F035758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Результат: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Создаем двумерный список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0 1 2 3 4 5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1 2 3 4 5 6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2 3 4 5 6 7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3 4 5 6 7 8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4 5 6 7 8 9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5 6 7 8 9 10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Удаляем последнюю строку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0 1 2 3 4 5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1 2 3 4 5 6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2 3 4 5 6 7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3 4 5 6 7 8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4 5 6 7 8 9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Удаляем последний столбец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0 1 2 3 4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1 2 3 4 5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2 3 4 5 6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7402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3FB0-73A8-4867-B6E5-8E27E8D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До следующей лекции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CEEFCE8-76F0-4D2D-92AA-93443A12CB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</p:spPr>
      </p:pic>
    </p:spTree>
    <p:extLst>
      <p:ext uri="{BB962C8B-B14F-4D97-AF65-F5344CB8AC3E}">
        <p14:creationId xmlns:p14="http://schemas.microsoft.com/office/powerpoint/2010/main" val="15805117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4607</Words>
  <Application>Microsoft Office PowerPoint</Application>
  <PresentationFormat>Широкоэкранный</PresentationFormat>
  <Paragraphs>547</Paragraphs>
  <Slides>60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69" baseType="lpstr">
      <vt:lpstr>Arial</vt:lpstr>
      <vt:lpstr>Arial Unicode MS</vt:lpstr>
      <vt:lpstr>Calibri</vt:lpstr>
      <vt:lpstr>Calibri Light</vt:lpstr>
      <vt:lpstr>Consolas</vt:lpstr>
      <vt:lpstr>Symbol</vt:lpstr>
      <vt:lpstr>Times New Roman</vt:lpstr>
      <vt:lpstr>Verdana</vt:lpstr>
      <vt:lpstr>Тема Office</vt:lpstr>
      <vt:lpstr>Программирование</vt:lpstr>
      <vt:lpstr>Использование цикла foreach</vt:lpstr>
      <vt:lpstr>Использование цикла foreach</vt:lpstr>
      <vt:lpstr>Использование цикла foreach</vt:lpstr>
      <vt:lpstr>Использование цикла foreach</vt:lpstr>
      <vt:lpstr>Использование цикла foreach</vt:lpstr>
      <vt:lpstr>Двумерные массивы</vt:lpstr>
      <vt:lpstr>Двумерные массивы</vt:lpstr>
      <vt:lpstr>Двумерные массивы</vt:lpstr>
      <vt:lpstr>Двумерные массивы</vt:lpstr>
      <vt:lpstr>Двумерные массивы</vt:lpstr>
      <vt:lpstr>Двумерные массивы</vt:lpstr>
      <vt:lpstr>Двумерные массивы - инициализация</vt:lpstr>
      <vt:lpstr>Двумерные массивы - инициализация</vt:lpstr>
      <vt:lpstr>Двумерные массивы - инициализация</vt:lpstr>
      <vt:lpstr>Двумерные массивы - инициализация</vt:lpstr>
      <vt:lpstr>Двумерные массивы - инициализация</vt:lpstr>
      <vt:lpstr>Двумерные массивы - инициализация</vt:lpstr>
      <vt:lpstr>Двумерные массивы - инициализация</vt:lpstr>
      <vt:lpstr>Двумерные массивы – Пример 1</vt:lpstr>
      <vt:lpstr>Двумерные массивы – Пример 1</vt:lpstr>
      <vt:lpstr>Двумерные массивы – Пример 2</vt:lpstr>
      <vt:lpstr>Двумерные массивы – Пример 2</vt:lpstr>
      <vt:lpstr>Двумерные массивы – Пример 2</vt:lpstr>
      <vt:lpstr>Двумерные массивы – Пример 2</vt:lpstr>
      <vt:lpstr>Двумерные массивы – Пример 2</vt:lpstr>
      <vt:lpstr>Двумерные массивы – Пример 3</vt:lpstr>
      <vt:lpstr>Двумерные массивы – Пример 3</vt:lpstr>
      <vt:lpstr>Двумерные массивы – Пример 3</vt:lpstr>
      <vt:lpstr>Двумерные массивы – Пример 3</vt:lpstr>
      <vt:lpstr>Двумерные массивы – Пример 3</vt:lpstr>
      <vt:lpstr>Двумерные массивы – Пример 4</vt:lpstr>
      <vt:lpstr>Двумерные массивы – Пример 4</vt:lpstr>
      <vt:lpstr>Двумерные массивы – Пример 4</vt:lpstr>
      <vt:lpstr>Двумерные массивы – Пример 4</vt:lpstr>
      <vt:lpstr>Двумерные массивы – Пример 4</vt:lpstr>
      <vt:lpstr>Динамические массивы</vt:lpstr>
      <vt:lpstr>Динамические массивы</vt:lpstr>
      <vt:lpstr>Динамические одномерные массивы</vt:lpstr>
      <vt:lpstr>Динамические одномерные массивы</vt:lpstr>
      <vt:lpstr>Динамические одномерные массивы</vt:lpstr>
      <vt:lpstr>Динамические одномерные массивы</vt:lpstr>
      <vt:lpstr>Динамические одномерные массивы</vt:lpstr>
      <vt:lpstr>Динамические двумерные массивы</vt:lpstr>
      <vt:lpstr>Списки в C# (одномерные)</vt:lpstr>
      <vt:lpstr>Списки в C# (одномерные)</vt:lpstr>
      <vt:lpstr>Списки в C# (одномерные)</vt:lpstr>
      <vt:lpstr>Списки в C# (одномерные)</vt:lpstr>
      <vt:lpstr>Списки в C# (одномерные)</vt:lpstr>
      <vt:lpstr>Списки в C# (одномерные)</vt:lpstr>
      <vt:lpstr>Списки в C# (одномерные)</vt:lpstr>
      <vt:lpstr>Списки в C# (одномерные)</vt:lpstr>
      <vt:lpstr>Списки в C# (одномерные)</vt:lpstr>
      <vt:lpstr>Списки в C# (двумерные)</vt:lpstr>
      <vt:lpstr>Списки в C# (двумерные)</vt:lpstr>
      <vt:lpstr>Списки в C# (двумерные)</vt:lpstr>
      <vt:lpstr>Списки в C# (двумерные)</vt:lpstr>
      <vt:lpstr>Списки в C# (двумерные)</vt:lpstr>
      <vt:lpstr>Списки в C# (двумерные)</vt:lpstr>
      <vt:lpstr>До следующей лекции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</dc:title>
  <dc:creator>Леонид Попов</dc:creator>
  <cp:lastModifiedBy>Леонид Попов</cp:lastModifiedBy>
  <cp:revision>13</cp:revision>
  <dcterms:created xsi:type="dcterms:W3CDTF">2021-01-28T05:42:25Z</dcterms:created>
  <dcterms:modified xsi:type="dcterms:W3CDTF">2021-01-28T08:16:21Z</dcterms:modified>
</cp:coreProperties>
</file>