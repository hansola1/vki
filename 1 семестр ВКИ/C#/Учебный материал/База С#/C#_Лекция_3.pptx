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79" r:id="rId26"/>
    <p:sldId id="280" r:id="rId27"/>
    <p:sldId id="284" r:id="rId28"/>
    <p:sldId id="281" r:id="rId29"/>
    <p:sldId id="282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30F5A-E19B-4D7F-952B-80024C965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09ED96-37A6-4EDD-BC6B-49481DFD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CA923F-940A-4D16-8A19-0B17D087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6E191-DE1C-471D-99A0-E7E0FBCF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283B69-9273-4D29-A457-D3D54152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89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ED6FF-9174-41D2-B777-7BEA5CD1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CAA72-3906-44E6-ADB9-4EA862CE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CC21F9-0BEF-4325-8E78-4AE1CE7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BCB17-805A-45E9-BAA6-AEE10AAB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618CC-0B13-4244-89BC-C9E6C550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93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936CA-CB96-4CF4-BBF4-48A8E3F0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F0E80D-7884-4787-BBFC-3B1FE7839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9D51F7-F137-4D0B-AEE0-E2286B0C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4025DC-B244-4CC0-A7BC-57EDD6CA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348AB-129B-4116-9398-A9AC3DAB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0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53D2A-6D20-43C9-9B94-67C17F0D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5066E-06E8-472E-BC8C-00668C227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488E23-A682-4732-9916-9B21FB1CF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4157DB-89F0-44A6-B884-50A1A527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94A37D-F108-4030-A689-E1FD8519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11B87F-F58B-4C46-91EE-1C360403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69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5B071-48EB-48EA-BE28-861E7E3B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CD832B-A047-4FA9-8481-05D1E1593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E494E0-0135-4A75-B64D-EED414417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9CAB2C-96CD-47DA-B42A-EB64046B3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C3F5FC-6B15-46EC-B817-E445E5363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E513CFC-9599-4FC8-A98D-4788CCD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8F139C-C906-4390-A52A-10D59577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8A6D43-BB69-426F-A66B-0FE0029F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46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14C49-7A6B-4977-925F-4FB74350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AE5DFC-04EC-4A1D-A819-0099CB81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6FF00F-4446-4836-84BE-A01CDC46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909675-2925-4A03-9FAF-58B5ED08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71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0F448A-B485-4798-BDE7-D14EE594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BA7DC1-3740-4D95-9372-3EDD3F24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3FE6D2-26CA-4AE9-AEDD-733D422E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84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6BCD1-67C8-4230-B6C5-E08FCF778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A63061-1AF0-440A-9379-52B7856F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21066D-031E-49CE-A2E2-9A8D7FEB2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3B47E-BE5D-4725-89BE-F709A0D0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99EBD1-AACF-4562-A55E-FD9F77E6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965A23-2171-41C8-8539-58920E03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39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EBC73-52BF-4D1E-AE64-753B35AC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66AB62-09A0-4A53-853A-DC950232B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9FC576-9CE7-44D9-A7E9-391AD8E98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3E7852-89FE-42A2-B216-D81DD44B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F13ABC-E281-4FEC-A78D-71AE1585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F004DD-1921-4919-A021-CE6FC360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31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7800E-C597-474E-8E72-84B58254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B91595-8251-45D9-A01F-39E2055DB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AE4702-2769-4A45-BB43-F776C3B2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E05565-86F8-409A-8379-AD483EBB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3651E-13DD-4F78-AF86-8C482242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1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478075-49D2-41B0-B0DA-5BE481A97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E42BEB-F21B-424A-BE50-40933AB75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76576-6623-4196-88F3-936441F8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D39E6D-A4B2-4151-BD82-9286E960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4BB852-6997-43B4-9D6E-8A99FC7E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9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43890-26E6-4B7C-9B1F-B1E39327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7029C1-8C24-46B1-987A-02B5866A7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1B2F8C-738E-4102-95DA-7BDA8289E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18747-A5C2-49CB-8166-372B4824E0D1}" type="datetimeFigureOut">
              <a:rPr lang="ru-RU" smtClean="0"/>
              <a:t>01.03.2021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CC2103-EEE0-4672-88E9-043704C5C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21F684-7BA5-4F68-8B68-1ECDB9DB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D2223-A432-44CB-B293-25663AAA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83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838F0-1295-45C7-916E-87E0358A3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535EF7-7F95-4EC3-AECD-89D4A09781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4000" dirty="0">
                <a:solidFill>
                  <a:srgbClr val="00B050"/>
                </a:solidFill>
              </a:rPr>
              <a:t>на языке </a:t>
            </a:r>
            <a:r>
              <a:rPr lang="en-US" sz="4000" dirty="0">
                <a:solidFill>
                  <a:srgbClr val="00B050"/>
                </a:solidFill>
              </a:rPr>
              <a:t>C#</a:t>
            </a:r>
          </a:p>
          <a:p>
            <a:r>
              <a:rPr lang="ru-RU" sz="4000" dirty="0">
                <a:solidFill>
                  <a:srgbClr val="00B050"/>
                </a:solidFill>
              </a:rPr>
              <a:t>Лекция 3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5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Генератор случайных чисел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отладке широкого класса алгоритмов ввод значений переменных с клавиатуры, либо программным путем с помощью инициализации переменных является очень трудоемким. Значения переменных можно получать во время выполнения программы с помощью генерации случайных чисел, для этого используется класс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Random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FADF14E-542B-41D9-98C8-5EB97AE33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194910"/>
              </p:ext>
            </p:extLst>
          </p:nvPr>
        </p:nvGraphicFramePr>
        <p:xfrm>
          <a:off x="896036" y="3446938"/>
          <a:ext cx="10399928" cy="2073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9023">
                  <a:extLst>
                    <a:ext uri="{9D8B030D-6E8A-4147-A177-3AD203B41FA5}">
                      <a16:colId xmlns:a16="http://schemas.microsoft.com/office/drawing/2014/main" val="956204728"/>
                    </a:ext>
                  </a:extLst>
                </a:gridCol>
                <a:gridCol w="7980905">
                  <a:extLst>
                    <a:ext uri="{9D8B030D-6E8A-4147-A177-3AD203B41FA5}">
                      <a16:colId xmlns:a16="http://schemas.microsoft.com/office/drawing/2014/main" val="928642921"/>
                    </a:ext>
                  </a:extLst>
                </a:gridCol>
              </a:tblGrid>
              <a:tr h="341941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Метод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2011984"/>
                  </a:ext>
                </a:extLst>
              </a:tr>
              <a:tr h="683882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Next ()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Возвращает случайное неотрицательное целое число от 0 до int.MaxValue. Инициализация датчика случайных чисел основывается на системном времени.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3545702"/>
                  </a:ext>
                </a:extLst>
              </a:tr>
              <a:tr h="341941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Next (Int32)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Возвращает случайное неотрицательное целое число, не превышающее значение аргумента.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7766872"/>
                  </a:ext>
                </a:extLst>
              </a:tr>
              <a:tr h="341941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Next (Int32, Int32) 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Возвращает целое число, равномерно распределенное в интервале от 1-го параметра до 2-го параметра.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765204"/>
                  </a:ext>
                </a:extLst>
              </a:tr>
              <a:tr h="363312"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NextDouble()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Возвращает дробное число от 0.0 до 1.0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729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74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Генератор случайных чисел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результате выполнения этого кода будут выданы случайные числа от 0 до 8: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/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создается объект </a:t>
            </a:r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Random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для </a:t>
            </a:r>
            <a:r>
              <a:rPr lang="ru-RU" sz="180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генерации случайных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чисел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810260"/>
            <a:r>
              <a:rPr lang="ru-RU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Random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rnd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Random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1;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10;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</a:t>
            </a:r>
            <a:r>
              <a:rPr lang="en-US" sz="180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Console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.Write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"{0} "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rnd.Next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(9));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834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– небольшая программа, выполняющая определенную задачу. Мы уже знакомились с функциями при изучении языка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документации языка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принято называть такие программы методами. Мы будем придерживаться этой терминологии.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062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Итак, метод (функция) представляет собой именованный блок команд, которые можно выполнять, вызывая метод. В этой главе будут обсуждаться статические методы, описанные в том же классе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котором описан главный метод программы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Вызываться описанный статический метод будет в методе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Описание статического метода можно размещать как перед описанием метода 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(), так и после него. Ниже приведен шаблон описания статического метода: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Static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имя (аргументы)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Команды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927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Начинается описание статического метода с ключевого слова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static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Затем в описании метода указывается тип результата метода. Например, если метод возвращает целочисленное значение, то в качестве идентификатора типа результата метода указывается ключевое слово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Если метод не возвращает результата, то указывается ключевое слово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770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ключевого слова, определяющего тип результата, следует имя метода. Его выбирает пользователь. После имени метода в круглых скобках описываются его аргументы. Аргументы описываются так же, как объявляются переменные: указывается тип аргумента и его имя. Аргументы разделяются запятыми. Тип указывается для каждого аргумента индивидуально – даже если они относятся к одному типу. Наконец, в фигурных скобках размещаются команды, выполняемые при вызове метода. Там могут объявляться переменные, которые будем называть локальными. Локальные переменные доступны только в теле метода.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34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того, чтобы команды, описанные в методе, выполнились, метод необходимо вызвать. Это просто: в соответствующем месте программного кода указывается имя метода и, если необходимо, аргументы, которые передаются методу при вызове. Аргументы указываются в круглых скобках после имени метода. Если у метода аргументов нет, то при вызове метода после имени метода ставятся пустые круглые скобки.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35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работе с методами часто используется инструкция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Выполнение этой инструкции в теле метода завершает его исполнение. Если после инструкции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указано некоторое выражение, то выполнение метода завершается, а значение выражение возвращается результатом метода. При этом тип значения выражения, указанного после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должен совпадать с идентификатором типа, указанного в описании метода.</a:t>
            </a:r>
          </a:p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Обратимся к примерам.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55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Возведение вещественного числа в целую степень.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degree;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Введите число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Введите степень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Convert.ToInt32(s);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degree = Power(a, n);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Вызов метода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degree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{a: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степени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{n}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{degree: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76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Power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n)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Описание метода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 = 0;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локальные переменные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=1.0;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(i &lt;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(n))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цикл возведения в степень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(n &lt; 0)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 /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rez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753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 про «счастливый билет»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шестизначный номер билета"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tick = Convert.ToInt32(s);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Ticket(tick);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6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Методы (функции)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Ticket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tick)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t1 = tick / 1000;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t2 = tick % 1000;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c1, c2, c3, s1, s2;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c3 = t1 %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c2 = t1 / 10 %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c1 = t1 / 100;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s1 = c1 + c2 + c3;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c3 = t2 %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c2 = t2 / 10 %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c1 = t2 / 100;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s2 = c1 + c2 + c3;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(s1 == s2)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"Сегодня мне повезет"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"Сегодня не мой день"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06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Есть два способа передачи аргументов в метод – по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значению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по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ссылке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 умолчанию в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аргументы в метод передаются по значению. При этом программа берет из памяти значение аргумента и передает его в метод. Другими словами, при этом создается «техническая копия» переменной, указанной нами в качестве аргумента метода при вызове. Именно она и передается в метод. Все операции при выполнении команд метода выполняются с этой копией. В большинстве случаев не играет особой роли, как именно аргументы передаются в метод. Важным это становится, когда мы хотим при вызове метода изменить значение переданных ему аргументов. Рассмотрим примеры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68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"Начальное значение переменной a = {a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}");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        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//Передача переменных по значению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//После выполнения этого кода по-прежнему a = 5, так как мы передали лишь ее копию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Val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//Выводим значение </a:t>
            </a:r>
            <a:r>
              <a:rPr lang="en-US" sz="1800" i="1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после выполнения метода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$"Переменная a после передачи по значению равна = {a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}");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ReadKey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653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передача по значению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NewVal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x++;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$"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IncrementVal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{x}"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Вывод внутри метода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96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 работы программы: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Начальное значение переменной a =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IncrementVal</a:t>
            </a: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: 6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Переменная a после передачи по значению равна =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858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 примера видно, что после выполнения метода значение переменной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изменилось.</a:t>
            </a:r>
          </a:p>
          <a:p>
            <a:pPr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Предположим теперь, что нам необходимо изменить аргумент в ходе работы метода. В программировании слово «изменить» означает «записать в место памяти, отведенное под переменную ее новое значение». Таким образом, методу нужно передать адрес, под которым переменная хранится в памяти, точнее, ссылку на этот адрес. Эти действия и называются «передачей аргумента по ссылке». Поясним этот процесс на примере.</a:t>
            </a: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3159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передаче параметров по ссылке перед ставится параметрами ключевое слово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$"Начальное значение переменной a = {a}"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//Передача переменных по ссылке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//После выполнения этого кода a = 6, так как мы передали саму переменную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$"Переменная a после передачи ссылке равна = {a}"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ReadKey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3582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передача по ссылке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x++;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$"</a:t>
            </a:r>
            <a:r>
              <a:rPr lang="en-US" sz="18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IncrementRef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{x}"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Начальное значение переменной a = 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IncrementRef</a:t>
            </a: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: 6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Переменная a после передачи по ссылке равна = 6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172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Передача аргументов по значению и ссылке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работы метода переменная имеет новое значение. Подчеркнем, что слово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нужно использовать и при описании метода, и при его вызове.</a:t>
            </a:r>
          </a:p>
          <a:p>
            <a:pPr indent="450215" algn="just"/>
            <a:r>
              <a:rPr lang="ru-RU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Уместно усвоить следующее мнемоническое правило: если аргумент меняется в ходе работы метода, то перед ним ставится слово 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</a:t>
            </a:r>
            <a:r>
              <a:rPr lang="ru-RU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4178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C000"/>
                </a:solidFill>
              </a:rPr>
              <a:t>Выходные 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65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передачей аргументов связан еще один механизм, позволяющий передавать в метод переменные, которым не присвоено значение – то есть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неинициализированные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аргументы. Необходимость в использовании такого подхода может возникнуть, когда при выполнении метода нужно вернуть не одно значение, а сразу несколько. Можно передать аргумент по ссылке. Но в таком случае данному аргументу необходимо предварительно присвоить значение. А это не всегда приемлемо. В таких случаях можно использовать передачу неинициализированного аргумента. То есть мы можем передать аргументом переменную, которая объявлена в программе, но значение ей не присваивалось. Просто так это сделать не получится – при компиляции возникнет ошибка. Придется использовать специальный режим. Если мы предполагаем, что некоторый аргумент метода будет передаваться через неинициализированную переменную, то соответствующий аргумент в описании метода указывается с ключевым словом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вызове метода такой аргумент также передается с использование слова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Есть еще одно важное условие: аргументу, который передан с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-инструкцией, при выполнении метода обязательно должно присваиваться значение. Такие аргументы часто называют выходными параметрами. Рассмотрим пример:</a:t>
            </a: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3461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C000"/>
                </a:solidFill>
              </a:rPr>
              <a:t>Выходные 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Выходные аргументы (параметры).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perimetr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GetData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(x, 15,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perimetr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Площадь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{area}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Периметр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perimetr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Console.ReadKey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033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C000"/>
                </a:solidFill>
              </a:rPr>
              <a:t>Выходные 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GetData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perim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area = x * y;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perim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(x + y) *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Площадь = 150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Периметр = 50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GetData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()присваивает значения аргументам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возвращает их в главную программу.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905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Рекурсивные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Отдельно остановимся на рекурсивных функциях. Рекурсивная функция представляет такую конструкцию, при которой функция вызывает саму себя.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Возьмем, к примеру, вычисление факториала, которое использует формулу n! = 1 * 2 * … * n. Например, факториал числа 5 равен 120 = 1 * 2 * 3 * 4 * 5.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Определим метод для нахождения факториала:</a:t>
            </a:r>
          </a:p>
          <a:p>
            <a:pPr indent="45021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factorial(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(n == 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* factorial(n - 1);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025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Рекурсивные функции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65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Основу тела метода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 составляет условный оператор, в котором проверяется равенство единице аргумента метода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(условие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==0). Если это так, то результатом метода возвращается значение 1 (по определению 1! =1). Если условие ложно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результатом метода возвращается выражение 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- 1).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этом выражении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использован вызов метода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(), но с аргументом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-1. Как это работает? Допустим, метод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 вызывается с аргументом 1. Тогда при проверке условия в условном операторе оно окажется истинным и результатом метода возвращается значение 1.  Теперь предположим, что метод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 вызывается с аргументом отличным от 1 – например, с аргументом 3. При проверке условия оно окажется ложным, и результатом метода возвращается значение выражения 3*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(2). Но перед тем, как вернуть значение, его необходимо вычислить. Проверяется условие, оно ложное, и значение выражения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(2) вычисляется как 2*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(1).Снова вызывается метод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(1), но с аргументом 1. А мы знаем, что значением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(1) является 1.Тогда значение выражения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(2) равно 2, а значение выражения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(3) равно 6. Понятно, что, чем больше значение аргумента метода, те длиннее цепочка вызовов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factorial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6693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Рекурсивные функции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Другим распространенным показательным примером рекурсивной функции служит функция, вычисляющая числа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Фиббоначчи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Это цепочка чисел </a:t>
            </a:r>
            <a:r>
              <a:rPr lang="ru-R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0, 1, 1, 2, 3, 5, 8, 13, 21, 34, 55, 89, 144, 233, 377, 610, 987, 1597, 2584, 4181, 6765, 10946, 17711, … ... в которой первые два </a:t>
            </a:r>
            <a:r>
              <a:rPr lang="ru-RU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</a:t>
            </a:r>
            <a:r>
              <a:rPr lang="ru-R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равны либо 1 и 1, либо 0 и 1, а каждое последующее </a:t>
            </a:r>
            <a:r>
              <a:rPr lang="ru-RU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число</a:t>
            </a:r>
            <a:r>
              <a:rPr lang="ru-R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равно сумме двух предыдущих чисел. Названы в честь средневекового математика Леонардо Пизанского (известного как </a:t>
            </a:r>
            <a:r>
              <a:rPr lang="ru-RU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Фибоначчи</a:t>
            </a:r>
            <a:r>
              <a:rPr lang="ru-RU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n-й член последовательности Фибоначчи определяется по формуле: f(n)=f(n-1) + f(n-2), причем f(0)=0, а f(1)=1. </a:t>
            </a:r>
            <a:r>
              <a:rPr lang="ru-RU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определения чисел этой последовательности определим следующий метод:</a:t>
            </a:r>
            <a:endParaRPr lang="ru-RU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880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Рекурсивные функции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40F8C7-8011-4C10-B088-EF0F571D4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54038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Fibonachi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(n == 0 || n == 1)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Fibonachi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(n - 1)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Fibonachi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(n - 2);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простейшие примеры рекурсивных функций, которые призваны дать понимание работы рекурсии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1676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EAC5C-F49E-4CAA-A7C1-DE8D64B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встречи 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CA62BA-6727-4292-AF5F-F2F4EF9A7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400" y="1825624"/>
            <a:ext cx="6055492" cy="4541619"/>
          </a:xfrm>
        </p:spPr>
      </p:pic>
    </p:spTree>
    <p:extLst>
      <p:ext uri="{BB962C8B-B14F-4D97-AF65-F5344CB8AC3E}">
        <p14:creationId xmlns:p14="http://schemas.microsoft.com/office/powerpoint/2010/main" val="42049054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2677</Words>
  <Application>Microsoft Office PowerPoint</Application>
  <PresentationFormat>Широкоэкранный</PresentationFormat>
  <Paragraphs>238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Courier New</vt:lpstr>
      <vt:lpstr>Times New Roman</vt:lpstr>
      <vt:lpstr>Verdana</vt:lpstr>
      <vt:lpstr>Тема Office</vt:lpstr>
      <vt:lpstr>Программирование</vt:lpstr>
      <vt:lpstr>Генератор случайных чисел</vt:lpstr>
      <vt:lpstr>Генератор случайных чисел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Методы (функции)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Передача аргументов по значению и ссылке</vt:lpstr>
      <vt:lpstr>Выходные параметры</vt:lpstr>
      <vt:lpstr>Выходные параметры</vt:lpstr>
      <vt:lpstr>Выходные параметры</vt:lpstr>
      <vt:lpstr>Рекурсивные функции</vt:lpstr>
      <vt:lpstr>Рекурсивные функции</vt:lpstr>
      <vt:lpstr>Рекурсивные функции</vt:lpstr>
      <vt:lpstr>Рекурсивные функции</vt:lpstr>
      <vt:lpstr>До следующей встречи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11</cp:revision>
  <dcterms:created xsi:type="dcterms:W3CDTF">2021-01-25T05:52:30Z</dcterms:created>
  <dcterms:modified xsi:type="dcterms:W3CDTF">2021-03-01T03:31:44Z</dcterms:modified>
</cp:coreProperties>
</file>