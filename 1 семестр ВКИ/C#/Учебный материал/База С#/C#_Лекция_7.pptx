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3BAE7C-2A2C-4A78-BFB9-CD773E146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5A2B90-3D56-4A8B-A810-18D33311B6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D6F60B-E7AB-4C98-BD5E-19569C0BB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53EE5-AEFF-4BE7-9179-2B5C85FF8F0C}" type="datetimeFigureOut">
              <a:rPr lang="ru-RU" smtClean="0"/>
              <a:t>10.04.2021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1ABF93-0146-47C5-BE21-1171E2559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F6E9B6-9C3C-466E-B2D8-5F45EF77B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6F91-F022-49BA-8D5D-D31BFEA4A9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1667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9009CE-30AA-48E6-AD4F-2BE3F1C1E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B1D047-21B0-4A6A-B6E3-67547DB65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847B31-8E0A-44BA-A446-87B1025D0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53EE5-AEFF-4BE7-9179-2B5C85FF8F0C}" type="datetimeFigureOut">
              <a:rPr lang="ru-RU" smtClean="0"/>
              <a:t>10.04.2021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9345DF-FDFD-48DF-9E76-9F750EE55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8C961A-E7F8-4661-AE19-DA145E5E0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6F91-F022-49BA-8D5D-D31BFEA4A9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3953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8B52AB-2D4F-448B-A8F0-A717F7878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2C7AD9-BFBB-4A92-8EDC-1917E3760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D64834-755F-4467-8FB0-AD38E8216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53EE5-AEFF-4BE7-9179-2B5C85FF8F0C}" type="datetimeFigureOut">
              <a:rPr lang="ru-RU" smtClean="0"/>
              <a:t>10.04.2021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C37396-E38C-411C-B699-C4CA12048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E14D91-F1FE-4E62-8E98-689838887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6F91-F022-49BA-8D5D-D31BFEA4A9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6223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F7AD52-EEF2-4171-8839-CEEC33181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51AB74-84F3-482A-B428-2E4F1E9A51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3CB8052-F45E-4F08-A70F-20405D92E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A1A312-FF63-49B3-B0E7-3EC1BBC10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53EE5-AEFF-4BE7-9179-2B5C85FF8F0C}" type="datetimeFigureOut">
              <a:rPr lang="ru-RU" smtClean="0"/>
              <a:t>10.04.2021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51686B9-2B7B-47E9-96C5-3C9D94442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ECF9E8-31DF-4175-8F22-3CCF3FF4C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6F91-F022-49BA-8D5D-D31BFEA4A9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2328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BCA4DE-4897-44C7-BC75-E9C078E87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11BC16-F291-4A55-A3BE-CA43DA82C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FC48707-16E0-4D45-AABC-5871969DE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D858564-4B40-4BA3-B995-F7053B19E1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A4B6DAA-8E9F-4E77-BE50-D5C25B1B1F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A55E007-2689-470B-9377-29A73A2FC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53EE5-AEFF-4BE7-9179-2B5C85FF8F0C}" type="datetimeFigureOut">
              <a:rPr lang="ru-RU" smtClean="0"/>
              <a:t>10.04.2021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5F4C364-98B2-4B31-967F-5C767409E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63D354F-3822-4DAF-920B-69313060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6F91-F022-49BA-8D5D-D31BFEA4A9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3671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B3E4AF-82ED-4662-A9A9-9E738ACEA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3283E26-ABEE-4052-A529-2E29B3AA7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53EE5-AEFF-4BE7-9179-2B5C85FF8F0C}" type="datetimeFigureOut">
              <a:rPr lang="ru-RU" smtClean="0"/>
              <a:t>10.04.2021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2DF12FA-94BB-4D10-8DC2-A1BA181E6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3151C5C-25ED-4403-A197-E77B7180D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6F91-F022-49BA-8D5D-D31BFEA4A9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9157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74D10A1-44D1-42B3-A614-1AFDF4239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53EE5-AEFF-4BE7-9179-2B5C85FF8F0C}" type="datetimeFigureOut">
              <a:rPr lang="ru-RU" smtClean="0"/>
              <a:t>10.04.2021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966A48B-D01E-46BF-9ABF-61BE06001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0A4CE1-34BA-4CED-BD7C-7F99C921A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6F91-F022-49BA-8D5D-D31BFEA4A9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3419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54DC2C-F771-43DA-AFC9-D1ACCD6B9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C63543-6DCD-4DC8-9FF5-9B1F1F19A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9225CB-7659-44E3-824F-DABE17EC3F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997FC6-069C-49D1-8FC6-4329876F5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53EE5-AEFF-4BE7-9179-2B5C85FF8F0C}" type="datetimeFigureOut">
              <a:rPr lang="ru-RU" smtClean="0"/>
              <a:t>10.04.2021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C87EA5-3343-437F-ADDE-C47DBACB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8A46693-B53E-4A56-A563-72F22270C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6F91-F022-49BA-8D5D-D31BFEA4A9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4008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8E9142-AD6E-40A6-9A93-0D885EA74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F5A3FD7-4BE4-43CA-816C-8DCF91B8B6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1BC0B3-427A-4D26-B06A-C483927372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A7469F1-1BE3-4B79-A60E-1AAC3170E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53EE5-AEFF-4BE7-9179-2B5C85FF8F0C}" type="datetimeFigureOut">
              <a:rPr lang="ru-RU" smtClean="0"/>
              <a:t>10.04.2021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DE7B60-1C65-4973-AA0B-CB34E729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01F9C86-DDF4-4C72-B0AB-4FEA266EA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6F91-F022-49BA-8D5D-D31BFEA4A9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1974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169E1C-8D7A-4145-AB77-4C82E4352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0980DA-CCC2-40B4-98F3-0A11D613A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692E1B-44A8-48CE-BBCE-16C48CE2F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53EE5-AEFF-4BE7-9179-2B5C85FF8F0C}" type="datetimeFigureOut">
              <a:rPr lang="ru-RU" smtClean="0"/>
              <a:t>10.04.2021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7E4D45-0BC3-4462-AF93-F47FA7ECD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7B8A3C-D3FE-4B24-9956-641F13010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6F91-F022-49BA-8D5D-D31BFEA4A9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6918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F4DC8C4-93EC-4AC4-BE91-C0A9632667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18F8C9C-DB4F-42BB-A841-ACA1A000A8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B36E5B-152C-4FCD-9F9F-9EFFF3867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53EE5-AEFF-4BE7-9179-2B5C85FF8F0C}" type="datetimeFigureOut">
              <a:rPr lang="ru-RU" smtClean="0"/>
              <a:t>10.04.2021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274F33-061F-4920-9FB3-341818E85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43FF50-076A-4956-A85B-5EE3A0B60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6F91-F022-49BA-8D5D-D31BFEA4A9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721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68F8C4-A352-48B2-9514-1C3C2C705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843B95-5C92-410B-BC20-B5B02E60A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DF9285-299B-4042-88AE-D5CC706724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53EE5-AEFF-4BE7-9179-2B5C85FF8F0C}" type="datetimeFigureOut">
              <a:rPr lang="ru-RU" smtClean="0"/>
              <a:t>10.04.2021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D1EEAE-779E-459D-AC28-58B8732430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16952B-929B-43F2-833B-3E6F7E90B6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D6F91-F022-49BA-8D5D-D31BFEA4A9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786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B0753C-FBEF-4DFE-AB17-893D6878A9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Программирование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2C4D73-52CF-440A-83EA-4D5BAA7598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3600" dirty="0">
                <a:solidFill>
                  <a:srgbClr val="00B050"/>
                </a:solidFill>
              </a:rPr>
              <a:t>на языке </a:t>
            </a:r>
            <a:r>
              <a:rPr lang="en-US" sz="3600" dirty="0">
                <a:solidFill>
                  <a:srgbClr val="00B050"/>
                </a:solidFill>
              </a:rPr>
              <a:t>C#</a:t>
            </a:r>
          </a:p>
          <a:p>
            <a:r>
              <a:rPr lang="ru-RU" sz="3600" dirty="0">
                <a:solidFill>
                  <a:srgbClr val="00B050"/>
                </a:solidFill>
              </a:rPr>
              <a:t>Лекция 7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7119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Работа с текстом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При выводе результатов работы наших программ мы так или иначе работали с текстом и использовали тип 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string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Довольно большое количество задач, которые могут встретиться при разработке приложений, так или иначе связано с обработкой строк - поиск в тексте, какие-то аналитические задачи, связанные с извлечением нужной информации из текста и т.д. Поэтому в этом плане работе со строками уделяется особое внимание.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6153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Работа с текстом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языке C# строковые значения представляет тип 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а все функции для работы с данным типом сосредоточена в классе 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System.String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Собственно, 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является псевдонимом для класса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System.String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известном смысле строка – это массив символов. Символы хранятся в типе данных 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char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Каждому символу соответствует число 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ACIII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кода.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2914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Работа с текстом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Получить код символа можно путем преобразования типов:</a:t>
            </a:r>
          </a:p>
          <a:p>
            <a:pPr indent="450215"/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 </a:t>
            </a:r>
            <a:r>
              <a:rPr lang="ru-RU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Результат 65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Обратное преобразование: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49580"/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)n;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Результат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'A'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Обратите внимание у символов кавычки одинарные, у строк – двойные.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0648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Работа с текстом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Полезно для решения многих задач знать, что коды символов цифр и букв упорядочены: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int(‘0’)&lt;int(‘1’)&lt;….int(‘9’)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int (‘a’&lt;int(‘b’)&lt;…..int)’z’)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Создавать строки можно, используя переменную типа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string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и присваивая ей значение.</a:t>
            </a: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 =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hello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4650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Работа с текстом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Можно также создать объект типа 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String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из массива типа 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char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Например:</a:t>
            </a: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char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[] 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stroka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{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's'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'e'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'z'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'a'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'm’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};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У каждого символа в строке есть порядковый номер. Соответственно, доступ к символу можно получит по его индексу.</a:t>
            </a: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char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ch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 =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1[1];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// символ '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'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380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Работа с текстом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Класс 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String 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имеет множество методов и свойств, некоторые из которых мы рассмотрим ниже.</a:t>
            </a: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Объединение (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конкатенация) строк может производиться как с помощью операции 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+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, так и с помощью метода </a:t>
            </a: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Concat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s1 =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"hello"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s2 =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"world"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s3 = s1 + " "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+ s2;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результат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строка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"hello world"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s4 = 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String.Concat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(s3,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"!!!"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результат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строка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"hello world!!!"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(s4);</a:t>
            </a:r>
            <a:endParaRPr kumimoji="0" lang="en-US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398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Работа с текстом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Свойство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Возвращает длину строки. Например: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String s="Hello";            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 k=</a:t>
            </a:r>
            <a:r>
              <a:rPr kumimoji="0" lang="en-US" altLang="ru-RU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s.Length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 //</a:t>
            </a:r>
            <a:r>
              <a:rPr kumimoji="0" lang="en-US" altLang="ru-RU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переменная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k </a:t>
            </a:r>
            <a:r>
              <a:rPr kumimoji="0" lang="en-US" altLang="ru-RU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равна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5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517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Работа с текстом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Compare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Статический метод, сравнивающий две строки. Метод возвращает 0, если строки равны, отрицательное значение, если первая строка меньше второй и положительное значение, если первая строка больше второй (больше и меньше в алфавитном смысле). Например:</a:t>
            </a:r>
          </a:p>
          <a:p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	</a:t>
            </a:r>
            <a:r>
              <a:rPr lang="en-US" sz="1800" dirty="0"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String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s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1 = </a:t>
            </a:r>
            <a:r>
              <a:rPr lang="ru-RU" sz="1800" dirty="0"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</a:t>
            </a:r>
            <a:r>
              <a:rPr lang="en-US" sz="1800" dirty="0"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cream</a:t>
            </a:r>
            <a:r>
              <a:rPr lang="ru-RU" sz="1800" dirty="0"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2 = </a:t>
            </a:r>
            <a:r>
              <a:rPr lang="ru-RU" sz="1800" dirty="0"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</a:t>
            </a:r>
            <a:r>
              <a:rPr lang="en-US" sz="1800" dirty="0"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ice</a:t>
            </a:r>
            <a:r>
              <a:rPr lang="ru-RU" sz="1800" dirty="0"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3 = </a:t>
            </a:r>
            <a:r>
              <a:rPr lang="ru-RU" sz="1800" dirty="0"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</a:t>
            </a:r>
            <a:r>
              <a:rPr lang="en-US" sz="1800" dirty="0"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nothing</a:t>
            </a:r>
            <a:r>
              <a:rPr lang="ru-RU" sz="1800" dirty="0"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//Напечатает 0, т. к. строка сравнивается сама с собой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</a:t>
            </a:r>
            <a:r>
              <a:rPr lang="en-US" sz="180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Console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.WriteLine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String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.Compare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(s1, s1));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//Выдаст 1, т. к. "</a:t>
            </a:r>
            <a:r>
              <a:rPr lang="en-US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cream</a:t>
            </a:r>
            <a:r>
              <a:rPr lang="ru-RU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 ,больше "</a:t>
            </a:r>
            <a:r>
              <a:rPr lang="en-US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ice</a:t>
            </a:r>
            <a:r>
              <a:rPr lang="ru-RU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</a:t>
            </a:r>
            <a:r>
              <a:rPr lang="en-US" sz="180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Console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.WriteLine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String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.Compare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(s2, s1));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</a:t>
            </a:r>
            <a:r>
              <a:rPr lang="en-US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Выдаст</a:t>
            </a:r>
            <a:r>
              <a:rPr lang="en-US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-1, </a:t>
            </a:r>
            <a:r>
              <a:rPr lang="ru-RU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т</a:t>
            </a:r>
            <a:r>
              <a:rPr lang="en-US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 </a:t>
            </a:r>
            <a:r>
              <a:rPr lang="ru-RU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к</a:t>
            </a:r>
            <a:r>
              <a:rPr lang="en-US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 "ice" </a:t>
            </a:r>
            <a:r>
              <a:rPr lang="ru-RU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меньше</a:t>
            </a:r>
            <a:r>
              <a:rPr lang="en-US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"nothing"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</a:t>
            </a:r>
            <a:r>
              <a:rPr lang="en-US" sz="180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Console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.WriteLine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String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.Compare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(s2, s3));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304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Работа с текстом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Метод</a:t>
            </a: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Equals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возвращает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true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если строки равны,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false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- если не равны.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Пример использования: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 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s1=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"apple"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s2=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"orange"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.WriteLine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.Equals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(s1, s2).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ToString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());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 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92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Работа с текстом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Метод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Substring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Позволяет извлечь из строки подстроку. Метод имеет 2 параметра. Первый параметр задает номер начальной позиции подстроки (нумерация с нуля),  второй - количество символов подстроки. Метод возвращает подстроку. Пример использования:</a:t>
            </a:r>
          </a:p>
          <a:p>
            <a:pPr marL="449580" indent="449580"/>
            <a:r>
              <a:rPr lang="en-US" sz="1800" dirty="0"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String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s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1 = </a:t>
            </a:r>
            <a:r>
              <a:rPr lang="ru-RU" sz="1800" dirty="0"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"подстрока"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2;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2 = 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1.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Substring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(3, 5);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</a:t>
            </a:r>
            <a:r>
              <a:rPr lang="en-US" sz="1800" dirty="0"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Console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WriteLine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2); </a:t>
            </a:r>
            <a:r>
              <a:rPr lang="ru-RU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//будет выведено "строк"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710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Работа с текстом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Метод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Вставляет в строку другую строку. Метод возвращает новую строку. Первый параметр задает позицию, с которой будет вставлена строка (нумерация с нуля),  второй параметр задает вставляемую строку. Пример использования:</a:t>
            </a:r>
          </a:p>
          <a:p>
            <a:pPr marL="449580" indent="449580"/>
            <a:r>
              <a:rPr lang="en-US" sz="1800" dirty="0"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String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s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1 = </a:t>
            </a:r>
            <a:r>
              <a:rPr lang="ru-RU" sz="1800" dirty="0"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"цена = </a:t>
            </a:r>
            <a:r>
              <a:rPr lang="ru-RU" sz="180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руб</a:t>
            </a:r>
            <a:r>
              <a:rPr lang="ru-RU" sz="1800" dirty="0"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2;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99160" indent="5715"/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2 = 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1.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Insert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(7, </a:t>
            </a:r>
            <a:r>
              <a:rPr lang="ru-RU" sz="1800" dirty="0"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"213 "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           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99160" indent="5715"/>
            <a:r>
              <a:rPr lang="en-US" sz="1800" dirty="0"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Console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WriteLine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2); </a:t>
            </a:r>
            <a:r>
              <a:rPr lang="ru-RU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//будет выведено "цена = 213 </a:t>
            </a:r>
            <a:r>
              <a:rPr lang="ru-RU" sz="180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руб</a:t>
            </a:r>
            <a:r>
              <a:rPr lang="ru-RU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765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Работа с текстом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Метод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ru-RU" altLang="ru-RU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IndexOf</a:t>
            </a: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возвращает позицию подстроки в строке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Если подстрока не найдена, то возвращает -1(минус 1). Пример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использования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s1 =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"Hello Mary!"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s2 =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"Mary"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s3 =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"Alex"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.WriteLine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(s1.IndexOf(s2));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будет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выведено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6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           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Console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.WriteLine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(s1.IndexOf(s3));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//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будет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выведено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-1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17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Работа с текстом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Метод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LastIndexOf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возвращает позицию последнего вхождения подстроки в строку. Синтаксис метода аналогичен синтаксису метода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IndexOf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Например: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449580" indent="449580"/>
            <a:r>
              <a:rPr lang="ru-RU" sz="180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String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s1 = </a:t>
            </a:r>
            <a:r>
              <a:rPr lang="ru-RU" sz="1800" dirty="0"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"один два три один"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s2 = </a:t>
            </a:r>
            <a:r>
              <a:rPr lang="ru-RU" sz="1800" dirty="0"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"один"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k= s1.LastIndexOf(s2);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</a:t>
            </a:r>
            <a:r>
              <a:rPr lang="en-US" sz="180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Console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.WriteLine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(k); // </a:t>
            </a:r>
            <a:r>
              <a:rPr lang="ru-RU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будет выведено</a:t>
            </a:r>
            <a:r>
              <a:rPr lang="en-US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13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5197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Работа с текстом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Метод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ru-RU" altLang="ru-RU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Replace</a:t>
            </a: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роизводит замену подстроки в строке. Первый параметр задает подстроку, которая будет заменена, второй параметр задает подстроку замены. В следующем примере подстрока </a:t>
            </a:r>
            <a:r>
              <a:rPr kumimoji="0" lang="ru-RU" altLang="ru-RU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«</a:t>
            </a:r>
            <a:r>
              <a:rPr kumimoji="0" lang="en-US" altLang="ru-RU" sz="2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bc</a:t>
            </a:r>
            <a:r>
              <a:rPr kumimoji="0" lang="ru-RU" altLang="ru-RU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»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будет заменена на подстроку </a:t>
            </a:r>
            <a:r>
              <a:rPr kumimoji="0" lang="ru-RU" altLang="ru-RU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«</a:t>
            </a:r>
            <a:r>
              <a:rPr kumimoji="0" lang="en-US" altLang="ru-RU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q</a:t>
            </a:r>
            <a:r>
              <a:rPr kumimoji="0" lang="ru-RU" altLang="ru-RU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»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везде, где она будет найдена: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  	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s1 =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цена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100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руб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s2 =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руб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s3;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s3 = s1.Replace(s2,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"$"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           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Console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.WriteLine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(s3);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//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будет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выведено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цена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= 100 $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213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Работа с текстом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9001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Методы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kumimoji="0" lang="en-US" altLang="ru-RU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0" lang="ru-RU" altLang="ru-RU" sz="2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ru-RU" altLang="ru-RU" sz="2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StartsWith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Проверяют, не завершается ли или не начинается ли строка с или на заданную строку соответственно. Пример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использования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9001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s1 =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"array"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9001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if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(s1.StartsWith(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ar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))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9001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.WriteLine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Строка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начинается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на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\"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ar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\""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9001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Else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9001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.WriteLine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"Строка не начинается на \"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ar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\""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061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Работа с текстом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Методы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ru-RU" altLang="ru-RU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ToUpper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и </a:t>
            </a:r>
            <a:r>
              <a:rPr kumimoji="0" lang="ru-RU" altLang="ru-RU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ToLower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переводят строку в верхний или нижний регистр соответственно. Пример использования: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  	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 =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"ПРИВЕТ"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 =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1.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ToLower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();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          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Console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WriteLine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1);   //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будет выведено «привет»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879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Работа с текстом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4492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Методы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Trim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sz="2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TrimEnds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TrimStart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Удаляют пробельные символы из начала и конца строки (метод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Trim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только с конца строки (метод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TrimEnds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и только с начала строки (метод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TrimStart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 Пример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использваония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492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s1 =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  Marry 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Cristmas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!    "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492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System.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.Write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(s1.Trim());</a:t>
            </a:r>
            <a:endParaRPr kumimoji="0" lang="en-US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125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Работа с текстом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Метод </a:t>
            </a:r>
            <a:r>
              <a:rPr kumimoji="0" lang="en-US" altLang="ru-R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Split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С помощью функции 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Split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 мы можем разделить строку на массив подстрок. В качестве параметра функция 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Split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 принимает массив символов или строк, которые и будут служить разделителями. Например, разобьем строку на слова,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исползуя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пробел: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text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"И поэтому все так произошло"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[] words =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text.Split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char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[] {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' '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});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foreach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s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in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words)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(s);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kumimoji="0" lang="en-US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546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Работа с текстом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/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Результат: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И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поэтому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все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так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произошло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0520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Работа с текстом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Метод </a:t>
            </a:r>
            <a:r>
              <a:rPr kumimoji="0" lang="ru-RU" altLang="ru-RU" sz="2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Remove</a:t>
            </a: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. 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Удаление части строки.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string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text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= 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"Хороший день"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// индекс последнего символа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ind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=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text.Length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- 1;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// вырезаем последний символ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text = </a:t>
            </a:r>
            <a:r>
              <a:rPr kumimoji="0" lang="en-US" altLang="ru-RU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text.Remove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ru-RU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ind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);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Console.WriteLine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(text);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// вырезаем первые два символа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text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=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text.Remove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(0, 2);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602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Работа с текстом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4508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Следующий пример поясняет работу со строками.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 строке все четные слова «перевернуть».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Program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//Задача: все четные слова перевернуть наоборот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naoborot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words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s.Split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{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 '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});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Создаем массив строк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s1 =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s2 =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ss;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8004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Работа с текстом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words.Length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(i%2==0)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Четное слово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s2 = words[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ss =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j = words[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].Length-1; j &gt; -1; j--) ss = ss + s2[j];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Переворот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s1 = s1 + ss +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s1; </a:t>
            </a:r>
            <a:endParaRPr lang="ru-RU" sz="1800" dirty="0">
              <a:solidFill>
                <a:srgbClr val="000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191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Работа с текстом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 = 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"Маша ела кашу Мама мыла раму мылом"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sf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naoborot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(s);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(sf);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655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Работа с текстом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Результат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ашаМ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ушак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алым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молым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374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Форматирование и интерполяция строк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ы уже поговорили о форматировании строк. Некоторые приемы форматирования мы уже использовали «неявно», без обсуждения. Пришла пора остановиться на этом вопросе подробнее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При выводе строк в консоли с помощью метода 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мы можем применять форматирование вместо конкатенации: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180340"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static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void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Main(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Name=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”Tom”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49580"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Age=35;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Имя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{0}  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Возраст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{1}"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Name,Age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Console.Read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3373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Форматирование и интерполяция строк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В строке "Имя: {0} Возраст: {1}" на место 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{0}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 и 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{1}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 затем будут вставляться в порядке следования 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Name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 и 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Age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.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То же самое мы можем сделать с помощью метода 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String.Format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:</a:t>
            </a:r>
          </a:p>
          <a:p>
            <a:pPr indent="270510"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output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String.Format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Имя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{0}  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Возраст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{1}"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Name, Age);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70510">
              <a:lnSpc>
                <a:spcPts val="1465"/>
              </a:lnSpc>
            </a:pP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output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0313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Форматирование и интерполяция строк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4508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В методе 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Format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могут использоваться различные спецификаторы и описатели, которые позволяют настроить вывод данных. Рассмотрим основные описатели. Для форматирования валюты используется описатель "C":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4508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C30EFB42-FB70-428A-A031-3692010F1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464343"/>
              </p:ext>
            </p:extLst>
          </p:nvPr>
        </p:nvGraphicFramePr>
        <p:xfrm>
          <a:off x="2223082" y="3029132"/>
          <a:ext cx="6604271" cy="31478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65589">
                  <a:extLst>
                    <a:ext uri="{9D8B030D-6E8A-4147-A177-3AD203B41FA5}">
                      <a16:colId xmlns:a16="http://schemas.microsoft.com/office/drawing/2014/main" val="3616960848"/>
                    </a:ext>
                  </a:extLst>
                </a:gridCol>
                <a:gridCol w="5838682">
                  <a:extLst>
                    <a:ext uri="{9D8B030D-6E8A-4147-A177-3AD203B41FA5}">
                      <a16:colId xmlns:a16="http://schemas.microsoft.com/office/drawing/2014/main" val="1784499455"/>
                    </a:ext>
                  </a:extLst>
                </a:gridCol>
              </a:tblGrid>
              <a:tr h="484020"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lang="ru-RU" sz="1000">
                          <a:effectLst/>
                        </a:rPr>
                        <a:t>C / c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2857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lang="ru-RU" sz="1000">
                          <a:effectLst/>
                        </a:rPr>
                        <a:t>Задает формат денежной единицы, указывает количество десятичных разрядов после запятой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28575" marT="9525" marB="9525"/>
                </a:tc>
                <a:extLst>
                  <a:ext uri="{0D108BD9-81ED-4DB2-BD59-A6C34878D82A}">
                    <a16:rowId xmlns:a16="http://schemas.microsoft.com/office/drawing/2014/main" val="1375608781"/>
                  </a:ext>
                </a:extLst>
              </a:tr>
              <a:tr h="242577"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lang="ru-RU" sz="1000">
                          <a:effectLst/>
                        </a:rPr>
                        <a:t>D / d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2857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lang="ru-RU" sz="1000">
                          <a:effectLst/>
                        </a:rPr>
                        <a:t>Целочисленный формат, указывает минимальное количество цифр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28575" marT="9525" marB="9525"/>
                </a:tc>
                <a:extLst>
                  <a:ext uri="{0D108BD9-81ED-4DB2-BD59-A6C34878D82A}">
                    <a16:rowId xmlns:a16="http://schemas.microsoft.com/office/drawing/2014/main" val="3971030575"/>
                  </a:ext>
                </a:extLst>
              </a:tr>
              <a:tr h="484020"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lang="ru-RU" sz="1000">
                          <a:effectLst/>
                        </a:rPr>
                        <a:t>E / e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2857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lang="ru-RU" sz="1000">
                          <a:effectLst/>
                        </a:rPr>
                        <a:t>Экспоненциальное представление числа, указывает количество десятичных разрядов после запятой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28575" marT="9525" marB="9525"/>
                </a:tc>
                <a:extLst>
                  <a:ext uri="{0D108BD9-81ED-4DB2-BD59-A6C34878D82A}">
                    <a16:rowId xmlns:a16="http://schemas.microsoft.com/office/drawing/2014/main" val="2210313148"/>
                  </a:ext>
                </a:extLst>
              </a:tr>
              <a:tr h="484020"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lang="ru-RU" sz="1000">
                          <a:effectLst/>
                        </a:rPr>
                        <a:t>F / f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2857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lang="ru-RU" sz="1000">
                          <a:effectLst/>
                        </a:rPr>
                        <a:t>Формат дробных чисел с фиксированной точкой, указывает количество десятичных разрядов после запятой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28575" marT="9525" marB="9525"/>
                </a:tc>
                <a:extLst>
                  <a:ext uri="{0D108BD9-81ED-4DB2-BD59-A6C34878D82A}">
                    <a16:rowId xmlns:a16="http://schemas.microsoft.com/office/drawing/2014/main" val="1824184088"/>
                  </a:ext>
                </a:extLst>
              </a:tr>
              <a:tr h="242577"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lang="ru-RU" sz="1000">
                          <a:effectLst/>
                        </a:rPr>
                        <a:t>G / g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2857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lang="ru-RU" sz="1000">
                          <a:effectLst/>
                        </a:rPr>
                        <a:t>Задает более короткий из двух форматов: F или E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28575" marT="9525" marB="9525"/>
                </a:tc>
                <a:extLst>
                  <a:ext uri="{0D108BD9-81ED-4DB2-BD59-A6C34878D82A}">
                    <a16:rowId xmlns:a16="http://schemas.microsoft.com/office/drawing/2014/main" val="3063131568"/>
                  </a:ext>
                </a:extLst>
              </a:tr>
              <a:tr h="484020"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lang="ru-RU" sz="1000">
                          <a:effectLst/>
                        </a:rPr>
                        <a:t>N / n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2857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lang="ru-RU" sz="1000">
                          <a:effectLst/>
                        </a:rPr>
                        <a:t>Также задает формат дробных чисел с фиксированной точкой, определяет количество разрядов после запятой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28575" marT="9525" marB="9525"/>
                </a:tc>
                <a:extLst>
                  <a:ext uri="{0D108BD9-81ED-4DB2-BD59-A6C34878D82A}">
                    <a16:rowId xmlns:a16="http://schemas.microsoft.com/office/drawing/2014/main" val="3025364535"/>
                  </a:ext>
                </a:extLst>
              </a:tr>
              <a:tr h="484020"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lang="ru-RU" sz="1000">
                          <a:effectLst/>
                        </a:rPr>
                        <a:t>P / p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2857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lang="ru-RU" sz="1000" dirty="0">
                          <a:effectLst/>
                        </a:rPr>
                        <a:t>Задает отображения знака процентов рядом с числом, указывает количество десятичных разрядов после запятой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28575" marT="9525" marB="9525"/>
                </a:tc>
                <a:extLst>
                  <a:ext uri="{0D108BD9-81ED-4DB2-BD59-A6C34878D82A}">
                    <a16:rowId xmlns:a16="http://schemas.microsoft.com/office/drawing/2014/main" val="3636133751"/>
                  </a:ext>
                </a:extLst>
              </a:tr>
              <a:tr h="242577"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lang="ru-RU" sz="1000">
                          <a:effectLst/>
                        </a:rPr>
                        <a:t>X / x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2857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lang="ru-RU" sz="1000" dirty="0">
                          <a:effectLst/>
                        </a:rPr>
                        <a:t>Шестнадцатеричный формат числа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28575" marT="9525" marB="9525"/>
                </a:tc>
                <a:extLst>
                  <a:ext uri="{0D108BD9-81ED-4DB2-BD59-A6C34878D82A}">
                    <a16:rowId xmlns:a16="http://schemas.microsoft.com/office/drawing/2014/main" val="941975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14101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Форматирование и интерполяция строк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number = 23.7;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result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String.Format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"{0:C}"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number);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(result); </a:t>
            </a:r>
            <a:r>
              <a:rPr lang="en-US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$ 23.7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result2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String.Format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"{0:C2}"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number);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(result2); </a:t>
            </a:r>
            <a:r>
              <a:rPr lang="ru-RU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$ 23.70</a:t>
            </a:r>
          </a:p>
          <a:p>
            <a:pPr indent="450215">
              <a:lnSpc>
                <a:spcPts val="1465"/>
              </a:lnSpc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4508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Число после описателя указывает, сколько чисел будет использоваться после разделителя между целой и дробной частью. При выводе также добавляется обозначение денежного знака для текущей культуры компьютера.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4508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8310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Форматирование и интерполяция строк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Для форматирования целочисленных значение применяется описатель "d":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number = 23;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result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String.Format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"{0:d}"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number);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(result); </a:t>
            </a:r>
            <a:r>
              <a:rPr lang="en-US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23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result2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String.Format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"{0:d4}"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number);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(result2); </a:t>
            </a:r>
            <a:r>
              <a:rPr lang="ru-RU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0023</a:t>
            </a:r>
          </a:p>
          <a:p>
            <a:pPr indent="450215">
              <a:lnSpc>
                <a:spcPts val="1465"/>
              </a:lnSpc>
            </a:pPr>
            <a:endParaRPr lang="ru-RU" sz="1800" dirty="0">
              <a:solidFill>
                <a:srgbClr val="00B050"/>
              </a:solidFill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indent="450215"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Число после описателя указывает, сколько цифр будет в числовом значении. Если в исходном числе цифр меньше, то к нему добавляются нули.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4508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9925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Форматирование и интерполяция строк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Для форматирования дробных чисел используется описатель F, число после которого указывает, сколько знаков будет использоваться после разделителя между целой и дробной частью. Если исходное число 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целое, то к нему добавляются разделитель и нули.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number = 23;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result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String.Format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"{0:f}"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number);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(result); </a:t>
            </a:r>
            <a:r>
              <a:rPr lang="en-US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23,00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number2 = 45.08;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result2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String.Format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"{0:f4}"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number2);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(result2); // </a:t>
            </a:r>
            <a:r>
              <a:rPr lang="en-US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45,0800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number3 = 25.07;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result3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String.Format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"{0:f1}"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number3);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(result2); </a:t>
            </a:r>
            <a:endParaRPr kumimoji="0" lang="ru-RU" altLang="ru-RU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1354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Форматирование и интерполяция строк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Используя знак #, можно настроить формат вывода. Например, нам надо вывести некоторое число в формате телефона +х (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ххх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)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ххх-хх-хх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long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number = 79876543210;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result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String.Format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"{0:+# (###) ###-##-##}"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number);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result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 </a:t>
            </a:r>
            <a:r>
              <a:rPr lang="ru-RU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+7 (987) 654-32-10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8395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Форматирование и интерполяция строк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Метод 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ToString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 не только получает строковое описание объекта, но и может осуществлять форматирование. Он поддерживает те же описатели, что используются в методе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Format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long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number = 79876543210;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number.ToString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"+# (###) ###-##-##"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));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+7 (987) 654-32-10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double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money = 24.8;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money.ToString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"C2"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)); 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$ 24,80</a:t>
            </a:r>
            <a:endParaRPr kumimoji="0" lang="en-US" altLang="ru-RU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7450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Форматирование и интерполяция строк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Начиная с версии языка C# 6.0 была добавлена такая функциональность, как интерполяция строк. Эта функциональность призвана заменить форматирование строк. Например: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492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Name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”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Tom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”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492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Age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=35; 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4492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($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Имя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{Name}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Возраст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{Age}"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indent="449263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Знак доллара перед строкой указывает, что будет осуществляться интерполяция строк. Внутри строки опять же используются скобки </a:t>
            </a:r>
            <a:r>
              <a:rPr lang="ru-R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{...}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, только внутри фигурных скобок уже можно напрямую писать те выражения, которые мы хотим вывести.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4492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736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Форматирование и интерполяция строк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79EBCA-7C7B-4F75-971E-29472C3D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>
              <a:lnSpc>
                <a:spcPts val="156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Интерполяция, по сути, представляет более лаконичное форматирование. При этом внутри фигурных скобок мы можем указывать не только свойства, но и различные выражения языка C#: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 = 8;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y = 7;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result = $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"{x} + {y} = {x + y}"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(result); </a:t>
            </a:r>
            <a:r>
              <a:rPr lang="en-US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8 + 7 = 15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200"/>
              </a:spcBef>
            </a:pPr>
            <a:r>
              <a:rPr lang="en-US" sz="18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8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8933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1C8A-20D1-469A-9BA5-4C46E1B7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До следующей лекции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1DCB872-69D4-4485-83CC-820C110960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</p:spPr>
      </p:pic>
    </p:spTree>
    <p:extLst>
      <p:ext uri="{BB962C8B-B14F-4D97-AF65-F5344CB8AC3E}">
        <p14:creationId xmlns:p14="http://schemas.microsoft.com/office/powerpoint/2010/main" val="31962955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2544</Words>
  <Application>Microsoft Office PowerPoint</Application>
  <PresentationFormat>Широкоэкранный</PresentationFormat>
  <Paragraphs>275</Paragraphs>
  <Slides>36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5" baseType="lpstr">
      <vt:lpstr>Arial</vt:lpstr>
      <vt:lpstr>Arial Unicode MS</vt:lpstr>
      <vt:lpstr>Calibri</vt:lpstr>
      <vt:lpstr>Calibri Light</vt:lpstr>
      <vt:lpstr>Consolas</vt:lpstr>
      <vt:lpstr>Courier New</vt:lpstr>
      <vt:lpstr>Times New Roman</vt:lpstr>
      <vt:lpstr>Verdana</vt:lpstr>
      <vt:lpstr>Тема Office</vt:lpstr>
      <vt:lpstr>Программирование</vt:lpstr>
      <vt:lpstr>Работа с текстом</vt:lpstr>
      <vt:lpstr>Работа с текстом</vt:lpstr>
      <vt:lpstr>Работа с текстом</vt:lpstr>
      <vt:lpstr>Работа с текстом</vt:lpstr>
      <vt:lpstr>Работа с текстом</vt:lpstr>
      <vt:lpstr>Работа с текстом</vt:lpstr>
      <vt:lpstr>Работа с текстом</vt:lpstr>
      <vt:lpstr>Работа с текстом</vt:lpstr>
      <vt:lpstr>Работа с текстом</vt:lpstr>
      <vt:lpstr>Работа с текстом</vt:lpstr>
      <vt:lpstr>Работа с текстом</vt:lpstr>
      <vt:lpstr>Работа с текстом</vt:lpstr>
      <vt:lpstr>Работа с текстом</vt:lpstr>
      <vt:lpstr>Работа с текстом</vt:lpstr>
      <vt:lpstr>Работа с текстом</vt:lpstr>
      <vt:lpstr>Работа с текстом</vt:lpstr>
      <vt:lpstr>Работа с текстом</vt:lpstr>
      <vt:lpstr>Работа с текстом</vt:lpstr>
      <vt:lpstr>Работа с текстом</vt:lpstr>
      <vt:lpstr>Работа с текстом</vt:lpstr>
      <vt:lpstr>Работа с текстом</vt:lpstr>
      <vt:lpstr>Работа с текстом</vt:lpstr>
      <vt:lpstr>Работа с текстом</vt:lpstr>
      <vt:lpstr>Работа с текстом</vt:lpstr>
      <vt:lpstr>Форматирование и интерполяция строк</vt:lpstr>
      <vt:lpstr>Форматирование и интерполяция строк</vt:lpstr>
      <vt:lpstr>Форматирование и интерполяция строк</vt:lpstr>
      <vt:lpstr>Форматирование и интерполяция строк</vt:lpstr>
      <vt:lpstr>Форматирование и интерполяция строк</vt:lpstr>
      <vt:lpstr>Форматирование и интерполяция строк</vt:lpstr>
      <vt:lpstr>Форматирование и интерполяция строк</vt:lpstr>
      <vt:lpstr>Форматирование и интерполяция строк</vt:lpstr>
      <vt:lpstr>Форматирование и интерполяция строк</vt:lpstr>
      <vt:lpstr>Форматирование и интерполяция строк</vt:lpstr>
      <vt:lpstr>До следующей лекции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Программирование</dc:title>
  <dc:creator>Леонид Попов</dc:creator>
  <cp:lastModifiedBy>Леонид Попов</cp:lastModifiedBy>
  <cp:revision>9</cp:revision>
  <dcterms:created xsi:type="dcterms:W3CDTF">2021-01-30T08:22:07Z</dcterms:created>
  <dcterms:modified xsi:type="dcterms:W3CDTF">2021-04-10T11:08:22Z</dcterms:modified>
</cp:coreProperties>
</file>