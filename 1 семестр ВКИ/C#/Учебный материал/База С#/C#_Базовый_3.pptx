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64C43-6869-4DBB-B89D-A5A398F65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E1CCB8-53FD-4EFF-B063-8D14B5F66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41AF2C-B479-43C4-B2FD-F85ECBD3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A4AEE8-2624-4F35-935A-D269FC51A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54C12F-AC96-477D-9C37-395E31CEA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36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C1D91-293C-4A41-837C-1CC12367A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34F22C-5F11-4DC7-80C0-4515BB407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7CD1EC-ADBF-4D08-B922-AA5981A1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0A35CC-A8A4-496E-9BE4-4EAABB8A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2283B3-3205-4E99-9A94-3453AF99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977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A3E18-1E5A-4B54-9B28-74B261321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954DB5-A151-476E-A11B-2BFEF25D6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19565F-0C48-468C-83DE-1C13055A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3B621D-D33F-41DB-9A27-D6FB41C3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E66D58-742C-48B5-BA06-8338B97F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B5AB4-AD90-4702-BCFE-7E71DC29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9577CC-A2ED-4A22-BCC0-4239AD61A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C4EE7C-5B86-42E4-BAB3-0072295A1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AE06BF-8941-4841-98E5-C72965D0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9FF0D9-4946-439A-B0BC-64E77146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AD68AA-1F70-4CF8-90B2-5F576F82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89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5B1D9-7779-4E71-B8DC-8E6F5E25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6109DB-CDB9-4045-9B5F-F3C1C2B5D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DE58D3-C8F0-45BD-877D-9C32F1A7D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D04E125-3B41-4C19-9D07-56A0E10A6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53D577F-AC86-4CC3-9FD4-B938945AB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2EF378F-E105-4C99-A9B6-5A244DF3D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066977-E113-4C2F-A4C4-91EAE6859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2C913E1-5FED-41A5-B583-031AC52D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703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90C3C-F449-4536-90ED-2A29997E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1B327A0-75CC-4397-83EC-57D5F6C5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81CC71C-7FC6-4C77-B0D3-719BE20BC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7693B0-54EF-4F1D-9CE2-3406F8AA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49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F03FB09-2399-4F74-8AD3-BAF3644DA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9EBD69A-3CB0-4BB3-A39F-D1CE9F316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7F2242-CA31-4D12-A80F-3B556C62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057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B85E2-B4C2-475F-8AE5-231C7337E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F3D1CB-BF0E-4F65-A958-1556B502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7F4384-0FA8-4E79-8B23-CBEB6ED21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5746BA-227A-4803-9FB1-5F3623FB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277949-7E28-4552-97A3-BF143C8B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31EE877-D8BC-4251-8FFE-B1FBFA935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17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B0FDA-8F39-4715-B6A5-9AC77AA3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BF51091-AB42-4CE0-A9A7-D2E3ADA05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743195-9813-4E02-8740-3CBF4BCB7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B7DC8F-FCEB-43C7-9320-8AA338BD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3AC89A-9619-4B4E-BF5C-78C7D01D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FC11EB-95FA-4563-84A9-D79A98162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001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F88E8-997E-4E09-8958-E04D5270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20710C-E5AE-483A-BFFD-DA00A1793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3481FB-3DFB-477B-8689-56740159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D59B2-00EA-43DB-AAEA-78E0A06A3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EF6737-1759-4E25-84EC-46163AF87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80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9FD40A2-3141-4316-8FAE-D1B567648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B8D4E2-E0EA-4291-8311-31AB71F4F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94B355-FB02-441E-8AED-2B3687DE1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FED036-384C-4246-8C70-029283BE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728816-AF9B-4C94-8CBE-0BFD822C5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27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85782-920F-4C26-87D1-2C1CA502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295ECB-E474-4E84-A031-086F3816F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410CE8-1808-40A7-95B2-29375A0CF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DF0FD-6C55-4145-8E3E-3DDE217A94EF}" type="datetimeFigureOut">
              <a:rPr lang="ru-RU" smtClean="0"/>
              <a:t>13.02.2021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8B74BE-3A6C-46AC-8872-F2AA1C3BA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5D1E41-7000-418F-8E5D-BE4E972A1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2B898-873F-4BB1-ACBB-C0072CF35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535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s-help://MS.VSCC.v80/MS.MSDN.v80/MS.NETDEVFX.v20.en/cpref8/html/T_System_Drawing_Drawing2D_LinearGradientBrush.htm" TargetMode="External"/><Relationship Id="rId2" Type="http://schemas.openxmlformats.org/officeDocument/2006/relationships/hyperlink" Target="ms-help://MS.VSCC.v80/MS.MSDN.v80/MS.NETDEVFX.v20.en/cpref8/html/T_System_Drawing_TextureBrush.ht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3520D-5589-423F-B518-664E14461B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Windows </a:t>
            </a:r>
            <a:r>
              <a:rPr lang="ru-RU" dirty="0">
                <a:solidFill>
                  <a:srgbClr val="FF0000"/>
                </a:solidFill>
              </a:rPr>
              <a:t>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BA58F0-C595-405F-82BC-950A6EA0D1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3200" dirty="0">
                <a:solidFill>
                  <a:srgbClr val="00B050"/>
                </a:solidFill>
              </a:rPr>
              <a:t>На языке </a:t>
            </a:r>
            <a:r>
              <a:rPr lang="en-US" sz="3200" dirty="0">
                <a:solidFill>
                  <a:srgbClr val="00B050"/>
                </a:solidFill>
              </a:rPr>
              <a:t>C#</a:t>
            </a:r>
            <a:endParaRPr lang="ru-RU" sz="3200" dirty="0">
              <a:solidFill>
                <a:srgbClr val="00B050"/>
              </a:solidFill>
            </a:endParaRPr>
          </a:p>
          <a:p>
            <a:r>
              <a:rPr lang="ru-RU" sz="3200" dirty="0">
                <a:solidFill>
                  <a:srgbClr val="00B050"/>
                </a:solidFill>
              </a:rPr>
              <a:t>Тема </a:t>
            </a:r>
            <a:r>
              <a:rPr lang="en-US" sz="3200" dirty="0">
                <a:solidFill>
                  <a:srgbClr val="00B050"/>
                </a:solidFill>
              </a:rPr>
              <a:t>3</a:t>
            </a:r>
          </a:p>
          <a:p>
            <a:r>
              <a:rPr lang="ru-RU" sz="2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Графика в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Window Forms</a:t>
            </a:r>
            <a:endParaRPr lang="ru-RU" sz="28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6121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Графические поверхности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 тем как начать рисовать линии, фигуры, выводить текст и манипулировать другими графическими объектами, необходимо создать графическую поверхность. Это правило действует во всех языках программирования. В библиотеке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pygame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языка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это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Surface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в библиотеке того же языка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tkinter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Canvas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(холст), в среде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Delphi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Canvas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т. д. В С# эта поверхность называется </a:t>
            </a:r>
            <a:r>
              <a:rPr lang="ru-RU" sz="32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Graphics.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Создать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ее можно следующими способами: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020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Графические поверхности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 1.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Обработчик события </a:t>
            </a:r>
            <a:r>
              <a:rPr lang="ru-RU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Paint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формы в качестве параметра передает объект </a:t>
            </a:r>
            <a:r>
              <a:rPr lang="ru-RU" sz="18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типа </a:t>
            </a:r>
            <a:r>
              <a:rPr lang="ru-RU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PaintEventArgs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Приведем пример обработчика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private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void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Form1_Paint(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object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sender,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PaintEventArgs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Создание графической поверхности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ru-RU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Graphics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g = </a:t>
            </a:r>
            <a:r>
              <a:rPr lang="ru-RU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e.Graphics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Код для рисования вставляется сюда</a:t>
            </a:r>
            <a:endParaRPr lang="en-US" sz="1800" dirty="0">
              <a:solidFill>
                <a:srgbClr val="008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lvl="3"/>
            <a:r>
              <a:rPr lang="en-US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780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Графические поверхности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помощью класса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Для создания графической поверхности из объекта типа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вызывается метод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Graphics</a:t>
            </a:r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FromImage</a:t>
            </a:r>
            <a:r>
              <a:rPr lang="ru-RU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// создается объект типа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Bitmap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Bitmap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myBitmap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Bitmap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@"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:\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temp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\</a:t>
            </a: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myPic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bmp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44926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Graphics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g = </a:t>
            </a: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rgbClr val="2B91AF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Graphics</a:t>
            </a: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.FromImage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2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myBitmap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978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Графические поверхности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Способ 3.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Используется метод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CreateGraphics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элемента управления или формы для получения ссылки на графический объект, который позволяет рисовать в форме или по элементу управления.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g =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this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.CreateGraphics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();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где </a:t>
            </a:r>
            <a:r>
              <a:rPr kumimoji="0" lang="en-US" altLang="ru-RU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– это ссылка на форму</a:t>
            </a:r>
            <a:r>
              <a:rPr lang="en-US" altLang="ru-RU" sz="1800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ближайшем будущем мы будем использовать третий способ. Приведем пример. Создадим поверхность и нарисуем на ней линию и прямоугольник. Подробно технику создания линии и других графических объектов мы рассмотрим ниже. Сейчас сосредоточимся на создании графической поверхности. Алгоритм работы программы будет понятен из комментариев к ней.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13666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Графические поверхности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поверхности и на ней – линии и прямоугольника.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My_Line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 =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Graphics g;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Объявляем переменную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g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типа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Graphics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поверхность на форме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75448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Графические поверхности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2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//Рисуем линию с помощью Form1_Paint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Pen 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myPenGreen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Pen(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3);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g.DrawLine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myPenGreen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10, y,100, 100);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}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2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//Нажимаем на кнопку и рисуем  прямоугольник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Pen 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myPenGreen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Pen(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3);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</a:t>
            </a:r>
            <a:r>
              <a:rPr lang="ru-RU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DrawRectangle</a:t>
            </a:r>
            <a:r>
              <a:rPr lang="ru-RU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myPenGreen</a:t>
            </a:r>
            <a:r>
              <a:rPr lang="ru-RU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ru-RU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100, 100, 100);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}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135552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Графические поверхности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911ED0-A457-4FC1-92FA-CD1A829845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97167" y="1825625"/>
            <a:ext cx="3875586" cy="378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91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Графические поверхности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8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DFB0C28-1708-41E5-B03E-706255FEA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713807"/>
              </p:ext>
            </p:extLst>
          </p:nvPr>
        </p:nvGraphicFramePr>
        <p:xfrm>
          <a:off x="2474752" y="2813971"/>
          <a:ext cx="6454936" cy="3125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27468">
                  <a:extLst>
                    <a:ext uri="{9D8B030D-6E8A-4147-A177-3AD203B41FA5}">
                      <a16:colId xmlns:a16="http://schemas.microsoft.com/office/drawing/2014/main" val="1768224305"/>
                    </a:ext>
                  </a:extLst>
                </a:gridCol>
                <a:gridCol w="3227468">
                  <a:extLst>
                    <a:ext uri="{9D8B030D-6E8A-4147-A177-3AD203B41FA5}">
                      <a16:colId xmlns:a16="http://schemas.microsoft.com/office/drawing/2014/main" val="3739200752"/>
                    </a:ext>
                  </a:extLst>
                </a:gridCol>
              </a:tblGrid>
              <a:tr h="8838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Clear(Color)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Очищает всю поверхность рисования и выполняет заливку поверхности указанным цветом фона.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360625885"/>
                  </a:ext>
                </a:extLst>
              </a:tr>
              <a:tr h="13577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CopyFromScreen(Point, Point, Size)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Выполняет передачу данных о цвете, соответствующих прямоугольной области пикселей, блоками битов с экрана на поверхность рисования объекта Graphics.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4250947392"/>
                  </a:ext>
                </a:extLst>
              </a:tr>
              <a:tr h="8838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Dispose()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Освобождает все ресурсы, используемые данным объектом </a:t>
                      </a:r>
                      <a:r>
                        <a:rPr lang="ru-RU" sz="1200" dirty="0" err="1">
                          <a:effectLst/>
                        </a:rPr>
                        <a:t>Graphics</a:t>
                      </a:r>
                      <a:r>
                        <a:rPr lang="ru-RU" sz="1200" dirty="0">
                          <a:effectLst/>
                        </a:rPr>
                        <a:t>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b"/>
                </a:tc>
                <a:extLst>
                  <a:ext uri="{0D108BD9-81ED-4DB2-BD59-A6C34878D82A}">
                    <a16:rowId xmlns:a16="http://schemas.microsoft.com/office/drawing/2014/main" val="776517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862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7030A0"/>
                </a:solidFill>
                <a:latin typeface="Times New Roman" panose="02020603050405020304" pitchFamily="18" charset="0"/>
              </a:rPr>
              <a:t>Инструменты рисования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После создания графической поверхности можно рисовать линии, фигуры, поверхности. Для этого используются следующие классы.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- используется для рисования линий, поверхностей или других геометрических представлений.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Brush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используется для заполнения фигур и изображений цветом.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Font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обеспечивает текст нужным шрифтом, при этом задается тип шрифта, размер шрифта и т.д.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Структура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Color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-представляет различные цвета.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082519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7030A0"/>
                </a:solidFill>
                <a:latin typeface="Times New Roman" panose="02020603050405020304" pitchFamily="18" charset="0"/>
              </a:rPr>
              <a:t>Инструменты рисования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indent="450215" algn="just"/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Перед рисованием фигур и линий необходимо задать карандаш и кисть. Карандаш задает цвет и толщину линии, кисть задает цвет и тип закраски.</a:t>
            </a:r>
          </a:p>
          <a:p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 карандаш можно создать следующим образом:</a:t>
            </a:r>
          </a:p>
          <a:p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 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myPenRed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new Pen();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Карандаш имеет следующие основные свойства:</a:t>
            </a:r>
          </a:p>
          <a:p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Color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задает цвет карандаша. Например: </a:t>
            </a:r>
          </a:p>
          <a:p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Color.Red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2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2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задается</a:t>
            </a:r>
            <a:r>
              <a:rPr lang="en-US" sz="22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красный</a:t>
            </a:r>
            <a:r>
              <a:rPr lang="en-US" sz="22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цвет</a:t>
            </a:r>
            <a:r>
              <a:rPr lang="en-US" sz="22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Width</a:t>
            </a:r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задает толщину карандаша. Например:</a:t>
            </a:r>
          </a:p>
          <a:p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myPenRed.Width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3;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Можно создать карандаш следующим образом: задавая два параметра, первый – цвет, второй – толщина:</a:t>
            </a:r>
          </a:p>
          <a:p>
            <a:pPr marL="449580" indent="449580"/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 </a:t>
            </a:r>
            <a:r>
              <a:rPr lang="en-US" sz="2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myPenRed</a:t>
            </a:r>
            <a:r>
              <a:rPr lang="en-US" sz="2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new Pen(Color.Red,3);  </a:t>
            </a:r>
            <a:endParaRPr lang="ru-RU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213384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7030A0"/>
                </a:solidFill>
                <a:latin typeface="Times New Roman" panose="02020603050405020304" pitchFamily="18" charset="0"/>
              </a:rPr>
              <a:t>Инструменты рисования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Brush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это абстрактный класс, от которого происходят различные классы, задающие разные типы кистей 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 Пример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49580" indent="449580"/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myBrush1 = new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дальнейшем мы в основном будем использовать класс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SolidBrush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8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F27CA81-95A2-4326-9CA4-235F7EDC2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748520"/>
              </p:ext>
            </p:extLst>
          </p:nvPr>
        </p:nvGraphicFramePr>
        <p:xfrm>
          <a:off x="2592198" y="4194843"/>
          <a:ext cx="6467093" cy="14509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8575">
                  <a:extLst>
                    <a:ext uri="{9D8B030D-6E8A-4147-A177-3AD203B41FA5}">
                      <a16:colId xmlns:a16="http://schemas.microsoft.com/office/drawing/2014/main" val="1960656888"/>
                    </a:ext>
                  </a:extLst>
                </a:gridCol>
                <a:gridCol w="4478518">
                  <a:extLst>
                    <a:ext uri="{9D8B030D-6E8A-4147-A177-3AD203B41FA5}">
                      <a16:colId xmlns:a16="http://schemas.microsoft.com/office/drawing/2014/main" val="1246339498"/>
                    </a:ext>
                  </a:extLst>
                </a:gridCol>
              </a:tblGrid>
              <a:tr h="2381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Класс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Тип  кисти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4338425"/>
                  </a:ext>
                </a:extLst>
              </a:tr>
              <a:tr h="23816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en-US" sz="1200">
                          <a:effectLst/>
                        </a:rPr>
                        <a:t>SolidBrush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задает кисть сплошной заливки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5973741"/>
                  </a:ext>
                </a:extLst>
              </a:tr>
              <a:tr h="48731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ru-RU" sz="1200" u="none" strike="noStrike" dirty="0" err="1">
                          <a:solidFill>
                            <a:schemeClr val="bg1"/>
                          </a:solidFill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TextureBrush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ru-RU" sz="1200">
                          <a:effectLst/>
                        </a:rPr>
                        <a:t>задает текстурную кисть, закрашивает область растровым изображением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4013372"/>
                  </a:ext>
                </a:extLst>
              </a:tr>
              <a:tr h="48731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ru-RU" sz="1200" u="none" strike="noStrike" dirty="0" err="1">
                          <a:solidFill>
                            <a:schemeClr val="bg1"/>
                          </a:solidFill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LinearGradientBrush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r>
                        <a:rPr lang="ru-RU" sz="1200" dirty="0">
                          <a:effectLst/>
                        </a:rPr>
                        <a:t>задает градиентную кисть, обеспечивает плавное смешение двух цветов для получения градиентного перехода.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7716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679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Любая картинка, чертеж, схема представляют собой совокупность графических </a:t>
            </a:r>
            <a:r>
              <a:rPr lang="ru-RU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примитивов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точек, линий, окружностей, дуг, текста и др.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Вычерчивание графических примитивов на графической поверхности (</a:t>
            </a:r>
            <a:r>
              <a:rPr lang="ru-RU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Graphics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выполняют соответствующие методы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4226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en-US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32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DrawLine</a:t>
            </a:r>
            <a:r>
              <a:rPr lang="en-US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(Pen, x1, y1,x2, y2)</a:t>
            </a:r>
            <a:endParaRPr lang="ru-RU" sz="32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sz="32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r>
              <a:rPr lang="ru-RU" sz="32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Рисует линию. Параметр </a:t>
            </a:r>
            <a:r>
              <a:rPr lang="ru-RU" sz="32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Pen</a:t>
            </a:r>
            <a:r>
              <a:rPr lang="ru-RU" sz="32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32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определяет цвет, толщину и стиль линии; параметры </a:t>
            </a:r>
            <a:r>
              <a:rPr lang="ru-RU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x1</a:t>
            </a:r>
            <a:r>
              <a:rPr lang="ru-RU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ru-RU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y1</a:t>
            </a:r>
            <a:r>
              <a:rPr lang="ru-RU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ru-RU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x2</a:t>
            </a:r>
            <a:r>
              <a:rPr lang="ru-RU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ru-RU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y2</a:t>
            </a:r>
            <a:r>
              <a:rPr lang="ru-RU" sz="32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32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— координаты точек начала и конца линии</a:t>
            </a:r>
          </a:p>
          <a:p>
            <a:pPr indent="450215"/>
            <a:endParaRPr lang="ru-RU" sz="32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3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 </a:t>
            </a:r>
            <a:r>
              <a:rPr lang="en-US" sz="3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myPenGreen</a:t>
            </a:r>
            <a:r>
              <a:rPr lang="en-US" sz="3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3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Pen(</a:t>
            </a:r>
            <a:r>
              <a:rPr lang="en-US" sz="3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Color.Green</a:t>
            </a:r>
            <a:r>
              <a:rPr lang="en-US" sz="3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3);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3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g.DrawLine</a:t>
            </a:r>
            <a:r>
              <a:rPr lang="en-US" sz="3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myPenGreen</a:t>
            </a:r>
            <a:r>
              <a:rPr lang="en-US" sz="3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10, 10, 350, 350);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7646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DrawRectangle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(Pen, </a:t>
            </a:r>
            <a:r>
              <a:rPr lang="en-US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x,y,w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h)</a:t>
            </a:r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Рисует контур прямоугольника. Параметр </a:t>
            </a:r>
            <a:r>
              <a:rPr lang="ru-RU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Pen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определяет цвет, толщину и стиль границы прямоугольника: параметры </a:t>
            </a:r>
            <a:r>
              <a:rPr lang="ru-RU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</a:t>
            </a:r>
            <a:r>
              <a:rPr lang="ru-RU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— координаты левого верхнего угла; параметры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и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задают размер прямоугольника</a:t>
            </a:r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myPenRed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Pen(Color.Red,3);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g.DrawRectangle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myPenRed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15, 15, 250, 250);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8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en-US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FillRectangle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(Brush, x, y, w, h)</a:t>
            </a:r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Рисует закрашенный прямоугольник. Параметр </a:t>
            </a:r>
            <a:r>
              <a:rPr lang="ru-RU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Brush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определяет цвет и стиль закраски прямоугольника; параметры 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x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y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— координаты левого верхнего угла; параметры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w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задают размер прямоугольника</a:t>
            </a:r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SolidBrush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myBrush1 =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SolidBrush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Color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.White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g.FillRectangle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(myBrush1, 10, 10,100, 40);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811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en-US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DrawEllipse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(Pen, x, </a:t>
            </a:r>
            <a:r>
              <a:rPr lang="en-US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y,w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h)</a:t>
            </a:r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Рисует эллипс (контур). Параметр </a:t>
            </a:r>
            <a:r>
              <a:rPr lang="ru-RU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Pen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определяет цвет, толщину и стиль линии эллипса; параметры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y, w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 h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— координаты левого верхнего угла и размер прямоугольника, внутри которого вычерчивается эллипс</a:t>
            </a:r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Pen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blackPen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Pen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Color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.Black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 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g.DrawEllipse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blackPen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10,10,100,100);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9069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/>
            <a:r>
              <a:rPr lang="en-US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FillEllipse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(Brush, x, </a:t>
            </a:r>
            <a:r>
              <a:rPr lang="en-US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y,w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h) </a:t>
            </a:r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sz="2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Рисует закрашенный эллипс. Параметр </a:t>
            </a:r>
            <a:r>
              <a:rPr lang="ru-RU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Brush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определяет цвет и стиль закраски внутренней области эллипса; параметры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y, w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 h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— координаты левого верхнего угла и размер прямоугольника, внутри которого вычерчивается эллипс </a:t>
            </a:r>
            <a:endParaRPr lang="ru-RU" sz="24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sz="2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SolidBrush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RedBr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SolidBrush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Color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.Red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g.FillEllipse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(RedBr,10,10,100,100); 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45021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641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DrawString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(str, </a:t>
            </a:r>
            <a:r>
              <a:rPr lang="en-US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Font,Brush</a:t>
            </a:r>
            <a:r>
              <a:rPr lang="en-US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x, y)</a:t>
            </a:r>
            <a:endParaRPr lang="ru-RU" sz="24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sz="24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Выводит на графическую поверхность строку текста. Параметр </a:t>
            </a:r>
            <a:r>
              <a:rPr lang="ru-RU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Font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определяет шрифт; </a:t>
            </a:r>
            <a:r>
              <a:rPr lang="ru-RU" sz="24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Brush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— цвет символов;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</a:t>
            </a:r>
            <a:r>
              <a:rPr lang="ru-RU" sz="2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</a:t>
            </a:r>
            <a:r>
              <a:rPr lang="ru-RU" sz="24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2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— точку, от которой будет выведен текст</a:t>
            </a:r>
          </a:p>
          <a:p>
            <a:endParaRPr lang="ru-RU" sz="2400" dirty="0">
              <a:latin typeface="Arial" panose="020B0604020202020204" pitchFamily="34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Font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currFont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Font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"Times New Roman"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24);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g.DrawString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Тестирование шрифта</a:t>
            </a:r>
            <a:r>
              <a:rPr lang="en-US" sz="24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... "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currFont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SolidBrush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Color</a:t>
            </a:r>
            <a:r>
              <a:rPr lang="en-US" sz="24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.BlueViolet</a:t>
            </a:r>
            <a:r>
              <a:rPr lang="en-US" sz="24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), 0, 0);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sz="18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1617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DrawImage</a:t>
            </a:r>
            <a:r>
              <a:rPr lang="ru-RU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8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Image</a:t>
            </a:r>
            <a:r>
              <a:rPr lang="ru-RU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x, y)</a:t>
            </a: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Выводит на графическую поверхность иллюстрацию. Параметр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Image</a:t>
            </a:r>
            <a:r>
              <a:rPr lang="ru-RU" sz="1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определяет иллюстрацию; </a:t>
            </a:r>
            <a:r>
              <a:rPr lang="ru-RU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</a:t>
            </a:r>
            <a:r>
              <a:rPr lang="ru-RU" sz="1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</a:t>
            </a:r>
            <a:r>
              <a:rPr lang="ru-RU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y</a:t>
            </a:r>
            <a:r>
              <a:rPr lang="ru-RU" sz="1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— координату левого верхнего угла области вывода иллюстрации</a:t>
            </a:r>
          </a:p>
          <a:p>
            <a:endParaRPr lang="ru-RU" sz="1800" dirty="0">
              <a:latin typeface="Arial" panose="020B0604020202020204" pitchFamily="34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1800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Image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Bit1;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Bit1 =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new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Bitmap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"C:/C#/Image1/f1.bmp"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</a:t>
            </a:r>
            <a:r>
              <a:rPr lang="ru-RU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DrawImage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(Bit1, 10, 10, 100, 100);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sz="18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4036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качестве примера нарисуем светофор.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2.3.2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Светофор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My_Graph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Graphics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g;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//Объявляем переменную g типа 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Graphics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поверхность на форме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300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B05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Рисуем корпус и окна светофора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myBrushgray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Color.Gray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g.FillRectangle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(myBrushgray,40, 25, 200, 400);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25,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myBrushYellow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Color.Yellow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myBrushYellow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155,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myBrushGreen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myBrushGreen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285,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4000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Графические примитивы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Задания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самостоятельной работы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Нарисовать: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Японский флаг.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Российский флаг.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Флаг Чехии.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Олимпийский флаг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Зимний пейзаж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793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Работа с изображениями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342265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имеет большое количество свойств и методов для работы с изображениями. Следующие свойства задают:</a:t>
            </a:r>
          </a:p>
          <a:p>
            <a:pPr indent="342265"/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Width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ширину изображения</a:t>
            </a:r>
          </a:p>
          <a:p>
            <a:pPr indent="342265"/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Height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высоту изображения</a:t>
            </a:r>
          </a:p>
          <a:p>
            <a:pPr indent="342265"/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Size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размер изображения.</a:t>
            </a: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6759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Работа с изображениями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34226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Объявленные переменные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присваиваются объектам класса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Bitmap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Кроме того, можно создавать объекты класса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Bitmap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напрямую. Например,</a:t>
            </a:r>
          </a:p>
          <a:p>
            <a:pPr marL="342900" lvl="0" indent="-342900" algn="just">
              <a:buFont typeface="+mj-lt"/>
              <a:buAutoNum type="arabicPeriod"/>
              <a:tabLst>
                <a:tab pos="504825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Объявим переменные типа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1571625"/>
            <a:r>
              <a:rPr lang="ru-RU" sz="180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private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Image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Bit1;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1571625"/>
            <a:r>
              <a:rPr lang="ru-RU" sz="180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private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Image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Bit2;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1571625"/>
            <a:r>
              <a:rPr lang="ru-RU" sz="180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private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Image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Bit3;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>
              <a:buNone/>
              <a:tabLst>
                <a:tab pos="504825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Создадим объекты класса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Bitmap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Конструктор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Bitmap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возвращает объект типа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4825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ru-RU" sz="1800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Bit1 =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new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Bitmap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"f1.bmp"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04825"/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Bit2 =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new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Bitmap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"f2.bmp"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9900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</a:rPr>
              <a:t>Работа с изображениями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indent="-342900" algn="just">
              <a:buFont typeface="+mj-lt"/>
              <a:buAutoNum type="arabicPeriod"/>
              <a:tabLst>
                <a:tab pos="504825" algn="l"/>
              </a:tabLst>
            </a:pP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Выведем изображения на экран с помощью метода </a:t>
            </a:r>
            <a:r>
              <a:rPr lang="en-US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DrawImage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1571625"/>
            <a:r>
              <a:rPr lang="ru-RU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e.DrawImage</a:t>
            </a:r>
            <a:r>
              <a:rPr lang="ru-RU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(Bit1, 10, 10, 100, 100);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04825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504825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Полностью код выглядит так: </a:t>
            </a:r>
          </a:p>
          <a:p>
            <a:pPr marL="50482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04825"/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400" dirty="0">
                <a:solidFill>
                  <a:srgbClr val="00808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en-US" sz="2400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Graphics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 = </a:t>
            </a:r>
            <a:r>
              <a:rPr lang="en-US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e.Graphics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</a:t>
            </a:r>
            <a:r>
              <a:rPr lang="en-US" sz="2400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Image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Bit1;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Bit1 = </a:t>
            </a:r>
            <a:r>
              <a:rPr lang="en-US" sz="24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new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Bitmap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400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"C:/C#/Image1/f1.bmp"</a:t>
            </a:r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</a:t>
            </a:r>
            <a:r>
              <a:rPr lang="ru-RU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p.DrawImage</a:t>
            </a:r>
            <a:r>
              <a:rPr lang="ru-RU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(Bit1, 10, 10, 100, 100);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4298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B9157-3B16-4983-96D1-13F670FB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</a:rPr>
              <a:t>До следующей лекции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0B08F7-8085-41B0-A978-343E4A38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Consolas" panose="020B06090202040302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1EF28E-ED75-48D9-9CD0-C28279203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311" y="1659259"/>
            <a:ext cx="6776557" cy="451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670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1766</Words>
  <Application>Microsoft Office PowerPoint</Application>
  <PresentationFormat>Широкоэкранный</PresentationFormat>
  <Paragraphs>239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6" baseType="lpstr">
      <vt:lpstr>Arial</vt:lpstr>
      <vt:lpstr>Arial Unicode MS</vt:lpstr>
      <vt:lpstr>Calibri</vt:lpstr>
      <vt:lpstr>Calibri Light</vt:lpstr>
      <vt:lpstr>Consolas</vt:lpstr>
      <vt:lpstr>Courier New</vt:lpstr>
      <vt:lpstr>Symbol</vt:lpstr>
      <vt:lpstr>Times New Roman</vt:lpstr>
      <vt:lpstr>Тема Office</vt:lpstr>
      <vt:lpstr>Windows приложения</vt:lpstr>
      <vt:lpstr>Графические поверхности</vt:lpstr>
      <vt:lpstr>Графические поверхности</vt:lpstr>
      <vt:lpstr>Графические поверхности</vt:lpstr>
      <vt:lpstr>Графические поверхности</vt:lpstr>
      <vt:lpstr>Графические поверхности</vt:lpstr>
      <vt:lpstr>Графические поверхности</vt:lpstr>
      <vt:lpstr>Графические поверхности</vt:lpstr>
      <vt:lpstr>Графические поверхности</vt:lpstr>
      <vt:lpstr>Инструменты рисования</vt:lpstr>
      <vt:lpstr>Инструменты рисования</vt:lpstr>
      <vt:lpstr>Инструменты рисования</vt:lpstr>
      <vt:lpstr>Графические примитивы</vt:lpstr>
      <vt:lpstr>Графические примитивы</vt:lpstr>
      <vt:lpstr>Графические примитивы</vt:lpstr>
      <vt:lpstr>Графические примитивы</vt:lpstr>
      <vt:lpstr>Графические примитивы</vt:lpstr>
      <vt:lpstr>Графические примитивы</vt:lpstr>
      <vt:lpstr>Графические примитивы</vt:lpstr>
      <vt:lpstr>Графические примитивы</vt:lpstr>
      <vt:lpstr>Графические примитивы</vt:lpstr>
      <vt:lpstr>Графические примитивы</vt:lpstr>
      <vt:lpstr>Графические примитивы</vt:lpstr>
      <vt:lpstr>Работа с изображениями</vt:lpstr>
      <vt:lpstr>Работа с изображениями</vt:lpstr>
      <vt:lpstr>Работа с изображениями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приложения</dc:title>
  <dc:creator>Леонид Попов</dc:creator>
  <cp:lastModifiedBy>Леонид Попов</cp:lastModifiedBy>
  <cp:revision>10</cp:revision>
  <dcterms:created xsi:type="dcterms:W3CDTF">2021-01-24T05:21:40Z</dcterms:created>
  <dcterms:modified xsi:type="dcterms:W3CDTF">2021-02-13T02:08:12Z</dcterms:modified>
</cp:coreProperties>
</file>