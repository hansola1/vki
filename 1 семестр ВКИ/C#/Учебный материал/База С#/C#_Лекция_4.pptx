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6" r:id="rId41"/>
    <p:sldId id="295"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68F490-9F89-4B06-8809-805155655CB2}"/>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55455AE4-9DF0-4CF1-8AE8-E0AA633E5F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CDD25BE6-0E6A-4526-A212-6C62BB06C035}"/>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5" name="Нижний колонтитул 4">
            <a:extLst>
              <a:ext uri="{FF2B5EF4-FFF2-40B4-BE49-F238E27FC236}">
                <a16:creationId xmlns:a16="http://schemas.microsoft.com/office/drawing/2014/main" id="{BC501371-7BB2-4E49-B4D3-91D5ED52B96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9177EAD-7158-4553-85B1-C9A85C6B421C}"/>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4021644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EADCCE-B18F-4CC8-BFFA-B25BE30CF15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8C68A36-26D7-4BF7-9D0B-8431A1CC8D99}"/>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419221E-1C90-4BA5-A25A-FCD5897A4B99}"/>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5" name="Нижний колонтитул 4">
            <a:extLst>
              <a:ext uri="{FF2B5EF4-FFF2-40B4-BE49-F238E27FC236}">
                <a16:creationId xmlns:a16="http://schemas.microsoft.com/office/drawing/2014/main" id="{CDE61F3F-7C7C-4C00-87D1-BF1BA44DBB8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B93A797-04A1-4AA4-9033-50F893112A17}"/>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1688578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F09F6F-18DD-442F-922C-1882DE70C9E6}"/>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01C178B8-7623-4486-8EAA-33D30A99AB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0A00BB3-CFFF-492C-9DC0-B23397D75010}"/>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5" name="Нижний колонтитул 4">
            <a:extLst>
              <a:ext uri="{FF2B5EF4-FFF2-40B4-BE49-F238E27FC236}">
                <a16:creationId xmlns:a16="http://schemas.microsoft.com/office/drawing/2014/main" id="{EE2E59F6-A946-4514-8B44-D519BC8D814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7CE233D-4A84-494C-9DE1-7BDA3FB53D8D}"/>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23174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B120E8-6523-46B6-8F20-A0022EB496D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A69B5456-B8C3-4300-BD49-2B88FEA5E232}"/>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B3BFA5D7-C06D-4351-AB4A-2FD31774CB17}"/>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138A3F50-103D-41E1-9B1A-FC1EA63A0FBF}"/>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6" name="Нижний колонтитул 5">
            <a:extLst>
              <a:ext uri="{FF2B5EF4-FFF2-40B4-BE49-F238E27FC236}">
                <a16:creationId xmlns:a16="http://schemas.microsoft.com/office/drawing/2014/main" id="{6B0C1C14-1ACB-4B52-86F8-6C3CCE44E8A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C468AFA-DC85-4036-A249-208FBFDBE8C4}"/>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2583156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1AB8E7-CEE6-4477-AE16-F3152D782C4C}"/>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6093E78F-2320-4861-AC34-9831E22CF7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63369C6B-7D3A-4B02-B1AA-7A215F6DAFF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3283E0EF-D069-48C8-8A11-3EAF50C273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1BB0B976-FF16-43D3-986A-943955D858CD}"/>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439039D0-151C-48C2-BC5C-EA628E912EAE}"/>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8" name="Нижний колонтитул 7">
            <a:extLst>
              <a:ext uri="{FF2B5EF4-FFF2-40B4-BE49-F238E27FC236}">
                <a16:creationId xmlns:a16="http://schemas.microsoft.com/office/drawing/2014/main" id="{07CD9940-0B33-4417-8CCC-2A513ADB8509}"/>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1E1636E8-B1E4-4714-B335-F955A10DDEE5}"/>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4158645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303DC5-E125-4728-A43D-B16A831E23F6}"/>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B19E166A-A602-421D-96AA-3D7431E20A16}"/>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4" name="Нижний колонтитул 3">
            <a:extLst>
              <a:ext uri="{FF2B5EF4-FFF2-40B4-BE49-F238E27FC236}">
                <a16:creationId xmlns:a16="http://schemas.microsoft.com/office/drawing/2014/main" id="{DF6E2194-241B-4F06-B503-5F59653DDDE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4047F7D-A02F-45FA-B10B-567E2CC1B7B9}"/>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3030862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4D132F3-788C-4BAF-8507-80F3E43A76CB}"/>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3" name="Нижний колонтитул 2">
            <a:extLst>
              <a:ext uri="{FF2B5EF4-FFF2-40B4-BE49-F238E27FC236}">
                <a16:creationId xmlns:a16="http://schemas.microsoft.com/office/drawing/2014/main" id="{59296101-B1DE-4F13-BB82-31D33B8A5CFF}"/>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CC937E09-6999-4E85-BFB9-DCB5683A65D1}"/>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449192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C487E8-D527-4522-BBF7-2D71B8525E2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87013626-CA00-472B-B380-4E902EA70F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6250983-A371-465D-BEC2-205B39B2F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2808AE3-A3E7-40AB-AF0D-CAB84E85196F}"/>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6" name="Нижний колонтитул 5">
            <a:extLst>
              <a:ext uri="{FF2B5EF4-FFF2-40B4-BE49-F238E27FC236}">
                <a16:creationId xmlns:a16="http://schemas.microsoft.com/office/drawing/2014/main" id="{D6AEDE14-D4ED-463E-AB7E-9E58A6B778C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0199470-335B-439E-96AD-C8499E6F8B33}"/>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2337731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BB1995-52CC-42EC-90E3-94F0C791CCB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9CB448D5-B6A4-4823-82CC-EC8E50DBFB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7E8C8307-49BC-40F8-A1D4-8C2F6BCCD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F8906F8-94FD-4935-B37A-9B97113591E0}"/>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6" name="Нижний колонтитул 5">
            <a:extLst>
              <a:ext uri="{FF2B5EF4-FFF2-40B4-BE49-F238E27FC236}">
                <a16:creationId xmlns:a16="http://schemas.microsoft.com/office/drawing/2014/main" id="{043B5CAD-20C0-4D7A-8F89-09EC27761E7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C3A9BA4-F0B6-419E-BEED-2E19A6C904A7}"/>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2121274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93B99-7FA4-408F-BDD3-85BFE279C112}"/>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A73C9021-B4AC-4898-B13A-6DC008DA6388}"/>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E17C6C4-A6D5-446E-BCA7-86E6B87F5776}"/>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5" name="Нижний колонтитул 4">
            <a:extLst>
              <a:ext uri="{FF2B5EF4-FFF2-40B4-BE49-F238E27FC236}">
                <a16:creationId xmlns:a16="http://schemas.microsoft.com/office/drawing/2014/main" id="{0562BBE5-5E20-4AF7-BCB8-1B57DCC7125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4C94B0C-B5BC-43DC-A599-BC890AFFC688}"/>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1504841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5F31274A-E837-4D1E-9B91-47E6CEE23228}"/>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B5D3A361-07A9-482D-927C-44FDDE01C4EA}"/>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62E700D-BC72-44A6-BBBF-24E6E49D1888}"/>
              </a:ext>
            </a:extLst>
          </p:cNvPr>
          <p:cNvSpPr>
            <a:spLocks noGrp="1"/>
          </p:cNvSpPr>
          <p:nvPr>
            <p:ph type="dt" sz="half" idx="10"/>
          </p:nvPr>
        </p:nvSpPr>
        <p:spPr/>
        <p:txBody>
          <a:bodyPr/>
          <a:lstStyle/>
          <a:p>
            <a:fld id="{B731DBFB-2224-4C12-B634-12F96C2A9CC3}" type="datetimeFigureOut">
              <a:rPr lang="ru-RU" smtClean="0"/>
              <a:t>12.03.2021</a:t>
            </a:fld>
            <a:endParaRPr lang="ru-RU"/>
          </a:p>
        </p:txBody>
      </p:sp>
      <p:sp>
        <p:nvSpPr>
          <p:cNvPr id="5" name="Нижний колонтитул 4">
            <a:extLst>
              <a:ext uri="{FF2B5EF4-FFF2-40B4-BE49-F238E27FC236}">
                <a16:creationId xmlns:a16="http://schemas.microsoft.com/office/drawing/2014/main" id="{B2374F9D-5239-47E0-BDDC-23192B93B5E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1FE3828-989E-4456-B8EA-0AE3C508F99B}"/>
              </a:ext>
            </a:extLst>
          </p:cNvPr>
          <p:cNvSpPr>
            <a:spLocks noGrp="1"/>
          </p:cNvSpPr>
          <p:nvPr>
            <p:ph type="sldNum" sz="quarter" idx="12"/>
          </p:nvPr>
        </p:nvSpPr>
        <p:spPr/>
        <p:txBody>
          <a:bodyPr/>
          <a:lstStyle/>
          <a:p>
            <a:fld id="{78A66869-DE61-4B57-AEC4-DE08928C9690}" type="slidenum">
              <a:rPr lang="ru-RU" smtClean="0"/>
              <a:t>‹#›</a:t>
            </a:fld>
            <a:endParaRPr lang="ru-RU"/>
          </a:p>
        </p:txBody>
      </p:sp>
    </p:spTree>
    <p:extLst>
      <p:ext uri="{BB962C8B-B14F-4D97-AF65-F5344CB8AC3E}">
        <p14:creationId xmlns:p14="http://schemas.microsoft.com/office/powerpoint/2010/main" val="1139482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950D51-7606-45DD-914E-AC437945B2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3E956E0B-2371-4954-A510-28C06BDC29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5B00F71-A3F4-44D4-89B4-EA352A75AF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31DBFB-2224-4C12-B634-12F96C2A9CC3}" type="datetimeFigureOut">
              <a:rPr lang="ru-RU" smtClean="0"/>
              <a:t>12.03.2021</a:t>
            </a:fld>
            <a:endParaRPr lang="ru-RU"/>
          </a:p>
        </p:txBody>
      </p:sp>
      <p:sp>
        <p:nvSpPr>
          <p:cNvPr id="5" name="Нижний колонтитул 4">
            <a:extLst>
              <a:ext uri="{FF2B5EF4-FFF2-40B4-BE49-F238E27FC236}">
                <a16:creationId xmlns:a16="http://schemas.microsoft.com/office/drawing/2014/main" id="{25364D76-0D14-43FA-A70F-710A3B97C1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45C6D5B0-A4B4-408A-94EB-829D5851EA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A66869-DE61-4B57-AEC4-DE08928C9690}" type="slidenum">
              <a:rPr lang="ru-RU" smtClean="0"/>
              <a:t>‹#›</a:t>
            </a:fld>
            <a:endParaRPr lang="ru-RU"/>
          </a:p>
        </p:txBody>
      </p:sp>
    </p:spTree>
    <p:extLst>
      <p:ext uri="{BB962C8B-B14F-4D97-AF65-F5344CB8AC3E}">
        <p14:creationId xmlns:p14="http://schemas.microsoft.com/office/powerpoint/2010/main" val="879457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57DCA3-3E1D-400B-89B7-242622BCA9F3}"/>
              </a:ext>
            </a:extLst>
          </p:cNvPr>
          <p:cNvSpPr>
            <a:spLocks noGrp="1"/>
          </p:cNvSpPr>
          <p:nvPr>
            <p:ph type="ctrTitle"/>
          </p:nvPr>
        </p:nvSpPr>
        <p:spPr/>
        <p:txBody>
          <a:bodyPr/>
          <a:lstStyle/>
          <a:p>
            <a:r>
              <a:rPr lang="ru-RU" dirty="0">
                <a:solidFill>
                  <a:srgbClr val="FF0000"/>
                </a:solidFill>
              </a:rPr>
              <a:t>Программирование</a:t>
            </a:r>
            <a:endParaRPr lang="ru-RU" dirty="0"/>
          </a:p>
        </p:txBody>
      </p:sp>
      <p:sp>
        <p:nvSpPr>
          <p:cNvPr id="3" name="Подзаголовок 2">
            <a:extLst>
              <a:ext uri="{FF2B5EF4-FFF2-40B4-BE49-F238E27FC236}">
                <a16:creationId xmlns:a16="http://schemas.microsoft.com/office/drawing/2014/main" id="{92B7C693-7661-40EC-88A3-FF374F52BDB8}"/>
              </a:ext>
            </a:extLst>
          </p:cNvPr>
          <p:cNvSpPr>
            <a:spLocks noGrp="1"/>
          </p:cNvSpPr>
          <p:nvPr>
            <p:ph type="subTitle" idx="1"/>
          </p:nvPr>
        </p:nvSpPr>
        <p:spPr/>
        <p:txBody>
          <a:bodyPr/>
          <a:lstStyle/>
          <a:p>
            <a:r>
              <a:rPr lang="ru-RU" sz="4400" dirty="0">
                <a:solidFill>
                  <a:srgbClr val="00B050"/>
                </a:solidFill>
              </a:rPr>
              <a:t>на языке </a:t>
            </a:r>
            <a:r>
              <a:rPr lang="en-US" sz="4400" dirty="0">
                <a:solidFill>
                  <a:srgbClr val="00B050"/>
                </a:solidFill>
              </a:rPr>
              <a:t>C#</a:t>
            </a:r>
          </a:p>
          <a:p>
            <a:r>
              <a:rPr lang="ru-RU" sz="4400" dirty="0">
                <a:solidFill>
                  <a:srgbClr val="00B050"/>
                </a:solidFill>
              </a:rPr>
              <a:t>Лекция </a:t>
            </a:r>
            <a:r>
              <a:rPr lang="en-US" sz="4400" dirty="0">
                <a:solidFill>
                  <a:srgbClr val="00B050"/>
                </a:solidFill>
              </a:rPr>
              <a:t>4</a:t>
            </a:r>
            <a:endParaRPr lang="ru-RU" sz="4400" dirty="0">
              <a:solidFill>
                <a:srgbClr val="00B050"/>
              </a:solidFill>
            </a:endParaRPr>
          </a:p>
          <a:p>
            <a:endParaRPr lang="ru-RU" dirty="0"/>
          </a:p>
        </p:txBody>
      </p:sp>
    </p:spTree>
    <p:extLst>
      <p:ext uri="{BB962C8B-B14F-4D97-AF65-F5344CB8AC3E}">
        <p14:creationId xmlns:p14="http://schemas.microsoft.com/office/powerpoint/2010/main" val="666819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a:t>
            </a:r>
          </a:p>
        </p:txBody>
      </p:sp>
      <p:sp>
        <p:nvSpPr>
          <p:cNvPr id="3" name="Объект 2">
            <a:extLst>
              <a:ext uri="{FF2B5EF4-FFF2-40B4-BE49-F238E27FC236}">
                <a16:creationId xmlns:a16="http://schemas.microsoft.com/office/drawing/2014/main" id="{1B897837-675F-406E-8DC0-955B9FD4CB91}"/>
              </a:ext>
            </a:extLst>
          </p:cNvPr>
          <p:cNvSpPr>
            <a:spLocks noGrp="1"/>
          </p:cNvSpPr>
          <p:nvPr>
            <p:ph idx="1"/>
          </p:nvPr>
        </p:nvSpPr>
        <p:spPr/>
        <p:txBody>
          <a:bodyPr/>
          <a:lstStyle/>
          <a:p>
            <a:r>
              <a:rPr lang="ru-RU" sz="2400" i="1" dirty="0">
                <a:effectLst/>
                <a:latin typeface="Times New Roman" panose="02020603050405020304" pitchFamily="18" charset="0"/>
                <a:ea typeface="Times New Roman" panose="02020603050405020304" pitchFamily="18" charset="0"/>
              </a:rPr>
              <a:t>Массив</a:t>
            </a:r>
            <a:r>
              <a:rPr lang="ru-RU" sz="2400" dirty="0">
                <a:effectLst/>
                <a:latin typeface="Times New Roman" panose="02020603050405020304" pitchFamily="18" charset="0"/>
                <a:ea typeface="Times New Roman" panose="02020603050405020304" pitchFamily="18" charset="0"/>
              </a:rPr>
              <a:t> – это набор элементов одного типа, которые объединены общим именем. Переменные, входящие в массив называются элементами массива. Поскольку одно и то же имя (имя массива) «применяется» сразу к нескольким переменным, то эти переменные нужно как-то идентифицировать. Идентификация выполняется с помощью индекса или индексов. Индекс – это целое число. Количество индексов, необходимое для идентификации переменной а массиве, называется </a:t>
            </a:r>
            <a:r>
              <a:rPr lang="ru-RU" sz="2400" i="1" dirty="0">
                <a:effectLst/>
                <a:latin typeface="Times New Roman" panose="02020603050405020304" pitchFamily="18" charset="0"/>
                <a:ea typeface="Times New Roman" panose="02020603050405020304" pitchFamily="18" charset="0"/>
              </a:rPr>
              <a:t>размерностью</a:t>
            </a:r>
            <a:r>
              <a:rPr lang="ru-RU" sz="2400" dirty="0">
                <a:effectLst/>
                <a:latin typeface="Times New Roman" panose="02020603050405020304" pitchFamily="18" charset="0"/>
                <a:ea typeface="Times New Roman" panose="02020603050405020304" pitchFamily="18" charset="0"/>
              </a:rPr>
              <a:t> массива. Под </a:t>
            </a:r>
            <a:r>
              <a:rPr lang="ru-RU" sz="2400" i="1" dirty="0">
                <a:effectLst/>
                <a:latin typeface="Times New Roman" panose="02020603050405020304" pitchFamily="18" charset="0"/>
                <a:ea typeface="Times New Roman" panose="02020603050405020304" pitchFamily="18" charset="0"/>
              </a:rPr>
              <a:t>размером </a:t>
            </a:r>
            <a:r>
              <a:rPr lang="ru-RU" sz="2400" dirty="0">
                <a:effectLst/>
                <a:latin typeface="Times New Roman" panose="02020603050405020304" pitchFamily="18" charset="0"/>
                <a:ea typeface="Times New Roman" panose="02020603050405020304" pitchFamily="18" charset="0"/>
              </a:rPr>
              <a:t>массива обычно подразумевают общее количество элементов в массиве. Самые простые – </a:t>
            </a:r>
            <a:r>
              <a:rPr lang="ru-RU" sz="2400" i="1" dirty="0">
                <a:effectLst/>
                <a:latin typeface="Times New Roman" panose="02020603050405020304" pitchFamily="18" charset="0"/>
                <a:ea typeface="Times New Roman" panose="02020603050405020304" pitchFamily="18" charset="0"/>
              </a:rPr>
              <a:t>одномерные массивы</a:t>
            </a:r>
            <a:r>
              <a:rPr lang="ru-RU" sz="2400" dirty="0">
                <a:effectLst/>
                <a:latin typeface="Times New Roman" panose="02020603050405020304" pitchFamily="18" charset="0"/>
                <a:ea typeface="Times New Roman" panose="02020603050405020304" pitchFamily="18" charset="0"/>
              </a:rPr>
              <a:t>, в которых для идентификации элемента в массиве нужно указать всего один индекс. Знакомство с массивами мы начнем именно с одномерных массивов.</a:t>
            </a:r>
          </a:p>
          <a:p>
            <a:endParaRPr lang="ru-RU" dirty="0"/>
          </a:p>
        </p:txBody>
      </p:sp>
    </p:spTree>
    <p:extLst>
      <p:ext uri="{BB962C8B-B14F-4D97-AF65-F5344CB8AC3E}">
        <p14:creationId xmlns:p14="http://schemas.microsoft.com/office/powerpoint/2010/main" val="4063343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a:t>
            </a:r>
          </a:p>
        </p:txBody>
      </p:sp>
      <p:sp>
        <p:nvSpPr>
          <p:cNvPr id="3" name="Объект 2">
            <a:extLst>
              <a:ext uri="{FF2B5EF4-FFF2-40B4-BE49-F238E27FC236}">
                <a16:creationId xmlns:a16="http://schemas.microsoft.com/office/drawing/2014/main" id="{1B897837-675F-406E-8DC0-955B9FD4CB91}"/>
              </a:ext>
            </a:extLst>
          </p:cNvPr>
          <p:cNvSpPr>
            <a:spLocks noGrp="1"/>
          </p:cNvSpPr>
          <p:nvPr>
            <p:ph idx="1"/>
          </p:nvPr>
        </p:nvSpPr>
        <p:spPr/>
        <p:txBody>
          <a:bodyPr/>
          <a:lstStyle/>
          <a:p>
            <a:pPr indent="450215" algn="just"/>
            <a:r>
              <a:rPr lang="ru-RU" dirty="0">
                <a:effectLst/>
                <a:latin typeface="Times New Roman" panose="02020603050405020304" pitchFamily="18" charset="0"/>
                <a:ea typeface="Times New Roman" panose="02020603050405020304" pitchFamily="18" charset="0"/>
              </a:rPr>
              <a:t>Доступ к массиву получают с помощью специальной переменной, которая называется </a:t>
            </a:r>
            <a:r>
              <a:rPr lang="ru-RU" i="1" dirty="0">
                <a:effectLst/>
                <a:latin typeface="Times New Roman" panose="02020603050405020304" pitchFamily="18" charset="0"/>
                <a:ea typeface="Times New Roman" panose="02020603050405020304" pitchFamily="18" charset="0"/>
              </a:rPr>
              <a:t>переменной массива</a:t>
            </a:r>
            <a:r>
              <a:rPr lang="ru-RU" dirty="0">
                <a:effectLst/>
                <a:latin typeface="Times New Roman" panose="02020603050405020304" pitchFamily="18" charset="0"/>
                <a:ea typeface="Times New Roman" panose="02020603050405020304" pitchFamily="18" charset="0"/>
              </a:rPr>
              <a:t>. Как и обычную переменную, переменную массива перед использованием следует объявить. При объявлении переменной массива указывают тип элементов массива, после него указывают пустые квадратные скобки и имя переменной массива. То есть шаблон объявления переменной массива такой:</a:t>
            </a:r>
          </a:p>
          <a:p>
            <a:pPr indent="450215" algn="just"/>
            <a:r>
              <a:rPr lang="ru-RU" dirty="0">
                <a:effectLst/>
                <a:latin typeface="Times New Roman" panose="02020603050405020304" pitchFamily="18" charset="0"/>
                <a:ea typeface="Times New Roman" panose="02020603050405020304" pitchFamily="18" charset="0"/>
              </a:rPr>
              <a:t> </a:t>
            </a:r>
          </a:p>
          <a:p>
            <a:pPr indent="450215" algn="just"/>
            <a:r>
              <a:rPr lang="ru-RU" dirty="0">
                <a:effectLst/>
                <a:latin typeface="Times New Roman" panose="02020603050405020304" pitchFamily="18" charset="0"/>
                <a:ea typeface="Times New Roman" panose="02020603050405020304" pitchFamily="18" charset="0"/>
              </a:rPr>
              <a:t>тип [] переменная</a:t>
            </a:r>
          </a:p>
          <a:p>
            <a:endParaRPr lang="ru-RU" dirty="0"/>
          </a:p>
        </p:txBody>
      </p:sp>
    </p:spTree>
    <p:extLst>
      <p:ext uri="{BB962C8B-B14F-4D97-AF65-F5344CB8AC3E}">
        <p14:creationId xmlns:p14="http://schemas.microsoft.com/office/powerpoint/2010/main" val="4150738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a:t>
            </a:r>
          </a:p>
        </p:txBody>
      </p:sp>
      <p:sp>
        <p:nvSpPr>
          <p:cNvPr id="3" name="Объект 2">
            <a:extLst>
              <a:ext uri="{FF2B5EF4-FFF2-40B4-BE49-F238E27FC236}">
                <a16:creationId xmlns:a16="http://schemas.microsoft.com/office/drawing/2014/main" id="{1B897837-675F-406E-8DC0-955B9FD4CB91}"/>
              </a:ext>
            </a:extLst>
          </p:cNvPr>
          <p:cNvSpPr>
            <a:spLocks noGrp="1"/>
          </p:cNvSpPr>
          <p:nvPr>
            <p:ph idx="1"/>
          </p:nvPr>
        </p:nvSpPr>
        <p:spPr/>
        <p:txBody>
          <a:bodyPr/>
          <a:lstStyle/>
          <a:p>
            <a:pPr indent="450215" algn="just"/>
            <a:r>
              <a:rPr lang="ru-RU" dirty="0">
                <a:effectLst/>
                <a:latin typeface="Times New Roman" panose="02020603050405020304" pitchFamily="18" charset="0"/>
                <a:ea typeface="Times New Roman" panose="02020603050405020304" pitchFamily="18" charset="0"/>
              </a:rPr>
              <a:t>Но объявление переменной массива не означает создания массива. Массив нужно создать. Для создания массива используется оператор </a:t>
            </a:r>
            <a:r>
              <a:rPr lang="en-US" i="1" dirty="0">
                <a:effectLst/>
                <a:latin typeface="Times New Roman" panose="02020603050405020304" pitchFamily="18" charset="0"/>
                <a:ea typeface="Times New Roman" panose="02020603050405020304" pitchFamily="18" charset="0"/>
              </a:rPr>
              <a:t>new</a:t>
            </a:r>
            <a:r>
              <a:rPr lang="ru-RU" dirty="0">
                <a:effectLst/>
                <a:latin typeface="Times New Roman" panose="02020603050405020304" pitchFamily="18" charset="0"/>
                <a:ea typeface="Times New Roman" panose="02020603050405020304" pitchFamily="18" charset="0"/>
              </a:rPr>
              <a:t>. После оператора </a:t>
            </a:r>
            <a:r>
              <a:rPr lang="en-US" dirty="0">
                <a:effectLst/>
                <a:latin typeface="Times New Roman" panose="02020603050405020304" pitchFamily="18" charset="0"/>
                <a:ea typeface="Times New Roman" panose="02020603050405020304" pitchFamily="18" charset="0"/>
              </a:rPr>
              <a:t>new </a:t>
            </a:r>
            <a:r>
              <a:rPr lang="ru-RU" dirty="0">
                <a:effectLst/>
                <a:latin typeface="Times New Roman" panose="02020603050405020304" pitchFamily="18" charset="0"/>
                <a:ea typeface="Times New Roman" panose="02020603050405020304" pitchFamily="18" charset="0"/>
              </a:rPr>
              <a:t>указывается тип, соответствующий типу элементов массива, а в квадратных скобках после типа указывается размер массива. Шаблон команды создания массива имеет такой вид:</a:t>
            </a:r>
          </a:p>
          <a:p>
            <a:pPr indent="450215" algn="just"/>
            <a:r>
              <a:rPr lang="ru-RU" dirty="0">
                <a:effectLst/>
                <a:latin typeface="Times New Roman" panose="02020603050405020304" pitchFamily="18" charset="0"/>
                <a:ea typeface="Times New Roman" panose="02020603050405020304" pitchFamily="18" charset="0"/>
              </a:rPr>
              <a:t> </a:t>
            </a:r>
          </a:p>
          <a:p>
            <a:pPr indent="450215" algn="just"/>
            <a:r>
              <a:rPr lang="en-US" dirty="0">
                <a:effectLst/>
                <a:latin typeface="Times New Roman" panose="02020603050405020304" pitchFamily="18" charset="0"/>
                <a:ea typeface="Times New Roman" panose="02020603050405020304" pitchFamily="18" charset="0"/>
              </a:rPr>
              <a:t>new </a:t>
            </a:r>
            <a:r>
              <a:rPr lang="ru-RU" dirty="0">
                <a:effectLst/>
                <a:latin typeface="Times New Roman" panose="02020603050405020304" pitchFamily="18" charset="0"/>
                <a:ea typeface="Times New Roman" panose="02020603050405020304" pitchFamily="18" charset="0"/>
              </a:rPr>
              <a:t>тип [размер]</a:t>
            </a:r>
          </a:p>
          <a:p>
            <a:endParaRPr lang="ru-RU" dirty="0"/>
          </a:p>
        </p:txBody>
      </p:sp>
    </p:spTree>
    <p:extLst>
      <p:ext uri="{BB962C8B-B14F-4D97-AF65-F5344CB8AC3E}">
        <p14:creationId xmlns:p14="http://schemas.microsoft.com/office/powerpoint/2010/main" val="3864441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a:t>
            </a:r>
          </a:p>
        </p:txBody>
      </p:sp>
      <p:sp>
        <p:nvSpPr>
          <p:cNvPr id="3" name="Объект 2">
            <a:extLst>
              <a:ext uri="{FF2B5EF4-FFF2-40B4-BE49-F238E27FC236}">
                <a16:creationId xmlns:a16="http://schemas.microsoft.com/office/drawing/2014/main" id="{1B897837-675F-406E-8DC0-955B9FD4CB91}"/>
              </a:ext>
            </a:extLst>
          </p:cNvPr>
          <p:cNvSpPr>
            <a:spLocks noGrp="1"/>
          </p:cNvSpPr>
          <p:nvPr>
            <p:ph idx="1"/>
          </p:nvPr>
        </p:nvSpPr>
        <p:spPr/>
        <p:txBody>
          <a:bodyPr>
            <a:normAutofit lnSpcReduction="10000"/>
          </a:bodyPr>
          <a:lstStyle/>
          <a:p>
            <a:r>
              <a:rPr lang="ru-RU" sz="3200" dirty="0">
                <a:effectLst/>
                <a:latin typeface="Times New Roman" panose="02020603050405020304" pitchFamily="18" charset="0"/>
                <a:ea typeface="Times New Roman" panose="02020603050405020304" pitchFamily="18" charset="0"/>
              </a:rPr>
              <a:t>Например, если мы хотим создать одномерный целочисленный массив из 12 элементов, то команда создания такого массива выглядит как </a:t>
            </a:r>
            <a:r>
              <a:rPr lang="en-US" sz="3200" dirty="0">
                <a:effectLst/>
                <a:latin typeface="Times New Roman" panose="02020603050405020304" pitchFamily="18" charset="0"/>
                <a:ea typeface="Times New Roman" panose="02020603050405020304" pitchFamily="18" charset="0"/>
              </a:rPr>
              <a:t>new int</a:t>
            </a:r>
            <a:r>
              <a:rPr lang="ru-RU" sz="3200" dirty="0">
                <a:effectLst/>
                <a:latin typeface="Times New Roman" panose="02020603050405020304" pitchFamily="18" charset="0"/>
                <a:ea typeface="Times New Roman" panose="02020603050405020304" pitchFamily="18" charset="0"/>
              </a:rPr>
              <a:t> [12]. Чтобы создать массив из 10 элементов символьного типа используем команду </a:t>
            </a:r>
            <a:r>
              <a:rPr lang="en-US" sz="3200" dirty="0">
                <a:effectLst/>
                <a:latin typeface="Times New Roman" panose="02020603050405020304" pitchFamily="18" charset="0"/>
                <a:ea typeface="Times New Roman" panose="02020603050405020304" pitchFamily="18" charset="0"/>
              </a:rPr>
              <a:t>new char</a:t>
            </a:r>
            <a:r>
              <a:rPr lang="ru-RU" sz="3200" dirty="0">
                <a:effectLst/>
                <a:latin typeface="Times New Roman" panose="02020603050405020304" pitchFamily="18" charset="0"/>
                <a:ea typeface="Times New Roman" panose="02020603050405020304" pitchFamily="18" charset="0"/>
              </a:rPr>
              <a:t> [10]. Остается открытым вопрос о том, как переменная массива связана с собственно массивом. Ответ очень простой: переменная массива ссылается на массив. Можно сказать иначе: значением переменной массива является адрес массива в памяти.</a:t>
            </a:r>
          </a:p>
          <a:p>
            <a:endParaRPr lang="ru-RU" dirty="0"/>
          </a:p>
        </p:txBody>
      </p:sp>
    </p:spTree>
    <p:extLst>
      <p:ext uri="{BB962C8B-B14F-4D97-AF65-F5344CB8AC3E}">
        <p14:creationId xmlns:p14="http://schemas.microsoft.com/office/powerpoint/2010/main" val="2934968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a:t>
            </a:r>
          </a:p>
        </p:txBody>
      </p:sp>
      <p:sp>
        <p:nvSpPr>
          <p:cNvPr id="3" name="Объект 2">
            <a:extLst>
              <a:ext uri="{FF2B5EF4-FFF2-40B4-BE49-F238E27FC236}">
                <a16:creationId xmlns:a16="http://schemas.microsoft.com/office/drawing/2014/main" id="{1B897837-675F-406E-8DC0-955B9FD4CB91}"/>
              </a:ext>
            </a:extLst>
          </p:cNvPr>
          <p:cNvSpPr>
            <a:spLocks noGrp="1"/>
          </p:cNvSpPr>
          <p:nvPr>
            <p:ph idx="1"/>
          </p:nvPr>
        </p:nvSpPr>
        <p:spPr/>
        <p:txBody>
          <a:bodyPr>
            <a:normAutofit lnSpcReduction="10000"/>
          </a:bodyPr>
          <a:lstStyle/>
          <a:p>
            <a:pPr indent="450215" algn="just"/>
            <a:r>
              <a:rPr lang="ru-RU" sz="2400" dirty="0">
                <a:effectLst/>
                <a:latin typeface="Times New Roman" panose="02020603050405020304" pitchFamily="18" charset="0"/>
                <a:ea typeface="Times New Roman" panose="02020603050405020304" pitchFamily="18" charset="0"/>
              </a:rPr>
              <a:t>Если обобщить вышеизложенное, то общая схема создания массива реализуется следующими командами:</a:t>
            </a:r>
          </a:p>
          <a:p>
            <a:pPr indent="450215" algn="just"/>
            <a:r>
              <a:rPr lang="ru-RU" sz="2400" dirty="0">
                <a:effectLst/>
                <a:latin typeface="Times New Roman" panose="02020603050405020304" pitchFamily="18" charset="0"/>
                <a:ea typeface="Times New Roman" panose="02020603050405020304" pitchFamily="18" charset="0"/>
              </a:rPr>
              <a:t>тип [] переменная;</a:t>
            </a:r>
          </a:p>
          <a:p>
            <a:pPr indent="450215" algn="just"/>
            <a:r>
              <a:rPr lang="ru-RU" sz="2400" dirty="0">
                <a:effectLst/>
                <a:latin typeface="Times New Roman" panose="02020603050405020304" pitchFamily="18" charset="0"/>
                <a:ea typeface="Times New Roman" panose="02020603050405020304" pitchFamily="18" charset="0"/>
              </a:rPr>
              <a:t>переменная = </a:t>
            </a:r>
            <a:r>
              <a:rPr lang="en-US" sz="2400" dirty="0">
                <a:effectLst/>
                <a:latin typeface="Times New Roman" panose="02020603050405020304" pitchFamily="18" charset="0"/>
                <a:ea typeface="Times New Roman" panose="02020603050405020304" pitchFamily="18" charset="0"/>
              </a:rPr>
              <a:t>new </a:t>
            </a:r>
            <a:r>
              <a:rPr lang="ru-RU" sz="2400" dirty="0">
                <a:effectLst/>
                <a:latin typeface="Times New Roman" panose="02020603050405020304" pitchFamily="18" charset="0"/>
                <a:ea typeface="Times New Roman" panose="02020603050405020304" pitchFamily="18" charset="0"/>
              </a:rPr>
              <a:t>тип [размер];</a:t>
            </a:r>
          </a:p>
          <a:p>
            <a:pPr indent="450215" algn="just"/>
            <a:r>
              <a:rPr lang="ru-RU" sz="2400" dirty="0">
                <a:effectLst/>
                <a:latin typeface="Times New Roman" panose="02020603050405020304" pitchFamily="18" charset="0"/>
                <a:ea typeface="Times New Roman" panose="02020603050405020304" pitchFamily="18" charset="0"/>
              </a:rPr>
              <a:t>Эти два этапа можно объединить и воспользоваться такой командой:</a:t>
            </a:r>
          </a:p>
          <a:p>
            <a:pPr indent="450215" algn="just"/>
            <a:r>
              <a:rPr lang="ru-RU" sz="2400" dirty="0">
                <a:effectLst/>
                <a:latin typeface="Times New Roman" panose="02020603050405020304" pitchFamily="18" charset="0"/>
                <a:ea typeface="Times New Roman" panose="02020603050405020304" pitchFamily="18" charset="0"/>
              </a:rPr>
              <a:t> </a:t>
            </a:r>
          </a:p>
          <a:p>
            <a:pPr indent="450215" algn="just"/>
            <a:r>
              <a:rPr lang="ru-RU" sz="2400" dirty="0">
                <a:effectLst/>
                <a:latin typeface="Times New Roman" panose="02020603050405020304" pitchFamily="18" charset="0"/>
                <a:ea typeface="Times New Roman" panose="02020603050405020304" pitchFamily="18" charset="0"/>
              </a:rPr>
              <a:t>тип [] переменная = </a:t>
            </a:r>
            <a:r>
              <a:rPr lang="en-US" sz="2400" dirty="0">
                <a:effectLst/>
                <a:latin typeface="Times New Roman" panose="02020603050405020304" pitchFamily="18" charset="0"/>
                <a:ea typeface="Times New Roman" panose="02020603050405020304" pitchFamily="18" charset="0"/>
              </a:rPr>
              <a:t>new </a:t>
            </a:r>
            <a:r>
              <a:rPr lang="ru-RU" sz="2400" dirty="0">
                <a:effectLst/>
                <a:latin typeface="Times New Roman" panose="02020603050405020304" pitchFamily="18" charset="0"/>
                <a:ea typeface="Times New Roman" panose="02020603050405020304" pitchFamily="18" charset="0"/>
              </a:rPr>
              <a:t>тип [размер]; </a:t>
            </a:r>
          </a:p>
          <a:p>
            <a:pPr indent="450215" algn="just"/>
            <a:r>
              <a:rPr lang="ru-RU" sz="2400" dirty="0">
                <a:effectLst/>
                <a:latin typeface="Times New Roman" panose="02020603050405020304" pitchFamily="18" charset="0"/>
                <a:ea typeface="Times New Roman" panose="02020603050405020304" pitchFamily="18" charset="0"/>
              </a:rPr>
              <a:t>Например</a:t>
            </a:r>
            <a:r>
              <a:rPr lang="en-US" sz="2400" dirty="0">
                <a:effectLst/>
                <a:latin typeface="Times New Roman" panose="02020603050405020304" pitchFamily="18" charset="0"/>
                <a:ea typeface="Times New Roman" panose="02020603050405020304" pitchFamily="18" charset="0"/>
              </a:rPr>
              <a:t>: </a:t>
            </a:r>
            <a:endParaRPr lang="ru-RU" sz="2400" dirty="0">
              <a:effectLst/>
              <a:latin typeface="Times New Roman" panose="02020603050405020304" pitchFamily="18" charset="0"/>
              <a:ea typeface="Times New Roman" panose="02020603050405020304" pitchFamily="18" charset="0"/>
            </a:endParaRPr>
          </a:p>
          <a:p>
            <a:pPr indent="450215" algn="just"/>
            <a:r>
              <a:rPr lang="en-US" sz="2400" dirty="0">
                <a:effectLst/>
                <a:latin typeface="Times New Roman" panose="02020603050405020304" pitchFamily="18" charset="0"/>
                <a:ea typeface="Times New Roman" panose="02020603050405020304" pitchFamily="18" charset="0"/>
              </a:rPr>
              <a:t> </a:t>
            </a:r>
            <a:endParaRPr lang="ru-RU" sz="2400" dirty="0">
              <a:effectLst/>
              <a:latin typeface="Times New Roman" panose="02020603050405020304" pitchFamily="18" charset="0"/>
              <a:ea typeface="Times New Roman" panose="02020603050405020304" pitchFamily="18" charset="0"/>
            </a:endParaRPr>
          </a:p>
          <a:p>
            <a:pPr indent="450215" algn="just"/>
            <a:r>
              <a:rPr lang="en-US" sz="2400" dirty="0">
                <a:solidFill>
                  <a:srgbClr val="0070C0"/>
                </a:solidFill>
                <a:effectLst/>
                <a:latin typeface="Consolas" panose="020B0609020204030204" pitchFamily="49" charset="0"/>
                <a:ea typeface="Times New Roman" panose="02020603050405020304" pitchFamily="18" charset="0"/>
              </a:rPr>
              <a:t>int</a:t>
            </a:r>
            <a:r>
              <a:rPr lang="en-US" sz="2400" dirty="0">
                <a:effectLst/>
                <a:latin typeface="Consolas" panose="020B0609020204030204" pitchFamily="49" charset="0"/>
                <a:ea typeface="Times New Roman" panose="02020603050405020304" pitchFamily="18" charset="0"/>
              </a:rPr>
              <a:t> [] </a:t>
            </a:r>
            <a:r>
              <a:rPr lang="en-US" sz="2400" dirty="0" err="1">
                <a:effectLst/>
                <a:latin typeface="Consolas" panose="020B0609020204030204" pitchFamily="49" charset="0"/>
                <a:ea typeface="Times New Roman" panose="02020603050405020304" pitchFamily="18" charset="0"/>
              </a:rPr>
              <a:t>nums</a:t>
            </a:r>
            <a:r>
              <a:rPr lang="en-US" sz="2400" dirty="0">
                <a:effectLst/>
                <a:latin typeface="Consolas" panose="020B0609020204030204" pitchFamily="49" charset="0"/>
                <a:ea typeface="Times New Roman" panose="02020603050405020304" pitchFamily="18" charset="0"/>
              </a:rPr>
              <a:t> = </a:t>
            </a:r>
            <a:r>
              <a:rPr lang="en-US" sz="2400" dirty="0">
                <a:solidFill>
                  <a:srgbClr val="0070C0"/>
                </a:solidFill>
                <a:effectLst/>
                <a:latin typeface="Consolas" panose="020B0609020204030204" pitchFamily="49" charset="0"/>
                <a:ea typeface="Times New Roman" panose="02020603050405020304" pitchFamily="18" charset="0"/>
              </a:rPr>
              <a:t>new</a:t>
            </a:r>
            <a:r>
              <a:rPr lang="en-US" sz="2400" dirty="0">
                <a:effectLst/>
                <a:latin typeface="Consolas" panose="020B0609020204030204" pitchFamily="49" charset="0"/>
                <a:ea typeface="Times New Roman" panose="02020603050405020304" pitchFamily="18" charset="0"/>
              </a:rPr>
              <a:t> </a:t>
            </a:r>
            <a:r>
              <a:rPr lang="en-US" sz="2400" dirty="0">
                <a:solidFill>
                  <a:srgbClr val="0070C0"/>
                </a:solidFill>
                <a:effectLst/>
                <a:latin typeface="Consolas" panose="020B0609020204030204" pitchFamily="49" charset="0"/>
                <a:ea typeface="Times New Roman" panose="02020603050405020304" pitchFamily="18" charset="0"/>
              </a:rPr>
              <a:t>int</a:t>
            </a:r>
            <a:r>
              <a:rPr lang="en-US" sz="2400" dirty="0">
                <a:effectLst/>
                <a:latin typeface="Consolas" panose="020B0609020204030204" pitchFamily="49" charset="0"/>
                <a:ea typeface="Times New Roman" panose="02020603050405020304" pitchFamily="18" charset="0"/>
              </a:rPr>
              <a:t> [12];</a:t>
            </a:r>
            <a:endParaRPr lang="ru-RU" sz="2400" dirty="0">
              <a:effectLst/>
              <a:latin typeface="Times New Roman" panose="02020603050405020304" pitchFamily="18" charset="0"/>
              <a:ea typeface="Times New Roman" panose="02020603050405020304" pitchFamily="18" charset="0"/>
            </a:endParaRPr>
          </a:p>
          <a:p>
            <a:endParaRPr lang="ru-RU" dirty="0"/>
          </a:p>
        </p:txBody>
      </p:sp>
    </p:spTree>
    <p:extLst>
      <p:ext uri="{BB962C8B-B14F-4D97-AF65-F5344CB8AC3E}">
        <p14:creationId xmlns:p14="http://schemas.microsoft.com/office/powerpoint/2010/main" val="4030848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инициализация</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lstStyle/>
          <a:p>
            <a:r>
              <a:rPr lang="ru-RU" dirty="0">
                <a:solidFill>
                  <a:srgbClr val="000000"/>
                </a:solidFill>
                <a:effectLst/>
                <a:latin typeface="Times New Roman" panose="02020603050405020304" pitchFamily="18" charset="0"/>
                <a:ea typeface="Times New Roman" panose="02020603050405020304" pitchFamily="18" charset="0"/>
              </a:rPr>
              <a:t>Для обращения к элементам массива используются </a:t>
            </a:r>
            <a:r>
              <a:rPr lang="ru-RU" b="1" dirty="0">
                <a:solidFill>
                  <a:srgbClr val="000000"/>
                </a:solidFill>
                <a:effectLst/>
                <a:latin typeface="Times New Roman" panose="02020603050405020304" pitchFamily="18" charset="0"/>
                <a:ea typeface="Times New Roman" panose="02020603050405020304" pitchFamily="18" charset="0"/>
              </a:rPr>
              <a:t>индексы</a:t>
            </a:r>
            <a:r>
              <a:rPr lang="ru-RU" dirty="0">
                <a:solidFill>
                  <a:srgbClr val="000000"/>
                </a:solidFill>
                <a:effectLst/>
                <a:latin typeface="Times New Roman" panose="02020603050405020304" pitchFamily="18" charset="0"/>
                <a:ea typeface="Times New Roman" panose="02020603050405020304" pitchFamily="18" charset="0"/>
              </a:rPr>
              <a:t>. Индекс представляет номер элемента в массиве, при этом нумерация начинается с нуля, поэтому индекс первого элемента будет равен 0</a:t>
            </a:r>
            <a:r>
              <a:rPr lang="ru-RU"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ru-RU" altLang="ru-RU"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А чтобы обратиться к четвертому элементу в массиве, нам надо использовать индекс 3, к примеру: </a:t>
            </a:r>
            <a:r>
              <a:rPr kumimoji="0" lang="en-US" altLang="ru-RU"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nums</a:t>
            </a:r>
            <a:r>
              <a:rPr kumimoji="0" lang="ru-RU" altLang="ru-RU"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p>
          <a:p>
            <a:r>
              <a:rPr lang="ru-RU" dirty="0">
                <a:effectLst/>
                <a:latin typeface="Times New Roman" panose="02020603050405020304" pitchFamily="18" charset="0"/>
                <a:ea typeface="Times New Roman" panose="02020603050405020304" pitchFamily="18" charset="0"/>
              </a:rPr>
              <a:t>Инициализацию элементов массива можно выполнять несколькими способами:</a:t>
            </a:r>
          </a:p>
          <a:p>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6222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инициализация</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lstStyle/>
          <a:p>
            <a:pPr marL="342900" lvl="0" indent="-342900" algn="just">
              <a:buFont typeface="+mj-lt"/>
              <a:buAutoNum type="arabicPeriod"/>
            </a:pPr>
            <a:r>
              <a:rPr lang="ru-RU" dirty="0">
                <a:effectLst/>
                <a:latin typeface="Times New Roman" panose="02020603050405020304" pitchFamily="18" charset="0"/>
                <a:ea typeface="Times New Roman" panose="02020603050405020304" pitchFamily="18" charset="0"/>
                <a:cs typeface="Times New Roman" panose="02020603050405020304" pitchFamily="18" charset="0"/>
              </a:rPr>
              <a:t>Вручную с помощью нескольких операторов присваивания, как показано в следующем примере.</a:t>
            </a:r>
          </a:p>
          <a:p>
            <a:pPr marL="588645" algn="just"/>
            <a:r>
              <a:rPr lang="ru-RU" dirty="0">
                <a:effectLst/>
                <a:latin typeface="Times New Roman" panose="02020603050405020304" pitchFamily="18" charset="0"/>
                <a:ea typeface="Times New Roman" panose="02020603050405020304" pitchFamily="18" charset="0"/>
              </a:rPr>
              <a:t> </a:t>
            </a:r>
          </a:p>
          <a:p>
            <a:pPr indent="450215">
              <a:lnSpc>
                <a:spcPts val="1465"/>
              </a:lnSpc>
            </a:pPr>
            <a:r>
              <a:rPr lang="en-US"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nums</a:t>
            </a:r>
            <a:r>
              <a:rPr lang="en-US"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new</a:t>
            </a:r>
            <a:r>
              <a:rPr lang="en-US" dirty="0">
                <a:solidFill>
                  <a:srgbClr val="0070C0"/>
                </a:solidFill>
                <a:effectLst/>
                <a:latin typeface="Consolas" panose="020B0609020204030204" pitchFamily="49" charset="0"/>
                <a:ea typeface="Times New Roman" panose="02020603050405020304" pitchFamily="18" charset="0"/>
              </a:rPr>
              <a:t> </a:t>
            </a:r>
            <a:r>
              <a:rPr lang="en-US"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[4];</a:t>
            </a:r>
            <a:endParaRPr lang="ru-RU" dirty="0">
              <a:effectLst/>
              <a:latin typeface="Times New Roman" panose="02020603050405020304" pitchFamily="18" charset="0"/>
              <a:ea typeface="Times New Roman" panose="02020603050405020304" pitchFamily="18" charset="0"/>
            </a:endParaRPr>
          </a:p>
          <a:p>
            <a:pPr indent="450215">
              <a:lnSpc>
                <a:spcPts val="1465"/>
              </a:lnSpc>
            </a:pPr>
            <a:r>
              <a:rPr lang="en-US"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nums</a:t>
            </a:r>
            <a:r>
              <a:rPr lang="en-US"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[0] = 1;</a:t>
            </a:r>
            <a:endParaRPr lang="ru-RU" dirty="0">
              <a:effectLst/>
              <a:latin typeface="Times New Roman" panose="02020603050405020304" pitchFamily="18" charset="0"/>
              <a:ea typeface="Times New Roman" panose="02020603050405020304" pitchFamily="18" charset="0"/>
            </a:endParaRPr>
          </a:p>
          <a:p>
            <a:pPr indent="450215">
              <a:lnSpc>
                <a:spcPts val="1465"/>
              </a:lnSpc>
            </a:pPr>
            <a:r>
              <a:rPr lang="en-US"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nums</a:t>
            </a:r>
            <a:r>
              <a:rPr lang="en-US"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[1] = 2;</a:t>
            </a:r>
            <a:endParaRPr lang="ru-RU" dirty="0">
              <a:effectLst/>
              <a:latin typeface="Times New Roman" panose="02020603050405020304" pitchFamily="18" charset="0"/>
              <a:ea typeface="Times New Roman" panose="02020603050405020304" pitchFamily="18" charset="0"/>
            </a:endParaRPr>
          </a:p>
          <a:p>
            <a:pPr indent="450215">
              <a:lnSpc>
                <a:spcPts val="1465"/>
              </a:lnSpc>
            </a:pPr>
            <a:r>
              <a:rPr lang="en-US"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nums</a:t>
            </a:r>
            <a:r>
              <a:rPr lang="en-US"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[2] = 3;</a:t>
            </a:r>
            <a:endParaRPr lang="ru-RU" dirty="0">
              <a:effectLst/>
              <a:latin typeface="Times New Roman" panose="02020603050405020304" pitchFamily="18" charset="0"/>
              <a:ea typeface="Times New Roman" panose="02020603050405020304" pitchFamily="18" charset="0"/>
            </a:endParaRPr>
          </a:p>
          <a:p>
            <a:pPr indent="450215">
              <a:lnSpc>
                <a:spcPts val="1465"/>
              </a:lnSpc>
            </a:pPr>
            <a:r>
              <a:rPr lang="en-US"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nums</a:t>
            </a:r>
            <a:r>
              <a:rPr lang="en-US"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[3] = 5;</a:t>
            </a:r>
            <a:endParaRPr lang="ru-RU" dirty="0">
              <a:effectLst/>
              <a:latin typeface="Times New Roman" panose="02020603050405020304" pitchFamily="18" charset="0"/>
              <a:ea typeface="Times New Roman" panose="02020603050405020304" pitchFamily="18" charset="0"/>
            </a:endParaRPr>
          </a:p>
          <a:p>
            <a:pPr indent="450215">
              <a:lnSpc>
                <a:spcPts val="1465"/>
              </a:lnSpc>
            </a:pPr>
            <a:r>
              <a:rPr lang="en-US"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nums</a:t>
            </a:r>
            <a:r>
              <a:rPr lang="en-US"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[3]);  </a:t>
            </a:r>
            <a:r>
              <a:rPr lang="en-US" dirty="0">
                <a:solidFill>
                  <a:srgbClr val="00B050"/>
                </a:solidFill>
                <a:effectLst/>
                <a:latin typeface="Consolas" panose="020B0609020204030204" pitchFamily="49" charset="0"/>
                <a:ea typeface="Times New Roman" panose="02020603050405020304" pitchFamily="18" charset="0"/>
                <a:cs typeface="Courier New" panose="02070309020205020404" pitchFamily="49" charset="0"/>
              </a:rPr>
              <a:t>// 5</a:t>
            </a:r>
            <a:endParaRPr lang="ru-RU" dirty="0">
              <a:effectLst/>
              <a:latin typeface="Times New Roman" panose="02020603050405020304" pitchFamily="18" charset="0"/>
              <a:ea typeface="Times New Roman" panose="02020603050405020304" pitchFamily="18" charset="0"/>
            </a:endParaRPr>
          </a:p>
          <a:p>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4129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инициализация</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lstStyle/>
          <a:p>
            <a:pPr marL="0" lvl="0" indent="0">
              <a:buNone/>
            </a:pPr>
            <a:r>
              <a:rPr lang="ru-RU" sz="2400" dirty="0">
                <a:effectLst/>
                <a:latin typeface="Times New Roman" panose="02020603050405020304" pitchFamily="18" charset="0"/>
                <a:ea typeface="Times New Roman" panose="02020603050405020304" pitchFamily="18" charset="0"/>
                <a:cs typeface="Times New Roman" panose="02020603050405020304" pitchFamily="18" charset="0"/>
              </a:rPr>
              <a:t>2. Инициализировать массив сразу при его создании. </a:t>
            </a:r>
          </a:p>
          <a:p>
            <a:pPr marL="588645"/>
            <a:r>
              <a:rPr lang="ru-RU" sz="2400" dirty="0">
                <a:effectLst/>
                <a:latin typeface="Times New Roman" panose="02020603050405020304" pitchFamily="18" charset="0"/>
                <a:ea typeface="Times New Roman" panose="02020603050405020304" pitchFamily="18" charset="0"/>
              </a:rPr>
              <a:t> </a:t>
            </a:r>
          </a:p>
          <a:p>
            <a:pPr marL="588645" algn="just"/>
            <a:r>
              <a:rPr lang="ru-RU" sz="2400" dirty="0">
                <a:effectLst/>
                <a:latin typeface="Times New Roman" panose="02020603050405020304" pitchFamily="18" charset="0"/>
                <a:ea typeface="Times New Roman" panose="02020603050405020304" pitchFamily="18" charset="0"/>
              </a:rPr>
              <a:t>Например</a:t>
            </a:r>
            <a:r>
              <a:rPr lang="en-US" sz="2400" dirty="0">
                <a:effectLst/>
                <a:latin typeface="Times New Roman" panose="02020603050405020304" pitchFamily="18" charset="0"/>
                <a:ea typeface="Times New Roman" panose="02020603050405020304" pitchFamily="18" charset="0"/>
              </a:rPr>
              <a:t>:</a:t>
            </a:r>
            <a:endParaRPr lang="ru-RU" sz="2400" dirty="0">
              <a:effectLst/>
              <a:latin typeface="Times New Roman" panose="02020603050405020304" pitchFamily="18" charset="0"/>
              <a:ea typeface="Times New Roman" panose="02020603050405020304" pitchFamily="18" charset="0"/>
            </a:endParaRPr>
          </a:p>
          <a:p>
            <a:pPr marL="588645" algn="just"/>
            <a:r>
              <a:rPr lang="en-US" sz="2400" dirty="0">
                <a:effectLst/>
                <a:latin typeface="Times New Roman" panose="02020603050405020304" pitchFamily="18" charset="0"/>
                <a:ea typeface="Times New Roman" panose="02020603050405020304" pitchFamily="18" charset="0"/>
              </a:rPr>
              <a:t> </a:t>
            </a:r>
            <a:endParaRPr lang="ru-RU" sz="2400" dirty="0">
              <a:effectLst/>
              <a:latin typeface="Times New Roman" panose="02020603050405020304" pitchFamily="18" charset="0"/>
              <a:ea typeface="Times New Roman" panose="02020603050405020304" pitchFamily="18" charset="0"/>
            </a:endParaRPr>
          </a:p>
          <a:p>
            <a:pPr indent="450215">
              <a:lnSpc>
                <a:spcPts val="1465"/>
              </a:lnSpc>
            </a:pPr>
            <a:r>
              <a:rPr lang="en-US" sz="2400"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nums2 = </a:t>
            </a:r>
            <a:r>
              <a:rPr lang="en-US" sz="2400"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new</a:t>
            </a:r>
            <a:r>
              <a:rPr lang="en-US" sz="2400" dirty="0">
                <a:solidFill>
                  <a:srgbClr val="0070C0"/>
                </a:solidFill>
                <a:effectLst/>
                <a:latin typeface="Consolas" panose="020B0609020204030204" pitchFamily="49" charset="0"/>
                <a:ea typeface="Times New Roman" panose="02020603050405020304" pitchFamily="18" charset="0"/>
              </a:rPr>
              <a:t> </a:t>
            </a:r>
            <a:r>
              <a:rPr lang="en-US" sz="2400"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[4] { 1, 2, 3, 5 };</a:t>
            </a:r>
            <a:r>
              <a:rPr lang="en-US" sz="2400" dirty="0">
                <a:solidFill>
                  <a:srgbClr val="000000"/>
                </a:solidFill>
                <a:effectLst/>
                <a:latin typeface="Consolas" panose="020B0609020204030204" pitchFamily="49" charset="0"/>
                <a:ea typeface="Times New Roman" panose="02020603050405020304" pitchFamily="18" charset="0"/>
              </a:rPr>
              <a:t> </a:t>
            </a:r>
            <a:endParaRPr lang="ru-RU" sz="2400" dirty="0">
              <a:effectLst/>
              <a:latin typeface="Times New Roman" panose="02020603050405020304" pitchFamily="18" charset="0"/>
              <a:ea typeface="Times New Roman" panose="02020603050405020304" pitchFamily="18" charset="0"/>
            </a:endParaRPr>
          </a:p>
          <a:p>
            <a:pPr indent="450215">
              <a:lnSpc>
                <a:spcPts val="1465"/>
              </a:lnSpc>
            </a:pPr>
            <a:r>
              <a:rPr lang="en-US" sz="2400"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nums3 = </a:t>
            </a:r>
            <a:r>
              <a:rPr lang="en-US" sz="2400"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new</a:t>
            </a:r>
            <a:r>
              <a:rPr lang="en-US" sz="2400" dirty="0">
                <a:solidFill>
                  <a:srgbClr val="0070C0"/>
                </a:solidFill>
                <a:effectLst/>
                <a:latin typeface="Consolas" panose="020B0609020204030204" pitchFamily="49" charset="0"/>
                <a:ea typeface="Times New Roman" panose="02020603050405020304" pitchFamily="18" charset="0"/>
              </a:rPr>
              <a:t> </a:t>
            </a:r>
            <a:r>
              <a:rPr lang="en-US" sz="2400"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 1, 2, 3, 5 };</a:t>
            </a:r>
            <a:r>
              <a:rPr lang="en-US" sz="2400" dirty="0">
                <a:solidFill>
                  <a:srgbClr val="000000"/>
                </a:solidFill>
                <a:effectLst/>
                <a:latin typeface="Consolas" panose="020B0609020204030204" pitchFamily="49" charset="0"/>
                <a:ea typeface="Times New Roman" panose="02020603050405020304" pitchFamily="18" charset="0"/>
              </a:rPr>
              <a:t> </a:t>
            </a:r>
            <a:endParaRPr lang="ru-RU" sz="2400" dirty="0">
              <a:effectLst/>
              <a:latin typeface="Times New Roman" panose="02020603050405020304" pitchFamily="18" charset="0"/>
              <a:ea typeface="Times New Roman" panose="02020603050405020304" pitchFamily="18" charset="0"/>
            </a:endParaRPr>
          </a:p>
          <a:p>
            <a:pPr indent="450215">
              <a:lnSpc>
                <a:spcPts val="1465"/>
              </a:lnSpc>
            </a:pPr>
            <a:r>
              <a:rPr lang="en-US" sz="2400"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nums4 = </a:t>
            </a:r>
            <a:r>
              <a:rPr lang="en-US" sz="2400"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new</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 1, 2, 3, 5 };</a:t>
            </a:r>
            <a:r>
              <a:rPr lang="en-US" sz="2400" dirty="0">
                <a:solidFill>
                  <a:srgbClr val="000000"/>
                </a:solidFill>
                <a:effectLst/>
                <a:latin typeface="Consolas" panose="020B0609020204030204" pitchFamily="49" charset="0"/>
                <a:ea typeface="Times New Roman" panose="02020603050405020304" pitchFamily="18" charset="0"/>
              </a:rPr>
              <a:t> </a:t>
            </a:r>
            <a:endParaRPr lang="ru-RU" sz="2400" dirty="0">
              <a:effectLst/>
              <a:latin typeface="Times New Roman" panose="02020603050405020304" pitchFamily="18" charset="0"/>
              <a:ea typeface="Times New Roman" panose="02020603050405020304" pitchFamily="18" charset="0"/>
            </a:endParaRPr>
          </a:p>
          <a:p>
            <a:pPr indent="450215">
              <a:lnSpc>
                <a:spcPts val="1465"/>
              </a:lnSpc>
            </a:pPr>
            <a:r>
              <a:rPr lang="en-US" sz="2400"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int</a:t>
            </a:r>
            <a:r>
              <a:rPr lang="ru-RU"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nums</a:t>
            </a:r>
            <a:r>
              <a:rPr lang="ru-RU"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5 = { 1, 2, 3, 5 };</a:t>
            </a:r>
            <a:endParaRPr lang="ru-RU" sz="2400" dirty="0">
              <a:effectLst/>
              <a:latin typeface="Times New Roman" panose="02020603050405020304" pitchFamily="18" charset="0"/>
              <a:ea typeface="Times New Roman" panose="02020603050405020304" pitchFamily="18" charset="0"/>
            </a:endParaRPr>
          </a:p>
          <a:p>
            <a:pPr indent="450215" algn="just"/>
            <a:r>
              <a:rPr lang="ru-RU" sz="2400" dirty="0">
                <a:solidFill>
                  <a:srgbClr val="000000"/>
                </a:solidFill>
                <a:effectLst/>
                <a:latin typeface="Times New Roman" panose="02020603050405020304" pitchFamily="18" charset="0"/>
                <a:ea typeface="Times New Roman" panose="02020603050405020304" pitchFamily="18" charset="0"/>
              </a:rPr>
              <a:t>Все перечисленные выше способы будут равноценны.</a:t>
            </a:r>
            <a:endParaRPr lang="ru-RU" sz="2400" dirty="0">
              <a:effectLst/>
              <a:latin typeface="Times New Roman" panose="02020603050405020304" pitchFamily="18" charset="0"/>
              <a:ea typeface="Times New Roman" panose="02020603050405020304" pitchFamily="18" charset="0"/>
            </a:endParaRPr>
          </a:p>
          <a:p>
            <a:pPr indent="450215" algn="just"/>
            <a:r>
              <a:rPr lang="ru-RU" sz="1800" dirty="0">
                <a:solidFill>
                  <a:srgbClr val="000000"/>
                </a:solidFill>
                <a:effectLst/>
                <a:latin typeface="Times New Roman" panose="02020603050405020304" pitchFamily="18" charset="0"/>
                <a:ea typeface="Times New Roman" panose="02020603050405020304" pitchFamily="18" charset="0"/>
              </a:rPr>
              <a:t> </a:t>
            </a:r>
            <a:endParaRPr lang="ru-RU" sz="1800" dirty="0">
              <a:effectLst/>
              <a:latin typeface="Times New Roman" panose="02020603050405020304" pitchFamily="18" charset="0"/>
              <a:ea typeface="Times New Roman" panose="02020603050405020304" pitchFamily="18" charset="0"/>
            </a:endParaRPr>
          </a:p>
          <a:p>
            <a:pPr indent="450215">
              <a:lnSpc>
                <a:spcPts val="1465"/>
              </a:lnSpc>
            </a:pPr>
            <a:r>
              <a:rPr lang="ru-RU" sz="1800" dirty="0">
                <a:solidFill>
                  <a:srgbClr val="000000"/>
                </a:solidFill>
                <a:effectLst/>
                <a:latin typeface="Consolas" panose="020B0609020204030204" pitchFamily="49" charset="0"/>
                <a:ea typeface="Times New Roman" panose="02020603050405020304" pitchFamily="18" charset="0"/>
              </a:rPr>
              <a:t> </a:t>
            </a:r>
            <a:endParaRPr lang="ru-RU" sz="1800" dirty="0">
              <a:effectLst/>
              <a:latin typeface="Times New Roman" panose="02020603050405020304" pitchFamily="18" charset="0"/>
              <a:ea typeface="Times New Roman" panose="02020603050405020304" pitchFamily="18" charset="0"/>
            </a:endParaRPr>
          </a:p>
          <a:p>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3456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инициализация</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pPr marL="0" lvl="0" indent="0" algn="just">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3. </a:t>
            </a:r>
            <a:r>
              <a:rPr lang="ru-RU" sz="2400" dirty="0">
                <a:effectLst/>
                <a:latin typeface="Times New Roman" panose="02020603050405020304" pitchFamily="18" charset="0"/>
                <a:ea typeface="Times New Roman" panose="02020603050405020304" pitchFamily="18" charset="0"/>
                <a:cs typeface="Times New Roman" panose="02020603050405020304" pitchFamily="18" charset="0"/>
              </a:rPr>
              <a:t>С помощью случайных чисел. В следующем примере массив из 10 целых чисел инициализируется случайным способом числами не больше 10.</a:t>
            </a:r>
          </a:p>
          <a:p>
            <a:r>
              <a:rPr lang="ru-RU" sz="2400" dirty="0">
                <a:solidFill>
                  <a:srgbClr val="0000FF"/>
                </a:solidFill>
                <a:effectLst/>
                <a:latin typeface="Courier New" panose="02070309020205020404" pitchFamily="49" charset="0"/>
                <a:ea typeface="Times New Roman" panose="02020603050405020304" pitchFamily="18" charset="0"/>
              </a:rPr>
              <a:t>		</a:t>
            </a:r>
            <a:r>
              <a:rPr lang="en-US" sz="2400" dirty="0">
                <a:solidFill>
                  <a:srgbClr val="0000FF"/>
                </a:solidFill>
                <a:effectLst/>
                <a:latin typeface="Courier New" panose="02070309020205020404" pitchFamily="49" charset="0"/>
                <a:ea typeface="Times New Roman" panose="02020603050405020304" pitchFamily="18" charset="0"/>
              </a:rPr>
              <a:t>int</a:t>
            </a:r>
            <a:r>
              <a:rPr lang="en-US" sz="2400" dirty="0">
                <a:effectLst/>
                <a:latin typeface="Courier New" panose="02070309020205020404" pitchFamily="49" charset="0"/>
                <a:ea typeface="Times New Roman" panose="02020603050405020304" pitchFamily="18" charset="0"/>
              </a:rPr>
              <a:t>[] </a:t>
            </a:r>
            <a:r>
              <a:rPr lang="en-US" sz="2400" dirty="0" err="1">
                <a:effectLst/>
                <a:latin typeface="Courier New" panose="02070309020205020404" pitchFamily="49" charset="0"/>
                <a:ea typeface="Times New Roman" panose="02020603050405020304" pitchFamily="18" charset="0"/>
              </a:rPr>
              <a:t>nums</a:t>
            </a:r>
            <a:r>
              <a:rPr lang="en-US" sz="2400" dirty="0">
                <a:effectLst/>
                <a:latin typeface="Courier New" panose="02070309020205020404" pitchFamily="49" charset="0"/>
                <a:ea typeface="Times New Roman" panose="02020603050405020304" pitchFamily="18" charset="0"/>
              </a:rPr>
              <a:t> = </a:t>
            </a:r>
            <a:r>
              <a:rPr lang="en-US" sz="2400" dirty="0">
                <a:solidFill>
                  <a:srgbClr val="0000FF"/>
                </a:solidFill>
                <a:effectLst/>
                <a:latin typeface="Courier New" panose="02070309020205020404" pitchFamily="49" charset="0"/>
                <a:ea typeface="Times New Roman" panose="02020603050405020304" pitchFamily="18" charset="0"/>
              </a:rPr>
              <a:t>new</a:t>
            </a:r>
            <a:r>
              <a:rPr lang="en-US" sz="2400" dirty="0">
                <a:effectLst/>
                <a:latin typeface="Courier New" panose="02070309020205020404" pitchFamily="49" charset="0"/>
                <a:ea typeface="Times New Roman" panose="02020603050405020304" pitchFamily="18" charset="0"/>
              </a:rPr>
              <a:t> </a:t>
            </a:r>
            <a:r>
              <a:rPr lang="en-US" sz="2400" dirty="0">
                <a:solidFill>
                  <a:srgbClr val="0000FF"/>
                </a:solidFill>
                <a:effectLst/>
                <a:latin typeface="Courier New" panose="02070309020205020404" pitchFamily="49" charset="0"/>
                <a:ea typeface="Times New Roman" panose="02020603050405020304" pitchFamily="18" charset="0"/>
              </a:rPr>
              <a:t>int</a:t>
            </a:r>
            <a:r>
              <a:rPr lang="en-US" sz="2400" dirty="0">
                <a:effectLst/>
                <a:latin typeface="Courier New" panose="02070309020205020404" pitchFamily="49" charset="0"/>
                <a:ea typeface="Times New Roman" panose="02020603050405020304" pitchFamily="18" charset="0"/>
              </a:rPr>
              <a:t>[10];</a:t>
            </a:r>
            <a:endParaRPr lang="ru-RU" sz="2400" dirty="0">
              <a:effectLst/>
              <a:latin typeface="Times New Roman" panose="02020603050405020304" pitchFamily="18" charset="0"/>
              <a:ea typeface="Times New Roman" panose="02020603050405020304" pitchFamily="18" charset="0"/>
            </a:endParaRPr>
          </a:p>
          <a:p>
            <a:r>
              <a:rPr lang="en-US" sz="2400" dirty="0">
                <a:effectLst/>
                <a:latin typeface="Courier New" panose="02070309020205020404" pitchFamily="49" charset="0"/>
                <a:ea typeface="Times New Roman" panose="02020603050405020304" pitchFamily="18" charset="0"/>
              </a:rPr>
              <a:t>            </a:t>
            </a:r>
            <a:r>
              <a:rPr lang="en-US" sz="2400" dirty="0">
                <a:solidFill>
                  <a:srgbClr val="008080"/>
                </a:solidFill>
                <a:effectLst/>
                <a:latin typeface="Courier New" panose="02070309020205020404" pitchFamily="49" charset="0"/>
                <a:ea typeface="Times New Roman" panose="02020603050405020304" pitchFamily="18" charset="0"/>
              </a:rPr>
              <a:t>Random</a:t>
            </a:r>
            <a:r>
              <a:rPr lang="en-US" sz="2400" dirty="0">
                <a:effectLst/>
                <a:latin typeface="Courier New" panose="02070309020205020404" pitchFamily="49" charset="0"/>
                <a:ea typeface="Times New Roman" panose="02020603050405020304" pitchFamily="18" charset="0"/>
              </a:rPr>
              <a:t> </a:t>
            </a:r>
            <a:r>
              <a:rPr lang="en-US" sz="2400" dirty="0" err="1">
                <a:effectLst/>
                <a:latin typeface="Courier New" panose="02070309020205020404" pitchFamily="49" charset="0"/>
                <a:ea typeface="Times New Roman" panose="02020603050405020304" pitchFamily="18" charset="0"/>
              </a:rPr>
              <a:t>rnd</a:t>
            </a:r>
            <a:r>
              <a:rPr lang="en-US" sz="2400" dirty="0">
                <a:effectLst/>
                <a:latin typeface="Courier New" panose="02070309020205020404" pitchFamily="49" charset="0"/>
                <a:ea typeface="Times New Roman" panose="02020603050405020304" pitchFamily="18" charset="0"/>
              </a:rPr>
              <a:t> = </a:t>
            </a:r>
            <a:r>
              <a:rPr lang="en-US" sz="2400" dirty="0">
                <a:solidFill>
                  <a:srgbClr val="0000FF"/>
                </a:solidFill>
                <a:effectLst/>
                <a:latin typeface="Courier New" panose="02070309020205020404" pitchFamily="49" charset="0"/>
                <a:ea typeface="Times New Roman" panose="02020603050405020304" pitchFamily="18" charset="0"/>
              </a:rPr>
              <a:t>new</a:t>
            </a:r>
            <a:r>
              <a:rPr lang="en-US" sz="2400" dirty="0">
                <a:effectLst/>
                <a:latin typeface="Courier New" panose="02070309020205020404" pitchFamily="49" charset="0"/>
                <a:ea typeface="Times New Roman" panose="02020603050405020304" pitchFamily="18" charset="0"/>
              </a:rPr>
              <a:t> </a:t>
            </a:r>
            <a:r>
              <a:rPr lang="en-US" sz="2400" dirty="0">
                <a:solidFill>
                  <a:srgbClr val="008080"/>
                </a:solidFill>
                <a:effectLst/>
                <a:latin typeface="Courier New" panose="02070309020205020404" pitchFamily="49" charset="0"/>
                <a:ea typeface="Times New Roman" panose="02020603050405020304" pitchFamily="18" charset="0"/>
              </a:rPr>
              <a:t>Random</a:t>
            </a:r>
            <a:r>
              <a:rPr lang="en-US" sz="2400" dirty="0">
                <a:effectLst/>
                <a:latin typeface="Courier New" panose="02070309020205020404" pitchFamily="49" charset="0"/>
                <a:ea typeface="Times New Roman" panose="02020603050405020304" pitchFamily="18" charset="0"/>
              </a:rPr>
              <a:t>();</a:t>
            </a:r>
            <a:endParaRPr lang="ru-RU" sz="2400" dirty="0">
              <a:effectLst/>
              <a:latin typeface="Times New Roman" panose="02020603050405020304" pitchFamily="18" charset="0"/>
              <a:ea typeface="Times New Roman" panose="02020603050405020304" pitchFamily="18" charset="0"/>
            </a:endParaRPr>
          </a:p>
          <a:p>
            <a:r>
              <a:rPr lang="en-US" sz="2400" dirty="0">
                <a:effectLst/>
                <a:latin typeface="Courier New" panose="02070309020205020404" pitchFamily="49" charset="0"/>
                <a:ea typeface="Times New Roman" panose="02020603050405020304" pitchFamily="18" charset="0"/>
              </a:rPr>
              <a:t>            </a:t>
            </a:r>
            <a:r>
              <a:rPr lang="en-US" sz="2400" dirty="0">
                <a:solidFill>
                  <a:srgbClr val="0000FF"/>
                </a:solidFill>
                <a:effectLst/>
                <a:latin typeface="Courier New" panose="02070309020205020404" pitchFamily="49" charset="0"/>
                <a:ea typeface="Times New Roman" panose="02020603050405020304" pitchFamily="18" charset="0"/>
              </a:rPr>
              <a:t>string</a:t>
            </a:r>
            <a:r>
              <a:rPr lang="en-US" sz="2400" dirty="0">
                <a:effectLst/>
                <a:latin typeface="Courier New" panose="02070309020205020404" pitchFamily="49" charset="0"/>
                <a:ea typeface="Times New Roman" panose="02020603050405020304" pitchFamily="18" charset="0"/>
              </a:rPr>
              <a:t> str = </a:t>
            </a:r>
            <a:r>
              <a:rPr lang="en-US" sz="2400" dirty="0">
                <a:solidFill>
                  <a:srgbClr val="800000"/>
                </a:solidFill>
                <a:effectLst/>
                <a:latin typeface="Courier New" panose="02070309020205020404" pitchFamily="49" charset="0"/>
                <a:ea typeface="Times New Roman" panose="02020603050405020304" pitchFamily="18" charset="0"/>
              </a:rPr>
              <a:t>""</a:t>
            </a:r>
            <a:r>
              <a:rPr lang="en-US" sz="2400" dirty="0">
                <a:effectLst/>
                <a:latin typeface="Courier New" panose="02070309020205020404" pitchFamily="49" charset="0"/>
                <a:ea typeface="Times New Roman" panose="02020603050405020304" pitchFamily="18" charset="0"/>
              </a:rPr>
              <a:t>;</a:t>
            </a:r>
            <a:endParaRPr lang="ru-RU" sz="2400" dirty="0">
              <a:effectLst/>
              <a:latin typeface="Times New Roman" panose="02020603050405020304" pitchFamily="18" charset="0"/>
              <a:ea typeface="Times New Roman" panose="02020603050405020304" pitchFamily="18" charset="0"/>
            </a:endParaRPr>
          </a:p>
          <a:p>
            <a:r>
              <a:rPr lang="en-US" sz="2400" dirty="0">
                <a:effectLst/>
                <a:latin typeface="Courier New" panose="02070309020205020404" pitchFamily="49" charset="0"/>
                <a:ea typeface="Times New Roman" panose="02020603050405020304" pitchFamily="18" charset="0"/>
              </a:rPr>
              <a:t>            </a:t>
            </a:r>
            <a:r>
              <a:rPr lang="en-US" sz="2400" dirty="0">
                <a:solidFill>
                  <a:srgbClr val="0000FF"/>
                </a:solidFill>
                <a:effectLst/>
                <a:latin typeface="Courier New" panose="02070309020205020404" pitchFamily="49" charset="0"/>
                <a:ea typeface="Times New Roman" panose="02020603050405020304" pitchFamily="18" charset="0"/>
              </a:rPr>
              <a:t>for</a:t>
            </a:r>
            <a:r>
              <a:rPr lang="en-US" sz="2400" dirty="0">
                <a:effectLst/>
                <a:latin typeface="Courier New" panose="02070309020205020404" pitchFamily="49" charset="0"/>
                <a:ea typeface="Times New Roman" panose="02020603050405020304" pitchFamily="18" charset="0"/>
              </a:rPr>
              <a:t> (</a:t>
            </a:r>
            <a:r>
              <a:rPr lang="en-US" sz="2400" dirty="0">
                <a:solidFill>
                  <a:srgbClr val="0000FF"/>
                </a:solidFill>
                <a:effectLst/>
                <a:latin typeface="Courier New" panose="02070309020205020404" pitchFamily="49" charset="0"/>
                <a:ea typeface="Times New Roman" panose="02020603050405020304" pitchFamily="18" charset="0"/>
              </a:rPr>
              <a:t>int</a:t>
            </a:r>
            <a:r>
              <a:rPr lang="en-US" sz="2400" dirty="0">
                <a:effectLst/>
                <a:latin typeface="Courier New" panose="02070309020205020404" pitchFamily="49" charset="0"/>
                <a:ea typeface="Times New Roman" panose="02020603050405020304" pitchFamily="18" charset="0"/>
              </a:rPr>
              <a:t> </a:t>
            </a:r>
            <a:r>
              <a:rPr lang="en-US" sz="2400" dirty="0" err="1">
                <a:effectLst/>
                <a:latin typeface="Courier New" panose="02070309020205020404" pitchFamily="49" charset="0"/>
                <a:ea typeface="Times New Roman" panose="02020603050405020304" pitchFamily="18" charset="0"/>
              </a:rPr>
              <a:t>i</a:t>
            </a:r>
            <a:r>
              <a:rPr lang="en-US" sz="2400" dirty="0">
                <a:effectLst/>
                <a:latin typeface="Courier New" panose="02070309020205020404" pitchFamily="49" charset="0"/>
                <a:ea typeface="Times New Roman" panose="02020603050405020304" pitchFamily="18" charset="0"/>
              </a:rPr>
              <a:t> = 0; </a:t>
            </a:r>
            <a:r>
              <a:rPr lang="en-US" sz="2400" dirty="0" err="1">
                <a:effectLst/>
                <a:latin typeface="Courier New" panose="02070309020205020404" pitchFamily="49" charset="0"/>
                <a:ea typeface="Times New Roman" panose="02020603050405020304" pitchFamily="18" charset="0"/>
              </a:rPr>
              <a:t>i</a:t>
            </a:r>
            <a:r>
              <a:rPr lang="en-US" sz="2400" dirty="0">
                <a:effectLst/>
                <a:latin typeface="Courier New" panose="02070309020205020404" pitchFamily="49" charset="0"/>
                <a:ea typeface="Times New Roman" panose="02020603050405020304" pitchFamily="18" charset="0"/>
              </a:rPr>
              <a:t> &lt; 10; </a:t>
            </a:r>
            <a:r>
              <a:rPr lang="en-US" sz="2400" dirty="0" err="1">
                <a:effectLst/>
                <a:latin typeface="Courier New" panose="02070309020205020404" pitchFamily="49" charset="0"/>
                <a:ea typeface="Times New Roman" panose="02020603050405020304" pitchFamily="18" charset="0"/>
              </a:rPr>
              <a:t>i</a:t>
            </a:r>
            <a:r>
              <a:rPr lang="en-US" sz="2400" dirty="0">
                <a:effectLst/>
                <a:latin typeface="Courier New" panose="02070309020205020404" pitchFamily="49" charset="0"/>
                <a:ea typeface="Times New Roman" panose="02020603050405020304" pitchFamily="18" charset="0"/>
              </a:rPr>
              <a:t>++)</a:t>
            </a:r>
            <a:endParaRPr lang="ru-RU" sz="2400" dirty="0">
              <a:effectLst/>
              <a:latin typeface="Times New Roman" panose="02020603050405020304" pitchFamily="18" charset="0"/>
              <a:ea typeface="Times New Roman" panose="02020603050405020304" pitchFamily="18" charset="0"/>
            </a:endParaRPr>
          </a:p>
          <a:p>
            <a:r>
              <a:rPr lang="en-US" sz="2400" dirty="0">
                <a:effectLst/>
                <a:latin typeface="Courier New" panose="02070309020205020404" pitchFamily="49" charset="0"/>
                <a:ea typeface="Times New Roman" panose="02020603050405020304" pitchFamily="18" charset="0"/>
              </a:rPr>
              <a:t>            {</a:t>
            </a:r>
            <a:endParaRPr lang="ru-RU" sz="2400" dirty="0">
              <a:effectLst/>
              <a:latin typeface="Times New Roman" panose="02020603050405020304" pitchFamily="18" charset="0"/>
              <a:ea typeface="Times New Roman" panose="02020603050405020304" pitchFamily="18" charset="0"/>
            </a:endParaRPr>
          </a:p>
          <a:p>
            <a:r>
              <a:rPr lang="en-US" sz="2400" dirty="0">
                <a:effectLst/>
                <a:latin typeface="Courier New" panose="02070309020205020404" pitchFamily="49" charset="0"/>
                <a:ea typeface="Times New Roman" panose="02020603050405020304" pitchFamily="18" charset="0"/>
              </a:rPr>
              <a:t>                </a:t>
            </a:r>
            <a:r>
              <a:rPr lang="en-US" sz="2400" dirty="0" err="1">
                <a:effectLst/>
                <a:latin typeface="Courier New" panose="02070309020205020404" pitchFamily="49" charset="0"/>
                <a:ea typeface="Times New Roman" panose="02020603050405020304" pitchFamily="18" charset="0"/>
              </a:rPr>
              <a:t>nums</a:t>
            </a:r>
            <a:r>
              <a:rPr lang="en-US" sz="2400" dirty="0">
                <a:effectLst/>
                <a:latin typeface="Courier New" panose="02070309020205020404" pitchFamily="49" charset="0"/>
                <a:ea typeface="Times New Roman" panose="02020603050405020304" pitchFamily="18" charset="0"/>
              </a:rPr>
              <a:t>[</a:t>
            </a:r>
            <a:r>
              <a:rPr lang="en-US" sz="2400" dirty="0" err="1">
                <a:effectLst/>
                <a:latin typeface="Courier New" panose="02070309020205020404" pitchFamily="49" charset="0"/>
                <a:ea typeface="Times New Roman" panose="02020603050405020304" pitchFamily="18" charset="0"/>
              </a:rPr>
              <a:t>i</a:t>
            </a:r>
            <a:r>
              <a:rPr lang="en-US" sz="2400" dirty="0">
                <a:effectLst/>
                <a:latin typeface="Courier New" panose="02070309020205020404" pitchFamily="49" charset="0"/>
                <a:ea typeface="Times New Roman" panose="02020603050405020304" pitchFamily="18" charset="0"/>
              </a:rPr>
              <a:t>] = </a:t>
            </a:r>
            <a:r>
              <a:rPr lang="en-US" sz="2400" dirty="0" err="1">
                <a:effectLst/>
                <a:latin typeface="Courier New" panose="02070309020205020404" pitchFamily="49" charset="0"/>
                <a:ea typeface="Times New Roman" panose="02020603050405020304" pitchFamily="18" charset="0"/>
              </a:rPr>
              <a:t>rnd.Next</a:t>
            </a:r>
            <a:r>
              <a:rPr lang="en-US" sz="2400" dirty="0">
                <a:effectLst/>
                <a:latin typeface="Courier New" panose="02070309020205020404" pitchFamily="49" charset="0"/>
                <a:ea typeface="Times New Roman" panose="02020603050405020304" pitchFamily="18" charset="0"/>
              </a:rPr>
              <a:t>(10);</a:t>
            </a:r>
            <a:endParaRPr lang="ru-RU" sz="2400" dirty="0">
              <a:effectLst/>
              <a:latin typeface="Times New Roman" panose="02020603050405020304" pitchFamily="18" charset="0"/>
              <a:ea typeface="Times New Roman" panose="02020603050405020304" pitchFamily="18" charset="0"/>
            </a:endParaRPr>
          </a:p>
          <a:p>
            <a:r>
              <a:rPr lang="en-US" sz="2400" dirty="0">
                <a:effectLst/>
                <a:latin typeface="Courier New" panose="02070309020205020404" pitchFamily="49" charset="0"/>
                <a:ea typeface="Times New Roman" panose="02020603050405020304" pitchFamily="18" charset="0"/>
              </a:rPr>
              <a:t>                str += </a:t>
            </a:r>
            <a:r>
              <a:rPr lang="en-US" sz="2400" dirty="0" err="1">
                <a:effectLst/>
                <a:latin typeface="Courier New" panose="02070309020205020404" pitchFamily="49" charset="0"/>
                <a:ea typeface="Times New Roman" panose="02020603050405020304" pitchFamily="18" charset="0"/>
              </a:rPr>
              <a:t>nums</a:t>
            </a:r>
            <a:r>
              <a:rPr lang="en-US" sz="2400" dirty="0">
                <a:effectLst/>
                <a:latin typeface="Courier New" panose="02070309020205020404" pitchFamily="49" charset="0"/>
                <a:ea typeface="Times New Roman" panose="02020603050405020304" pitchFamily="18" charset="0"/>
              </a:rPr>
              <a:t>[</a:t>
            </a:r>
            <a:r>
              <a:rPr lang="en-US" sz="2400" dirty="0" err="1">
                <a:effectLst/>
                <a:latin typeface="Courier New" panose="02070309020205020404" pitchFamily="49" charset="0"/>
                <a:ea typeface="Times New Roman" panose="02020603050405020304" pitchFamily="18" charset="0"/>
              </a:rPr>
              <a:t>i</a:t>
            </a:r>
            <a:r>
              <a:rPr lang="en-US" sz="2400" dirty="0">
                <a:effectLst/>
                <a:latin typeface="Courier New" panose="02070309020205020404" pitchFamily="49" charset="0"/>
                <a:ea typeface="Times New Roman" panose="02020603050405020304" pitchFamily="18" charset="0"/>
              </a:rPr>
              <a:t>].</a:t>
            </a:r>
            <a:r>
              <a:rPr lang="en-US" sz="2400" dirty="0" err="1">
                <a:effectLst/>
                <a:latin typeface="Courier New" panose="02070309020205020404" pitchFamily="49" charset="0"/>
                <a:ea typeface="Times New Roman" panose="02020603050405020304" pitchFamily="18" charset="0"/>
              </a:rPr>
              <a:t>ToString</a:t>
            </a:r>
            <a:r>
              <a:rPr lang="en-US" sz="2400" dirty="0">
                <a:effectLst/>
                <a:latin typeface="Courier New" panose="02070309020205020404" pitchFamily="49" charset="0"/>
                <a:ea typeface="Times New Roman" panose="02020603050405020304" pitchFamily="18" charset="0"/>
              </a:rPr>
              <a:t> () +</a:t>
            </a:r>
            <a:r>
              <a:rPr lang="en-US" sz="2400" dirty="0">
                <a:solidFill>
                  <a:srgbClr val="800000"/>
                </a:solidFill>
                <a:effectLst/>
                <a:latin typeface="Courier New" panose="02070309020205020404" pitchFamily="49" charset="0"/>
                <a:ea typeface="Times New Roman" panose="02020603050405020304" pitchFamily="18" charset="0"/>
              </a:rPr>
              <a:t>" "</a:t>
            </a:r>
            <a:r>
              <a:rPr lang="en-US" sz="2400" dirty="0">
                <a:effectLst/>
                <a:latin typeface="Courier New" panose="02070309020205020404" pitchFamily="49" charset="0"/>
                <a:ea typeface="Times New Roman" panose="02020603050405020304" pitchFamily="18" charset="0"/>
              </a:rPr>
              <a:t>;</a:t>
            </a:r>
            <a:endParaRPr lang="ru-RU" sz="2400" dirty="0">
              <a:effectLst/>
              <a:latin typeface="Courier New" panose="02070309020205020404" pitchFamily="49" charset="0"/>
              <a:ea typeface="Times New Roman" panose="02020603050405020304" pitchFamily="18" charset="0"/>
            </a:endParaRPr>
          </a:p>
          <a:p>
            <a:pPr lvl="5"/>
            <a:r>
              <a:rPr lang="en-US" sz="1400" dirty="0">
                <a:effectLst/>
                <a:latin typeface="Times New Roman" panose="02020603050405020304" pitchFamily="18" charset="0"/>
                <a:ea typeface="Times New Roman" panose="02020603050405020304" pitchFamily="18" charset="0"/>
              </a:rPr>
              <a:t>{</a:t>
            </a:r>
            <a:endParaRPr lang="ru-RU" sz="1400" dirty="0">
              <a:effectLst/>
              <a:latin typeface="Times New Roman" panose="02020603050405020304" pitchFamily="18" charset="0"/>
              <a:ea typeface="Times New Roman" panose="02020603050405020304" pitchFamily="18" charset="0"/>
            </a:endParaRPr>
          </a:p>
          <a:p>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7605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инициализация</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lstStyle/>
          <a:p>
            <a:pPr marL="0" indent="0" algn="just">
              <a:buNone/>
            </a:pPr>
            <a:r>
              <a:rPr lang="ru-RU" sz="3200" dirty="0">
                <a:effectLst/>
                <a:latin typeface="Times New Roman" panose="02020603050405020304" pitchFamily="18" charset="0"/>
                <a:ea typeface="Times New Roman" panose="02020603050405020304" pitchFamily="18" charset="0"/>
              </a:rPr>
              <a:t>Размер массива (количество элементов) можно определить с помощью свойства </a:t>
            </a:r>
            <a:r>
              <a:rPr lang="en-US" sz="3200" dirty="0">
                <a:effectLst/>
                <a:latin typeface="Times New Roman" panose="02020603050405020304" pitchFamily="18" charset="0"/>
                <a:ea typeface="Times New Roman" panose="02020603050405020304" pitchFamily="18" charset="0"/>
              </a:rPr>
              <a:t>Length</a:t>
            </a:r>
            <a:r>
              <a:rPr lang="ru-RU" sz="3200" dirty="0">
                <a:effectLst/>
                <a:latin typeface="Times New Roman" panose="02020603050405020304" pitchFamily="18" charset="0"/>
                <a:ea typeface="Times New Roman" panose="02020603050405020304" pitchFamily="18" charset="0"/>
              </a:rPr>
              <a:t>. Например, выражение </a:t>
            </a:r>
            <a:r>
              <a:rPr lang="en-US" sz="3200" dirty="0" err="1">
                <a:effectLst/>
                <a:latin typeface="Times New Roman" panose="02020603050405020304" pitchFamily="18" charset="0"/>
                <a:ea typeface="Times New Roman" panose="02020603050405020304" pitchFamily="18" charset="0"/>
              </a:rPr>
              <a:t>nums</a:t>
            </a:r>
            <a:r>
              <a:rPr lang="ru-RU" sz="3200" dirty="0">
                <a:effectLst/>
                <a:latin typeface="Times New Roman" panose="02020603050405020304" pitchFamily="18" charset="0"/>
                <a:ea typeface="Times New Roman" panose="02020603050405020304" pitchFamily="18" charset="0"/>
              </a:rPr>
              <a:t>.</a:t>
            </a:r>
            <a:r>
              <a:rPr lang="en-US" sz="3200" dirty="0">
                <a:effectLst/>
                <a:latin typeface="Times New Roman" panose="02020603050405020304" pitchFamily="18" charset="0"/>
                <a:ea typeface="Times New Roman" panose="02020603050405020304" pitchFamily="18" charset="0"/>
              </a:rPr>
              <a:t>Length </a:t>
            </a:r>
            <a:r>
              <a:rPr lang="ru-RU" sz="3200" dirty="0">
                <a:effectLst/>
                <a:latin typeface="Times New Roman" panose="02020603050405020304" pitchFamily="18" charset="0"/>
                <a:ea typeface="Times New Roman" panose="02020603050405020304" pitchFamily="18" charset="0"/>
              </a:rPr>
              <a:t>является количество элементов в массиве </a:t>
            </a:r>
            <a:r>
              <a:rPr lang="en-US" sz="3200" dirty="0" err="1">
                <a:effectLst/>
                <a:latin typeface="Times New Roman" panose="02020603050405020304" pitchFamily="18" charset="0"/>
                <a:ea typeface="Times New Roman" panose="02020603050405020304" pitchFamily="18" charset="0"/>
              </a:rPr>
              <a:t>nums</a:t>
            </a:r>
            <a:r>
              <a:rPr lang="ru-RU" sz="3200" dirty="0">
                <a:effectLst/>
                <a:latin typeface="Times New Roman" panose="02020603050405020304" pitchFamily="18" charset="0"/>
                <a:ea typeface="Times New Roman" panose="02020603050405020304" pitchFamily="18" charset="0"/>
              </a:rPr>
              <a:t>. Ссылка на первый элемент в массиве выглядит как </a:t>
            </a:r>
            <a:r>
              <a:rPr lang="en-US" sz="3200" dirty="0" err="1">
                <a:effectLst/>
                <a:latin typeface="Times New Roman" panose="02020603050405020304" pitchFamily="18" charset="0"/>
                <a:ea typeface="Times New Roman" panose="02020603050405020304" pitchFamily="18" charset="0"/>
              </a:rPr>
              <a:t>nums</a:t>
            </a:r>
            <a:r>
              <a:rPr lang="ru-RU" sz="3200" dirty="0">
                <a:effectLst/>
                <a:latin typeface="Times New Roman" panose="02020603050405020304" pitchFamily="18" charset="0"/>
                <a:ea typeface="Times New Roman" panose="02020603050405020304" pitchFamily="18" charset="0"/>
              </a:rPr>
              <a:t>[0], ссылка на второй элемент – это </a:t>
            </a:r>
            <a:r>
              <a:rPr lang="en-US" sz="3200" dirty="0" err="1">
                <a:effectLst/>
                <a:latin typeface="Times New Roman" panose="02020603050405020304" pitchFamily="18" charset="0"/>
                <a:ea typeface="Times New Roman" panose="02020603050405020304" pitchFamily="18" charset="0"/>
              </a:rPr>
              <a:t>nums</a:t>
            </a:r>
            <a:r>
              <a:rPr lang="ru-RU" sz="3200" dirty="0">
                <a:effectLst/>
                <a:latin typeface="Times New Roman" panose="02020603050405020304" pitchFamily="18" charset="0"/>
                <a:ea typeface="Times New Roman" panose="02020603050405020304" pitchFamily="18" charset="0"/>
              </a:rPr>
              <a:t>[1], а ссылка на последний элемент массива дается выражением </a:t>
            </a:r>
            <a:r>
              <a:rPr lang="en-US" sz="3200" dirty="0" err="1">
                <a:effectLst/>
                <a:latin typeface="Times New Roman" panose="02020603050405020304" pitchFamily="18" charset="0"/>
                <a:ea typeface="Times New Roman" panose="02020603050405020304" pitchFamily="18" charset="0"/>
              </a:rPr>
              <a:t>nums</a:t>
            </a:r>
            <a:r>
              <a:rPr lang="ru-RU" sz="3200" dirty="0">
                <a:effectLst/>
                <a:latin typeface="Times New Roman" panose="02020603050405020304" pitchFamily="18" charset="0"/>
                <a:ea typeface="Times New Roman" panose="02020603050405020304" pitchFamily="18" charset="0"/>
              </a:rPr>
              <a:t>[</a:t>
            </a:r>
            <a:r>
              <a:rPr lang="en-US" sz="3200" dirty="0" err="1">
                <a:effectLst/>
                <a:latin typeface="Times New Roman" panose="02020603050405020304" pitchFamily="18" charset="0"/>
                <a:ea typeface="Times New Roman" panose="02020603050405020304" pitchFamily="18" charset="0"/>
              </a:rPr>
              <a:t>nums</a:t>
            </a:r>
            <a:r>
              <a:rPr lang="ru-RU" sz="3200" dirty="0">
                <a:effectLst/>
                <a:latin typeface="Times New Roman" panose="02020603050405020304" pitchFamily="18" charset="0"/>
                <a:ea typeface="Times New Roman" panose="02020603050405020304" pitchFamily="18" charset="0"/>
              </a:rPr>
              <a:t>.</a:t>
            </a:r>
            <a:r>
              <a:rPr lang="en-US" sz="3200" dirty="0">
                <a:effectLst/>
                <a:latin typeface="Times New Roman" panose="02020603050405020304" pitchFamily="18" charset="0"/>
                <a:ea typeface="Times New Roman" panose="02020603050405020304" pitchFamily="18" charset="0"/>
              </a:rPr>
              <a:t>Length</a:t>
            </a:r>
            <a:r>
              <a:rPr lang="ru-RU" sz="3200" dirty="0">
                <a:effectLst/>
                <a:latin typeface="Times New Roman" panose="02020603050405020304" pitchFamily="18" charset="0"/>
                <a:ea typeface="Times New Roman" panose="02020603050405020304" pitchFamily="18" charset="0"/>
              </a:rPr>
              <a:t>-1]. </a:t>
            </a:r>
          </a:p>
          <a:p>
            <a:pPr marL="0" lvl="0" indent="0" algn="just">
              <a:buNone/>
            </a:pP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7522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1</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lstStyle/>
          <a:p>
            <a:pPr marL="0" indent="0" algn="just">
              <a:buNone/>
            </a:pPr>
            <a:r>
              <a:rPr lang="ru-RU" sz="2000" dirty="0">
                <a:latin typeface="Times New Roman" panose="02020603050405020304" pitchFamily="18" charset="0"/>
                <a:ea typeface="Times New Roman" panose="02020603050405020304" pitchFamily="18" charset="0"/>
              </a:rPr>
              <a:t>П</a:t>
            </a:r>
            <a:r>
              <a:rPr lang="ru-RU" sz="2000" dirty="0">
                <a:effectLst/>
                <a:latin typeface="Times New Roman" panose="02020603050405020304" pitchFamily="18" charset="0"/>
                <a:ea typeface="Times New Roman" panose="02020603050405020304" pitchFamily="18" charset="0"/>
              </a:rPr>
              <a:t>оиск значения минимального элемента в одномерном массиве.</a:t>
            </a:r>
          </a:p>
          <a:p>
            <a:pPr indent="810260"/>
            <a:r>
              <a:rPr lang="en-US" sz="20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min</a:t>
            </a:r>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4[0];</a:t>
            </a:r>
            <a:endParaRPr lang="ru-RU" sz="2000" dirty="0">
              <a:effectLst/>
              <a:latin typeface="Times New Roman" panose="02020603050405020304" pitchFamily="18" charset="0"/>
              <a:ea typeface="Times New Roman" panose="02020603050405020304" pitchFamily="18" charset="0"/>
            </a:endParaRPr>
          </a:p>
          <a:p>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for</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1;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10;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if</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(nums4[</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min) min = nums4[</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Console.WriteLine</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Console.WriteLine</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20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ru-RU" sz="20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Минимальный элемент</a:t>
            </a:r>
            <a:r>
              <a:rPr lang="en-US" sz="20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 </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{min}</a:t>
            </a:r>
            <a:r>
              <a:rPr lang="en-US" sz="20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Console.ReadLine</a:t>
            </a:r>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2000" dirty="0">
              <a:effectLst/>
              <a:latin typeface="Times New Roman" panose="02020603050405020304" pitchFamily="18" charset="0"/>
              <a:ea typeface="Times New Roman" panose="02020603050405020304" pitchFamily="18" charset="0"/>
            </a:endParaRPr>
          </a:p>
          <a:p>
            <a:pPr marL="0" lvl="0" indent="0" algn="just">
              <a:buNone/>
            </a:pP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4188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1</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lstStyle/>
          <a:p>
            <a:pPr indent="450215" algn="just"/>
            <a:r>
              <a:rPr lang="ru-RU" dirty="0">
                <a:effectLst/>
                <a:latin typeface="Times New Roman" panose="02020603050405020304" pitchFamily="18" charset="0"/>
                <a:ea typeface="Times New Roman" panose="02020603050405020304" pitchFamily="18" charset="0"/>
              </a:rPr>
              <a:t>Результат:</a:t>
            </a:r>
          </a:p>
          <a:p>
            <a:pPr indent="450215" algn="just"/>
            <a:r>
              <a:rPr lang="ru-RU" dirty="0">
                <a:effectLst/>
                <a:latin typeface="Times New Roman" panose="02020603050405020304" pitchFamily="18" charset="0"/>
                <a:ea typeface="Times New Roman" panose="02020603050405020304" pitchFamily="18" charset="0"/>
              </a:rPr>
              <a:t> </a:t>
            </a:r>
          </a:p>
          <a:p>
            <a:pPr indent="450215" algn="just"/>
            <a:r>
              <a:rPr lang="ru-RU" dirty="0">
                <a:effectLst/>
                <a:latin typeface="Times New Roman" panose="02020603050405020304" pitchFamily="18" charset="0"/>
                <a:ea typeface="Times New Roman" panose="02020603050405020304" pitchFamily="18" charset="0"/>
              </a:rPr>
              <a:t>Поиск минимального элемента массива</a:t>
            </a:r>
          </a:p>
          <a:p>
            <a:pPr indent="450215" algn="just"/>
            <a:r>
              <a:rPr lang="ru-RU" dirty="0">
                <a:effectLst/>
                <a:latin typeface="Times New Roman" panose="02020603050405020304" pitchFamily="18" charset="0"/>
                <a:ea typeface="Times New Roman" panose="02020603050405020304" pitchFamily="18" charset="0"/>
              </a:rPr>
              <a:t>19 13 18 15 5 1 18 5 4 14</a:t>
            </a:r>
          </a:p>
          <a:p>
            <a:pPr indent="450215" algn="just"/>
            <a:r>
              <a:rPr lang="ru-RU" dirty="0">
                <a:effectLst/>
                <a:latin typeface="Times New Roman" panose="02020603050405020304" pitchFamily="18" charset="0"/>
                <a:ea typeface="Times New Roman" panose="02020603050405020304" pitchFamily="18" charset="0"/>
              </a:rPr>
              <a:t>Минимальный элемент = 1</a:t>
            </a:r>
          </a:p>
          <a:p>
            <a:pPr marL="0" lvl="0" indent="0" algn="just">
              <a:buNone/>
            </a:pP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2067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2</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fontScale="92500" lnSpcReduction="10000"/>
          </a:bodyPr>
          <a:lstStyle/>
          <a:p>
            <a:pPr marL="0" lvl="0" indent="0" algn="just">
              <a:buNone/>
            </a:pPr>
            <a:r>
              <a:rPr lang="ru-RU" sz="1800" dirty="0">
                <a:latin typeface="Times New Roman" panose="02020603050405020304" pitchFamily="18" charset="0"/>
                <a:cs typeface="Times New Roman" panose="02020603050405020304" pitchFamily="18" charset="0"/>
              </a:rPr>
              <a:t>Найти максимальный элемент и поставить на первое место</a:t>
            </a:r>
          </a:p>
          <a:p>
            <a:r>
              <a:rPr lang="en-US" sz="1800" dirty="0">
                <a:solidFill>
                  <a:srgbClr val="0000FF"/>
                </a:solidFill>
                <a:latin typeface="Consolas" panose="020B0609020204030204" pitchFamily="49" charset="0"/>
              </a:rPr>
              <a:t>class</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Program</a:t>
            </a:r>
            <a:endParaRPr lang="en-US" sz="1800" dirty="0">
              <a:solidFill>
                <a:srgbClr val="000000"/>
              </a:solidFill>
              <a:latin typeface="Consolas" panose="020B0609020204030204" pitchFamily="49" charset="0"/>
            </a:endParaRPr>
          </a:p>
          <a:p>
            <a:r>
              <a:rPr lang="ru-RU" sz="1800" dirty="0">
                <a:solidFill>
                  <a:srgbClr val="000000"/>
                </a:solidFill>
                <a:latin typeface="Consolas" panose="020B0609020204030204" pitchFamily="49" charset="0"/>
              </a:rPr>
              <a:t>    {</a:t>
            </a:r>
          </a:p>
          <a:p>
            <a:r>
              <a:rPr lang="ru-RU" sz="1800" dirty="0">
                <a:solidFill>
                  <a:srgbClr val="000000"/>
                </a:solidFill>
                <a:latin typeface="Consolas" panose="020B0609020204030204" pitchFamily="49" charset="0"/>
              </a:rPr>
              <a:t>        </a:t>
            </a:r>
            <a:r>
              <a:rPr lang="ru-RU" sz="1800" dirty="0">
                <a:solidFill>
                  <a:srgbClr val="008000"/>
                </a:solidFill>
                <a:latin typeface="Consolas" panose="020B0609020204030204" pitchFamily="49" charset="0"/>
              </a:rPr>
              <a:t>//Метод создает и возвращает массив</a:t>
            </a:r>
            <a:endParaRPr lang="ru-RU"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CrMass</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n)</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 = </a:t>
            </a:r>
            <a:r>
              <a:rPr lang="en-US" sz="1800" dirty="0">
                <a:solidFill>
                  <a:srgbClr val="0000FF"/>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[n];</a:t>
            </a:r>
          </a:p>
          <a:p>
            <a:r>
              <a:rPr lang="en-US" sz="1800" dirty="0">
                <a:solidFill>
                  <a:srgbClr val="000000"/>
                </a:solidFill>
                <a:latin typeface="Consolas" panose="020B0609020204030204" pitchFamily="49" charset="0"/>
              </a:rPr>
              <a:t>            Random </a:t>
            </a:r>
            <a:r>
              <a:rPr lang="en-US" sz="1800" dirty="0" err="1">
                <a:solidFill>
                  <a:srgbClr val="000000"/>
                </a:solidFill>
                <a:latin typeface="Consolas" panose="020B0609020204030204" pitchFamily="49" charset="0"/>
              </a:rPr>
              <a:t>rnd</a:t>
            </a:r>
            <a:r>
              <a:rPr lang="en-US" sz="1800" dirty="0">
                <a:solidFill>
                  <a:srgbClr val="000000"/>
                </a:solidFill>
                <a:latin typeface="Consolas" panose="020B0609020204030204" pitchFamily="49" charset="0"/>
              </a:rPr>
              <a:t> = </a:t>
            </a:r>
            <a:r>
              <a:rPr lang="en-US" sz="1800" dirty="0">
                <a:solidFill>
                  <a:srgbClr val="0000FF"/>
                </a:solidFill>
                <a:latin typeface="Consolas" panose="020B0609020204030204" pitchFamily="49" charset="0"/>
              </a:rPr>
              <a:t>new</a:t>
            </a:r>
            <a:r>
              <a:rPr lang="en-US" sz="1800" dirty="0">
                <a:solidFill>
                  <a:srgbClr val="000000"/>
                </a:solidFill>
                <a:latin typeface="Consolas" panose="020B0609020204030204" pitchFamily="49" charset="0"/>
              </a:rPr>
              <a:t> Random();</a:t>
            </a:r>
          </a:p>
          <a:p>
            <a:r>
              <a:rPr lang="ru-RU" sz="1800" dirty="0">
                <a:solidFill>
                  <a:srgbClr val="000000"/>
                </a:solidFill>
                <a:latin typeface="Consolas" panose="020B0609020204030204" pitchFamily="49" charset="0"/>
              </a:rPr>
              <a:t>            </a:t>
            </a:r>
            <a:r>
              <a:rPr lang="ru-RU" sz="1800" dirty="0">
                <a:solidFill>
                  <a:srgbClr val="008000"/>
                </a:solidFill>
                <a:latin typeface="Consolas" panose="020B0609020204030204" pitchFamily="49" charset="0"/>
              </a:rPr>
              <a:t>//Заполнение случайными числами</a:t>
            </a:r>
            <a:endParaRPr lang="ru-RU" sz="1800" dirty="0">
              <a:solidFill>
                <a:srgbClr val="000000"/>
              </a:solidFill>
              <a:latin typeface="Consolas" panose="020B0609020204030204" pitchFamily="49" charset="0"/>
            </a:endParaRPr>
          </a:p>
          <a:p>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for</a:t>
            </a:r>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int</a:t>
            </a:r>
            <a:r>
              <a:rPr lang="nn-NO" sz="1800" dirty="0">
                <a:solidFill>
                  <a:srgbClr val="000000"/>
                </a:solidFill>
                <a:latin typeface="Consolas" panose="020B0609020204030204" pitchFamily="49" charset="0"/>
              </a:rPr>
              <a:t> i = 0; i &lt; nums.Length; i++)</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rnd.Next</a:t>
            </a:r>
            <a:r>
              <a:rPr lang="en-US" sz="1800" dirty="0">
                <a:solidFill>
                  <a:srgbClr val="000000"/>
                </a:solidFill>
                <a:latin typeface="Consolas" panose="020B0609020204030204" pitchFamily="49" charset="0"/>
              </a:rPr>
              <a:t>(-20, 21);</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922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2</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ru-RU" sz="2400" dirty="0">
                <a:solidFill>
                  <a:srgbClr val="008000"/>
                </a:solidFill>
                <a:latin typeface="Consolas" panose="020B0609020204030204" pitchFamily="49" charset="0"/>
              </a:rPr>
              <a:t>//Вывод массива на консоль</a:t>
            </a:r>
            <a:endParaRPr lang="ru-RU"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static</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void</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Printmass</a:t>
            </a:r>
            <a:r>
              <a:rPr lang="en-US" sz="2400" dirty="0">
                <a:solidFill>
                  <a:srgbClr val="000000"/>
                </a:solidFill>
                <a:latin typeface="Consolas" panose="020B0609020204030204" pitchFamily="49" charset="0"/>
              </a:rPr>
              <a:t>(</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nums</a:t>
            </a:r>
            <a:r>
              <a:rPr lang="en-US" sz="2400" dirty="0">
                <a:solidFill>
                  <a:srgbClr val="000000"/>
                </a:solidFill>
                <a:latin typeface="Consolas" panose="020B0609020204030204" pitchFamily="49" charset="0"/>
              </a:rPr>
              <a:t>)</a:t>
            </a:r>
          </a:p>
          <a:p>
            <a:r>
              <a:rPr lang="ru-RU" sz="2400" dirty="0">
                <a:solidFill>
                  <a:srgbClr val="000000"/>
                </a:solidFill>
                <a:latin typeface="Consolas" panose="020B0609020204030204" pitchFamily="49" charset="0"/>
              </a:rPr>
              <a:t>        {</a:t>
            </a:r>
          </a:p>
          <a:p>
            <a:r>
              <a:rPr lang="nn-NO" sz="2400" dirty="0">
                <a:solidFill>
                  <a:srgbClr val="000000"/>
                </a:solidFill>
                <a:latin typeface="Consolas" panose="020B0609020204030204" pitchFamily="49" charset="0"/>
              </a:rPr>
              <a:t>            </a:t>
            </a:r>
            <a:r>
              <a:rPr lang="nn-NO" sz="2400" dirty="0">
                <a:solidFill>
                  <a:srgbClr val="0000FF"/>
                </a:solidFill>
                <a:latin typeface="Consolas" panose="020B0609020204030204" pitchFamily="49" charset="0"/>
              </a:rPr>
              <a:t>for</a:t>
            </a:r>
            <a:r>
              <a:rPr lang="nn-NO" sz="2400" dirty="0">
                <a:solidFill>
                  <a:srgbClr val="000000"/>
                </a:solidFill>
                <a:latin typeface="Consolas" panose="020B0609020204030204" pitchFamily="49" charset="0"/>
              </a:rPr>
              <a:t> (</a:t>
            </a:r>
            <a:r>
              <a:rPr lang="nn-NO" sz="2400" dirty="0">
                <a:solidFill>
                  <a:srgbClr val="0000FF"/>
                </a:solidFill>
                <a:latin typeface="Consolas" panose="020B0609020204030204" pitchFamily="49" charset="0"/>
              </a:rPr>
              <a:t>int</a:t>
            </a:r>
            <a:r>
              <a:rPr lang="nn-NO" sz="2400" dirty="0">
                <a:solidFill>
                  <a:srgbClr val="000000"/>
                </a:solidFill>
                <a:latin typeface="Consolas" panose="020B0609020204030204" pitchFamily="49" charset="0"/>
              </a:rPr>
              <a:t> i = 0; i &lt; nums.Length; i++)</a:t>
            </a:r>
          </a:p>
          <a:p>
            <a:r>
              <a:rPr lang="ru-RU" sz="2400" dirty="0">
                <a:solidFill>
                  <a:srgbClr val="000000"/>
                </a:solidFill>
                <a:latin typeface="Consolas" panose="020B0609020204030204" pitchFamily="49" charset="0"/>
              </a:rPr>
              <a:t>            {</a:t>
            </a:r>
          </a:p>
          <a:p>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Console.Write</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nums</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i</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 "</a:t>
            </a:r>
            <a:r>
              <a:rPr lang="en-US" sz="2400" dirty="0">
                <a:solidFill>
                  <a:srgbClr val="000000"/>
                </a:solidFill>
                <a:latin typeface="Consolas" panose="020B0609020204030204" pitchFamily="49" charset="0"/>
              </a:rPr>
              <a:t>);</a:t>
            </a:r>
          </a:p>
          <a:p>
            <a:r>
              <a:rPr lang="ru-RU" sz="2400" dirty="0">
                <a:solidFill>
                  <a:srgbClr val="000000"/>
                </a:solidFill>
                <a:latin typeface="Consolas" panose="020B0609020204030204" pitchFamily="49" charset="0"/>
              </a:rPr>
              <a:t>            }</a:t>
            </a:r>
          </a:p>
          <a:p>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Console.WriteLine</a:t>
            </a:r>
            <a:r>
              <a:rPr lang="en-US" sz="2400" dirty="0">
                <a:solidFill>
                  <a:srgbClr val="000000"/>
                </a:solidFill>
                <a:latin typeface="Consolas" panose="020B0609020204030204" pitchFamily="49" charset="0"/>
              </a:rPr>
              <a:t>();</a:t>
            </a:r>
          </a:p>
          <a:p>
            <a:r>
              <a:rPr lang="ru-RU" sz="2400" dirty="0">
                <a:solidFill>
                  <a:srgbClr val="000000"/>
                </a:solidFill>
                <a:latin typeface="Consolas" panose="020B0609020204030204" pitchFamily="49"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810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2</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fontScale="70000" lnSpcReduction="20000"/>
          </a:bodyPr>
          <a:lstStyle/>
          <a:p>
            <a:r>
              <a:rPr lang="ru-RU" sz="1800" dirty="0">
                <a:solidFill>
                  <a:srgbClr val="008000"/>
                </a:solidFill>
                <a:latin typeface="Consolas" panose="020B0609020204030204" pitchFamily="49" charset="0"/>
              </a:rPr>
              <a:t>//Поиск и перестановка</a:t>
            </a:r>
            <a:endParaRPr lang="ru-RU"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void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ChangeMass</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ref</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mx = A[0];</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imx</a:t>
            </a:r>
            <a:r>
              <a:rPr lang="en-US" sz="1800" dirty="0">
                <a:solidFill>
                  <a:srgbClr val="000000"/>
                </a:solidFill>
                <a:latin typeface="Consolas" panose="020B0609020204030204" pitchFamily="49" charset="0"/>
              </a:rPr>
              <a:t> = 0;</a:t>
            </a:r>
          </a:p>
          <a:p>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for</a:t>
            </a:r>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int</a:t>
            </a:r>
            <a:r>
              <a:rPr lang="nn-NO" sz="1800" dirty="0">
                <a:solidFill>
                  <a:srgbClr val="000000"/>
                </a:solidFill>
                <a:latin typeface="Consolas" panose="020B0609020204030204" pitchFamily="49" charset="0"/>
              </a:rPr>
              <a:t> i = 0; i &lt; A.Length; i++)</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]&gt;mx)</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mx = A[</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imx</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a:t>
            </a:r>
            <a:r>
              <a:rPr lang="en-US" sz="1800" dirty="0" err="1">
                <a:solidFill>
                  <a:srgbClr val="000000"/>
                </a:solidFill>
                <a:latin typeface="Consolas" panose="020B0609020204030204" pitchFamily="49" charset="0"/>
              </a:rPr>
              <a:t>imx</a:t>
            </a:r>
            <a:r>
              <a:rPr lang="en-US" sz="1800" dirty="0">
                <a:solidFill>
                  <a:srgbClr val="000000"/>
                </a:solidFill>
                <a:latin typeface="Consolas" panose="020B0609020204030204" pitchFamily="49" charset="0"/>
              </a:rPr>
              <a:t>] = A[0];</a:t>
            </a:r>
          </a:p>
          <a:p>
            <a:r>
              <a:rPr lang="en-US" sz="1800" dirty="0">
                <a:solidFill>
                  <a:srgbClr val="000000"/>
                </a:solidFill>
                <a:latin typeface="Consolas" panose="020B0609020204030204" pitchFamily="49" charset="0"/>
              </a:rPr>
              <a:t>            A[0] = mx;</a:t>
            </a:r>
          </a:p>
          <a:p>
            <a:r>
              <a:rPr lang="ru-RU" sz="1800" dirty="0">
                <a:solidFill>
                  <a:srgbClr val="000000"/>
                </a:solidFill>
                <a:latin typeface="Consolas" panose="020B0609020204030204" pitchFamily="49"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5000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2</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lnSpcReduction="10000"/>
          </a:bodyPr>
          <a:lstStyle/>
          <a:p>
            <a:r>
              <a:rPr lang="en-US" sz="1800" dirty="0">
                <a:solidFill>
                  <a:srgbClr val="0000FF"/>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void</a:t>
            </a:r>
            <a:r>
              <a:rPr lang="en-US" sz="1800" dirty="0">
                <a:solidFill>
                  <a:srgbClr val="000000"/>
                </a:solidFill>
                <a:latin typeface="Consolas" panose="020B0609020204030204" pitchFamily="49" charset="0"/>
              </a:rPr>
              <a:t> Main(</a:t>
            </a:r>
            <a:r>
              <a:rPr lang="en-US" sz="1800" dirty="0">
                <a:solidFill>
                  <a:srgbClr val="0000FF"/>
                </a:solidFill>
                <a:latin typeface="Consolas" panose="020B0609020204030204" pitchFamily="49" charset="0"/>
              </a:rPr>
              <a:t>string</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args</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n = 10;</a:t>
            </a:r>
          </a:p>
          <a:p>
            <a:r>
              <a:rPr lang="en-US" sz="1800" dirty="0">
                <a:solidFill>
                  <a:srgbClr val="000000"/>
                </a:solidFill>
                <a:latin typeface="Consolas" panose="020B0609020204030204" pitchFamily="49" charset="0"/>
              </a:rPr>
              <a:t>            A = </a:t>
            </a:r>
            <a:r>
              <a:rPr lang="en-US" sz="1800" dirty="0" err="1">
                <a:solidFill>
                  <a:srgbClr val="000000"/>
                </a:solidFill>
                <a:latin typeface="Consolas" panose="020B0609020204030204" pitchFamily="49" charset="0"/>
              </a:rPr>
              <a:t>CrMass</a:t>
            </a:r>
            <a:r>
              <a:rPr lang="en-US" sz="1800" dirty="0">
                <a:solidFill>
                  <a:srgbClr val="000000"/>
                </a:solidFill>
                <a:latin typeface="Consolas" panose="020B0609020204030204" pitchFamily="49" charset="0"/>
              </a:rPr>
              <a:t>(n);</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Printmass</a:t>
            </a:r>
            <a:r>
              <a:rPr lang="en-US" sz="1800" dirty="0">
                <a:solidFill>
                  <a:srgbClr val="000000"/>
                </a:solidFill>
                <a:latin typeface="Consolas" panose="020B0609020204030204" pitchFamily="49" charset="0"/>
              </a:rPr>
              <a:t>(A);</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ChangeMass</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ref</a:t>
            </a:r>
            <a:r>
              <a:rPr lang="en-US" sz="1800" dirty="0">
                <a:solidFill>
                  <a:srgbClr val="000000"/>
                </a:solidFill>
                <a:latin typeface="Consolas" panose="020B0609020204030204" pitchFamily="49" charset="0"/>
              </a:rPr>
              <a:t> A);</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Printmass</a:t>
            </a:r>
            <a:r>
              <a:rPr lang="en-US" sz="1800" dirty="0">
                <a:solidFill>
                  <a:srgbClr val="000000"/>
                </a:solidFill>
                <a:latin typeface="Consolas" panose="020B0609020204030204" pitchFamily="49" charset="0"/>
              </a:rPr>
              <a:t>(A);</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Console.ReadLine</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ru-RU" sz="1800" dirty="0">
                <a:solidFill>
                  <a:srgbClr val="000000"/>
                </a:solidFill>
                <a:latin typeface="Consolas" panose="020B0609020204030204" pitchFamily="49" charset="0"/>
              </a:rPr>
              <a:t>    }</a:t>
            </a:r>
          </a:p>
          <a:p>
            <a:r>
              <a:rPr lang="ru-RU" sz="1800" dirty="0">
                <a:solidFill>
                  <a:srgbClr val="000000"/>
                </a:solidFill>
                <a:latin typeface="Consolas" panose="020B0609020204030204" pitchFamily="49" charset="0"/>
              </a:rPr>
              <a:t>}</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373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2</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ru-RU" sz="4000" dirty="0">
                <a:latin typeface="Times New Roman" panose="02020603050405020304" pitchFamily="18" charset="0"/>
                <a:cs typeface="Times New Roman" panose="02020603050405020304" pitchFamily="18" charset="0"/>
              </a:rPr>
              <a:t>Результат</a:t>
            </a:r>
          </a:p>
          <a:p>
            <a:r>
              <a:rPr lang="ru-RU" sz="4000" dirty="0">
                <a:latin typeface="Times New Roman" panose="02020603050405020304" pitchFamily="18" charset="0"/>
                <a:cs typeface="Times New Roman" panose="02020603050405020304" pitchFamily="18" charset="0"/>
              </a:rPr>
              <a:t>8 9 11 -11 -6 -5 5 3 19 -17</a:t>
            </a:r>
          </a:p>
          <a:p>
            <a:r>
              <a:rPr lang="ru-RU" sz="4000" dirty="0">
                <a:latin typeface="Times New Roman" panose="02020603050405020304" pitchFamily="18" charset="0"/>
                <a:cs typeface="Times New Roman" panose="02020603050405020304" pitchFamily="18" charset="0"/>
              </a:rPr>
              <a:t>19 9 11 -11 -6 -5 5 3 8 -17</a:t>
            </a:r>
          </a:p>
        </p:txBody>
      </p:sp>
    </p:spTree>
    <p:extLst>
      <p:ext uri="{BB962C8B-B14F-4D97-AF65-F5344CB8AC3E}">
        <p14:creationId xmlns:p14="http://schemas.microsoft.com/office/powerpoint/2010/main" val="1087636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3</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pPr marL="0" indent="0">
              <a:buNone/>
            </a:pPr>
            <a:r>
              <a:rPr lang="ru-RU" sz="4000" dirty="0">
                <a:latin typeface="Times New Roman" panose="02020603050405020304" pitchFamily="18" charset="0"/>
                <a:cs typeface="Times New Roman" panose="02020603050405020304" pitchFamily="18" charset="0"/>
              </a:rPr>
              <a:t>Оценка в спортивных состязаниях</a:t>
            </a:r>
          </a:p>
          <a:p>
            <a:pPr marL="0" indent="0">
              <a:buNone/>
            </a:pPr>
            <a:r>
              <a:rPr lang="ru-RU" sz="4000" dirty="0">
                <a:latin typeface="Times New Roman" panose="02020603050405020304" pitchFamily="18" charset="0"/>
                <a:cs typeface="Times New Roman" panose="02020603050405020304" pitchFamily="18" charset="0"/>
              </a:rPr>
              <a:t>Суммируем оценки судей. Вычитаем минимальную и минимальную. Затем находим среднюю по оставшимся оценкам.</a:t>
            </a:r>
          </a:p>
        </p:txBody>
      </p:sp>
    </p:spTree>
    <p:extLst>
      <p:ext uri="{BB962C8B-B14F-4D97-AF65-F5344CB8AC3E}">
        <p14:creationId xmlns:p14="http://schemas.microsoft.com/office/powerpoint/2010/main" val="78333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3</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en-US" sz="1800" dirty="0">
                <a:solidFill>
                  <a:srgbClr val="0000FF"/>
                </a:solidFill>
                <a:latin typeface="Consolas" panose="020B0609020204030204" pitchFamily="49" charset="0"/>
              </a:rPr>
              <a:t>class</a:t>
            </a:r>
            <a:r>
              <a:rPr lang="en-US" sz="1800" dirty="0">
                <a:solidFill>
                  <a:srgbClr val="000000"/>
                </a:solidFill>
                <a:latin typeface="Consolas" panose="020B0609020204030204" pitchFamily="49" charset="0"/>
              </a:rPr>
              <a:t> </a:t>
            </a:r>
            <a:r>
              <a:rPr lang="en-US" sz="1800" dirty="0">
                <a:solidFill>
                  <a:srgbClr val="2B91AF"/>
                </a:solidFill>
                <a:latin typeface="Consolas" panose="020B0609020204030204" pitchFamily="49" charset="0"/>
              </a:rPr>
              <a:t>Program</a:t>
            </a:r>
            <a:endParaRPr lang="en-US" sz="1800" dirty="0">
              <a:solidFill>
                <a:srgbClr val="000000"/>
              </a:solidFill>
              <a:latin typeface="Consolas" panose="020B0609020204030204" pitchFamily="49" charset="0"/>
            </a:endParaRP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double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CrMass</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n)</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double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 = </a:t>
            </a:r>
            <a:r>
              <a:rPr lang="en-US" sz="1800" dirty="0">
                <a:solidFill>
                  <a:srgbClr val="0000FF"/>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double</a:t>
            </a:r>
            <a:r>
              <a:rPr lang="en-US" sz="1800" dirty="0">
                <a:solidFill>
                  <a:srgbClr val="000000"/>
                </a:solidFill>
                <a:latin typeface="Consolas" panose="020B0609020204030204" pitchFamily="49" charset="0"/>
              </a:rPr>
              <a:t>[n];</a:t>
            </a:r>
          </a:p>
          <a:p>
            <a:r>
              <a:rPr lang="en-US" sz="1800" dirty="0">
                <a:solidFill>
                  <a:srgbClr val="000000"/>
                </a:solidFill>
                <a:latin typeface="Consolas" panose="020B0609020204030204" pitchFamily="49" charset="0"/>
              </a:rPr>
              <a:t>            Random </a:t>
            </a:r>
            <a:r>
              <a:rPr lang="en-US" sz="1800" dirty="0" err="1">
                <a:solidFill>
                  <a:srgbClr val="000000"/>
                </a:solidFill>
                <a:latin typeface="Consolas" panose="020B0609020204030204" pitchFamily="49" charset="0"/>
              </a:rPr>
              <a:t>rnd</a:t>
            </a:r>
            <a:r>
              <a:rPr lang="en-US" sz="1800" dirty="0">
                <a:solidFill>
                  <a:srgbClr val="000000"/>
                </a:solidFill>
                <a:latin typeface="Consolas" panose="020B0609020204030204" pitchFamily="49" charset="0"/>
              </a:rPr>
              <a:t> = </a:t>
            </a:r>
            <a:r>
              <a:rPr lang="en-US" sz="1800" dirty="0">
                <a:solidFill>
                  <a:srgbClr val="0000FF"/>
                </a:solidFill>
                <a:latin typeface="Consolas" panose="020B0609020204030204" pitchFamily="49" charset="0"/>
              </a:rPr>
              <a:t>new</a:t>
            </a:r>
            <a:r>
              <a:rPr lang="en-US" sz="1800" dirty="0">
                <a:solidFill>
                  <a:srgbClr val="000000"/>
                </a:solidFill>
                <a:latin typeface="Consolas" panose="020B0609020204030204" pitchFamily="49" charset="0"/>
              </a:rPr>
              <a:t> Random();</a:t>
            </a:r>
          </a:p>
          <a:p>
            <a:r>
              <a:rPr lang="ru-RU" sz="1800" dirty="0">
                <a:solidFill>
                  <a:srgbClr val="000000"/>
                </a:solidFill>
                <a:latin typeface="Consolas" panose="020B0609020204030204" pitchFamily="49" charset="0"/>
              </a:rPr>
              <a:t>            </a:t>
            </a:r>
            <a:r>
              <a:rPr lang="ru-RU" sz="1800" dirty="0">
                <a:solidFill>
                  <a:srgbClr val="008000"/>
                </a:solidFill>
                <a:latin typeface="Consolas" panose="020B0609020204030204" pitchFamily="49" charset="0"/>
              </a:rPr>
              <a:t>//Заполнение случайными числами</a:t>
            </a:r>
            <a:endParaRPr lang="ru-RU" sz="1800" dirty="0">
              <a:solidFill>
                <a:srgbClr val="000000"/>
              </a:solidFill>
              <a:latin typeface="Consolas" panose="020B0609020204030204" pitchFamily="49" charset="0"/>
            </a:endParaRPr>
          </a:p>
          <a:p>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for</a:t>
            </a:r>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int</a:t>
            </a:r>
            <a:r>
              <a:rPr lang="nn-NO" sz="1800" dirty="0">
                <a:solidFill>
                  <a:srgbClr val="000000"/>
                </a:solidFill>
                <a:latin typeface="Consolas" panose="020B0609020204030204" pitchFamily="49" charset="0"/>
              </a:rPr>
              <a:t> i = 0; i &lt; nums.Length; i++)</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 5*</a:t>
            </a:r>
            <a:r>
              <a:rPr lang="en-US" sz="1800" dirty="0" err="1">
                <a:solidFill>
                  <a:srgbClr val="000000"/>
                </a:solidFill>
                <a:latin typeface="Consolas" panose="020B0609020204030204" pitchFamily="49" charset="0"/>
              </a:rPr>
              <a:t>rnd.NextDouble</a:t>
            </a:r>
            <a:r>
              <a:rPr lang="en-US" sz="1800" dirty="0">
                <a:solidFill>
                  <a:srgbClr val="000000"/>
                </a:solidFill>
                <a:latin typeface="Consolas" panose="020B0609020204030204" pitchFamily="49" charset="0"/>
              </a:rPr>
              <a:t>()+5;</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endParaRPr lang="ru-RU"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0203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3</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en-US" sz="2400" dirty="0">
                <a:solidFill>
                  <a:srgbClr val="0000FF"/>
                </a:solidFill>
                <a:latin typeface="Consolas" panose="020B0609020204030204" pitchFamily="49" charset="0"/>
              </a:rPr>
              <a:t>static</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void</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Printmass</a:t>
            </a:r>
            <a:r>
              <a:rPr lang="en-US" sz="2400" dirty="0">
                <a:solidFill>
                  <a:srgbClr val="000000"/>
                </a:solidFill>
                <a:latin typeface="Consolas" panose="020B0609020204030204" pitchFamily="49" charset="0"/>
              </a:rPr>
              <a:t>(</a:t>
            </a:r>
            <a:r>
              <a:rPr lang="en-US" sz="2400" dirty="0">
                <a:solidFill>
                  <a:srgbClr val="0000FF"/>
                </a:solidFill>
                <a:latin typeface="Consolas" panose="020B0609020204030204" pitchFamily="49" charset="0"/>
              </a:rPr>
              <a:t>double</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nums</a:t>
            </a:r>
            <a:r>
              <a:rPr lang="en-US" sz="2400" dirty="0">
                <a:solidFill>
                  <a:srgbClr val="000000"/>
                </a:solidFill>
                <a:latin typeface="Consolas" panose="020B0609020204030204" pitchFamily="49" charset="0"/>
              </a:rPr>
              <a:t>)</a:t>
            </a:r>
          </a:p>
          <a:p>
            <a:r>
              <a:rPr lang="ru-RU" sz="2400" dirty="0">
                <a:solidFill>
                  <a:srgbClr val="000000"/>
                </a:solidFill>
                <a:latin typeface="Consolas" panose="020B0609020204030204" pitchFamily="49" charset="0"/>
              </a:rPr>
              <a:t>        {</a:t>
            </a:r>
          </a:p>
          <a:p>
            <a:r>
              <a:rPr lang="nn-NO" sz="2400" dirty="0">
                <a:solidFill>
                  <a:srgbClr val="000000"/>
                </a:solidFill>
                <a:latin typeface="Consolas" panose="020B0609020204030204" pitchFamily="49" charset="0"/>
              </a:rPr>
              <a:t>            </a:t>
            </a:r>
            <a:r>
              <a:rPr lang="nn-NO" sz="2400" dirty="0">
                <a:solidFill>
                  <a:srgbClr val="0000FF"/>
                </a:solidFill>
                <a:latin typeface="Consolas" panose="020B0609020204030204" pitchFamily="49" charset="0"/>
              </a:rPr>
              <a:t>for</a:t>
            </a:r>
            <a:r>
              <a:rPr lang="nn-NO" sz="2400" dirty="0">
                <a:solidFill>
                  <a:srgbClr val="000000"/>
                </a:solidFill>
                <a:latin typeface="Consolas" panose="020B0609020204030204" pitchFamily="49" charset="0"/>
              </a:rPr>
              <a:t> (</a:t>
            </a:r>
            <a:r>
              <a:rPr lang="nn-NO" sz="2400" dirty="0">
                <a:solidFill>
                  <a:srgbClr val="0000FF"/>
                </a:solidFill>
                <a:latin typeface="Consolas" panose="020B0609020204030204" pitchFamily="49" charset="0"/>
              </a:rPr>
              <a:t>int</a:t>
            </a:r>
            <a:r>
              <a:rPr lang="nn-NO" sz="2400" dirty="0">
                <a:solidFill>
                  <a:srgbClr val="000000"/>
                </a:solidFill>
                <a:latin typeface="Consolas" panose="020B0609020204030204" pitchFamily="49" charset="0"/>
              </a:rPr>
              <a:t> i = 0; i &lt; nums.Length; i++)</a:t>
            </a:r>
          </a:p>
          <a:p>
            <a:r>
              <a:rPr lang="ru-RU" sz="2400" dirty="0">
                <a:solidFill>
                  <a:srgbClr val="000000"/>
                </a:solidFill>
                <a:latin typeface="Consolas" panose="020B0609020204030204" pitchFamily="49" charset="0"/>
              </a:rPr>
              <a:t>            {</a:t>
            </a:r>
          </a:p>
          <a:p>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Console.Write</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nums</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i</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 "</a:t>
            </a:r>
            <a:r>
              <a:rPr lang="en-US" sz="2400" dirty="0">
                <a:solidFill>
                  <a:srgbClr val="000000"/>
                </a:solidFill>
                <a:latin typeface="Consolas" panose="020B0609020204030204" pitchFamily="49" charset="0"/>
              </a:rPr>
              <a:t>);</a:t>
            </a:r>
          </a:p>
          <a:p>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Console.WriteLine</a:t>
            </a:r>
            <a:r>
              <a:rPr lang="en-US" sz="2400" dirty="0">
                <a:solidFill>
                  <a:srgbClr val="000000"/>
                </a:solidFill>
                <a:latin typeface="Consolas" panose="020B0609020204030204" pitchFamily="49" charset="0"/>
              </a:rPr>
              <a:t>();</a:t>
            </a:r>
          </a:p>
          <a:p>
            <a:r>
              <a:rPr lang="ru-RU" sz="2400" dirty="0">
                <a:solidFill>
                  <a:srgbClr val="000000"/>
                </a:solidFill>
                <a:latin typeface="Consolas" panose="020B0609020204030204" pitchFamily="49" charset="0"/>
              </a:rPr>
              <a:t>            }</a:t>
            </a:r>
          </a:p>
          <a:p>
            <a:r>
              <a:rPr lang="ru-RU" sz="2400" dirty="0">
                <a:solidFill>
                  <a:srgbClr val="000000"/>
                </a:solidFill>
                <a:latin typeface="Consolas" panose="020B0609020204030204" pitchFamily="49"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488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3</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en-US" sz="1800" dirty="0">
                <a:solidFill>
                  <a:srgbClr val="0000FF"/>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void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Max_MIN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double</a:t>
            </a:r>
            <a:r>
              <a:rPr lang="en-US" sz="1800" dirty="0">
                <a:solidFill>
                  <a:srgbClr val="000000"/>
                </a:solidFill>
                <a:latin typeface="Consolas" panose="020B0609020204030204" pitchFamily="49" charset="0"/>
              </a:rPr>
              <a:t> [] A, </a:t>
            </a:r>
            <a:r>
              <a:rPr lang="en-US" sz="1800" dirty="0">
                <a:solidFill>
                  <a:srgbClr val="0000FF"/>
                </a:solidFill>
                <a:latin typeface="Consolas" panose="020B0609020204030204" pitchFamily="49" charset="0"/>
              </a:rPr>
              <a:t>out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double</a:t>
            </a:r>
            <a:r>
              <a:rPr lang="en-US" sz="1800" dirty="0">
                <a:solidFill>
                  <a:srgbClr val="000000"/>
                </a:solidFill>
                <a:latin typeface="Consolas" panose="020B0609020204030204" pitchFamily="49" charset="0"/>
              </a:rPr>
              <a:t> mx, </a:t>
            </a:r>
            <a:r>
              <a:rPr lang="en-US" sz="1800" dirty="0">
                <a:solidFill>
                  <a:srgbClr val="0000FF"/>
                </a:solidFill>
                <a:latin typeface="Consolas" panose="020B0609020204030204" pitchFamily="49" charset="0"/>
              </a:rPr>
              <a:t>out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double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mx = A[0];</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 = A[0];</a:t>
            </a:r>
          </a:p>
          <a:p>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for</a:t>
            </a:r>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int</a:t>
            </a:r>
            <a:r>
              <a:rPr lang="nn-NO" sz="1800" dirty="0">
                <a:solidFill>
                  <a:srgbClr val="000000"/>
                </a:solidFill>
                <a:latin typeface="Consolas" panose="020B0609020204030204" pitchFamily="49" charset="0"/>
              </a:rPr>
              <a:t> i = 0; i &lt; A.Length; i++)</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(mx &lt; A[</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mx = A[</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 &gt; A[</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 = A[</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ru-RU" sz="1800" dirty="0">
                <a:solidFill>
                  <a:srgbClr val="000000"/>
                </a:solidFill>
                <a:latin typeface="Consolas" panose="020B0609020204030204" pitchFamily="49"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5698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3</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fr-FR" sz="2400" dirty="0">
                <a:solidFill>
                  <a:srgbClr val="0000FF"/>
                </a:solidFill>
                <a:latin typeface="Consolas" panose="020B0609020204030204" pitchFamily="49" charset="0"/>
              </a:rPr>
              <a:t>static</a:t>
            </a:r>
            <a:r>
              <a:rPr lang="fr-FR" sz="2400" dirty="0">
                <a:solidFill>
                  <a:srgbClr val="000000"/>
                </a:solidFill>
                <a:latin typeface="Consolas" panose="020B0609020204030204" pitchFamily="49" charset="0"/>
              </a:rPr>
              <a:t> </a:t>
            </a:r>
            <a:r>
              <a:rPr lang="fr-FR" sz="2400" dirty="0">
                <a:solidFill>
                  <a:srgbClr val="0000FF"/>
                </a:solidFill>
                <a:latin typeface="Consolas" panose="020B0609020204030204" pitchFamily="49" charset="0"/>
              </a:rPr>
              <a:t>double</a:t>
            </a:r>
            <a:r>
              <a:rPr lang="fr-FR" sz="2400" dirty="0">
                <a:solidFill>
                  <a:srgbClr val="000000"/>
                </a:solidFill>
                <a:latin typeface="Consolas" panose="020B0609020204030204" pitchFamily="49" charset="0"/>
              </a:rPr>
              <a:t> Res_ozenka(</a:t>
            </a:r>
            <a:r>
              <a:rPr lang="fr-FR" sz="2400" dirty="0">
                <a:solidFill>
                  <a:srgbClr val="0000FF"/>
                </a:solidFill>
                <a:latin typeface="Consolas" panose="020B0609020204030204" pitchFamily="49" charset="0"/>
              </a:rPr>
              <a:t>double</a:t>
            </a:r>
            <a:r>
              <a:rPr lang="fr-FR" sz="2400" dirty="0">
                <a:solidFill>
                  <a:srgbClr val="000000"/>
                </a:solidFill>
                <a:latin typeface="Consolas" panose="020B0609020204030204" pitchFamily="49" charset="0"/>
              </a:rPr>
              <a:t> [] A, </a:t>
            </a:r>
            <a:r>
              <a:rPr lang="fr-FR" sz="2400" dirty="0">
                <a:solidFill>
                  <a:srgbClr val="0000FF"/>
                </a:solidFill>
                <a:latin typeface="Consolas" panose="020B0609020204030204" pitchFamily="49" charset="0"/>
              </a:rPr>
              <a:t>double</a:t>
            </a:r>
            <a:r>
              <a:rPr lang="fr-FR" sz="2400" dirty="0">
                <a:solidFill>
                  <a:srgbClr val="000000"/>
                </a:solidFill>
                <a:latin typeface="Consolas" panose="020B0609020204030204" pitchFamily="49" charset="0"/>
              </a:rPr>
              <a:t> mx,  </a:t>
            </a:r>
            <a:r>
              <a:rPr lang="fr-FR" sz="2400" dirty="0">
                <a:solidFill>
                  <a:srgbClr val="0000FF"/>
                </a:solidFill>
                <a:latin typeface="Consolas" panose="020B0609020204030204" pitchFamily="49" charset="0"/>
              </a:rPr>
              <a:t>double</a:t>
            </a:r>
            <a:r>
              <a:rPr lang="fr-FR" sz="2400" dirty="0">
                <a:solidFill>
                  <a:srgbClr val="000000"/>
                </a:solidFill>
                <a:latin typeface="Consolas" panose="020B0609020204030204" pitchFamily="49" charset="0"/>
              </a:rPr>
              <a:t> mn)</a:t>
            </a:r>
          </a:p>
          <a:p>
            <a:r>
              <a:rPr lang="ru-RU" sz="2400" dirty="0">
                <a:solidFill>
                  <a:srgbClr val="000000"/>
                </a:solidFill>
                <a:latin typeface="Consolas" panose="020B0609020204030204" pitchFamily="49" charset="0"/>
              </a:rPr>
              <a:t>        {</a:t>
            </a:r>
          </a:p>
          <a:p>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double</a:t>
            </a:r>
            <a:r>
              <a:rPr lang="en-US" sz="2400" dirty="0">
                <a:solidFill>
                  <a:srgbClr val="000000"/>
                </a:solidFill>
                <a:latin typeface="Consolas" panose="020B0609020204030204" pitchFamily="49" charset="0"/>
              </a:rPr>
              <a:t> s = 0;</a:t>
            </a:r>
          </a:p>
          <a:p>
            <a:r>
              <a:rPr lang="nn-NO" sz="2400" dirty="0">
                <a:solidFill>
                  <a:srgbClr val="000000"/>
                </a:solidFill>
                <a:latin typeface="Consolas" panose="020B0609020204030204" pitchFamily="49" charset="0"/>
              </a:rPr>
              <a:t>            </a:t>
            </a:r>
            <a:r>
              <a:rPr lang="nn-NO" sz="2400" dirty="0">
                <a:solidFill>
                  <a:srgbClr val="0000FF"/>
                </a:solidFill>
                <a:latin typeface="Consolas" panose="020B0609020204030204" pitchFamily="49" charset="0"/>
              </a:rPr>
              <a:t>for</a:t>
            </a:r>
            <a:r>
              <a:rPr lang="nn-NO" sz="2400" dirty="0">
                <a:solidFill>
                  <a:srgbClr val="000000"/>
                </a:solidFill>
                <a:latin typeface="Consolas" panose="020B0609020204030204" pitchFamily="49" charset="0"/>
              </a:rPr>
              <a:t> (</a:t>
            </a:r>
            <a:r>
              <a:rPr lang="nn-NO" sz="2400" dirty="0">
                <a:solidFill>
                  <a:srgbClr val="0000FF"/>
                </a:solidFill>
                <a:latin typeface="Consolas" panose="020B0609020204030204" pitchFamily="49" charset="0"/>
              </a:rPr>
              <a:t>int</a:t>
            </a:r>
            <a:r>
              <a:rPr lang="nn-NO" sz="2400" dirty="0">
                <a:solidFill>
                  <a:srgbClr val="000000"/>
                </a:solidFill>
                <a:latin typeface="Consolas" panose="020B0609020204030204" pitchFamily="49" charset="0"/>
              </a:rPr>
              <a:t> i = 0; i &lt; A.Length; i++)</a:t>
            </a:r>
          </a:p>
          <a:p>
            <a:r>
              <a:rPr lang="en-US" sz="2400" dirty="0">
                <a:solidFill>
                  <a:srgbClr val="000000"/>
                </a:solidFill>
                <a:latin typeface="Consolas" panose="020B0609020204030204" pitchFamily="49" charset="0"/>
              </a:rPr>
              <a:t>                s += A[</a:t>
            </a:r>
            <a:r>
              <a:rPr lang="en-US" sz="2400" dirty="0" err="1">
                <a:solidFill>
                  <a:srgbClr val="000000"/>
                </a:solidFill>
                <a:latin typeface="Consolas" panose="020B0609020204030204" pitchFamily="49" charset="0"/>
              </a:rPr>
              <a:t>i</a:t>
            </a:r>
            <a:r>
              <a:rPr lang="en-US" sz="2400" dirty="0">
                <a:solidFill>
                  <a:srgbClr val="000000"/>
                </a:solidFill>
                <a:latin typeface="Consolas" panose="020B0609020204030204" pitchFamily="49" charset="0"/>
              </a:rPr>
              <a:t>];</a:t>
            </a:r>
          </a:p>
          <a:p>
            <a:r>
              <a:rPr lang="en-US" sz="2400" dirty="0">
                <a:solidFill>
                  <a:srgbClr val="000000"/>
                </a:solidFill>
                <a:latin typeface="Consolas" panose="020B0609020204030204" pitchFamily="49" charset="0"/>
              </a:rPr>
              <a:t>            s = (s - mx - </a:t>
            </a:r>
            <a:r>
              <a:rPr lang="en-US" sz="2400" dirty="0" err="1">
                <a:solidFill>
                  <a:srgbClr val="000000"/>
                </a:solidFill>
                <a:latin typeface="Consolas" panose="020B0609020204030204" pitchFamily="49" charset="0"/>
              </a:rPr>
              <a:t>mn</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A.Length</a:t>
            </a:r>
            <a:r>
              <a:rPr lang="en-US" sz="2400" dirty="0">
                <a:solidFill>
                  <a:srgbClr val="000000"/>
                </a:solidFill>
                <a:latin typeface="Consolas" panose="020B0609020204030204" pitchFamily="49" charset="0"/>
              </a:rPr>
              <a:t> - 2);</a:t>
            </a:r>
          </a:p>
          <a:p>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return</a:t>
            </a:r>
            <a:r>
              <a:rPr lang="en-US" sz="2400" dirty="0">
                <a:solidFill>
                  <a:srgbClr val="000000"/>
                </a:solidFill>
                <a:latin typeface="Consolas" panose="020B0609020204030204" pitchFamily="49" charset="0"/>
              </a:rPr>
              <a:t> s;</a:t>
            </a:r>
          </a:p>
          <a:p>
            <a:r>
              <a:rPr lang="ru-RU" sz="2400" dirty="0">
                <a:solidFill>
                  <a:srgbClr val="000000"/>
                </a:solidFill>
                <a:latin typeface="Consolas" panose="020B0609020204030204" pitchFamily="49"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6990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3</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fontScale="92500" lnSpcReduction="20000"/>
          </a:bodyPr>
          <a:lstStyle/>
          <a:p>
            <a:r>
              <a:rPr lang="en-US" sz="1800" dirty="0">
                <a:solidFill>
                  <a:srgbClr val="0000FF"/>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void</a:t>
            </a:r>
            <a:r>
              <a:rPr lang="en-US" sz="1800" dirty="0">
                <a:solidFill>
                  <a:srgbClr val="000000"/>
                </a:solidFill>
                <a:latin typeface="Consolas" panose="020B0609020204030204" pitchFamily="49" charset="0"/>
              </a:rPr>
              <a:t> Main(</a:t>
            </a:r>
            <a:r>
              <a:rPr lang="en-US" sz="1800" dirty="0">
                <a:solidFill>
                  <a:srgbClr val="0000FF"/>
                </a:solidFill>
                <a:latin typeface="Consolas" panose="020B0609020204030204" pitchFamily="49" charset="0"/>
              </a:rPr>
              <a:t>string</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args</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n = 10;</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double</a:t>
            </a:r>
            <a:r>
              <a:rPr lang="en-US" sz="1800" dirty="0">
                <a:solidFill>
                  <a:srgbClr val="000000"/>
                </a:solidFill>
                <a:latin typeface="Consolas" panose="020B0609020204030204" pitchFamily="49" charset="0"/>
              </a:rPr>
              <a:t>[] A;</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double</a:t>
            </a:r>
            <a:r>
              <a:rPr lang="en-US" sz="1800" dirty="0">
                <a:solidFill>
                  <a:srgbClr val="000000"/>
                </a:solidFill>
                <a:latin typeface="Consolas" panose="020B0609020204030204" pitchFamily="49" charset="0"/>
              </a:rPr>
              <a:t> mx,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a:t>
            </a:r>
            <a:r>
              <a:rPr lang="en-US" sz="1800" dirty="0" err="1">
                <a:solidFill>
                  <a:srgbClr val="000000"/>
                </a:solidFill>
                <a:latin typeface="Consolas" panose="020B0609020204030204" pitchFamily="49" charset="0"/>
              </a:rPr>
              <a:t>CrMass</a:t>
            </a:r>
            <a:r>
              <a:rPr lang="en-US" sz="1800" dirty="0">
                <a:solidFill>
                  <a:srgbClr val="000000"/>
                </a:solidFill>
                <a:latin typeface="Consolas" panose="020B0609020204030204" pitchFamily="49" charset="0"/>
              </a:rPr>
              <a:t>(n);</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Printmass</a:t>
            </a:r>
            <a:r>
              <a:rPr lang="en-US" sz="1800" dirty="0">
                <a:solidFill>
                  <a:srgbClr val="000000"/>
                </a:solidFill>
                <a:latin typeface="Consolas" panose="020B0609020204030204" pitchFamily="49" charset="0"/>
              </a:rPr>
              <a:t>(A);</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Max_MIN</a:t>
            </a:r>
            <a:r>
              <a:rPr lang="en-US" sz="1800" dirty="0">
                <a:solidFill>
                  <a:srgbClr val="000000"/>
                </a:solidFill>
                <a:latin typeface="Consolas" panose="020B0609020204030204" pitchFamily="49" charset="0"/>
              </a:rPr>
              <a:t>(A, </a:t>
            </a:r>
            <a:r>
              <a:rPr lang="en-US" sz="1800" dirty="0">
                <a:solidFill>
                  <a:srgbClr val="0000FF"/>
                </a:solidFill>
                <a:latin typeface="Consolas" panose="020B0609020204030204" pitchFamily="49" charset="0"/>
              </a:rPr>
              <a:t>out</a:t>
            </a:r>
            <a:r>
              <a:rPr lang="en-US" sz="1800" dirty="0">
                <a:solidFill>
                  <a:srgbClr val="000000"/>
                </a:solidFill>
                <a:latin typeface="Consolas" panose="020B0609020204030204" pitchFamily="49" charset="0"/>
              </a:rPr>
              <a:t> mx, </a:t>
            </a:r>
            <a:r>
              <a:rPr lang="en-US" sz="1800" dirty="0">
                <a:solidFill>
                  <a:srgbClr val="0000FF"/>
                </a:solidFill>
                <a:latin typeface="Consolas" panose="020B0609020204030204" pitchFamily="49" charset="0"/>
              </a:rPr>
              <a:t>out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Console.WriteLine</a:t>
            </a:r>
            <a:r>
              <a:rPr lang="en-US" sz="1800" dirty="0">
                <a:solidFill>
                  <a:srgbClr val="000000"/>
                </a:solidFill>
                <a:latin typeface="Consolas" panose="020B0609020204030204" pitchFamily="49" charset="0"/>
              </a:rPr>
              <a:t>(</a:t>
            </a:r>
            <a:r>
              <a:rPr lang="en-US" sz="1800" dirty="0">
                <a:solidFill>
                  <a:srgbClr val="A31515"/>
                </a:solidFill>
                <a:latin typeface="Consolas" panose="020B0609020204030204" pitchFamily="49" charset="0"/>
              </a:rPr>
              <a:t>$"mx = </a:t>
            </a:r>
            <a:r>
              <a:rPr lang="en-US" sz="1800" dirty="0">
                <a:solidFill>
                  <a:srgbClr val="000000"/>
                </a:solidFill>
                <a:latin typeface="Consolas" panose="020B0609020204030204" pitchFamily="49" charset="0"/>
              </a:rPr>
              <a:t>{mx:</a:t>
            </a:r>
            <a:r>
              <a:rPr lang="en-US" sz="1800" dirty="0">
                <a:solidFill>
                  <a:srgbClr val="A31515"/>
                </a:solidFill>
                <a:latin typeface="Consolas" panose="020B0609020204030204" pitchFamily="49" charset="0"/>
              </a:rPr>
              <a:t>#.##</a:t>
            </a:r>
            <a:r>
              <a:rPr lang="en-US" sz="1800" dirty="0">
                <a:solidFill>
                  <a:srgbClr val="000000"/>
                </a:solidFill>
                <a:latin typeface="Consolas" panose="020B0609020204030204" pitchFamily="49" charset="0"/>
              </a:rPr>
              <a:t>}</a:t>
            </a:r>
            <a:r>
              <a:rPr lang="en-US" sz="1800" dirty="0">
                <a:solidFill>
                  <a:srgbClr val="A31515"/>
                </a:solidFill>
                <a:latin typeface="Consolas" panose="020B0609020204030204" pitchFamily="49" charset="0"/>
              </a:rPr>
              <a:t>, </a:t>
            </a:r>
            <a:r>
              <a:rPr lang="en-US" sz="1800" dirty="0" err="1">
                <a:solidFill>
                  <a:srgbClr val="A31515"/>
                </a:solidFill>
                <a:latin typeface="Consolas" panose="020B0609020204030204" pitchFamily="49" charset="0"/>
              </a:rPr>
              <a:t>mn</a:t>
            </a:r>
            <a:r>
              <a:rPr lang="en-US" sz="1800" dirty="0">
                <a:solidFill>
                  <a:srgbClr val="A31515"/>
                </a:solidFill>
                <a:latin typeface="Consolas" panose="020B0609020204030204" pitchFamily="49" charset="0"/>
              </a:rPr>
              <a:t> = </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a:t>
            </a:r>
            <a:r>
              <a:rPr lang="en-US" sz="1800" dirty="0">
                <a:solidFill>
                  <a:srgbClr val="A31515"/>
                </a:solidFill>
                <a:latin typeface="Consolas" panose="020B0609020204030204" pitchFamily="49" charset="0"/>
              </a:rPr>
              <a:t>#.##</a:t>
            </a:r>
            <a:r>
              <a:rPr lang="en-US" sz="1800" dirty="0">
                <a:solidFill>
                  <a:srgbClr val="000000"/>
                </a:solidFill>
                <a:latin typeface="Consolas" panose="020B0609020204030204" pitchFamily="49" charset="0"/>
              </a:rPr>
              <a:t>}</a:t>
            </a:r>
            <a:r>
              <a:rPr lang="en-US" sz="1800" dirty="0">
                <a:solidFill>
                  <a:srgbClr val="A31515"/>
                </a:solidFill>
                <a:latin typeface="Consolas" panose="020B0609020204030204" pitchFamily="49" charset="0"/>
              </a:rPr>
              <a:t>"</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double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ozenka</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Res_ozenka</a:t>
            </a:r>
            <a:r>
              <a:rPr lang="en-US" sz="1800" dirty="0">
                <a:solidFill>
                  <a:srgbClr val="000000"/>
                </a:solidFill>
                <a:latin typeface="Consolas" panose="020B0609020204030204" pitchFamily="49" charset="0"/>
              </a:rPr>
              <a:t>(A, mx,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Console.WriteLine</a:t>
            </a:r>
            <a:r>
              <a:rPr lang="en-US" sz="1800" dirty="0">
                <a:solidFill>
                  <a:srgbClr val="000000"/>
                </a:solidFill>
                <a:latin typeface="Consolas" panose="020B0609020204030204" pitchFamily="49" charset="0"/>
              </a:rPr>
              <a:t>(</a:t>
            </a:r>
            <a:r>
              <a:rPr lang="en-US" sz="1800" dirty="0">
                <a:solidFill>
                  <a:srgbClr val="A31515"/>
                </a:solidFill>
                <a:latin typeface="Consolas" panose="020B0609020204030204" pitchFamily="49" charset="0"/>
              </a:rPr>
              <a:t>$"</a:t>
            </a:r>
            <a:r>
              <a:rPr lang="ru-RU" sz="1800" dirty="0">
                <a:solidFill>
                  <a:srgbClr val="A31515"/>
                </a:solidFill>
                <a:latin typeface="Consolas" panose="020B0609020204030204" pitchFamily="49" charset="0"/>
              </a:rPr>
              <a:t>Оценка судей = </a:t>
            </a:r>
            <a:r>
              <a:rPr lang="ru-RU"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ozenka</a:t>
            </a:r>
            <a:r>
              <a:rPr lang="en-US" sz="1800" dirty="0">
                <a:solidFill>
                  <a:srgbClr val="000000"/>
                </a:solidFill>
                <a:latin typeface="Consolas" panose="020B0609020204030204" pitchFamily="49" charset="0"/>
              </a:rPr>
              <a:t>:</a:t>
            </a:r>
            <a:r>
              <a:rPr lang="en-US" sz="1800" dirty="0">
                <a:solidFill>
                  <a:srgbClr val="A31515"/>
                </a:solidFill>
                <a:latin typeface="Consolas" panose="020B0609020204030204" pitchFamily="49" charset="0"/>
              </a:rPr>
              <a:t>#.##</a:t>
            </a:r>
            <a:r>
              <a:rPr lang="en-US" sz="1800" dirty="0">
                <a:solidFill>
                  <a:srgbClr val="000000"/>
                </a:solidFill>
                <a:latin typeface="Consolas" panose="020B0609020204030204" pitchFamily="49" charset="0"/>
              </a:rPr>
              <a:t>}</a:t>
            </a:r>
            <a:r>
              <a:rPr lang="en-US" sz="1800" dirty="0">
                <a:solidFill>
                  <a:srgbClr val="A31515"/>
                </a:solidFill>
                <a:latin typeface="Consolas" panose="020B0609020204030204" pitchFamily="49" charset="0"/>
              </a:rPr>
              <a:t>"</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Console.ReadLine</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ru-RU" sz="1800" dirty="0">
                <a:solidFill>
                  <a:srgbClr val="000000"/>
                </a:solidFill>
                <a:latin typeface="Consolas" panose="020B0609020204030204" pitchFamily="49"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473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4</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ru-RU" sz="2400" dirty="0">
                <a:latin typeface="Times New Roman" panose="02020603050405020304" pitchFamily="18" charset="0"/>
                <a:cs typeface="Times New Roman" panose="02020603050405020304" pitchFamily="18" charset="0"/>
              </a:rPr>
              <a:t>Сортировка методом прямого доступа</a:t>
            </a:r>
          </a:p>
          <a:p>
            <a:r>
              <a:rPr lang="en-US" sz="1800" dirty="0">
                <a:solidFill>
                  <a:srgbClr val="0000FF"/>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CrMass</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n)</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 = </a:t>
            </a:r>
            <a:r>
              <a:rPr lang="en-US" sz="1800" dirty="0">
                <a:solidFill>
                  <a:srgbClr val="0000FF"/>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[n];</a:t>
            </a:r>
          </a:p>
          <a:p>
            <a:r>
              <a:rPr lang="en-US" sz="1800" dirty="0">
                <a:solidFill>
                  <a:srgbClr val="000000"/>
                </a:solidFill>
                <a:latin typeface="Consolas" panose="020B0609020204030204" pitchFamily="49" charset="0"/>
              </a:rPr>
              <a:t>            Random </a:t>
            </a:r>
            <a:r>
              <a:rPr lang="en-US" sz="1800" dirty="0" err="1">
                <a:solidFill>
                  <a:srgbClr val="000000"/>
                </a:solidFill>
                <a:latin typeface="Consolas" panose="020B0609020204030204" pitchFamily="49" charset="0"/>
              </a:rPr>
              <a:t>rnd</a:t>
            </a:r>
            <a:r>
              <a:rPr lang="en-US" sz="1800" dirty="0">
                <a:solidFill>
                  <a:srgbClr val="000000"/>
                </a:solidFill>
                <a:latin typeface="Consolas" panose="020B0609020204030204" pitchFamily="49" charset="0"/>
              </a:rPr>
              <a:t> = </a:t>
            </a:r>
            <a:r>
              <a:rPr lang="en-US" sz="1800" dirty="0">
                <a:solidFill>
                  <a:srgbClr val="0000FF"/>
                </a:solidFill>
                <a:latin typeface="Consolas" panose="020B0609020204030204" pitchFamily="49" charset="0"/>
              </a:rPr>
              <a:t>new</a:t>
            </a:r>
            <a:r>
              <a:rPr lang="en-US" sz="1800" dirty="0">
                <a:solidFill>
                  <a:srgbClr val="000000"/>
                </a:solidFill>
                <a:latin typeface="Consolas" panose="020B0609020204030204" pitchFamily="49" charset="0"/>
              </a:rPr>
              <a:t> Random();</a:t>
            </a:r>
          </a:p>
          <a:p>
            <a:r>
              <a:rPr lang="ru-RU" sz="1800" dirty="0">
                <a:solidFill>
                  <a:srgbClr val="000000"/>
                </a:solidFill>
                <a:latin typeface="Consolas" panose="020B0609020204030204" pitchFamily="49" charset="0"/>
              </a:rPr>
              <a:t>            </a:t>
            </a:r>
            <a:r>
              <a:rPr lang="ru-RU" sz="1800" dirty="0">
                <a:solidFill>
                  <a:srgbClr val="008000"/>
                </a:solidFill>
                <a:latin typeface="Consolas" panose="020B0609020204030204" pitchFamily="49" charset="0"/>
              </a:rPr>
              <a:t>//Заполнение случайными числами</a:t>
            </a:r>
            <a:endParaRPr lang="ru-RU" sz="1800" dirty="0">
              <a:solidFill>
                <a:srgbClr val="000000"/>
              </a:solidFill>
              <a:latin typeface="Consolas" panose="020B0609020204030204" pitchFamily="49" charset="0"/>
            </a:endParaRPr>
          </a:p>
          <a:p>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for</a:t>
            </a:r>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int</a:t>
            </a:r>
            <a:r>
              <a:rPr lang="nn-NO" sz="1800" dirty="0">
                <a:solidFill>
                  <a:srgbClr val="000000"/>
                </a:solidFill>
                <a:latin typeface="Consolas" panose="020B0609020204030204" pitchFamily="49" charset="0"/>
              </a:rPr>
              <a:t> i = 0; i &lt; nums.Length; i++)</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rnd.Next</a:t>
            </a:r>
            <a:r>
              <a:rPr lang="en-US" sz="1800" dirty="0">
                <a:solidFill>
                  <a:srgbClr val="000000"/>
                </a:solidFill>
                <a:latin typeface="Consolas" panose="020B0609020204030204" pitchFamily="49" charset="0"/>
              </a:rPr>
              <a:t>(-20, 21);</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8132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4</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ru-RU" sz="1800" dirty="0">
                <a:solidFill>
                  <a:srgbClr val="008000"/>
                </a:solidFill>
                <a:latin typeface="Consolas" panose="020B0609020204030204" pitchFamily="49" charset="0"/>
              </a:rPr>
              <a:t>//Вывод массива на консоль</a:t>
            </a:r>
            <a:endParaRPr lang="ru-RU"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void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Printmass</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for</a:t>
            </a:r>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int</a:t>
            </a:r>
            <a:r>
              <a:rPr lang="nn-NO" sz="1800" dirty="0">
                <a:solidFill>
                  <a:srgbClr val="000000"/>
                </a:solidFill>
                <a:latin typeface="Consolas" panose="020B0609020204030204" pitchFamily="49" charset="0"/>
              </a:rPr>
              <a:t> i = 0; i &lt; nums.Length; i++)</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Console.Write</a:t>
            </a:r>
            <a:r>
              <a:rPr lang="en-US" sz="1800" dirty="0">
                <a:solidFill>
                  <a:srgbClr val="000000"/>
                </a:solidFill>
                <a:latin typeface="Consolas" panose="020B0609020204030204" pitchFamily="49" charset="0"/>
              </a:rPr>
              <a:t>(</a:t>
            </a:r>
            <a:r>
              <a:rPr lang="en-US" sz="1800" dirty="0">
                <a:solidFill>
                  <a:srgbClr val="A31515"/>
                </a:solidFill>
                <a:latin typeface="Consolas" panose="020B0609020204030204" pitchFamily="49" charset="0"/>
              </a:rPr>
              <a:t>$"</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nums</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a:t>
            </a:r>
            <a:r>
              <a:rPr lang="en-US" sz="1800" dirty="0">
                <a:solidFill>
                  <a:srgbClr val="A31515"/>
                </a:solidFill>
                <a:latin typeface="Consolas" panose="020B0609020204030204" pitchFamily="49" charset="0"/>
              </a:rPr>
              <a:t> "</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Console.WriteLine</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0510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4</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fontScale="62500" lnSpcReduction="20000"/>
          </a:bodyPr>
          <a:lstStyle/>
          <a:p>
            <a:r>
              <a:rPr lang="en-US" sz="1800" dirty="0">
                <a:solidFill>
                  <a:srgbClr val="0000FF"/>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void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Sort_Mass</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ref</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 nm;</a:t>
            </a:r>
          </a:p>
          <a:p>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for</a:t>
            </a:r>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int</a:t>
            </a:r>
            <a:r>
              <a:rPr lang="nn-NO" sz="1800" dirty="0">
                <a:solidFill>
                  <a:srgbClr val="000000"/>
                </a:solidFill>
                <a:latin typeface="Consolas" panose="020B0609020204030204" pitchFamily="49" charset="0"/>
              </a:rPr>
              <a:t> i = 0; i &lt; A.Length - 1; i++)</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 = A[</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nm = </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for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j = </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j &lt; </a:t>
            </a:r>
            <a:r>
              <a:rPr lang="en-US" sz="1800" dirty="0" err="1">
                <a:solidFill>
                  <a:srgbClr val="000000"/>
                </a:solidFill>
                <a:latin typeface="Consolas" panose="020B0609020204030204" pitchFamily="49" charset="0"/>
              </a:rPr>
              <a:t>A.Length</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j++</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(A[j] &lt;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 = A[j];</a:t>
            </a:r>
          </a:p>
          <a:p>
            <a:r>
              <a:rPr lang="en-US" sz="1800" dirty="0">
                <a:solidFill>
                  <a:srgbClr val="000000"/>
                </a:solidFill>
                <a:latin typeface="Consolas" panose="020B0609020204030204" pitchFamily="49" charset="0"/>
              </a:rPr>
              <a:t>                        nm = j;</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A[nm] = A[</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a:t>
            </a: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mn</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ru-RU" sz="1800" dirty="0">
                <a:solidFill>
                  <a:srgbClr val="000000"/>
                </a:solidFill>
                <a:latin typeface="Consolas" panose="020B0609020204030204" pitchFamily="49"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474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4</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en-US" sz="1800" dirty="0">
                <a:solidFill>
                  <a:srgbClr val="0000FF"/>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void</a:t>
            </a:r>
            <a:r>
              <a:rPr lang="en-US" sz="1800" dirty="0">
                <a:solidFill>
                  <a:srgbClr val="000000"/>
                </a:solidFill>
                <a:latin typeface="Consolas" panose="020B0609020204030204" pitchFamily="49" charset="0"/>
              </a:rPr>
              <a:t> Main(</a:t>
            </a:r>
            <a:r>
              <a:rPr lang="en-US" sz="1800" dirty="0">
                <a:solidFill>
                  <a:srgbClr val="0000FF"/>
                </a:solidFill>
                <a:latin typeface="Consolas" panose="020B0609020204030204" pitchFamily="49" charset="0"/>
              </a:rPr>
              <a:t>string</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args</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n = 10;</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a:t>
            </a:r>
          </a:p>
          <a:p>
            <a:r>
              <a:rPr lang="en-US" sz="1800" dirty="0">
                <a:solidFill>
                  <a:srgbClr val="000000"/>
                </a:solidFill>
                <a:latin typeface="Consolas" panose="020B0609020204030204" pitchFamily="49" charset="0"/>
              </a:rPr>
              <a:t>            A=</a:t>
            </a:r>
            <a:r>
              <a:rPr lang="en-US" sz="1800" dirty="0" err="1">
                <a:solidFill>
                  <a:srgbClr val="000000"/>
                </a:solidFill>
                <a:latin typeface="Consolas" panose="020B0609020204030204" pitchFamily="49" charset="0"/>
              </a:rPr>
              <a:t>CrMass</a:t>
            </a:r>
            <a:r>
              <a:rPr lang="en-US" sz="1800" dirty="0">
                <a:solidFill>
                  <a:srgbClr val="000000"/>
                </a:solidFill>
                <a:latin typeface="Consolas" panose="020B0609020204030204" pitchFamily="49" charset="0"/>
              </a:rPr>
              <a:t>(n);</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Printmass</a:t>
            </a:r>
            <a:r>
              <a:rPr lang="en-US" sz="1800" dirty="0">
                <a:solidFill>
                  <a:srgbClr val="000000"/>
                </a:solidFill>
                <a:latin typeface="Consolas" panose="020B0609020204030204" pitchFamily="49" charset="0"/>
              </a:rPr>
              <a:t>(A);</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Sort_Mass</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ref</a:t>
            </a:r>
            <a:r>
              <a:rPr lang="en-US" sz="1800" dirty="0">
                <a:solidFill>
                  <a:srgbClr val="000000"/>
                </a:solidFill>
                <a:latin typeface="Consolas" panose="020B0609020204030204" pitchFamily="49" charset="0"/>
              </a:rPr>
              <a:t> A);</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Printmass</a:t>
            </a:r>
            <a:r>
              <a:rPr lang="en-US" sz="1800" dirty="0">
                <a:solidFill>
                  <a:srgbClr val="000000"/>
                </a:solidFill>
                <a:latin typeface="Consolas" panose="020B0609020204030204" pitchFamily="49" charset="0"/>
              </a:rPr>
              <a:t>(A);</a:t>
            </a: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Console.ReadLine</a:t>
            </a:r>
            <a:r>
              <a:rPr lang="en-US" sz="1800" dirty="0">
                <a:solidFill>
                  <a:srgbClr val="000000"/>
                </a:solidFill>
                <a:latin typeface="Consolas" panose="020B0609020204030204" pitchFamily="49" charset="0"/>
              </a:rPr>
              <a:t>();</a:t>
            </a:r>
          </a:p>
          <a:p>
            <a:r>
              <a:rPr lang="ru-RU" sz="1800" dirty="0">
                <a:solidFill>
                  <a:srgbClr val="000000"/>
                </a:solidFill>
                <a:latin typeface="Consolas" panose="020B0609020204030204" pitchFamily="49"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9490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Одномерные массивы – Пример 4</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ru-RU" sz="2400" dirty="0">
                <a:latin typeface="Times New Roman" panose="02020603050405020304" pitchFamily="18" charset="0"/>
                <a:cs typeface="Times New Roman" panose="02020603050405020304" pitchFamily="18" charset="0"/>
              </a:rPr>
              <a:t>Результат</a:t>
            </a:r>
          </a:p>
          <a:p>
            <a:r>
              <a:rPr lang="ru-RU" sz="2400" dirty="0">
                <a:latin typeface="Times New Roman" panose="02020603050405020304" pitchFamily="18" charset="0"/>
                <a:cs typeface="Times New Roman" panose="02020603050405020304" pitchFamily="18" charset="0"/>
              </a:rPr>
              <a:t>15 20 7 9 18 -1 5 1 9 -1</a:t>
            </a:r>
          </a:p>
          <a:p>
            <a:r>
              <a:rPr lang="ru-RU" sz="2400" dirty="0">
                <a:latin typeface="Times New Roman" panose="02020603050405020304" pitchFamily="18" charset="0"/>
                <a:cs typeface="Times New Roman" panose="02020603050405020304" pitchFamily="18" charset="0"/>
              </a:rPr>
              <a:t>-15 -1 -1 1 5 7 9 9 18 20</a:t>
            </a:r>
          </a:p>
        </p:txBody>
      </p:sp>
    </p:spTree>
    <p:extLst>
      <p:ext uri="{BB962C8B-B14F-4D97-AF65-F5344CB8AC3E}">
        <p14:creationId xmlns:p14="http://schemas.microsoft.com/office/powerpoint/2010/main" val="3079995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аргумент метода</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ru-RU" sz="2400" dirty="0">
                <a:effectLst/>
                <a:latin typeface="Times New Roman" panose="02020603050405020304" pitchFamily="18" charset="0"/>
                <a:ea typeface="Times New Roman" panose="02020603050405020304" pitchFamily="18" charset="0"/>
              </a:rPr>
              <a:t>Аргументами методам можно передавать практически все, что угодно. Среди этого «всего» есть и массивы. Другими словами, аргументом методу можно передать массив (двумерный или одномерный). Чтобы понять, как это делается, следует вспомнить, как мы получаем доступ к массиву. Используется переменная массива – то есть переменная, которая ссылается на массив и которую в большинстве случаев отождествляют с массивом. Поэтому, если у нас имеется массив, который следует передать аргументом методу, то сделать это можно, передав методу ссылку на массив. Этого будет вполне достаточно, чтобы метод получил доступ к массиву. Именно такой подход используется в </a:t>
            </a:r>
            <a:r>
              <a:rPr lang="en-US" sz="2400" dirty="0">
                <a:effectLst/>
                <a:latin typeface="Times New Roman" panose="02020603050405020304" pitchFamily="18" charset="0"/>
                <a:ea typeface="Times New Roman" panose="02020603050405020304" pitchFamily="18" charset="0"/>
              </a:rPr>
              <a:t>C</a:t>
            </a:r>
            <a:r>
              <a:rPr lang="ru-RU" sz="2400" dirty="0">
                <a:effectLst/>
                <a:latin typeface="Times New Roman" panose="02020603050405020304" pitchFamily="18" charset="0"/>
                <a:ea typeface="Times New Roman" panose="02020603050405020304" pitchFamily="18" charset="0"/>
              </a:rPr>
              <a:t>#.</a:t>
            </a: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94057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аргумент метода</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ru-RU" sz="2400" dirty="0">
                <a:effectLst/>
                <a:latin typeface="Times New Roman" panose="02020603050405020304" pitchFamily="18" charset="0"/>
                <a:ea typeface="Times New Roman" panose="02020603050405020304" pitchFamily="18" charset="0"/>
              </a:rPr>
              <a:t>С практической точки зрения, при передаче массива методу соответствующий аргумент описывается точно так же, как объявляется переменная массива соответствующего типа. Поясним это положение на примерах. Мы ограничимся одномерными массивами. Двумерные массивы передаются методам по тем же правилам.</a:t>
            </a: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95547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аргумент метода</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ru-RU" sz="1800" dirty="0">
                <a:effectLst/>
                <a:latin typeface="Times New Roman" panose="02020603050405020304" pitchFamily="18" charset="0"/>
                <a:ea typeface="Times New Roman" panose="02020603050405020304" pitchFamily="18" charset="0"/>
              </a:rPr>
              <a:t>Создаем методы заполнения массива и вывода его в консоль и передаем им переменную массива</a:t>
            </a:r>
          </a:p>
          <a:p>
            <a:pPr indent="540385"/>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FillRand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Random</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rnd</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ru-RU" sz="18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new</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Random</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//Заполнение случайными числами</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for</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0;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nums.Length</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rnd.Next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(1, 10);</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4906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аргумент метода</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for</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0;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nums.Length</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Console.WriteLine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68701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аргумент метода</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Main(</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string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args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Console.WriteLine</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ru-RU"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"Заполняем и печатаем массив"</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 =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new</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[10]; </a:t>
            </a:r>
            <a:r>
              <a:rPr lang="en-US" sz="1800" dirty="0">
                <a:solidFill>
                  <a:srgbClr val="00B050"/>
                </a:solidFill>
                <a:effectLst/>
                <a:latin typeface="Consolas" panose="020B0609020204030204" pitchFamily="49" charset="0"/>
                <a:ea typeface="Calibri" panose="020F0502020204030204" pitchFamily="34" charset="0"/>
                <a:cs typeface="Consolas" panose="020B0609020204030204" pitchFamily="49" charset="0"/>
              </a:rPr>
              <a:t>//</a:t>
            </a:r>
            <a:r>
              <a:rPr lang="ru-RU" sz="1800" dirty="0">
                <a:solidFill>
                  <a:srgbClr val="00B050"/>
                </a:solidFill>
                <a:effectLst/>
                <a:latin typeface="Consolas" panose="020B0609020204030204" pitchFamily="49" charset="0"/>
                <a:ea typeface="Calibri" panose="020F0502020204030204" pitchFamily="34" charset="0"/>
                <a:cs typeface="Consolas" panose="020B0609020204030204" pitchFamily="49" charset="0"/>
              </a:rPr>
              <a:t>Создаем массив в главной программе</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FillRand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Console.ReadLine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pPr indent="450215" algn="just"/>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5112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аргумент метода</a:t>
            </a: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pPr indent="450215" algn="just"/>
            <a:r>
              <a:rPr lang="ru-RU" dirty="0">
                <a:solidFill>
                  <a:srgbClr val="000000"/>
                </a:solidFill>
                <a:effectLst/>
                <a:latin typeface="Times New Roman" panose="02020603050405020304" pitchFamily="18" charset="0"/>
                <a:ea typeface="Calibri" panose="020F0502020204030204" pitchFamily="34" charset="0"/>
              </a:rPr>
              <a:t>Результат:</a:t>
            </a:r>
            <a:endParaRPr lang="ru-RU" dirty="0">
              <a:effectLst/>
              <a:latin typeface="Times New Roman" panose="02020603050405020304" pitchFamily="18" charset="0"/>
              <a:ea typeface="Times New Roman" panose="02020603050405020304" pitchFamily="18" charset="0"/>
            </a:endParaRPr>
          </a:p>
          <a:p>
            <a:pPr indent="450215" algn="just"/>
            <a:r>
              <a:rPr lang="ru-RU" dirty="0">
                <a:solidFill>
                  <a:srgbClr val="000000"/>
                </a:solidFill>
                <a:effectLst/>
                <a:latin typeface="Times New Roman" panose="02020603050405020304" pitchFamily="18" charset="0"/>
                <a:ea typeface="Calibri" panose="020F0502020204030204" pitchFamily="34" charset="0"/>
              </a:rPr>
              <a:t>Заполняем и печатаем массив</a:t>
            </a:r>
            <a:endParaRPr lang="ru-RU" dirty="0">
              <a:effectLst/>
              <a:latin typeface="Times New Roman" panose="02020603050405020304" pitchFamily="18" charset="0"/>
              <a:ea typeface="Times New Roman" panose="02020603050405020304" pitchFamily="18" charset="0"/>
            </a:endParaRPr>
          </a:p>
          <a:p>
            <a:pPr indent="450215" algn="just"/>
            <a:r>
              <a:rPr lang="ru-RU" dirty="0">
                <a:solidFill>
                  <a:srgbClr val="000000"/>
                </a:solidFill>
                <a:effectLst/>
                <a:latin typeface="Times New Roman" panose="02020603050405020304" pitchFamily="18" charset="0"/>
                <a:ea typeface="Calibri" panose="020F0502020204030204" pitchFamily="34" charset="0"/>
              </a:rPr>
              <a:t>4 3 2 3 2 6 4 4 4 4</a:t>
            </a:r>
            <a:endParaRPr lang="ru-RU"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4090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результат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ru-RU" sz="2400" dirty="0">
                <a:effectLst/>
                <a:latin typeface="Times New Roman" panose="02020603050405020304" pitchFamily="18" charset="0"/>
                <a:ea typeface="Times New Roman" panose="02020603050405020304" pitchFamily="18" charset="0"/>
              </a:rPr>
              <a:t>Метод может возвращать результатом массив. Точнее, метод может возвращать ссылку на массив. Обычно схема такая: при вызове метода создается массив, а результатом метод возвращает ссылку на него. Как уже отмечалось, переменные, которые создаются при вызове метода существуют пока метод выполняется, а после завершения метода они удаляются из памяти. В принципе, массив, который создан при вызове метода также является «кандидатом на удаление». Но если ссылка на массив возвращается методом как результат и присваивается в качестве значения какой-то переменной, то эта переменная (объявленная до вызова метода) будет ссылаться на массив. Такой массив не будет удален из памяти после завершения выполнения метода.</a:t>
            </a: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14658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результат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lnSpcReduction="10000"/>
          </a:bodyPr>
          <a:lstStyle/>
          <a:p>
            <a:pPr indent="540385"/>
            <a:r>
              <a:rPr lang="ru-RU" sz="18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class</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2B91AF"/>
                </a:solidFill>
                <a:effectLst/>
                <a:latin typeface="Consolas" panose="020B0609020204030204" pitchFamily="49" charset="0"/>
                <a:ea typeface="Calibri" panose="020F0502020204030204" pitchFamily="34" charset="0"/>
                <a:cs typeface="Consolas" panose="020B0609020204030204" pitchFamily="49" charset="0"/>
              </a:rPr>
              <a:t>Program</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//Метод создает и возвращает массив</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CrMass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n)</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new</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[n];</a:t>
            </a:r>
            <a:r>
              <a:rPr lang="en-US" sz="1800" dirty="0">
                <a:solidFill>
                  <a:srgbClr val="00B050"/>
                </a:solidFill>
                <a:effectLst/>
                <a:latin typeface="Consolas" panose="020B0609020204030204" pitchFamily="49" charset="0"/>
                <a:ea typeface="Calibri" panose="020F0502020204030204" pitchFamily="34" charset="0"/>
                <a:cs typeface="Consolas" panose="020B0609020204030204" pitchFamily="49" charset="0"/>
              </a:rPr>
              <a:t>//</a:t>
            </a:r>
            <a:r>
              <a:rPr lang="ru-RU" sz="1800" dirty="0">
                <a:solidFill>
                  <a:srgbClr val="00B050"/>
                </a:solidFill>
                <a:effectLst/>
                <a:latin typeface="Consolas" panose="020B0609020204030204" pitchFamily="49" charset="0"/>
                <a:ea typeface="Calibri" panose="020F0502020204030204" pitchFamily="34" charset="0"/>
                <a:cs typeface="Consolas" panose="020B0609020204030204" pitchFamily="49" charset="0"/>
              </a:rPr>
              <a:t>Массив создает метод</a:t>
            </a:r>
            <a:endParaRPr lang="ru-RU" sz="1800" dirty="0">
              <a:solidFill>
                <a:srgbClr val="00B050"/>
              </a:solidFill>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Random</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rnd</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ru-RU" sz="18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new</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Random</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//Заполнение случайными числами</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for</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0;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nums.Length</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rnd.Next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(1, 10);</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return</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64725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результат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en-US"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a:t>
            </a:r>
            <a:r>
              <a:rPr lang="ru-RU"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Вывод массива на консоль</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for</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0;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nums.Length</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Console.WriteLine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5210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результат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fontScale="92500" lnSpcReduction="20000"/>
          </a:bodyPr>
          <a:lstStyle/>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Main(</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string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args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n = 10;</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a:t>
            </a:r>
            <a:r>
              <a:rPr lang="ru-RU"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Вызов методов</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Console.WriteLine</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ru-RU"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"Созданный методом массив"</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 =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CrMass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(n);</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Console.ReadLine</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96193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результат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pPr indent="450215"/>
            <a:r>
              <a:rPr lang="ru-RU" dirty="0">
                <a:solidFill>
                  <a:srgbClr val="000000"/>
                </a:solidFill>
                <a:effectLst/>
                <a:latin typeface="Times New Roman" panose="02020603050405020304" pitchFamily="18" charset="0"/>
                <a:ea typeface="Calibri" panose="020F0502020204030204" pitchFamily="34" charset="0"/>
              </a:rPr>
              <a:t>Результат:</a:t>
            </a:r>
            <a:endParaRPr lang="ru-RU" dirty="0">
              <a:effectLst/>
              <a:latin typeface="Times New Roman" panose="02020603050405020304" pitchFamily="18" charset="0"/>
              <a:ea typeface="Times New Roman" panose="02020603050405020304" pitchFamily="18" charset="0"/>
            </a:endParaRPr>
          </a:p>
          <a:p>
            <a:pPr indent="450215"/>
            <a:r>
              <a:rPr lang="ru-RU" dirty="0">
                <a:solidFill>
                  <a:srgbClr val="000000"/>
                </a:solidFill>
                <a:effectLst/>
                <a:latin typeface="Times New Roman" panose="02020603050405020304" pitchFamily="18" charset="0"/>
                <a:ea typeface="Calibri" panose="020F0502020204030204" pitchFamily="34" charset="0"/>
              </a:rPr>
              <a:t> </a:t>
            </a:r>
            <a:endParaRPr lang="ru-RU" dirty="0">
              <a:effectLst/>
              <a:latin typeface="Times New Roman" panose="02020603050405020304" pitchFamily="18" charset="0"/>
              <a:ea typeface="Times New Roman" panose="02020603050405020304" pitchFamily="18" charset="0"/>
            </a:endParaRPr>
          </a:p>
          <a:p>
            <a:pPr indent="450215"/>
            <a:r>
              <a:rPr lang="ru-RU" dirty="0">
                <a:solidFill>
                  <a:srgbClr val="000000"/>
                </a:solidFill>
                <a:effectLst/>
                <a:latin typeface="Times New Roman" panose="02020603050405020304" pitchFamily="18" charset="0"/>
                <a:ea typeface="Calibri" panose="020F0502020204030204" pitchFamily="34" charset="0"/>
              </a:rPr>
              <a:t>Созданный методом массив</a:t>
            </a:r>
            <a:endParaRPr lang="ru-RU" dirty="0">
              <a:effectLst/>
              <a:latin typeface="Times New Roman" panose="02020603050405020304" pitchFamily="18" charset="0"/>
              <a:ea typeface="Times New Roman" panose="02020603050405020304" pitchFamily="18" charset="0"/>
            </a:endParaRPr>
          </a:p>
          <a:p>
            <a:pPr indent="450215"/>
            <a:r>
              <a:rPr lang="ru-RU" dirty="0">
                <a:solidFill>
                  <a:srgbClr val="000000"/>
                </a:solidFill>
                <a:effectLst/>
                <a:latin typeface="Times New Roman" panose="02020603050405020304" pitchFamily="18" charset="0"/>
                <a:ea typeface="Calibri" panose="020F0502020204030204" pitchFamily="34" charset="0"/>
              </a:rPr>
              <a:t>2 9 9 1 5 2 1 9 6 2</a:t>
            </a:r>
            <a:endParaRPr lang="ru-RU" dirty="0">
              <a:effectLst/>
              <a:latin typeface="Times New Roman" panose="02020603050405020304" pitchFamily="18" charset="0"/>
              <a:ea typeface="Times New Roman" panose="02020603050405020304" pitchFamily="18" charset="0"/>
            </a:endParaRPr>
          </a:p>
          <a:p>
            <a:pPr indent="450215"/>
            <a:r>
              <a:rPr lang="ru-RU" dirty="0">
                <a:solidFill>
                  <a:srgbClr val="000000"/>
                </a:solidFill>
                <a:effectLst/>
                <a:latin typeface="Times New Roman" panose="02020603050405020304" pitchFamily="18" charset="0"/>
                <a:ea typeface="Calibri" panose="020F0502020204030204" pitchFamily="34" charset="0"/>
              </a:rPr>
              <a:t> </a:t>
            </a:r>
            <a:endParaRPr lang="ru-RU"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9629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normAutofit fontScale="90000"/>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входной и выходной аргумент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fontScale="85000" lnSpcReduction="20000"/>
          </a:bodyPr>
          <a:lstStyle/>
          <a:p>
            <a:pPr indent="450215"/>
            <a:r>
              <a:rPr lang="ru-RU" sz="1800" dirty="0">
                <a:solidFill>
                  <a:srgbClr val="000000"/>
                </a:solidFill>
                <a:effectLst/>
                <a:latin typeface="Times New Roman" panose="02020603050405020304" pitchFamily="18" charset="0"/>
                <a:ea typeface="Calibri" panose="020F0502020204030204" pitchFamily="34" charset="0"/>
              </a:rPr>
              <a:t>Как и переменные других типов массивы могут выступать в качестве входных и выходных аргументов методов. Приведем соответствующие примеры:</a:t>
            </a:r>
            <a:endParaRPr lang="ru-RU" sz="1800" dirty="0">
              <a:effectLst/>
              <a:latin typeface="Times New Roman" panose="02020603050405020304" pitchFamily="18" charset="0"/>
              <a:ea typeface="Times New Roman" panose="02020603050405020304" pitchFamily="18" charset="0"/>
            </a:endParaRPr>
          </a:p>
          <a:p>
            <a:pPr indent="450215"/>
            <a:r>
              <a:rPr lang="ru-RU" sz="1800" dirty="0">
                <a:solidFill>
                  <a:srgbClr val="000000"/>
                </a:solidFill>
                <a:effectLst/>
                <a:latin typeface="Times New Roman" panose="02020603050405020304" pitchFamily="18" charset="0"/>
                <a:ea typeface="Calibri" panose="020F0502020204030204" pitchFamily="34" charset="0"/>
              </a:rPr>
              <a:t>Массив – входной параметр метода.</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//Метод создает и возвращает массив</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CrMass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n)</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new</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[n];</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Random</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rnd</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ru-RU" sz="18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new</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Random</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//Заполнение случайными числами</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for</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0;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nums.Length</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rnd.Next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(1, 10);</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return</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pPr indent="450215"/>
            <a:r>
              <a:rPr lang="ru-RU" sz="1800" dirty="0">
                <a:solidFill>
                  <a:srgbClr val="000000"/>
                </a:solidFill>
                <a:effectLst/>
                <a:latin typeface="Times New Roman" panose="02020603050405020304" pitchFamily="18" charset="0"/>
                <a:ea typeface="Calibri" panose="020F0502020204030204" pitchFamily="34" charset="0"/>
              </a:rPr>
              <a:t> </a:t>
            </a:r>
            <a:endParaRPr lang="ru-RU" sz="1800" dirty="0">
              <a:effectLst/>
              <a:latin typeface="Times New Roman" panose="02020603050405020304" pitchFamily="18" charset="0"/>
              <a:ea typeface="Times New Roman" panose="02020603050405020304" pitchFamily="18" charset="0"/>
            </a:endParaRPr>
          </a:p>
          <a:p>
            <a:pPr indent="450215"/>
            <a:r>
              <a:rPr lang="ru-RU" sz="1800" dirty="0">
                <a:solidFill>
                  <a:srgbClr val="000000"/>
                </a:solidFill>
                <a:effectLst/>
                <a:latin typeface="Times New Roman" panose="02020603050405020304" pitchFamily="18" charset="0"/>
                <a:ea typeface="Calibri" panose="020F0502020204030204" pitchFamily="34" charset="0"/>
              </a:rPr>
              <a:t> </a:t>
            </a:r>
            <a:endParaRPr lang="ru-RU" sz="1800"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3338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normAutofit fontScale="90000"/>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входной и выходной аргумент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en-US"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a:t>
            </a:r>
            <a:r>
              <a:rPr lang="ru-RU"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Вывод массива на консоль</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for</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0;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nums.Length</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Console.WriteLine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pPr indent="450215"/>
            <a:r>
              <a:rPr lang="ru-RU" sz="1800" dirty="0">
                <a:solidFill>
                  <a:srgbClr val="000000"/>
                </a:solidFill>
                <a:effectLst/>
                <a:latin typeface="Times New Roman" panose="02020603050405020304" pitchFamily="18" charset="0"/>
                <a:ea typeface="Calibri" panose="020F0502020204030204" pitchFamily="34" charset="0"/>
              </a:rPr>
              <a:t> </a:t>
            </a:r>
            <a:endParaRPr lang="ru-RU" sz="1800"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1932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normAutofit fontScale="90000"/>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входной и выходной аргумент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en-US" sz="1800" dirty="0">
                <a:solidFill>
                  <a:srgbClr val="00B05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B050"/>
                </a:solidFill>
                <a:effectLst/>
                <a:latin typeface="Consolas" panose="020B0609020204030204" pitchFamily="49" charset="0"/>
                <a:ea typeface="Calibri" panose="020F0502020204030204" pitchFamily="34" charset="0"/>
                <a:cs typeface="Consolas" panose="020B0609020204030204" pitchFamily="49" charset="0"/>
              </a:rPr>
              <a:t>Изменяем уже созданный массив</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ChangeMass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ref</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Random</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rnd</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ru-RU" sz="18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new</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Random</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//Заполнение случайными числами</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for</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0;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nums.Length</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rnd.Next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(1, 10);</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7341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normAutofit fontScale="90000"/>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входной и выходной аргумент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fontScale="85000" lnSpcReduction="20000"/>
          </a:bodyPr>
          <a:lstStyle/>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Main(</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string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args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n = 10;</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a:t>
            </a:r>
            <a:r>
              <a:rPr lang="ru-RU" sz="18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Вызов методов</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Console.WriteLine</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ru-RU"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"Созданный методом массив"</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 =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CrMass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(n);</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Console.WriteLine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ru-RU"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Измененный массив</a:t>
            </a:r>
            <a:r>
              <a:rPr lang="en-US"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ChangeMass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ref</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Console</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ReadLine</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pPr indent="450215"/>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0000"/>
                </a:solidFill>
                <a:effectLst/>
                <a:latin typeface="Times New Roman" panose="02020603050405020304" pitchFamily="18" charset="0"/>
                <a:ea typeface="Calibri" panose="020F0502020204030204" pitchFamily="34" charset="0"/>
              </a:rPr>
              <a:t> </a:t>
            </a:r>
            <a:endParaRPr lang="ru-RU" sz="1800"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51152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normAutofit fontScale="90000"/>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входной и выходной аргумент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endParaRPr lang="ru-RU"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F886769-119F-443D-8D83-B9D2543DCD5C}"/>
              </a:ext>
            </a:extLst>
          </p:cNvPr>
          <p:cNvSpPr txBox="1"/>
          <p:nvPr/>
        </p:nvSpPr>
        <p:spPr>
          <a:xfrm>
            <a:off x="2248250" y="2553933"/>
            <a:ext cx="6893653" cy="1754326"/>
          </a:xfrm>
          <a:prstGeom prst="rect">
            <a:avLst/>
          </a:prstGeom>
          <a:noFill/>
        </p:spPr>
        <p:txBody>
          <a:bodyPr wrap="square">
            <a:spAutoFit/>
          </a:bodyPr>
          <a:lstStyle/>
          <a:p>
            <a:pPr indent="450215" algn="just"/>
            <a:r>
              <a:rPr lang="ru-RU" sz="1800" dirty="0">
                <a:effectLst/>
                <a:latin typeface="Times New Roman" panose="02020603050405020304" pitchFamily="18" charset="0"/>
                <a:ea typeface="Times New Roman" panose="02020603050405020304" pitchFamily="18" charset="0"/>
              </a:rPr>
              <a:t>Результат.</a:t>
            </a:r>
          </a:p>
          <a:p>
            <a:pPr indent="450215" algn="just"/>
            <a:r>
              <a:rPr lang="ru-RU" sz="1800" dirty="0">
                <a:effectLst/>
                <a:latin typeface="Times New Roman" panose="02020603050405020304" pitchFamily="18" charset="0"/>
                <a:ea typeface="Times New Roman" panose="02020603050405020304" pitchFamily="18" charset="0"/>
              </a:rPr>
              <a:t> </a:t>
            </a:r>
          </a:p>
          <a:p>
            <a:pPr indent="450215" algn="just"/>
            <a:r>
              <a:rPr lang="ru-RU" sz="1800" dirty="0">
                <a:effectLst/>
                <a:latin typeface="Times New Roman" panose="02020603050405020304" pitchFamily="18" charset="0"/>
                <a:ea typeface="Times New Roman" panose="02020603050405020304" pitchFamily="18" charset="0"/>
              </a:rPr>
              <a:t>Созданный методом массив</a:t>
            </a:r>
          </a:p>
          <a:p>
            <a:pPr indent="450215" algn="just"/>
            <a:r>
              <a:rPr lang="ru-RU" sz="1800" dirty="0">
                <a:effectLst/>
                <a:latin typeface="Times New Roman" panose="02020603050405020304" pitchFamily="18" charset="0"/>
                <a:ea typeface="Times New Roman" panose="02020603050405020304" pitchFamily="18" charset="0"/>
              </a:rPr>
              <a:t>2 7 8 8 1 4 9 7 7 6</a:t>
            </a:r>
          </a:p>
          <a:p>
            <a:pPr indent="450215" algn="just"/>
            <a:r>
              <a:rPr lang="ru-RU" sz="1800" dirty="0">
                <a:effectLst/>
                <a:latin typeface="Times New Roman" panose="02020603050405020304" pitchFamily="18" charset="0"/>
                <a:ea typeface="Times New Roman" panose="02020603050405020304" pitchFamily="18" charset="0"/>
              </a:rPr>
              <a:t>Измененный массив</a:t>
            </a:r>
          </a:p>
          <a:p>
            <a:pPr indent="450215" algn="just"/>
            <a:r>
              <a:rPr lang="ru-RU" sz="1800" dirty="0">
                <a:effectLst/>
                <a:latin typeface="Times New Roman" panose="02020603050405020304" pitchFamily="18" charset="0"/>
                <a:ea typeface="Times New Roman" panose="02020603050405020304" pitchFamily="18" charset="0"/>
              </a:rPr>
              <a:t>5 2 6 5 6 4 7 8 4 6</a:t>
            </a:r>
          </a:p>
        </p:txBody>
      </p:sp>
    </p:spTree>
    <p:extLst>
      <p:ext uri="{BB962C8B-B14F-4D97-AF65-F5344CB8AC3E}">
        <p14:creationId xmlns:p14="http://schemas.microsoft.com/office/powerpoint/2010/main" val="8443028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normAutofit fontScale="90000"/>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входной и выходной аргумент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r>
              <a:rPr lang="ru-RU" sz="2400" dirty="0">
                <a:solidFill>
                  <a:srgbClr val="00B050"/>
                </a:solidFill>
                <a:effectLst/>
                <a:latin typeface="Times New Roman" panose="02020603050405020304" pitchFamily="18" charset="0"/>
                <a:ea typeface="Calibri" panose="020F0502020204030204" pitchFamily="34" charset="0"/>
              </a:rPr>
              <a:t>Массив – выходной параметр метода.</a:t>
            </a:r>
          </a:p>
          <a:p>
            <a:pPr indent="540385"/>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for</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0;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nums.Length</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Console.WriteLine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05095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normAutofit fontScale="90000"/>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входной и выходной аргумент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pPr lvl="1"/>
            <a:r>
              <a:rPr lang="en-US" sz="20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MassOut</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out</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2000" dirty="0">
              <a:effectLst/>
              <a:latin typeface="Times New Roman" panose="02020603050405020304" pitchFamily="18" charset="0"/>
              <a:ea typeface="Times New Roman" panose="02020603050405020304" pitchFamily="18" charset="0"/>
            </a:endParaRPr>
          </a:p>
          <a:p>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Random</a:t>
            </a:r>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rnd</a:t>
            </a:r>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ru-RU" sz="20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new</a:t>
            </a:r>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Random</a:t>
            </a:r>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2000" dirty="0">
              <a:effectLst/>
              <a:latin typeface="Times New Roman" panose="02020603050405020304" pitchFamily="18" charset="0"/>
              <a:ea typeface="Times New Roman" panose="02020603050405020304" pitchFamily="18" charset="0"/>
            </a:endParaRPr>
          </a:p>
          <a:p>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2000" dirty="0">
                <a:solidFill>
                  <a:srgbClr val="008000"/>
                </a:solidFill>
                <a:effectLst/>
                <a:latin typeface="Consolas" panose="020B0609020204030204" pitchFamily="49" charset="0"/>
                <a:ea typeface="Calibri" panose="020F0502020204030204" pitchFamily="34" charset="0"/>
                <a:cs typeface="Consolas" panose="020B0609020204030204" pitchFamily="49" charset="0"/>
              </a:rPr>
              <a:t>//Заполнение случайными числами</a:t>
            </a:r>
            <a:endParaRPr lang="ru-RU" sz="2000" dirty="0">
              <a:effectLst/>
              <a:latin typeface="Times New Roman" panose="02020603050405020304" pitchFamily="18" charset="0"/>
              <a:ea typeface="Times New Roman" panose="02020603050405020304" pitchFamily="18" charset="0"/>
            </a:endParaRPr>
          </a:p>
          <a:p>
            <a:r>
              <a:rPr lang="ru-RU"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for</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0;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&lt;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nums.Length</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2000" dirty="0">
              <a:effectLst/>
              <a:latin typeface="Times New Roman" panose="02020603050405020304" pitchFamily="18" charset="0"/>
              <a:ea typeface="Times New Roman" panose="02020603050405020304" pitchFamily="18" charset="0"/>
            </a:endParaRPr>
          </a:p>
          <a:p>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nums</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a:t>
            </a:r>
            <a:r>
              <a:rPr lang="en-US" sz="20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rnd.Next</a:t>
            </a:r>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(1, 10);</a:t>
            </a:r>
            <a:endParaRPr lang="ru-RU" sz="2000" dirty="0">
              <a:effectLst/>
              <a:latin typeface="Times New Roman" panose="02020603050405020304" pitchFamily="18" charset="0"/>
              <a:ea typeface="Times New Roman" panose="02020603050405020304" pitchFamily="18" charset="0"/>
            </a:endParaRPr>
          </a:p>
          <a:p>
            <a:pPr indent="450215"/>
            <a:r>
              <a:rPr lang="en-US" sz="20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97212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normAutofit fontScale="90000"/>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входной и выходной аргумент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pPr indent="449580"/>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static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Main(</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string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args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B;</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MassOut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out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B);</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Printmass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(B);</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Console.ReadLine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pPr indent="450215" algn="just"/>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pPr lvl="1"/>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42831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7B9E89-1F7E-466D-BE23-18D70C839C3D}"/>
              </a:ext>
            </a:extLst>
          </p:cNvPr>
          <p:cNvSpPr>
            <a:spLocks noGrp="1"/>
          </p:cNvSpPr>
          <p:nvPr>
            <p:ph type="title"/>
          </p:nvPr>
        </p:nvSpPr>
        <p:spPr/>
        <p:txBody>
          <a:bodyPr>
            <a:normAutofit fontScale="90000"/>
          </a:bodyPr>
          <a:lstStyle/>
          <a:p>
            <a:pPr algn="ctr"/>
            <a:r>
              <a:rPr lang="ru-RU" dirty="0">
                <a:solidFill>
                  <a:srgbClr val="0070C0"/>
                </a:solidFill>
              </a:rPr>
              <a:t>Массив – </a:t>
            </a:r>
            <a:r>
              <a:rPr lang="ru-RU" dirty="0">
                <a:solidFill>
                  <a:srgbClr val="0070C0"/>
                </a:solidFill>
                <a:effectLst/>
                <a:latin typeface="Times New Roman" panose="02020603050405020304" pitchFamily="18" charset="0"/>
                <a:ea typeface="Times New Roman" panose="02020603050405020304" pitchFamily="18" charset="0"/>
              </a:rPr>
              <a:t>входной и выходной аргумент метода</a:t>
            </a:r>
            <a:br>
              <a:rPr lang="ru-RU" sz="1800" dirty="0">
                <a:effectLst/>
                <a:latin typeface="Times New Roman" panose="02020603050405020304" pitchFamily="18" charset="0"/>
                <a:ea typeface="Times New Roman" panose="02020603050405020304" pitchFamily="18" charset="0"/>
              </a:rPr>
            </a:br>
            <a:endParaRPr lang="ru-RU" dirty="0">
              <a:solidFill>
                <a:srgbClr val="0070C0"/>
              </a:solidFill>
            </a:endParaRPr>
          </a:p>
        </p:txBody>
      </p:sp>
      <p:sp>
        <p:nvSpPr>
          <p:cNvPr id="5" name="Объект 4">
            <a:extLst>
              <a:ext uri="{FF2B5EF4-FFF2-40B4-BE49-F238E27FC236}">
                <a16:creationId xmlns:a16="http://schemas.microsoft.com/office/drawing/2014/main" id="{728C87C3-5D46-47DF-88D3-F79F9F33687E}"/>
              </a:ext>
            </a:extLst>
          </p:cNvPr>
          <p:cNvSpPr>
            <a:spLocks noGrp="1"/>
          </p:cNvSpPr>
          <p:nvPr>
            <p:ph idx="1"/>
          </p:nvPr>
        </p:nvSpPr>
        <p:spPr/>
        <p:txBody>
          <a:bodyPr>
            <a:normAutofit/>
          </a:bodyPr>
          <a:lstStyle/>
          <a:p>
            <a:pPr indent="450215" algn="just"/>
            <a:r>
              <a:rPr lang="ru-RU" dirty="0">
                <a:effectLst/>
                <a:latin typeface="Times New Roman" panose="02020603050405020304" pitchFamily="18" charset="0"/>
                <a:ea typeface="Times New Roman" panose="02020603050405020304" pitchFamily="18" charset="0"/>
              </a:rPr>
              <a:t>Результат</a:t>
            </a:r>
            <a:r>
              <a:rPr lang="en-US" dirty="0">
                <a:effectLst/>
                <a:latin typeface="Times New Roman" panose="02020603050405020304" pitchFamily="18" charset="0"/>
                <a:ea typeface="Times New Roman" panose="02020603050405020304" pitchFamily="18" charset="0"/>
              </a:rPr>
              <a:t>:</a:t>
            </a:r>
            <a:endParaRPr lang="ru-RU" dirty="0">
              <a:effectLst/>
              <a:latin typeface="Times New Roman" panose="02020603050405020304" pitchFamily="18" charset="0"/>
              <a:ea typeface="Times New Roman" panose="02020603050405020304" pitchFamily="18" charset="0"/>
            </a:endParaRPr>
          </a:p>
          <a:p>
            <a:pPr indent="450215" algn="just"/>
            <a:r>
              <a:rPr lang="en-US" dirty="0">
                <a:effectLst/>
                <a:latin typeface="Times New Roman" panose="02020603050405020304" pitchFamily="18" charset="0"/>
                <a:ea typeface="Times New Roman" panose="02020603050405020304" pitchFamily="18" charset="0"/>
              </a:rPr>
              <a:t> </a:t>
            </a:r>
            <a:endParaRPr lang="ru-RU" dirty="0">
              <a:effectLst/>
              <a:latin typeface="Times New Roman" panose="02020603050405020304" pitchFamily="18" charset="0"/>
              <a:ea typeface="Times New Roman" panose="02020603050405020304" pitchFamily="18" charset="0"/>
            </a:endParaRPr>
          </a:p>
          <a:p>
            <a:pPr indent="450215" algn="just"/>
            <a:r>
              <a:rPr lang="ru-RU" dirty="0">
                <a:effectLst/>
                <a:latin typeface="Times New Roman" panose="02020603050405020304" pitchFamily="18" charset="0"/>
                <a:ea typeface="Times New Roman" panose="02020603050405020304" pitchFamily="18" charset="0"/>
              </a:rPr>
              <a:t>Массив – выходной аргумент</a:t>
            </a:r>
          </a:p>
          <a:p>
            <a:pPr indent="450215" algn="just"/>
            <a:r>
              <a:rPr lang="ru-RU" dirty="0">
                <a:effectLst/>
                <a:latin typeface="Times New Roman" panose="02020603050405020304" pitchFamily="18" charset="0"/>
                <a:ea typeface="Times New Roman" panose="02020603050405020304" pitchFamily="18" charset="0"/>
              </a:rPr>
              <a:t>9 4 9 8 1 1 2 8 5 5</a:t>
            </a:r>
          </a:p>
          <a:p>
            <a:pPr lvl="1"/>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73744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7B1B52-41BB-4F2C-B145-1DEAB99B983C}"/>
              </a:ext>
            </a:extLst>
          </p:cNvPr>
          <p:cNvSpPr>
            <a:spLocks noGrp="1"/>
          </p:cNvSpPr>
          <p:nvPr>
            <p:ph type="title"/>
          </p:nvPr>
        </p:nvSpPr>
        <p:spPr/>
        <p:txBody>
          <a:bodyPr/>
          <a:lstStyle/>
          <a:p>
            <a:pPr algn="ctr"/>
            <a:r>
              <a:rPr lang="ru-RU" dirty="0">
                <a:solidFill>
                  <a:srgbClr val="FF0000"/>
                </a:solidFill>
              </a:rPr>
              <a:t>До следующей лекции</a:t>
            </a:r>
          </a:p>
        </p:txBody>
      </p:sp>
      <p:pic>
        <p:nvPicPr>
          <p:cNvPr id="5" name="Объект 4">
            <a:extLst>
              <a:ext uri="{FF2B5EF4-FFF2-40B4-BE49-F238E27FC236}">
                <a16:creationId xmlns:a16="http://schemas.microsoft.com/office/drawing/2014/main" id="{3A443A3B-EA8B-4C9A-B9E4-DFCC04E391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2496" y="1825625"/>
            <a:ext cx="6527007" cy="4351338"/>
          </a:xfrm>
        </p:spPr>
      </p:pic>
    </p:spTree>
    <p:extLst>
      <p:ext uri="{BB962C8B-B14F-4D97-AF65-F5344CB8AC3E}">
        <p14:creationId xmlns:p14="http://schemas.microsoft.com/office/powerpoint/2010/main" val="22850081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3240</Words>
  <Application>Microsoft Office PowerPoint</Application>
  <PresentationFormat>Широкоэкранный</PresentationFormat>
  <Paragraphs>419</Paragraphs>
  <Slides>50</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50</vt:i4>
      </vt:variant>
    </vt:vector>
  </HeadingPairs>
  <TitlesOfParts>
    <vt:vector size="57" baseType="lpstr">
      <vt:lpstr>Arial</vt:lpstr>
      <vt:lpstr>Calibri</vt:lpstr>
      <vt:lpstr>Calibri Light</vt:lpstr>
      <vt:lpstr>Consolas</vt:lpstr>
      <vt:lpstr>Courier New</vt:lpstr>
      <vt:lpstr>Times New Roman</vt:lpstr>
      <vt:lpstr>Тема Office</vt:lpstr>
      <vt:lpstr>Программирование</vt:lpstr>
      <vt:lpstr>Одномерные массивы</vt:lpstr>
      <vt:lpstr>Одномерные массивы</vt:lpstr>
      <vt:lpstr>Одномерные массивы</vt:lpstr>
      <vt:lpstr>Одномерные массивы</vt:lpstr>
      <vt:lpstr>Одномерные массивы</vt:lpstr>
      <vt:lpstr>Одномерные массивы - инициализация</vt:lpstr>
      <vt:lpstr>Одномерные массивы - инициализация</vt:lpstr>
      <vt:lpstr>Одномерные массивы - инициализация</vt:lpstr>
      <vt:lpstr>Одномерные массивы - инициализация</vt:lpstr>
      <vt:lpstr>Одномерные массивы - инициализация</vt:lpstr>
      <vt:lpstr>Одномерные массивы – Пример 1</vt:lpstr>
      <vt:lpstr>Одномерные массивы – Пример 1</vt:lpstr>
      <vt:lpstr>Одномерные массивы – Пример 2</vt:lpstr>
      <vt:lpstr>Одномерные массивы – Пример 2</vt:lpstr>
      <vt:lpstr>Одномерные массивы – Пример 2</vt:lpstr>
      <vt:lpstr>Одномерные массивы – Пример 2</vt:lpstr>
      <vt:lpstr>Одномерные массивы – Пример 2</vt:lpstr>
      <vt:lpstr>Одномерные массивы – Пример 3</vt:lpstr>
      <vt:lpstr>Одномерные массивы – Пример 3</vt:lpstr>
      <vt:lpstr>Одномерные массивы – Пример 3</vt:lpstr>
      <vt:lpstr>Одномерные массивы – Пример 3</vt:lpstr>
      <vt:lpstr>Одномерные массивы – Пример 3</vt:lpstr>
      <vt:lpstr>Одномерные массивы – Пример 3</vt:lpstr>
      <vt:lpstr>Одномерные массивы – Пример 4</vt:lpstr>
      <vt:lpstr>Одномерные массивы – Пример 4</vt:lpstr>
      <vt:lpstr>Одномерные массивы – Пример 4</vt:lpstr>
      <vt:lpstr>Одномерные массивы – Пример 4</vt:lpstr>
      <vt:lpstr>Одномерные массивы – Пример 4</vt:lpstr>
      <vt:lpstr>Массив – аргумент метода</vt:lpstr>
      <vt:lpstr>Массив – аргумент метода</vt:lpstr>
      <vt:lpstr>Массив – аргумент метода</vt:lpstr>
      <vt:lpstr>Массив – аргумент метода</vt:lpstr>
      <vt:lpstr>Массив – аргумент метода</vt:lpstr>
      <vt:lpstr>Массив – аргумент метода</vt:lpstr>
      <vt:lpstr>Массив – результат метода </vt:lpstr>
      <vt:lpstr>Массив – результат метода </vt:lpstr>
      <vt:lpstr>Массив – результат метода </vt:lpstr>
      <vt:lpstr>Массив – результат метода </vt:lpstr>
      <vt:lpstr>Массив – результат метода </vt:lpstr>
      <vt:lpstr>Массив – входной и выходной аргумент метода </vt:lpstr>
      <vt:lpstr>Массив – входной и выходной аргумент метода </vt:lpstr>
      <vt:lpstr>Массив – входной и выходной аргумент метода </vt:lpstr>
      <vt:lpstr>Массив – входной и выходной аргумент метода </vt:lpstr>
      <vt:lpstr>Массив – входной и выходной аргумент метода </vt:lpstr>
      <vt:lpstr>Массив – входной и выходной аргумент метода </vt:lpstr>
      <vt:lpstr>Массив – входной и выходной аргумент метода </vt:lpstr>
      <vt:lpstr>Массив – входной и выходной аргумент метода </vt:lpstr>
      <vt:lpstr>Массив – входной и выходной аргумент метода </vt:lpstr>
      <vt:lpstr>До следующей лекции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Программирование</dc:title>
  <dc:creator>Леонид Попов</dc:creator>
  <cp:lastModifiedBy>Леонид Попов</cp:lastModifiedBy>
  <cp:revision>13</cp:revision>
  <dcterms:created xsi:type="dcterms:W3CDTF">2021-01-28T03:44:41Z</dcterms:created>
  <dcterms:modified xsi:type="dcterms:W3CDTF">2021-03-12T00:48:03Z</dcterms:modified>
</cp:coreProperties>
</file>