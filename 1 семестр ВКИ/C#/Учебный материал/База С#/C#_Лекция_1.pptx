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DFBA2-F5D5-4360-8576-AA15D4B4A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ACA78A-50F9-4362-B8E3-FA4F841AA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6B56BD-AFB3-44CC-B868-4BE45353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53FFA7-69F2-4B1F-8DED-7864AE5E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E624C0-BF2B-4674-8F6E-335C8E73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747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CE118-867E-4E67-8E08-805F47D5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2EBC62-E61B-499F-B251-5E8664745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2C6CC6-3E6E-4DCB-8108-DE26B062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7C0C81-B4D1-4F75-BB7D-8C2A8FD7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887F02-4FE9-41B0-B48A-26B10357B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45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55360-29F9-4386-8F22-9E8B8643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1A9998-A275-4BC2-AB9B-C4AAF8291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FD0A29-F1AE-4C9C-AA9B-31C438F7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48A2CA-BA03-462E-BCAA-CDD01C65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316974-644C-4DD4-8799-FCABD310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18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2BFC2-5C8A-4AD7-9B9E-771C3EC71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660751-284B-4D9A-852F-9179EA635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8BA968-B56D-449E-9B58-624BD016C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ECDCB3-0C0B-4BFB-9C50-F0A396C4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83F014-B324-44BA-A88E-CAB49123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7501DB-90F2-4DD2-B355-41951AAE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63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0A6BD8-715B-4CB9-9405-8ECB3B84B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15D250-2C8C-44FA-808C-D0958CABD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0514C1-1EF6-405E-818D-19C120098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EF9A5E-9E9C-40F4-B922-9FAD924B4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B0BC95-B698-4530-A52E-D620BCDA9F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C1DE48-8260-4246-8C3B-D0F303A6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69BD00C-5C06-4EFE-9F2A-95A590C3C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E33CD54-70B0-4D03-B97A-B8A416F7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633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8F366-5AC3-4AD9-851C-0E6E0E43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45D1C6C-E5F6-4EC2-A760-19A671E6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2FEAB8-EA61-4BFE-9BAE-CEED1759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6C0A25-DB3F-4877-8B4D-09BA396A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50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0A5423B-427E-4BBD-951C-FD970B6B8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DA8C799-C064-45AC-AD8E-A962323BB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2B9420-3DEB-48FD-82FF-D01578F5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2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FE1B5-2FC0-4DE0-8B66-10F1533F1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F2368B-2EBA-4E86-8A89-9FFA87586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D64FF1-BE6B-4597-A12A-CAE170160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01B9B1-F1BA-43A8-A817-CB121338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E11E98-FDC3-43D6-9C25-CD0040B33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02C0B4-8F20-4461-9630-B11BA9E8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64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15C2-7F84-4DB8-88DB-F149E2B5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6BC4D8-A22D-4B2C-B9AE-287171CE6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21C04E-9895-4B91-91DD-D61107646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65E6BD-26DE-4D11-AC13-A699A4763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43942C-F4F5-482E-84F5-DCF1D3629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3E7649-AB51-446D-B958-BCE6374A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407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9EF54-AA72-4F17-AE97-449F8E2F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5145F4-7C78-4E84-ACA6-14C8DAF97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185454-CB48-4188-AB8D-22CD21159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A4341D-8893-4AF4-84EE-36796EA6B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998B1-7952-4B1B-BD8B-1B8AB07A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07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76CD89F-0808-4DF0-BA83-2812B33B0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EB1670-7ACA-4E19-B8C6-780F5C9DF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A8795D-B66C-479F-8FA7-9C00D2B95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C8DA47-9A3A-4056-8C05-A276C971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EDBDFE-AB28-4FE4-8DD3-6D1FE4AD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72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8E532-FA33-4572-B49D-38BD24146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50A520-6D93-4E1B-9D85-2CBD594D0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9AE233-6153-411C-891B-CFD9257F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B88A3-7EE2-41B9-8CC6-195A68F7CBC3}" type="datetimeFigureOut">
              <a:rPr lang="ru-RU" smtClean="0"/>
              <a:t>31.01.2021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55724D-6885-44E2-8874-D1F2D046B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E06A45-5353-4DC6-AA17-B6E623229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B4306-63EE-4131-943F-F8136F8A5B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44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gif"/><Relationship Id="rId7" Type="http://schemas.openxmlformats.org/officeDocument/2006/relationships/image" Target="../media/image9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gif"/><Relationship Id="rId4" Type="http://schemas.openxmlformats.org/officeDocument/2006/relationships/image" Target="../media/image6.gif"/><Relationship Id="rId9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ADBF0-D6C3-4114-B7C2-BBCB469C4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Программирование</a:t>
            </a:r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C70D73-4BBA-4551-8E9D-50E23A160E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solidFill>
                  <a:srgbClr val="00B050"/>
                </a:solidFill>
              </a:rPr>
              <a:t>на языке </a:t>
            </a:r>
            <a:r>
              <a:rPr lang="en-US" sz="4800" dirty="0">
                <a:solidFill>
                  <a:srgbClr val="00B050"/>
                </a:solidFill>
              </a:rPr>
              <a:t>C#</a:t>
            </a:r>
          </a:p>
          <a:p>
            <a:r>
              <a:rPr lang="ru-RU" sz="4800" dirty="0">
                <a:solidFill>
                  <a:srgbClr val="00B050"/>
                </a:solidFill>
              </a:rPr>
              <a:t>Лекция 1</a:t>
            </a:r>
          </a:p>
        </p:txBody>
      </p:sp>
    </p:spTree>
    <p:extLst>
      <p:ext uri="{BB962C8B-B14F-4D97-AF65-F5344CB8AC3E}">
        <p14:creationId xmlns:p14="http://schemas.microsoft.com/office/powerpoint/2010/main" val="162883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Историческая справка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34C56E6-F717-4801-B422-B9D38E056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создан инженерами компании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Microsoft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1998-2001 годах. Руководил группой разработчиков Андерс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Хейлсберг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до этого трудился в фирме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Borland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над созданием компилятора для языка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Pascal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участвовал в создании интегрированной среды разработки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Delphi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Язык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появился после языков С++ и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Java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Богатый опыт их использования во многом был учтен разработчиками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829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F0"/>
                </a:solidFill>
              </a:rPr>
              <a:t>Консольное приложение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34C56E6-F717-4801-B422-B9D38E056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Консольное приложение – это программа, которая для взаимодействия с пользователем использует консоль – клавиатуру и монитор, работающий в режиме отображения символьной информации (буквы, цифры и специальные знаки). Проще говоря, для работы в режиме консоли достаточно создать код программы и запустить его на исполнение. Для этого не нужен никакой интерфейс (окна, кнопки и т. д.) Поэтому начальное обучению программированию на С# целесообразно начинать с создания консольных приложений.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02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34C56E6-F717-4801-B422-B9D38E056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работы в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мы будем использовать среду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Microsoft Visual Studio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Этот пакет установлен в сети ВКИ. Его установка на домашний компьютер не представляет трудности, и мы не будем на этом останавливаться. Мы будем использовать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Microsoft Visual Studio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2019. Ее первый запуск можно осуществить нажатием кнопки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Microsoft Visual Studio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меню Пуск. После запуска откроется следующее окно: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502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09A1534-BC16-4683-8B2C-2FCDFC0F9B9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698" y="1825625"/>
            <a:ext cx="65526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D0186A-7A00-486A-8DE0-AE9F046F0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just"/>
            <a:r>
              <a:rPr lang="ru-RU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создании в </a:t>
            </a:r>
            <a:r>
              <a:rPr lang="ru-RU" dirty="0" err="1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</a:t>
            </a:r>
            <a:r>
              <a:rPr lang="ru-RU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Studio</a:t>
            </a:r>
            <a:r>
              <a:rPr lang="ru-RU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приложения или веб-сайта вы начинаете с </a:t>
            </a:r>
            <a:r>
              <a:rPr lang="ru-RU" i="1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проекта</a:t>
            </a:r>
            <a:r>
              <a:rPr lang="ru-RU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С логической точки зрения проект содержит все файлы, которые будут скомпилированы в исполняемую программу, библиотеку или веб-сайт. Сюда входят файлы с исходным кодом, значками, изображениями, данными и т. д. Проект также содержит параметры компилятора и другие файлы конфигурации, которые могут потребоваться разным службам или компонентам, с которыми взаимодействует программа.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Выбираем в списке проектов слева «Консольное приложение» и нажимаем кнопку «Далее». Откроется следующее окно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345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FBC4B9B-4A68-4AB2-BF26-272E56F0F33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698" y="1825625"/>
            <a:ext cx="65526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24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2FF0D-7195-4A91-B966-C91EF296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 проекта вы выбираете самостоятельно. Для сохранения проекта необходимо создать отдельную папку. Нажав на кнопку с точками и воспользовавшись открывающимся при этом диалоговым окном, вы обеспечите сохранение проекта в этой папке. Необходимо также поставить галочку «Поместить решение и проект в одном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каталоге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 </a:t>
            </a:r>
            <a:r>
              <a:rPr lang="ru-RU" sz="2400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 находится внутри </a:t>
            </a:r>
            <a:r>
              <a:rPr lang="ru-RU" sz="2400" i="1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решения</a:t>
            </a:r>
            <a:r>
              <a:rPr lang="ru-RU" sz="2400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Несмотря на название, под решением не подразумевается "решение вопроса". Это просто контейнер для одного или нескольких связанных проектов вместе с информацией о сборке, параметрами окна </a:t>
            </a:r>
            <a:r>
              <a:rPr lang="ru-RU" sz="2400" dirty="0" err="1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</a:t>
            </a:r>
            <a:r>
              <a:rPr lang="ru-RU" sz="2400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Studio</a:t>
            </a:r>
            <a:r>
              <a:rPr lang="ru-RU" sz="2400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любыми прочими файлами, которые не относятся к какому-либо конкретному проекту. Решение описывается текстовым файлом (</a:t>
            </a:r>
            <a:r>
              <a:rPr lang="ru-RU" sz="2400" i="1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SLN</a:t>
            </a:r>
            <a:r>
              <a:rPr lang="ru-RU" sz="2400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в собственном уникальном формате; его обычно не изменяют вручную.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21710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2FF0D-7195-4A91-B966-C91EF296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indent="450215" algn="just"/>
            <a:r>
              <a:rPr lang="ru-RU" sz="1800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Нажимаем кнопку «Создать». Откроется окно редактора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Microsoft Visual Studio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 котором автоматически будет генерирована ваша первая программа (рис. 1.3). Такое окно будет всегда открываться при создании нового проекта. Редактируя код программы, вы создадите свой собственное консольное приложение.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окне вы увидите код первой программы: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My_project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Hello World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</a:rPr>
              <a:t>}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3617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2FF0D-7195-4A91-B966-C91EF296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788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Знаменует собой подключение пространства имен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Пространство имен (в других языках его называют библиотекой или модулем. Например, в языке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модуль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pygame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В этом пространстве содержатся все необходимые для работы нашей подпрограммы переменные, функции классы и т.д. В дальнейшем мы будем использовать и другие пространства имен (библиотеки). 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Обратите внимание на точку с запятой (;) после слова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Подключение пространства имен – команда (или инструкция), а любая инструкция 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заканчивается точкой с запятой. 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ее не было.</a:t>
            </a: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51834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2FF0D-7195-4A91-B966-C91EF296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Далее идет строка:</a:t>
            </a:r>
          </a:p>
          <a:p>
            <a:pPr marL="457200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project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Слово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namespace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переводится с английского как «пространство имен». Здесь мы объявляем наше собственное пространство имен. Его имя совпадает с именем папки, в которой мы сохраняем проект. В наше пространство имен войдет код, расположенный между первой открывающей и последней закрывающей фигурными скобками. Фигурные скобки (их еще называют операторными скобками) разделяют различные фрагменты программы. 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эту роль выполняют отступы. При написании программ 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также следует использовать отступы. Использование или отсутствие отступов не влияет  на работоспособность программ, но делает программы более читабельными и облегчает редактирование и поиск ошибок.</a:t>
            </a: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07506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2FF0D-7195-4A91-B966-C91EF296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solidFill>
                <a:srgbClr val="2B91AF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457200" indent="450215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Затем определяется класс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Как и было обещано во введении мы сейчас не будем заострять внимание на классах и объектах. Скажем так: в теле (пространство между фигурными скобками) будут описаны все исполняемые команды нашей программы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 здесь будут описаны функции и глобальные переменные.</a:t>
            </a:r>
          </a:p>
          <a:p>
            <a:pPr marL="457200" indent="450215" algn="jus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58718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2FF0D-7195-4A91-B966-C91EF296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наконец код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Hello World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называют главным методом класса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главной функцией или точкой входа в программу. В дальнейшем мы создадим и другие методы (функции). Но метод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обязательно должен присутствовать в коде программы. Он управляет всеми остальными методами и через него программы осуществляется исполнение программы. Аргумент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 является обязательным.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Main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будет работать и с пустыми круглыми скобками.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91031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2FF0D-7195-4A91-B966-C91EF296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Hello World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объяснения смысла слова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static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необходимо ввести понятие экземпляра класса. Ограничимся пока следующим: это утверждение, что для работы метода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не требуется никакого кода, расположенного вне тела класса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наконец, слово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void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Оно означает что метод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ничего не вычисляет и не возвращает никаких результатов. Оно только печатает в консольном окне знаменитое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Hello World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!». Это осуществляется командой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Hello World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14607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2FF0D-7195-4A91-B966-C91EF296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Запуск программы на выполнение осуществляется одним из следующих способов: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Меню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Отладка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|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Начать отладку (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5)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с отладкой.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Меню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Отладка | Запуск без отладки (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CTRL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5)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без отладки.</a:t>
            </a:r>
          </a:p>
          <a:p>
            <a:pPr marL="457200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 indent="457200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Но на практике обычно просто нажимают зеленую стрелочку в меню.</a:t>
            </a:r>
          </a:p>
          <a:p>
            <a:pPr marL="457200"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91932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2FF0D-7195-4A91-B966-C91EF2967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457200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Когда вы запустите программу, то в консольном окне помимо пресловутого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Hello World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!» вы увидите рекомендацию войти в пункт меню «Отладка», затем в «Параметры» и поставить галочку в пункте «Автоматически закрыть консоль при остановке отладки». Правда, теперь придется немного изменить наш код следующим образом.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457200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"Hello World!"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Остановка исполнения программы до нажатия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//Enter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06419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4CBB7A1-8DCB-47E0-9519-850F4943F89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883" y="1825625"/>
            <a:ext cx="83202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64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"Hello World!"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Остановка исполнения программы до нажатия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Enter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Смысл команды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отражен в к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омментарии к ней. </a:t>
            </a: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#, как и многие другие языки программирования, позволяет вводить комментарии в исходный код программы, при этом компилятор игнорирует содержание комментария. В комментарии описывается или объясняется операция, выполняемая в программе. В приложениях комментарии обычно объясняют, как работают определенные части программы, или какие данные содержатся в какой-либо переменной.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14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поддерживается два вида комментариев: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однострочные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многострочные.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Многострочный комментарий состоит из нескольких строк и находится между символами  /*  и */. Весь  текст, находящийся между этими символами игнорируется компилятором. Например:</a:t>
            </a:r>
          </a:p>
          <a:p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/*  это простое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консольное приложение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*/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Однострочный комментарий начинается с символов </a:t>
            </a:r>
            <a:r>
              <a:rPr lang="ru-RU" sz="180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//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заканчивается с окончанием строки. Например:</a:t>
            </a:r>
          </a:p>
          <a:p>
            <a:r>
              <a:rPr lang="ru-RU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price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r>
              <a:rPr lang="ru-RU" sz="1800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переменная хранит цену товара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Принято общее правило: многострочный комментарий программист использует для больших заметок,  а однострочные – для коротких объяснений, не требующих много места.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170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Переменные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 компьютерные программы работают с данными – информацией, которая им нужна для работы.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хранения данных в программе применяются 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переменные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Переменная представляет именованную область памяти, в которой хранится значение определенного типа. Переменная имеет тип, имя и значение. Тип определяет, какого рода информацию может хранить переменная. С основными типами переменных в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мы познакомимся в следующем параграфе.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3148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Переменные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языке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переменной определяется присваиванием ей некоторого значения. Например, код 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=2.5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предполагает, что переменная 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будет иметь вещественный тип. Не так обстоит дело в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и других С-подобных языках. Здесь перед использованием любую переменную надо определить. Синтаксис определения переменной выглядит следующим образом: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имя_переменной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Вначале идет тип переменной, потом ее имя. В качестве имени переменной может выступать любое произвольное название, которое удовлетворяет следующим требованиям: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 может содержать любые цифры, буквы и символ подчеркивания, при этом первый символ в имени должен быть буквой или символом подчеркивания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имени не должно быть знаков пунктуации и пробелов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 не может быть ключевым словом языка C#. Таких слов не так много, и при работе в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Studio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среда разработки подсвечивает ключевые слова синим цветом.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760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Переменные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Хотя имя переменой может быть любым, но следует давать переменным описательные имена, которые будут говорить об их предназначении. Например, определим простейшую переменную: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70C0"/>
                </a:solidFill>
              </a:rPr>
              <a:t>string</a:t>
            </a:r>
            <a:r>
              <a:rPr lang="en-US" sz="1800" dirty="0"/>
              <a:t> name;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данном случае определена переменная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которая имеет тип </a:t>
            </a:r>
            <a:r>
              <a:rPr lang="ru-RU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то есть переменная представляет строку. Поскольку определение переменной представляет собой инструкцию, то после него ставится точка с запятой.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этом следует учитывать, что C# (как и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является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регистрозависимым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языком, поэтому следующие два определения переменных будут представлять две разные переменные: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>
              <a:lnSpc>
                <a:spcPts val="1465"/>
              </a:lnSpc>
            </a:pP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определения переменной можно присвоить некоторое значение: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"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Tom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";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02448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Переменные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>
              <a:lnSpc>
                <a:spcPts val="1560"/>
              </a:lnSpc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 как переменная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представляет тип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есть строку, то мы можем присвоить ей строку в двойных кавычках (в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в отличие от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используются только двойные кавычки). Причем переменной можно присвоить только то значение, которое соответствует ее типу. В дальнейшем с помощью имени переменной мы сможем обращаться к той области памяти, в которой хранится ее значение.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560"/>
              </a:lnSpc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 мы можем сразу при определении присвоить переменной</a:t>
            </a:r>
            <a:endParaRPr 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560"/>
              </a:lnSpc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значение. Данный прием называется инициализацией: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40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"</a:t>
            </a:r>
            <a:r>
              <a:rPr lang="ru-RU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Tom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059903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Типы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 и во многих языках программирования, в C# есть своя система типов данных, которая используется для создания переменных. Тип данных определяет внутреннее представление данных, множество значений, которые может принимать объект, а также допустимые действия, которые можно применять над объектом.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языке C# есть следующие примитивные типы данных: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70C0"/>
                </a:solidFill>
              </a:rPr>
              <a:t>bool</a:t>
            </a:r>
            <a:r>
              <a:rPr lang="en-US" sz="1800" dirty="0"/>
              <a:t> </a:t>
            </a:r>
            <a:r>
              <a:rPr lang="ru-RU" sz="1800" dirty="0"/>
              <a:t>хранит значения </a:t>
            </a:r>
            <a:r>
              <a:rPr lang="en-US" sz="1800" dirty="0"/>
              <a:t>true </a:t>
            </a:r>
            <a:r>
              <a:rPr lang="ru-RU" sz="1800" dirty="0"/>
              <a:t>и </a:t>
            </a:r>
            <a:r>
              <a:rPr lang="en-US" sz="1800" dirty="0"/>
              <a:t>false</a:t>
            </a:r>
          </a:p>
          <a:p>
            <a:r>
              <a:rPr lang="en-US" sz="1800" dirty="0"/>
              <a:t>1.</a:t>
            </a:r>
            <a:r>
              <a:rPr lang="en-US" sz="1800" dirty="0">
                <a:solidFill>
                  <a:srgbClr val="0070C0"/>
                </a:solidFill>
              </a:rPr>
              <a:t> bool </a:t>
            </a:r>
            <a:r>
              <a:rPr lang="en-US" sz="1800" dirty="0"/>
              <a:t>alive =true;</a:t>
            </a:r>
          </a:p>
          <a:p>
            <a:r>
              <a:rPr lang="en-US" sz="1800" dirty="0"/>
              <a:t>2. </a:t>
            </a:r>
            <a:r>
              <a:rPr lang="en-US" sz="1800" dirty="0">
                <a:solidFill>
                  <a:srgbClr val="0070C0"/>
                </a:solidFill>
              </a:rPr>
              <a:t>bool</a:t>
            </a:r>
            <a:r>
              <a:rPr lang="en-US" sz="1800" dirty="0"/>
              <a:t> </a:t>
            </a:r>
            <a:r>
              <a:rPr lang="en-US" sz="1800" dirty="0" err="1"/>
              <a:t>isDead</a:t>
            </a:r>
            <a:r>
              <a:rPr lang="en-US" sz="1800" dirty="0"/>
              <a:t> = false;</a:t>
            </a:r>
          </a:p>
          <a:p>
            <a:r>
              <a:rPr lang="en-US" sz="1800" dirty="0">
                <a:solidFill>
                  <a:srgbClr val="0070C0"/>
                </a:solidFill>
              </a:rPr>
              <a:t>byte</a:t>
            </a:r>
            <a:r>
              <a:rPr lang="en-US" sz="1800" dirty="0"/>
              <a:t> </a:t>
            </a:r>
            <a:r>
              <a:rPr lang="ru-RU" sz="1800" dirty="0"/>
              <a:t>хранит значения от 0 до 255 и занимает один байт</a:t>
            </a:r>
            <a:r>
              <a:rPr lang="en-US" sz="1800" dirty="0"/>
              <a:t> </a:t>
            </a:r>
            <a:endParaRPr lang="ru-RU" sz="1800" dirty="0"/>
          </a:p>
          <a:p>
            <a:pPr indent="0">
              <a:lnSpc>
                <a:spcPts val="156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1.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bit1 = 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56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2.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bit2 = 105;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87754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Типы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sbyte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хранит целое число от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-128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до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127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 занимает 1 байт.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sbyte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bit1 = -101;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sbyte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bit2 = 102;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short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хранит целое число от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-32768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до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32767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и занимает 2 байта.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ru-RU" sz="1800" dirty="0">
                <a:effectLst/>
                <a:latin typeface="Consolas" panose="020B0609020204030204" pitchFamily="49" charset="0"/>
              </a:rPr>
              <a:t> n1 = 1;</a:t>
            </a:r>
            <a:endParaRPr lang="en-US" sz="1800" dirty="0">
              <a:effectLst/>
              <a:latin typeface="Consolas" panose="020B0609020204030204" pitchFamily="49" charset="0"/>
            </a:endParaRPr>
          </a:p>
          <a:p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ru-RU" sz="1800" dirty="0">
                <a:effectLst/>
                <a:latin typeface="Consolas" panose="020B0609020204030204" pitchFamily="49" charset="0"/>
              </a:rPr>
              <a:t> n</a:t>
            </a:r>
            <a:r>
              <a:rPr lang="en-US" sz="1800" dirty="0">
                <a:effectLst/>
                <a:latin typeface="Consolas" panose="020B0609020204030204" pitchFamily="49" charset="0"/>
              </a:rPr>
              <a:t>2</a:t>
            </a:r>
            <a:r>
              <a:rPr lang="ru-RU" sz="1800" dirty="0">
                <a:effectLst/>
                <a:latin typeface="Consolas" panose="020B0609020204030204" pitchFamily="49" charset="0"/>
              </a:rPr>
              <a:t> = 1</a:t>
            </a:r>
            <a:r>
              <a:rPr lang="en-US" sz="1800" dirty="0">
                <a:effectLst/>
                <a:latin typeface="Consolas" panose="020B0609020204030204" pitchFamily="49" charset="0"/>
              </a:rPr>
              <a:t>02</a:t>
            </a:r>
            <a:r>
              <a:rPr lang="ru-RU" sz="1800" dirty="0"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effectLst/>
              <a:latin typeface="Consolas" panose="020B0609020204030204" pitchFamily="49" charset="0"/>
            </a:endParaRPr>
          </a:p>
          <a:p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ushort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хранит целое число от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0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до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65535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 занимает 2 байта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ru-RU" sz="180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dirty="0">
                <a:effectLst/>
                <a:latin typeface="Consolas" panose="020B0609020204030204" pitchFamily="49" charset="0"/>
              </a:rPr>
              <a:t>n1 = 1;</a:t>
            </a:r>
            <a:endParaRPr lang="en-US" sz="1800" dirty="0">
              <a:effectLst/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ru-RU" sz="180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ru-RU" sz="180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dirty="0">
                <a:effectLst/>
                <a:latin typeface="Consolas" panose="020B0609020204030204" pitchFamily="49" charset="0"/>
              </a:rPr>
              <a:t>n</a:t>
            </a:r>
            <a:r>
              <a:rPr lang="en-US" sz="1800" dirty="0">
                <a:effectLst/>
                <a:latin typeface="Consolas" panose="020B0609020204030204" pitchFamily="49" charset="0"/>
              </a:rPr>
              <a:t>2</a:t>
            </a:r>
            <a:r>
              <a:rPr lang="ru-RU" sz="1800" dirty="0">
                <a:effectLst/>
                <a:latin typeface="Consolas" panose="020B0609020204030204" pitchFamily="49" charset="0"/>
              </a:rPr>
              <a:t> = 1</a:t>
            </a:r>
            <a:r>
              <a:rPr lang="en-US" sz="1800" dirty="0">
                <a:effectLst/>
                <a:latin typeface="Consolas" panose="020B0609020204030204" pitchFamily="49" charset="0"/>
              </a:rPr>
              <a:t>02</a:t>
            </a:r>
            <a:r>
              <a:rPr lang="ru-RU" sz="1800" dirty="0"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0140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Типы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int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хранит целое число от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-2147483648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до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2147483647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и занимает 4 байта.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a = 10;</a:t>
            </a:r>
          </a:p>
          <a:p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b =105;</a:t>
            </a:r>
          </a:p>
          <a:p>
            <a:endParaRPr lang="en-US" sz="1800" dirty="0">
              <a:latin typeface="Consolas" panose="020B0609020204030204" pitchFamily="49" charset="0"/>
            </a:endParaRPr>
          </a:p>
          <a:p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uint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хранит целое число от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до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4294967295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и занимает 4 байта.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lang="en-US" altLang="ru-RU" sz="1800" dirty="0" err="1">
                <a:solidFill>
                  <a:srgbClr val="0070C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uint</a:t>
            </a:r>
            <a:r>
              <a:rPr lang="en-US" altLang="ru-RU" sz="18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 a = 10;</a:t>
            </a:r>
          </a:p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long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хранит целое число от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–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9 223 372 036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854 775 808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до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9 223 372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036 854 775 807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и занимает 8 байт.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ulong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хранит целое число от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до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18 446 744 073 709 551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615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и занимает 8 байт.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47698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Типы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float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хранит число с плавающей точкой от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-3.4*10</a:t>
            </a:r>
            <a:r>
              <a:rPr kumimoji="0" lang="ru-RU" altLang="ru-RU" sz="18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38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до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3.4*10</a:t>
            </a:r>
            <a:r>
              <a:rPr kumimoji="0" lang="ru-RU" altLang="ru-RU" sz="18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38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и занимает 4 байта.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double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хранит число с плавающей точкой от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±5.0*10</a:t>
            </a:r>
            <a:r>
              <a:rPr kumimoji="0" lang="ru-RU" altLang="ru-RU" sz="18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-324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до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±1.7*10</a:t>
            </a:r>
            <a:r>
              <a:rPr kumimoji="0" lang="ru-RU" altLang="ru-RU" sz="18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308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и занимает 8 байт.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lang="ru-RU" sz="1800" b="1" dirty="0" err="1"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decimal</a:t>
            </a:r>
            <a:r>
              <a:rPr lang="ru-RU" sz="1800" dirty="0"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хранит десятичное дробное число. Если употребляется без десятичной запятой, имеет значение от ±1.0*10</a:t>
            </a:r>
            <a:r>
              <a:rPr lang="ru-RU" sz="1800" baseline="30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-28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до ±7.9228*10</a:t>
            </a:r>
            <a:r>
              <a:rPr lang="ru-RU" sz="1800" baseline="30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может хранить 28 знаков после запятой и занимает 16 байт</a:t>
            </a:r>
            <a:endParaRPr lang="en-US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dirty="0" err="1"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ru-RU" sz="1800" dirty="0"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хранит одиночный символ в кодировке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занимает 2 байта</a:t>
            </a:r>
            <a:endParaRPr lang="en-US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'A’;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Здесь кавычки одинарные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</a:p>
          <a:p>
            <a:r>
              <a:rPr lang="ru-RU" sz="1800" b="1" dirty="0" err="1"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хранит набор символов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Unicode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solidFill>
                  <a:srgbClr val="0070C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s</a:t>
            </a:r>
            <a:r>
              <a:rPr lang="en-US" sz="1800" dirty="0">
                <a:solidFill>
                  <a:srgbClr val="0070C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tring</a:t>
            </a:r>
            <a:r>
              <a:rPr lang="en-US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s = </a:t>
            </a: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“Hello”;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308180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Типы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 вышеперечисленного списка типов данных очевидно, что если мы хотим использовать в программе числа до 256, то для их хранения мы можем использовать переменные типа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byte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При использовании больших значений мы можем взять тип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short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long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То же самое для дробных чисел - для обычных дробных чисел можно взять тип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float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для очень больших дробных чисел - тип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Тип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здесь стоит особняком в том плане, что несмотря на большую разрядность по сравнению с типом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тип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может хранить большее значение. Однако значение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может содержать до 28 знаков после запятой, тогда как значение типа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- 15-16 знаков после запятой.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чаще находит применение в финансовых вычислениях, тогда как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в математических операциях.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76528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вывода информации на консоль мы уже использовали встроенный метод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То есть, если мы хотим вывести некоторую информацию на консоль, то нам надо передать ее в метод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r>
              <a:rPr lang="en-US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System;</a:t>
            </a:r>
            <a:endParaRPr lang="ru-RU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HelloApp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en-US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Program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string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 = 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Привет мир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(hello);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ru-RU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"Добро пожаловать в C#!"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970633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Пока мир</a:t>
            </a:r>
            <a:r>
              <a:rPr lang="en-US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..."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(24.5);</a:t>
            </a:r>
            <a:r>
              <a:rPr lang="en-US" sz="1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</a:t>
            </a:r>
            <a:r>
              <a:rPr lang="ru-RU" sz="14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В коде – точка, в консоли - запятая</a:t>
            </a:r>
            <a:endParaRPr lang="ru-RU" sz="14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Console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ReadKey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465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запуска программы в консольном окне отобразится следующее:</a:t>
            </a: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Привет мир!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Добро пожаловать в C#!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Пока мир...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4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24,5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874165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Нередко возникает необходимость вывести на консоль в одной строке значения сразу нескольких переменных. В этом случае мы можем использовать прием, который называется интерполяцией:</a:t>
            </a: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HelloApp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 = "Tom";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age = 34;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817516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height = 1.7;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($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Имя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{name} 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Возраст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{age} 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Рост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{height}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м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Console.ReadKey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встраивания отдельных значений в выводимую на консоль строку используются фигурные скобки, в которые заключается встраиваемое значение. Это может быть значение переменной ({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}) или более сложное выражение (например, операция сложения {4 + 7}). А перед всей строкой ставится знак доллара $.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выводе на консоль вместо помещенных в фигурные скобки выражений будут выводиться их значения: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Имя: </a:t>
            </a:r>
            <a:r>
              <a:rPr lang="ru-RU" sz="18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Tom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  Возраст: 34  Рост: 1,7м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029160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Есть другой способ вывода на консоль сразу нескольких значений: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HelloApp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136620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 = "Tom";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age = 34;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double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height = 1.7;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Имя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{0} 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Возраст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{2} 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Рост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{1}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м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name, height, age);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Console.ReadKey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347988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ts val="1560"/>
              </a:lnSpc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Этот способ подразумевает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первый параметр в методе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Console.WriteLine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представляет выводимую строку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("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{0}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Возраст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{2}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Рост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{1}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").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 последующие параметры представляют значения, которые могут быть встроены в эту строку (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height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При этом важен порядок подобных параметров. Например, в данном случае вначале идет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потом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height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потом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Поэтому у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будет представлять параметр с номером 0 (нумерация начинается с нуля),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height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имеет номер 1, а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номер 2. Поэтому в строке "Имя: {0} Возраст: {2} Рост: {1}м" на место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плейсхолдеров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{0}, {2}, {1} будут вставляться значения соответствующих параметров.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ts val="1560"/>
              </a:lnSpc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Кроме 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Console.WriteLine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 можно также использовать метод </a:t>
            </a:r>
            <a:r>
              <a:rPr lang="ru-RU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Console.Write</a:t>
            </a: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он работает точно так же за тем исключением, что не осуществляет переход на следующую строку.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1261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форматированный вывод с помощью оператора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WriteLine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Синтаксис следующий: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WriteLine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800" dirty="0"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"строка форматирования"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,arg1,arg2,…)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Чаще всего формат используется для вывода дробных чисел. При этом задается шаблон. Для этого в спецификаторе формата указывается номер аргумента (нумерация с нуля), затем после двоеточия при помощи символа # указываются позиции выводимых цифр. Например: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540385"/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"Площадь = {0:#.##}, Периметр = {1:#.##}"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s,p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$"Площадь = </a:t>
            </a:r>
            <a:r>
              <a:rPr lang="ru-RU" sz="1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{s:#.##},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Периметр = </a:t>
            </a:r>
            <a:r>
              <a:rPr lang="ru-RU" sz="1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{p:#.##}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этом шаблон вывода «#.##» означает, что числа будут округлены до двух знаков после точки.</a:t>
            </a: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582337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теперь консольный ввод данных.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этого предназначен метод 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Console.ReadLine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Он позволяет получить введенную строку.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"Введите свое имя: 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($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Привет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{name}"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Console.ReadKey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915789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данном случае все, что вводит пользователь, с помощью метода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передается в переменную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Введите свое имя: Том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Привет Том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704254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Таким образом мы можем вводить информацию через консоль. Однако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Console.ReadLine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считывает информацию именно в виде строки. Поэтому мы можем по умолчанию присвоить ее только переменной типа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Как нам быть, если, допустим, мы хотим ввести возраст в переменную типа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другую информацию в переменные типа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 В таком случае необходимо преобразовать строку в число.</a:t>
            </a:r>
            <a:r>
              <a:rPr lang="ru-RU" sz="2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Подобные преобразования выполняются с помощью методов класса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табл. 1  приводятся некоторые важные методы класса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endParaRPr lang="en-US" sz="1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sz="1800" dirty="0"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ru-RU" sz="5400" dirty="0">
              <a:effectLst/>
            </a:endParaRPr>
          </a:p>
          <a:p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134947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endParaRPr lang="ru-RU" sz="1800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30917D3-362A-4713-BF9F-5BED56708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762675"/>
              </p:ext>
            </p:extLst>
          </p:nvPr>
        </p:nvGraphicFramePr>
        <p:xfrm>
          <a:off x="2206305" y="1904301"/>
          <a:ext cx="7482979" cy="385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5839">
                  <a:extLst>
                    <a:ext uri="{9D8B030D-6E8A-4147-A177-3AD203B41FA5}">
                      <a16:colId xmlns:a16="http://schemas.microsoft.com/office/drawing/2014/main" val="3479278588"/>
                    </a:ext>
                  </a:extLst>
                </a:gridCol>
                <a:gridCol w="6107140">
                  <a:extLst>
                    <a:ext uri="{9D8B030D-6E8A-4147-A177-3AD203B41FA5}">
                      <a16:colId xmlns:a16="http://schemas.microsoft.com/office/drawing/2014/main" val="1677997534"/>
                    </a:ext>
                  </a:extLst>
                </a:gridCol>
              </a:tblGrid>
              <a:tr h="311039">
                <a:tc>
                  <a:txBody>
                    <a:bodyPr/>
                    <a:lstStyle/>
                    <a:p>
                      <a:pPr indent="180340" algn="ctr"/>
                      <a:r>
                        <a:rPr lang="ru-RU" sz="1100">
                          <a:effectLst/>
                        </a:rPr>
                        <a:t>Метод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1590" algn="ctr"/>
                      <a:r>
                        <a:rPr lang="ru-RU" sz="1100">
                          <a:effectLst/>
                        </a:rPr>
                        <a:t>Пояснение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3112317"/>
                  </a:ext>
                </a:extLst>
              </a:tr>
              <a:tr h="324711">
                <a:tc>
                  <a:txBody>
                    <a:bodyPr/>
                    <a:lstStyle/>
                    <a:p>
                      <a:pPr indent="180340"/>
                      <a:r>
                        <a:rPr lang="en-US" sz="1100">
                          <a:effectLst/>
                        </a:rPr>
                        <a:t>ToInt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1125"/>
                      <a:r>
                        <a:rPr lang="ru-RU" sz="1100">
                          <a:effectLst/>
                        </a:rPr>
                        <a:t>Переводит аргумент в целое число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5866783"/>
                  </a:ext>
                </a:extLst>
              </a:tr>
              <a:tr h="311039">
                <a:tc>
                  <a:txBody>
                    <a:bodyPr/>
                    <a:lstStyle/>
                    <a:p>
                      <a:pPr indent="180340"/>
                      <a:r>
                        <a:rPr lang="en-US" sz="1100">
                          <a:effectLst/>
                        </a:rPr>
                        <a:t>ToDouble</a:t>
                      </a:r>
                      <a:r>
                        <a:rPr lang="ru-RU" sz="1100">
                          <a:effectLst/>
                        </a:rPr>
                        <a:t> 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1125"/>
                      <a:r>
                        <a:rPr lang="ru-RU" sz="1100">
                          <a:effectLst/>
                        </a:rPr>
                        <a:t>Переводит аргумент в дробное число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0044883"/>
                  </a:ext>
                </a:extLst>
              </a:tr>
              <a:tr h="311039">
                <a:tc>
                  <a:txBody>
                    <a:bodyPr/>
                    <a:lstStyle/>
                    <a:p>
                      <a:pPr indent="180340"/>
                      <a:r>
                        <a:rPr lang="en-US" sz="1100">
                          <a:effectLst/>
                        </a:rPr>
                        <a:t>ToChar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1125"/>
                      <a:r>
                        <a:rPr lang="ru-RU" sz="1100">
                          <a:effectLst/>
                        </a:rPr>
                        <a:t>Переводит аргумент в символьный тип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5712246"/>
                  </a:ext>
                </a:extLst>
              </a:tr>
              <a:tr h="324711">
                <a:tc>
                  <a:txBody>
                    <a:bodyPr/>
                    <a:lstStyle/>
                    <a:p>
                      <a:pPr indent="180340"/>
                      <a:r>
                        <a:rPr lang="en-US" sz="1100">
                          <a:effectLst/>
                        </a:rPr>
                        <a:t>ToString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1125"/>
                      <a:r>
                        <a:rPr lang="ru-RU" sz="1100">
                          <a:effectLst/>
                        </a:rPr>
                        <a:t>Переводит аргумент в строку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0005009"/>
                  </a:ext>
                </a:extLst>
              </a:tr>
              <a:tr h="656259">
                <a:tc>
                  <a:txBody>
                    <a:bodyPr/>
                    <a:lstStyle/>
                    <a:p>
                      <a:pPr indent="180340"/>
                      <a:r>
                        <a:rPr lang="en-US" sz="1100">
                          <a:effectLst/>
                        </a:rPr>
                        <a:t>ToInt</a:t>
                      </a:r>
                      <a:r>
                        <a:rPr lang="ru-RU" sz="1100">
                          <a:effectLst/>
                        </a:rPr>
                        <a:t>16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1125"/>
                      <a:r>
                        <a:rPr lang="ru-RU" sz="1200">
                          <a:effectLst/>
                        </a:rPr>
                        <a:t>Выполняет преобразование строки в число размером не более 2-х байт.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0969750"/>
                  </a:ext>
                </a:extLst>
              </a:tr>
              <a:tr h="656259">
                <a:tc>
                  <a:txBody>
                    <a:bodyPr/>
                    <a:lstStyle/>
                    <a:p>
                      <a:pPr indent="180340"/>
                      <a:r>
                        <a:rPr lang="en-US" sz="1100">
                          <a:effectLst/>
                        </a:rPr>
                        <a:t>ToInt</a:t>
                      </a:r>
                      <a:r>
                        <a:rPr lang="ru-RU" sz="1100">
                          <a:effectLst/>
                        </a:rPr>
                        <a:t>32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1125"/>
                      <a:r>
                        <a:rPr lang="ru-RU" sz="1200">
                          <a:effectLst/>
                        </a:rPr>
                        <a:t>Выполняет преобразование строки  в число размером не более 4-х байт.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896763"/>
                  </a:ext>
                </a:extLst>
              </a:tr>
              <a:tr h="328129">
                <a:tc>
                  <a:txBody>
                    <a:bodyPr/>
                    <a:lstStyle/>
                    <a:p>
                      <a:pPr indent="180340"/>
                      <a:r>
                        <a:rPr lang="en-US" sz="1100">
                          <a:effectLst/>
                        </a:rPr>
                        <a:t>ToInt</a:t>
                      </a:r>
                      <a:r>
                        <a:rPr lang="ru-RU" sz="1100">
                          <a:effectLst/>
                        </a:rPr>
                        <a:t>64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1125"/>
                      <a:r>
                        <a:rPr lang="ru-RU" sz="1200">
                          <a:effectLst/>
                        </a:rPr>
                        <a:t>Выполняет преобразование в число размером не более 8-ми байт.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6489830"/>
                  </a:ext>
                </a:extLst>
              </a:tr>
              <a:tr h="635750">
                <a:tc>
                  <a:txBody>
                    <a:bodyPr/>
                    <a:lstStyle/>
                    <a:p>
                      <a:pPr indent="180340"/>
                      <a:r>
                        <a:rPr lang="en-US" sz="1100" dirty="0" err="1">
                          <a:effectLst/>
                        </a:rPr>
                        <a:t>ToSingle</a:t>
                      </a:r>
                      <a:r>
                        <a:rPr lang="ru-RU" sz="1100" dirty="0">
                          <a:effectLst/>
                        </a:rPr>
                        <a:t>, </a:t>
                      </a:r>
                      <a:r>
                        <a:rPr lang="en-US" sz="1100" dirty="0" err="1">
                          <a:effectLst/>
                        </a:rPr>
                        <a:t>ToDouble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1125"/>
                      <a:r>
                        <a:rPr lang="ru-RU" sz="1200" dirty="0">
                          <a:effectLst/>
                        </a:rPr>
                        <a:t>Выполняют преобразование строки  в дробное число.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3675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6355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Приведем пример ввода значений.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Введите имя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Введите возраст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age = Convert.ToInt32(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636501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Введите рост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height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"Введите размер зарплаты: 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decimal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salary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Convert.ToDecimal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Console.WriteLine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($"</a:t>
            </a:r>
            <a:r>
              <a:rPr lang="ru-RU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Имя</a:t>
            </a:r>
            <a:r>
              <a:rPr 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{name}  </a:t>
            </a:r>
            <a:r>
              <a:rPr lang="ru-RU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Возраст</a:t>
            </a:r>
            <a:r>
              <a:rPr 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{age}  </a:t>
            </a:r>
            <a:r>
              <a:rPr lang="ru-RU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Рост</a:t>
            </a:r>
            <a:r>
              <a:rPr 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{height}</a:t>
            </a:r>
            <a:r>
              <a:rPr lang="ru-RU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м</a:t>
            </a:r>
            <a:r>
              <a:rPr 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 </a:t>
            </a:r>
            <a:r>
              <a:rPr lang="ru-RU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Зарплата</a:t>
            </a:r>
            <a:r>
              <a:rPr 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{salary}$"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    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Console.ReadKey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865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B050"/>
                </a:solidFill>
              </a:rPr>
              <a:t>Консольный ввод-вывод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ru-RU" sz="18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вводе дробного числа следует учесть, что в русифицированной версии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Microsoft Visual Studio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разделитель целой и дробной части – запятая.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 работы программы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Введите имя: Том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Введите возраст: 25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Введите рост: 1,75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Введите размер зарплаты: 300,67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89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Имя: Том  Возраст: 25  Рост: 1,75м  Зарплата: 300,67$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Существует также способ преобразования строки в число с помощью метода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Parse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Например: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540385"/>
            <a:r>
              <a:rPr lang="ru-RU" sz="1800" dirty="0" err="1">
                <a:solidFill>
                  <a:srgbClr val="0101F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ru-RU" sz="1800" dirty="0">
                <a:solidFill>
                  <a:srgbClr val="1717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1717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numVal</a:t>
            </a:r>
            <a:r>
              <a:rPr lang="ru-RU" sz="1800" dirty="0">
                <a:solidFill>
                  <a:srgbClr val="1717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= Int32.Parse(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"-105"</a:t>
            </a:r>
            <a:r>
              <a:rPr lang="ru-RU" sz="1800" dirty="0">
                <a:solidFill>
                  <a:srgbClr val="1717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1717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1717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Console.WriteLine</a:t>
            </a:r>
            <a:r>
              <a:rPr lang="ru-RU" sz="1800" dirty="0">
                <a:solidFill>
                  <a:srgbClr val="1717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ru-RU" sz="1800" dirty="0" err="1">
                <a:solidFill>
                  <a:srgbClr val="1717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numVal</a:t>
            </a:r>
            <a:r>
              <a:rPr lang="ru-RU" sz="1800" dirty="0">
                <a:solidFill>
                  <a:srgbClr val="17171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6647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Арифметические операции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C# используется большинство операций, которые применяются и в других языках программирования. Операции представляют определенные действия над операндами - участниками операции. В качестве операнда может выступать переменная или какое-либо значение (например, число). Рассмотрим все виды операций.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+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сложения двух чисел: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altLang="ru-RU" sz="1800" dirty="0">
                <a:solidFill>
                  <a:srgbClr val="0070C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int</a:t>
            </a:r>
            <a:r>
              <a:rPr lang="en-US" altLang="ru-RU" sz="18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 x =10;</a:t>
            </a:r>
          </a:p>
          <a:p>
            <a:r>
              <a:rPr lang="en-US" altLang="ru-RU" sz="1800" dirty="0">
                <a:solidFill>
                  <a:srgbClr val="0070C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int</a:t>
            </a:r>
            <a:r>
              <a:rPr lang="en-US" altLang="ru-RU" sz="18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 z = x +12 </a:t>
            </a:r>
            <a:r>
              <a:rPr lang="en-US" altLang="ru-RU" sz="1800" dirty="0">
                <a:solidFill>
                  <a:srgbClr val="00B050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//22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вычитания двух чисел: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 = 10;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z = x - 6;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4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151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Арифметические операции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умножения двух чисел: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 err="1">
                <a:solidFill>
                  <a:srgbClr val="0070C0"/>
                </a:solidFill>
                <a:effectLst/>
              </a:rPr>
              <a:t>int</a:t>
            </a:r>
            <a:r>
              <a:rPr lang="ru-RU" sz="2800" dirty="0">
                <a:effectLst/>
              </a:rPr>
              <a:t> </a:t>
            </a:r>
            <a:r>
              <a:rPr lang="ru-RU" sz="1800" dirty="0">
                <a:effectLst/>
              </a:rPr>
              <a:t>x = 10;</a:t>
            </a:r>
            <a:endParaRPr lang="en-US" sz="1800" dirty="0">
              <a:effectLst/>
            </a:endParaRPr>
          </a:p>
          <a:p>
            <a:r>
              <a:rPr lang="ru-RU" sz="1800" dirty="0" err="1">
                <a:solidFill>
                  <a:srgbClr val="0070C0"/>
                </a:solidFill>
                <a:effectLst/>
              </a:rPr>
              <a:t>int</a:t>
            </a:r>
            <a:r>
              <a:rPr lang="ru-RU" sz="1800" dirty="0">
                <a:effectLst/>
              </a:rPr>
              <a:t> z = x * 5; </a:t>
            </a:r>
            <a:r>
              <a:rPr lang="ru-RU" sz="1800" dirty="0">
                <a:solidFill>
                  <a:srgbClr val="00B050"/>
                </a:solidFill>
                <a:effectLst/>
              </a:rPr>
              <a:t>// 50</a:t>
            </a:r>
            <a:endParaRPr lang="en-US" sz="1800" dirty="0">
              <a:solidFill>
                <a:srgbClr val="00B050"/>
              </a:solidFill>
              <a:effectLst/>
            </a:endParaRPr>
          </a:p>
          <a:p>
            <a:r>
              <a:rPr lang="en-US" sz="1800" dirty="0"/>
              <a:t>/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деления двух чисел: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 = 10;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z = x / 5;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2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10;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 = 3;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 = a / b;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3.33333333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1800" dirty="0">
              <a:effectLst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effectLst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5187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Арифметические операции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делении стоит учитывать, что если оба операнда представляют целые числа, то результат также будет округляться до целого числа: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double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z = 10 /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4;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//результат равен 2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indent="450215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Несмотря на то, что результат операции в итоге помещается в переменную типа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которая позволяет сохранить дробную часть, но в самой операции участвуют два литерала, которые по умолчанию рассматриваются как объекты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 есть целые числа, и результат то же будет целочисленный.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выхода из этой ситуации необходимо определять числа или переменные, участвующие в операции, именно как типы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float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560"/>
              </a:lnSpc>
              <a:buNone/>
            </a:pPr>
            <a:r>
              <a:rPr lang="ru-RU" sz="1800" dirty="0" err="1">
                <a:solidFill>
                  <a:srgbClr val="0070C0"/>
                </a:solidFill>
                <a:effectLst/>
              </a:rPr>
              <a:t>double</a:t>
            </a:r>
            <a:r>
              <a:rPr lang="ru-RU" sz="2800" dirty="0">
                <a:effectLst/>
              </a:rPr>
              <a:t> </a:t>
            </a:r>
            <a:r>
              <a:rPr lang="ru-RU" sz="1800" dirty="0">
                <a:effectLst/>
              </a:rPr>
              <a:t>z = 10.0 /  4.0; </a:t>
            </a:r>
            <a:r>
              <a:rPr lang="ru-RU" sz="1800" dirty="0">
                <a:solidFill>
                  <a:srgbClr val="00B050"/>
                </a:solidFill>
                <a:effectLst/>
              </a:rPr>
              <a:t>//результат равен 2.5</a:t>
            </a:r>
            <a:endParaRPr lang="ru-RU" sz="28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ts val="1560"/>
              </a:lnSpc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effectLst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296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Арифметические операции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285750">
              <a:lnSpc>
                <a:spcPts val="156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%</a:t>
            </a:r>
          </a:p>
          <a:p>
            <a:pPr marL="514350" indent="-285750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Операция получение остатка от целочисленного деления двух чисел: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285750">
              <a:lnSpc>
                <a:spcPts val="1560"/>
              </a:lnSpc>
            </a:pPr>
            <a:r>
              <a:rPr lang="ru-RU" sz="1800" dirty="0" err="1">
                <a:solidFill>
                  <a:srgbClr val="0070C0"/>
                </a:solidFill>
                <a:effectLst/>
              </a:rPr>
              <a:t>double</a:t>
            </a:r>
            <a:r>
              <a:rPr lang="ru-RU" sz="2800" dirty="0">
                <a:effectLst/>
              </a:rPr>
              <a:t> </a:t>
            </a:r>
            <a:r>
              <a:rPr lang="ru-RU" sz="1800" dirty="0">
                <a:effectLst/>
              </a:rPr>
              <a:t>x = 10.0;</a:t>
            </a:r>
            <a:endParaRPr lang="ru-RU" sz="2800" dirty="0">
              <a:effectLst/>
            </a:endParaRPr>
          </a:p>
          <a:p>
            <a:pPr marL="514350" indent="-285750">
              <a:lnSpc>
                <a:spcPts val="1560"/>
              </a:lnSpc>
            </a:pPr>
            <a:r>
              <a:rPr lang="ru-RU" sz="1800" dirty="0" err="1">
                <a:solidFill>
                  <a:srgbClr val="0070C0"/>
                </a:solidFill>
                <a:effectLst/>
              </a:rPr>
              <a:t>double</a:t>
            </a:r>
            <a:r>
              <a:rPr lang="ru-RU" sz="2800" dirty="0">
                <a:effectLst/>
              </a:rPr>
              <a:t> </a:t>
            </a:r>
            <a:r>
              <a:rPr lang="ru-RU" sz="1800" dirty="0">
                <a:effectLst/>
              </a:rPr>
              <a:t>z = x % 4.0; </a:t>
            </a:r>
            <a:r>
              <a:rPr lang="ru-RU" sz="1800" dirty="0">
                <a:solidFill>
                  <a:srgbClr val="00B050"/>
                </a:solidFill>
                <a:effectLst/>
              </a:rPr>
              <a:t>//результат равен 2</a:t>
            </a:r>
            <a:endParaRPr lang="ru-RU" sz="28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ts val="156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++</a:t>
            </a:r>
          </a:p>
          <a:p>
            <a:pPr marL="514350" indent="-285750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Операция инкремента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285750">
              <a:lnSpc>
                <a:spcPts val="1560"/>
              </a:lnSpc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Инкремент бывает префиксным: ++x - сначала значение переменной x увеличивается на 1, а потом ее значение возвращается в качестве результата операции.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также существует постфиксный инкремент: x++ - сначала значение переменной x возвращается в качестве результата операции, а затем к нему прибавляется 1.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x1 = 5;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z1 = ++x1; 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z1=6; x1=6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x2 = 5;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z2 = x2++; </a:t>
            </a:r>
            <a:r>
              <a:rPr kumimoji="0" lang="en-US" altLang="ru-RU" sz="19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z2=5; x2=6</a:t>
            </a:r>
            <a:endParaRPr kumimoji="0" lang="en-US" altLang="ru-RU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indent="-285750">
              <a:lnSpc>
                <a:spcPts val="1560"/>
              </a:lnSpc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indent="-285750">
              <a:lnSpc>
                <a:spcPts val="1560"/>
              </a:lnSpc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285750">
              <a:lnSpc>
                <a:spcPts val="1560"/>
              </a:lnSpc>
            </a:pPr>
            <a:endParaRPr lang="ru-RU" sz="18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effectLst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5228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Арифметические операции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285750">
              <a:lnSpc>
                <a:spcPts val="1560"/>
              </a:lnSpc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</a:p>
          <a:p>
            <a:pPr marL="514350" indent="-285750">
              <a:lnSpc>
                <a:spcPts val="1560"/>
              </a:lnSpc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Операция декремента или уменьшения значения на единицу. Также существует префиксная форма декремента 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--x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) и постфиксная (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x--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).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x1 = 5;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z1 = --x1;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z1=4; x1=4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x2 = 5;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z2 = x2--;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z2=5; x2=4</a:t>
            </a:r>
            <a:endParaRPr kumimoji="0" lang="en-US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indent="-285750">
              <a:lnSpc>
                <a:spcPts val="1560"/>
              </a:lnSpc>
            </a:pPr>
            <a:endParaRPr lang="ru-RU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1487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Арифметические операции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285750">
              <a:lnSpc>
                <a:spcPts val="1560"/>
              </a:lnSpc>
            </a:pPr>
            <a:endParaRPr lang="ru-RU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выполнении сразу нескольких арифметических операций следует учитывать порядок их выполнения. Приоритет операций от наивысшего к низшему: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Инкремент, декремент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Умножение, деление, получение остатка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Сложение, вычитание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изменения порядка следования операций применяются скобки.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Все арифметические операторы (кроме префиксного инкремента и декремента) выполняются слева направо. Поэтому выражение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10 / 5 * 2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необходимо трактовать как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(10 / 5) * 2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то есть результатом будет 4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334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95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Операции присваивания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285750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Операции присваивания устанавливают значение переменной. В операциях присваивания участвуют два операнда, причем левый операнд может представлять только переменную.</a:t>
            </a:r>
          </a:p>
          <a:p>
            <a:pPr marL="514350" indent="-285750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 и во многих других языках программирования, в C# имеется базовая операция присваивания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которая присваивает значение правого операнда левому операнду: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285750">
              <a:lnSpc>
                <a:spcPts val="1560"/>
              </a:lnSpc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23;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indent="450215" algn="just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Здесь переменной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присваивается число 23. Переменная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представляет левый операнд, которому присваивается значение правого операнда, то есть числа 23.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Также можно выполнять множественно присваивание сразу нескольких переменным одновременно:</a:t>
            </a:r>
          </a:p>
          <a:p>
            <a:pPr indent="450215" algn="just">
              <a:lnSpc>
                <a:spcPts val="1560"/>
              </a:lnSpc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a, b, c;</a:t>
            </a:r>
          </a:p>
          <a:p>
            <a:pPr indent="450215" algn="just">
              <a:lnSpc>
                <a:spcPts val="1560"/>
              </a:lnSpc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 = b = c = 34;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indent="450215" algn="just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Стоит отметить, что операции присваивания имеют низкий приоритет. И вначале будет вычисляться значение правого операнда и только потом будет идти присвоение этого значения левому операнду. Например: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ts val="1560"/>
              </a:lnSpc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285750">
              <a:lnSpc>
                <a:spcPts val="1560"/>
              </a:lnSpc>
            </a:pPr>
            <a:endParaRPr lang="ru-RU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9139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95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Операции присваивания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E07DA-2AAE-4BBD-8C86-2A75EFF4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>
              <a:lnSpc>
                <a:spcPts val="1560"/>
              </a:lnSpc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a, b, c;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 = b = c = 34 * 2 / 4;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// 17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Сначала будет вычисляться выражение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34 * 2 / 4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затем полученное значение будет присвоено переменным.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Кроме базовой операции присваивания в C# есть еще ряд операций: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+=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присваивание после сложения. Присваивает левому операнду сумму левого и правого операндов: выражение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+= B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равнозначно выражению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= A + B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-=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присваивание после вычитания. Присваивает левому операнду разность левого и правого операндов: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-= B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эквивалентно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= A - B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*=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присваивание после умножения. Присваивает левому операнду произведение левого и правого операндов: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*= B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эквивалентно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= A * B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/=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присваивание после деления. Присваивает левому операнду частное левого и правого операндов: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/= B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эквивалентно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= A / B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%=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присваивание после деления по модулю. Присваивает левому операнду остаток от целочисленного деления левого операнда на правый: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%= B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эквивалентно 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= A % B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074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95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Операции присваивания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B77B8E-D9EF-4296-AD49-445E9E742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Применение операций присваивания: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= 10;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+= 10;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20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-= 4;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16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*= 2;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32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 /= 8;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     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4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113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CABDEB-31E7-4B1C-870F-B129096A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95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Математические функции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3E4885AF-B95A-4672-A804-BB810EA940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22837"/>
          <a:ext cx="10515600" cy="36724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2808">
                  <a:extLst>
                    <a:ext uri="{9D8B030D-6E8A-4147-A177-3AD203B41FA5}">
                      <a16:colId xmlns:a16="http://schemas.microsoft.com/office/drawing/2014/main" val="3766653209"/>
                    </a:ext>
                  </a:extLst>
                </a:gridCol>
                <a:gridCol w="8622792">
                  <a:extLst>
                    <a:ext uri="{9D8B030D-6E8A-4147-A177-3AD203B41FA5}">
                      <a16:colId xmlns:a16="http://schemas.microsoft.com/office/drawing/2014/main" val="5860461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 dirty="0" err="1">
                          <a:effectLst/>
                        </a:rPr>
                        <a:t>Abs</a:t>
                      </a:r>
                      <a:r>
                        <a:rPr lang="ru-RU" sz="1200" dirty="0">
                          <a:effectLst/>
                        </a:rPr>
                        <a:t>(x)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Вычисляет модуль (абсолютное значение) числа x. Перегружен для всех числовых типов (int, double и т.д.)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04218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Acos(x)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Функция арккосинуса. Значение аргумента должно находиться в диапазоне от -1 до +1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740866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Asin(x)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Функция арксинуса. Значение аргумента должно находиться в диапазоне от -1 до +1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752320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Atan(x)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Функция арктангенса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636172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Cos(x)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Функция косинуса. Аргумент задается в радианах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807346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Exp(x)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Вычисляет значение   (экспоненциальная функция)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240123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Log(x)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Возвращает значение натурального логарифма (ln 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94143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Log10(x)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Возвращает значение десятичного логарифма ( 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97443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Max(a, b)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Возвращает максимум из двух чисел a и b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507523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Min(a, b)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Возвращает минимум из двух чисел a и b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44361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Pow(x, a)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Возвращает значение  , то есть возводит число x в степень 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69715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Sin(x)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Функция синуса. Угол задается в радианах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741135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Sqrt(x)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Возвращает положительное значение квадратного корня 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409415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Tan(x)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Функция тангенса. Угол задается в радианах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530276832"/>
                  </a:ext>
                </a:extLst>
              </a:tr>
            </a:tbl>
          </a:graphicData>
        </a:graphic>
      </p:graphicFrame>
      <p:pic>
        <p:nvPicPr>
          <p:cNvPr id="17426" name="Рисунок 11">
            <a:extLst>
              <a:ext uri="{FF2B5EF4-FFF2-40B4-BE49-F238E27FC236}">
                <a16:creationId xmlns:a16="http://schemas.microsoft.com/office/drawing/2014/main" id="{E2CDCB66-20D6-4042-82B7-AC67B83B4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22488"/>
            <a:ext cx="1905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25" name="Рисунок 10">
            <a:extLst>
              <a:ext uri="{FF2B5EF4-FFF2-40B4-BE49-F238E27FC236}">
                <a16:creationId xmlns:a16="http://schemas.microsoft.com/office/drawing/2014/main" id="{4767E30B-4844-46EF-9639-2509E7504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22488"/>
            <a:ext cx="466725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24" name="Рисунок 9">
            <a:extLst>
              <a:ext uri="{FF2B5EF4-FFF2-40B4-BE49-F238E27FC236}">
                <a16:creationId xmlns:a16="http://schemas.microsoft.com/office/drawing/2014/main" id="{FC7EED45-8803-4213-A1BA-E6746231C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22488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23" name="Рисунок 8">
            <a:extLst>
              <a:ext uri="{FF2B5EF4-FFF2-40B4-BE49-F238E27FC236}">
                <a16:creationId xmlns:a16="http://schemas.microsoft.com/office/drawing/2014/main" id="{D231E877-1B2E-4DD3-9C03-C9381F6CB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22488"/>
            <a:ext cx="2476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22" name="Рисунок 11">
            <a:extLst>
              <a:ext uri="{FF2B5EF4-FFF2-40B4-BE49-F238E27FC236}">
                <a16:creationId xmlns:a16="http://schemas.microsoft.com/office/drawing/2014/main" id="{51301710-77C6-4FB4-9BC0-E809FA6E5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21" name="Рисунок 10">
            <a:extLst>
              <a:ext uri="{FF2B5EF4-FFF2-40B4-BE49-F238E27FC236}">
                <a16:creationId xmlns:a16="http://schemas.microsoft.com/office/drawing/2014/main" id="{2A96B779-53A8-4638-AA30-E3E7D4A70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6725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20" name="Рисунок 9">
            <a:extLst>
              <a:ext uri="{FF2B5EF4-FFF2-40B4-BE49-F238E27FC236}">
                <a16:creationId xmlns:a16="http://schemas.microsoft.com/office/drawing/2014/main" id="{90BD52A8-969E-4823-B3F8-61D5C9D8D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9" name="Рисунок 8">
            <a:extLst>
              <a:ext uri="{FF2B5EF4-FFF2-40B4-BE49-F238E27FC236}">
                <a16:creationId xmlns:a16="http://schemas.microsoft.com/office/drawing/2014/main" id="{C4080C66-AABD-4E08-9B71-D3848E716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476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9472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674E34-BD1B-429A-B424-FC305664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Математические функции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E42A199B-4A1E-46F2-878E-94EAF61EA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indent="476250" algn="just">
                  <a:spcAft>
                    <a:spcPts val="595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Кроме методов, в классе имеется две </a:t>
                </a:r>
                <a:r>
                  <a:rPr lang="ru-RU" sz="18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константы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76250" algn="just">
                  <a:spcAft>
                    <a:spcPts val="595"/>
                  </a:spcAft>
                </a:pPr>
                <a:r>
                  <a:rPr lang="ru-RU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Math.PI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— равна числу 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= 3,14159265358979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lvl="1"/>
                <a:r>
                  <a:rPr lang="ru-RU" sz="1800" b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Math.E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— равна числу E = 2,71828182845905</a:t>
                </a:r>
                <a:endParaRPr lang="ru-RU" sz="1800" dirty="0"/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E42A199B-4A1E-46F2-878E-94EAF61EA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074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674E34-BD1B-429A-B424-FC305664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Примеры программ на </a:t>
            </a:r>
            <a:r>
              <a:rPr lang="en-US" dirty="0">
                <a:solidFill>
                  <a:srgbClr val="7030A0"/>
                </a:solidFill>
              </a:rPr>
              <a:t>C#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2A199B-4A1E-46F2-878E-94EAF61E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indent="476250" algn="just">
              <a:spcAft>
                <a:spcPts val="595"/>
              </a:spcAft>
            </a:pP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1.9.1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Вычисление периметра и площади квадрата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Плошадь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 периметр квадрата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a, s, p;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сторону квадрата"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s1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a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(s1);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//Преобразование строки в вещественную переменную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a * a;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 = 4*a;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("Площадь = {0:#.##}, Периметр = {1:#.##}",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s,p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Вариант форматированного вывода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$"Площадь =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{s: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Периметр =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{p: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Остановка до нажатия 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Enter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0415677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674E34-BD1B-429A-B424-FC305664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Примеры программ на </a:t>
            </a:r>
            <a:r>
              <a:rPr lang="en-US" dirty="0">
                <a:solidFill>
                  <a:srgbClr val="7030A0"/>
                </a:solidFill>
              </a:rPr>
              <a:t>C#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2A199B-4A1E-46F2-878E-94EAF61E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Результат работы программы: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Введите сторону квадрата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2,35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Площадь = 5,52, Периметр = 9,4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76250" algn="just">
              <a:spcAft>
                <a:spcPts val="595"/>
              </a:spcAft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863619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674E34-BD1B-429A-B424-FC305664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Примеры программ на </a:t>
            </a:r>
            <a:r>
              <a:rPr lang="en-US" dirty="0">
                <a:solidFill>
                  <a:srgbClr val="7030A0"/>
                </a:solidFill>
              </a:rPr>
              <a:t>C#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2A199B-4A1E-46F2-878E-94EAF61E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476250" algn="just">
              <a:spcAft>
                <a:spcPts val="595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количеству секунд определить сколько это минут и сколько секунд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Перевод из секунд в минуты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sec, min;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количество секунд"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sec = Convert.ToInt16(s);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int32.Parse(s);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min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60;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Целочисленное деление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60;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//Остаток от деления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"Это {0} минут и {1} секунд"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min,sec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8420030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674E34-BD1B-429A-B424-FC305664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Примеры программ на </a:t>
            </a:r>
            <a:r>
              <a:rPr lang="en-US" dirty="0">
                <a:solidFill>
                  <a:srgbClr val="7030A0"/>
                </a:solidFill>
              </a:rPr>
              <a:t>C#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2A199B-4A1E-46F2-878E-94EAF61E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Результат: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Введите количество секунд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61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Это 1 минут и 1 секунд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76250" algn="just">
              <a:spcAft>
                <a:spcPts val="595"/>
              </a:spcAft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982680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674E34-BD1B-429A-B424-FC305664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Примеры программ на </a:t>
            </a:r>
            <a:r>
              <a:rPr lang="en-US" dirty="0">
                <a:solidFill>
                  <a:srgbClr val="7030A0"/>
                </a:solidFill>
              </a:rPr>
              <a:t>C#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2A199B-4A1E-46F2-878E-94EAF61E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indent="476250" algn="just">
              <a:spcAft>
                <a:spcPts val="595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Площадь и периметр треугольника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//Найти периметр и площадь треугольника по трем его сторонам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первую сторону"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Parse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Варианты преобразования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вторую сторону"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третью сторону"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 = a + b + c;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Вычисляем периметр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p2 = p / 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Math.Sqrt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(p2 * (p2 - a) * (p2 - b) * (p2 - c));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Формула Герона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Площадь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Периметр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{p: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#.##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spcAft>
                <a:spcPts val="595"/>
              </a:spcAft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730984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674E34-BD1B-429A-B424-FC305664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До следующей лекции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7859ABA3-49B0-43E7-BE98-C987A71BD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19362109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5510</Words>
  <Application>Microsoft Office PowerPoint</Application>
  <PresentationFormat>Широкоэкранный</PresentationFormat>
  <Paragraphs>616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71" baseType="lpstr">
      <vt:lpstr>Arial</vt:lpstr>
      <vt:lpstr>Arial Unicode MS</vt:lpstr>
      <vt:lpstr>Calibri</vt:lpstr>
      <vt:lpstr>Calibri Light</vt:lpstr>
      <vt:lpstr>Cambria Math</vt:lpstr>
      <vt:lpstr>Consolas</vt:lpstr>
      <vt:lpstr>Courier New</vt:lpstr>
      <vt:lpstr>Symbol</vt:lpstr>
      <vt:lpstr>Times New Roman</vt:lpstr>
      <vt:lpstr>Verdana</vt:lpstr>
      <vt:lpstr>Тема Office</vt:lpstr>
      <vt:lpstr>Программирование </vt:lpstr>
      <vt:lpstr>Историческая справка</vt:lpstr>
      <vt:lpstr>Консольное приложение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Начало работы</vt:lpstr>
      <vt:lpstr>Переменные</vt:lpstr>
      <vt:lpstr>Переменные</vt:lpstr>
      <vt:lpstr>Переменные</vt:lpstr>
      <vt:lpstr>Переменные</vt:lpstr>
      <vt:lpstr>Типы данных</vt:lpstr>
      <vt:lpstr>Типы данных</vt:lpstr>
      <vt:lpstr>Типы данных</vt:lpstr>
      <vt:lpstr>Типы данных</vt:lpstr>
      <vt:lpstr>Типы данных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Консольный ввод-вывод</vt:lpstr>
      <vt:lpstr>Арифметические операции в C#</vt:lpstr>
      <vt:lpstr>Арифметические операции в C#</vt:lpstr>
      <vt:lpstr>Арифметические операции в C#</vt:lpstr>
      <vt:lpstr>Арифметические операции в C#</vt:lpstr>
      <vt:lpstr>Арифметические операции в C#</vt:lpstr>
      <vt:lpstr>Арифметические операции в C#</vt:lpstr>
      <vt:lpstr>Операции присваивания</vt:lpstr>
      <vt:lpstr>Операции присваивания</vt:lpstr>
      <vt:lpstr>Операции присваивания</vt:lpstr>
      <vt:lpstr>Математические функции</vt:lpstr>
      <vt:lpstr>Математические функции</vt:lpstr>
      <vt:lpstr>Примеры программ на C#</vt:lpstr>
      <vt:lpstr>Примеры программ на C#</vt:lpstr>
      <vt:lpstr>Примеры программ на C#</vt:lpstr>
      <vt:lpstr>Примеры программ на C#</vt:lpstr>
      <vt:lpstr>Примеры программ на C#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</dc:title>
  <dc:creator>Леонид Попов</dc:creator>
  <cp:lastModifiedBy>Леонид Попов</cp:lastModifiedBy>
  <cp:revision>28</cp:revision>
  <dcterms:created xsi:type="dcterms:W3CDTF">2021-01-17T12:37:33Z</dcterms:created>
  <dcterms:modified xsi:type="dcterms:W3CDTF">2021-01-31T05:05:31Z</dcterms:modified>
</cp:coreProperties>
</file>