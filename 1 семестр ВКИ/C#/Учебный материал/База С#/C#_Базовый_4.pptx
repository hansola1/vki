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3F7B8F-BB84-4A15-83F8-1ED69B52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963F25-627A-40B7-AB47-ABF5BE884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232BAC-C677-45BA-8DF7-AAF9F71C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BA68B4-96CC-4872-8AB8-962C1DBD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EFF306-D00D-4D7E-A982-388B6ADF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91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5D96F-EA26-4A4A-A7CA-6B265282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55F39F-4A95-43CC-9D56-99C2B29A2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11405D-447A-4D6D-8591-BB2B619AA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595530-3C8A-4F79-AD0B-35CA6714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CE40C6-7E19-4507-B928-2D2F0249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478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77BED-41BB-4FB1-B03D-5CC861C4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326F1C-95DC-4468-8549-AF885A016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B96EC1-B493-45B4-943E-9873EA99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259B0-C81B-4B43-AB6D-B2D50770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1FBC1-6B04-4CF4-A230-EF18CA60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4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F3E41-D6FC-4CA5-AC9A-70876196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38AD8-2986-4A3D-BBF0-F09BAD4A5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2E2D2D-3EB9-4346-B325-15ABDE786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4EB1B4-20B3-4CEE-9D83-C5127611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7513C9-730B-4B17-9BE3-A90F11818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54D7CB-37E1-48AF-A95E-5BCB1F83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24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D5172-E87E-43B4-8183-FC3ADD83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3E3D60-D8BC-44EC-BF20-594FB4129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E1D7F5-2353-49E3-B594-A1602292D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46BC2C-9FD6-4852-889D-EDC75E3CB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07491F-8729-4185-9148-F13BF4B93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7A63E0-1936-4CB7-8C1B-BB65E08FE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1772E0-CAE9-4999-A663-432C9BE0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14F12D-1138-40B8-96DD-A0C41AA00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558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BAFD06-6E6F-4368-91D7-7998BF6C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3C9662A-7D7A-42CF-AEA9-C3FC8874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2F1636-1160-4483-AC61-FAD01AB5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C1DAB3-00E9-412C-A4FA-86EC6D91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8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F4A03E2-A8AC-495F-9144-8317085A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24DC221-FEA2-44E5-97D0-6114B4FF8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92C2E4-1D1F-413A-BAA2-53F6CED7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61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FA07D-E46A-4258-B177-994C4D3F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E22339-8899-4848-97CA-84112717D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9E1A3F-A49F-49F7-9025-B63AF6F9A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549B0C-C3C5-4668-9E37-DC27789A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AEE0CB-F868-4D14-896A-65FC6728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C0AA8A-9A5C-456A-9C7B-EABA4C75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109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1E6D31-51B8-45E0-AEFE-7A62828E7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2935FB-B2FA-4280-8A89-9754C0ADE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EC37C2-742F-4D31-9DC4-F04369F61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D15B44-5945-4EFD-AE2F-0F4DDE7A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C84A11-37D3-4468-BAAE-901DADA1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8FD075-12D9-4B3C-901C-A50D75A4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916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CE499F-9992-459F-8A30-C9FA053B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D7BCB5-90FB-4506-84AF-8573FC411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56CA54-A3D1-4581-A7BD-8C93040C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B24241-C0B6-463D-93DB-F00C3F05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D953F9-ADCC-4D15-9D0C-E25494FF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235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9E17CC5-2251-4FA1-925B-DF322172A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10B92B-C3F2-406A-A525-66E8FE6E3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2EF564-B687-42A2-B5EA-760E2F151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5496D0-C0D3-43FF-AFD6-4FA7E3881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9423B-E6B3-4B84-8F57-59B48855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877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E4897-2EEE-428C-887D-E69109EC6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243448-A180-4273-B2AD-085D3E614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DA0989-8F87-40DD-8361-CEB18DB06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9DDE2-D3A4-455F-80C0-C20B9946F8C9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9A0E7F-889E-49D8-9AA6-2511B3640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DBE7A-CA40-4FB6-A183-AA97E2432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8A726-6681-4730-B272-13758533F5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43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1D5F2-B791-46B0-9EB9-7B5E9F8FB6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Windows </a:t>
            </a:r>
            <a:r>
              <a:rPr lang="ru-RU" dirty="0">
                <a:solidFill>
                  <a:srgbClr val="FF0000"/>
                </a:solidFill>
              </a:rPr>
              <a:t>приложения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9C542A-AAB1-42E8-95F2-93F7E09038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00B050"/>
                </a:solidFill>
              </a:rPr>
              <a:t>На языке </a:t>
            </a:r>
            <a:r>
              <a:rPr lang="en-US" sz="2800" dirty="0">
                <a:solidFill>
                  <a:srgbClr val="00B050"/>
                </a:solidFill>
              </a:rPr>
              <a:t>C#</a:t>
            </a:r>
            <a:endParaRPr lang="ru-RU" sz="2800" dirty="0">
              <a:solidFill>
                <a:srgbClr val="00B050"/>
              </a:solidFill>
            </a:endParaRPr>
          </a:p>
          <a:p>
            <a:r>
              <a:rPr lang="ru-RU" sz="2800" dirty="0">
                <a:solidFill>
                  <a:srgbClr val="00B050"/>
                </a:solidFill>
              </a:rPr>
              <a:t>Тема 4</a:t>
            </a:r>
            <a:endParaRPr lang="en-US" sz="2800" dirty="0">
              <a:solidFill>
                <a:srgbClr val="00B050"/>
              </a:solidFill>
            </a:endParaRPr>
          </a:p>
          <a:p>
            <a:r>
              <a:rPr lang="ru-RU" sz="28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графических объектов</a:t>
            </a:r>
            <a:endParaRPr lang="ru-RU" sz="2800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569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Компонент </a:t>
            </a:r>
            <a:r>
              <a:rPr lang="en-US" dirty="0">
                <a:solidFill>
                  <a:srgbClr val="0070C0"/>
                </a:solidFill>
              </a:rPr>
              <a:t>Timer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Для реализации движения мы будем использовать компонент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Timer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Интервал времени таймера будем задавать с помощью компонента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NumericUpDown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Timer</a:t>
            </a:r>
            <a:r>
              <a:rPr lang="ru-RU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представляет собой компонент, который генерирует последовательность событий </a:t>
            </a:r>
            <a:r>
              <a:rPr lang="ru-RU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Tick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Другими словами,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Timer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– это цикл, который повторяется через заданный интервал времени. Компонент является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невизуальным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1009624-6FE2-4B55-9419-F24A24D22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343932"/>
              </p:ext>
            </p:extLst>
          </p:nvPr>
        </p:nvGraphicFramePr>
        <p:xfrm>
          <a:off x="2801923" y="3642384"/>
          <a:ext cx="7049679" cy="20117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24462">
                  <a:extLst>
                    <a:ext uri="{9D8B030D-6E8A-4147-A177-3AD203B41FA5}">
                      <a16:colId xmlns:a16="http://schemas.microsoft.com/office/drawing/2014/main" val="4187997373"/>
                    </a:ext>
                  </a:extLst>
                </a:gridCol>
                <a:gridCol w="3525217">
                  <a:extLst>
                    <a:ext uri="{9D8B030D-6E8A-4147-A177-3AD203B41FA5}">
                      <a16:colId xmlns:a16="http://schemas.microsoft.com/office/drawing/2014/main" val="2820924447"/>
                    </a:ext>
                  </a:extLst>
                </a:gridCol>
              </a:tblGrid>
              <a:tr h="643774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Свойство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Описание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6225501"/>
                  </a:ext>
                </a:extLst>
              </a:tr>
              <a:tr h="456007"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Interval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Период генерации события Tick. Задается в миллисекундах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4389748"/>
                  </a:ext>
                </a:extLst>
              </a:tr>
              <a:tr h="912014">
                <a:tc>
                  <a:txBody>
                    <a:bodyPr/>
                    <a:lstStyle/>
                    <a:p>
                      <a:pPr algn="just"/>
                      <a:r>
                        <a:rPr lang="ru-RU" sz="850">
                          <a:effectLst/>
                        </a:rPr>
                        <a:t>Enabled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 dirty="0">
                          <a:effectLst/>
                        </a:rPr>
                        <a:t>Разрешение работы. Разрешает (значение </a:t>
                      </a:r>
                      <a:r>
                        <a:rPr lang="ru-RU" sz="850" dirty="0" err="1">
                          <a:effectLst/>
                        </a:rPr>
                        <a:t>True</a:t>
                      </a:r>
                      <a:r>
                        <a:rPr lang="ru-RU" sz="850" dirty="0">
                          <a:effectLst/>
                        </a:rPr>
                        <a:t>) или запрещает (значение </a:t>
                      </a:r>
                      <a:r>
                        <a:rPr lang="ru-RU" sz="850" dirty="0" err="1">
                          <a:effectLst/>
                        </a:rPr>
                        <a:t>False</a:t>
                      </a:r>
                      <a:r>
                        <a:rPr lang="ru-RU" sz="850" dirty="0">
                          <a:effectLst/>
                        </a:rPr>
                        <a:t>) генерацию события </a:t>
                      </a:r>
                      <a:r>
                        <a:rPr lang="ru-RU" sz="850" dirty="0" err="1">
                          <a:effectLst/>
                        </a:rPr>
                        <a:t>Tick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4385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84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40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NumericUpDown</a:t>
            </a:r>
            <a:r>
              <a:rPr lang="ru-RU" sz="40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sz="4000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Компонент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NumericUpDown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предназначен для ввода числовых данных. Данные в поле редактирования можно ввести путем набора на клавиатуре или при помощи командных кнопок Увеличить и Уменьшить, которые находятся справа от поля редактирования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CD4A8AC-98F5-47EA-813D-0DFC78BB9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592088"/>
              </p:ext>
            </p:extLst>
          </p:nvPr>
        </p:nvGraphicFramePr>
        <p:xfrm>
          <a:off x="2701256" y="3687651"/>
          <a:ext cx="6412116" cy="20420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5715">
                  <a:extLst>
                    <a:ext uri="{9D8B030D-6E8A-4147-A177-3AD203B41FA5}">
                      <a16:colId xmlns:a16="http://schemas.microsoft.com/office/drawing/2014/main" val="1864113771"/>
                    </a:ext>
                  </a:extLst>
                </a:gridCol>
                <a:gridCol w="3206401">
                  <a:extLst>
                    <a:ext uri="{9D8B030D-6E8A-4147-A177-3AD203B41FA5}">
                      <a16:colId xmlns:a16="http://schemas.microsoft.com/office/drawing/2014/main" val="453194913"/>
                    </a:ext>
                  </a:extLst>
                </a:gridCol>
              </a:tblGrid>
              <a:tr h="276885">
                <a:tc>
                  <a:txBody>
                    <a:bodyPr/>
                    <a:lstStyle/>
                    <a:p>
                      <a:pPr algn="just"/>
                      <a:r>
                        <a:rPr lang="ru-RU" sz="1200">
                          <a:effectLst/>
                        </a:rPr>
                        <a:t>Свойство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>
                          <a:effectLst/>
                        </a:rPr>
                        <a:t>Описание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0039895"/>
                  </a:ext>
                </a:extLst>
              </a:tr>
              <a:tr h="392254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Value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>
                          <a:effectLst/>
                        </a:rPr>
                        <a:t>Значение, соответствующее содержимому поля редактирования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73001"/>
                  </a:ext>
                </a:extLst>
              </a:tr>
              <a:tr h="392254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Maximum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>
                          <a:effectLst/>
                        </a:rPr>
                        <a:t>Максимально возможное значение, которое можно ввести в поле компонента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1033087"/>
                  </a:ext>
                </a:extLst>
              </a:tr>
              <a:tr h="392254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Minimum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>
                          <a:effectLst/>
                        </a:rPr>
                        <a:t>Минимально возможное значение, которое можно</a:t>
                      </a:r>
                      <a:endParaRPr lang="ru-RU" sz="1200">
                        <a:effectLst/>
                      </a:endParaRPr>
                    </a:p>
                    <a:p>
                      <a:pPr algn="just"/>
                      <a:r>
                        <a:rPr lang="ru-RU" sz="850">
                          <a:effectLst/>
                        </a:rPr>
                        <a:t>ввести в поле компонента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7788397"/>
                  </a:ext>
                </a:extLst>
              </a:tr>
              <a:tr h="588382">
                <a:tc>
                  <a:txBody>
                    <a:bodyPr/>
                    <a:lstStyle/>
                    <a:p>
                      <a:pPr algn="just"/>
                      <a:r>
                        <a:rPr lang="ru-RU" sz="900">
                          <a:effectLst/>
                        </a:rPr>
                        <a:t>Increment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ru-RU" sz="850" dirty="0">
                          <a:effectLst/>
                        </a:rPr>
                        <a:t>Величина, на которую увеличивается или уменьшается значение свойства </a:t>
                      </a:r>
                      <a:r>
                        <a:rPr lang="ru-RU" sz="850" dirty="0" err="1">
                          <a:effectLst/>
                        </a:rPr>
                        <a:t>Value</a:t>
                      </a:r>
                      <a:r>
                        <a:rPr lang="ru-RU" sz="850" dirty="0">
                          <a:effectLst/>
                        </a:rPr>
                        <a:t> при каждом щелчке мышью на кнопках Увеличить или Уменьшить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955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55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Неуправляемое движение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рисунке представлено окно перед началом движение мяча. Кнопки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start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stop 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запускают и останавливают таймер. Интервал таймера задает значение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Value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компонента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NumericUpDown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E368F10-6093-4BD9-A332-C6A90B411E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3651" y="2715292"/>
            <a:ext cx="4890782" cy="324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10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Неуправляемое движение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Код программы с комментариями приведен ниже.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Neupr_dv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Graphics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Объявляем графическую поверхность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Rectangle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//Прямоугольник с размерами рисунка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Image Ball;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Рисунок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 = 400, y = 100, dx = 2,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button2_Click(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timer1.Enabled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Остановка таймера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4455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Неуправляемое движение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timer1_Tick(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x;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прямоугольник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rct.Width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Ball.Width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rct.Height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Ball.Height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Invalidate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//Перерисовываем прямоугольник. Стираем мяч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	//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Invalidate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очищает прямоугольник. Если скобки пустые – всю форму.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1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Неуправляемое движение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 +=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//Меняем координаты мяча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y +=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x, y,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Ball.Width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Ball.Height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//рисуем мяч в новом положении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//Отражение от стенок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0) || (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ClientRectangle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Width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Width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-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((y &lt; 0) || (y &gt;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ClientRectangle.Height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Ball.Height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-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316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Неуправляемое движение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timer1.Interval =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)numericUpDown1.Value * 10;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Интервал таймера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timer1.Enabled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Пуск таймера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g.Clear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Окрашиваем форму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(Ball, x, y,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Ball.Width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Ball.Height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Рисуем мяч в начальном положении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9598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Неуправляемое движение</a:t>
            </a:r>
            <a:endParaRPr lang="ru-RU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//C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оздаем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поверхность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Ball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"D:/C#/My_Forms/beach_ball.png"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рисунок мяча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0930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клавиш</a:t>
            </a:r>
            <a:endParaRPr lang="ru-RU" sz="4000" dirty="0">
              <a:solidFill>
                <a:srgbClr val="00B0F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реализации движения мы используем событие формы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Form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1_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KeyDown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.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Обработчику события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private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Form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1_</a:t>
            </a:r>
            <a:r>
              <a:rPr lang="en-US" sz="18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KeyDown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object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sender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KeyEventArgs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e</a:t>
            </a:r>
            <a:r>
              <a:rPr lang="ru-RU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через параметр </a:t>
            </a:r>
            <a:r>
              <a:rPr lang="ru-RU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«e»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передается код нажатой клавиши. Анализируя нажатия клавиш смещаем изображение, изменяя его начальные координаты.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Upr_dv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Image Bit;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 = 300, y = 100, w = 40, h = 40;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Graphics g;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Rectangle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55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клавиш</a:t>
            </a:r>
            <a:endParaRPr lang="ru-RU" sz="4000" dirty="0">
              <a:solidFill>
                <a:srgbClr val="00B0F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g.Clear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x, y, w, h);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5690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клавиш</a:t>
            </a:r>
            <a:endParaRPr lang="ru-RU" sz="4000" dirty="0">
              <a:solidFill>
                <a:srgbClr val="00B0F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Form1_KeyDown(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x;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y;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rct.Width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w;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rct.Height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Invalidate(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4938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клавиш</a:t>
            </a:r>
            <a:endParaRPr lang="ru-RU" sz="4000" dirty="0">
              <a:solidFill>
                <a:srgbClr val="00B0F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Обработка кодов клавиш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e.KeyCode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Keys.Down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y +=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e.KeyCode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Keys.Up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y -=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e.KeyCode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Keys.Left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x -=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e.KeyCode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Keys.Right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x += 10;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x, y, w, h);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14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клавиш</a:t>
            </a:r>
            <a:endParaRPr lang="ru-RU" sz="4000" dirty="0">
              <a:solidFill>
                <a:srgbClr val="00B0F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Bit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"D:/C#/My_Projects/My_im/krest.png"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2834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мыши</a:t>
            </a:r>
            <a:endParaRPr lang="ru-RU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Событиям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MouseDown</a:t>
            </a: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MouseUp</a:t>
            </a: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MouseMove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в качестве аргумента передается объект </a:t>
            </a:r>
            <a:r>
              <a:rPr lang="en-US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обеспечивает эти события текущими координатами </a:t>
            </a: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ru-RU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курсора мыши. В примере с помощью этих событий мы обеспечим движение объекта вслед за курсором мыши.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3292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мыши</a:t>
            </a:r>
            <a:endParaRPr lang="ru-RU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My_im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Image Bit;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 = 10, y = 10, w = 40, h = 40;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Graphics g;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 =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2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Признак нажатой клавиши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Rectangle </a:t>
            </a:r>
            <a:r>
              <a:rPr lang="en-US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26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100, 100, w, h);        </a:t>
            </a:r>
            <a:endParaRPr lang="ru-RU" sz="26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9183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мыши</a:t>
            </a:r>
            <a:endParaRPr lang="ru-RU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Form1_MouseDown(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MouseEventArgs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Нажали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Form1_MouseUp(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MouseEventArgs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Отпустили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639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мыши</a:t>
            </a:r>
            <a:endParaRPr lang="ru-RU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Form1_MouseMove(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MouseEventArgs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(p)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//Если нажата, то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x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y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rct.Width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w;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rct.Height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=h;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Invalidate(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x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y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x, y, w, h);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772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Движение с помощью мыши</a:t>
            </a:r>
            <a:endParaRPr lang="ru-RU" sz="4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(Bit, x, y, w, h);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Bit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"D:/C#/My_Projects/My_im/krest.png"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022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</a:t>
            </a:r>
            <a:r>
              <a:rPr lang="ru-RU" sz="4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4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Представляем программу, демонстрирующую действующий светофор. На рис</a:t>
            </a: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унке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представлен светофор перед запуском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A08494-E9B4-4188-BE1E-9B367B6214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64946" y="2577628"/>
            <a:ext cx="2197811" cy="349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02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</a:t>
            </a:r>
            <a:r>
              <a:rPr lang="ru-RU" sz="4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4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My_Graph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Graphics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g;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//Объявляем переменную g типа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Graphics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nom =1;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down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поверхность на форме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160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</a:t>
            </a:r>
            <a:r>
              <a:rPr lang="ru-RU" sz="4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4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g.FillRectangle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(myBrushgray,40, 25, 200, 400);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25,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Color.LightGray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155,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285,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5637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</a:t>
            </a:r>
            <a:r>
              <a:rPr lang="ru-RU" sz="4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4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timer1_Tick(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timer1.Interval =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)numericUpDown1.Value * 100;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(nom)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1: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25,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Color.LightGray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155,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down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nom =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579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</a:t>
            </a:r>
            <a:r>
              <a:rPr lang="ru-RU" sz="4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4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2: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myBrushYellow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Color.Yellow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myBrushYellow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155,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(down)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Color.LightGray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25,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nom = 3;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155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</a:t>
            </a:r>
            <a:r>
              <a:rPr lang="ru-RU" sz="4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4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Color.LightGray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285,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nom =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16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</a:t>
            </a:r>
            <a:r>
              <a:rPr lang="ru-RU" sz="4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4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3: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myBrushGreen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myBrushGreen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285,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SolidBrush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Color.LightGray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g.FillEllipse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myBrushlg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80, 155, 130, 130);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down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nom =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               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306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</a:t>
            </a:r>
            <a:r>
              <a:rPr lang="ru-RU" sz="4000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</a:t>
            </a:r>
            <a:r>
              <a:rPr lang="ru-RU" sz="40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timer1.Enabled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button2_Click(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timer1.Enabled =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730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Еще один пример – код программы известной игры «Крестики-Нолики». Работа программы поясняется комментариями.</a:t>
            </a: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8892D1-0763-42D8-8675-57087C7EF4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924339" y="2676673"/>
            <a:ext cx="3045276" cy="33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56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Krest_N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Pole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[3, 3];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Контрольный массив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Graphics g;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140,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100,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40,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40;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//Координаты поля и размеры клетки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x, y;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//Переменная для очереди хода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Image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Krest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Image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11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CrPole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(3);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//Метод заполняет контрольный массив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 = 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Krest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"D:/C#/My_Projects/My_im/krest.png"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"D:/C#/My_Projects/My_im/nol.png"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309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Drawpole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Метод рисует поле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Pen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myrPenRed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Pen(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3);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myrPenRed,nx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+ 3 * dx,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myrPenRed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nx+i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*dx,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 dx,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+ 3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710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g.Clear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Drawpole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174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Form1_MouseDown(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MouseEventArgs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j, u, v;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d1, d2;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x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y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//Если попали в игровое поле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((x &gt;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&amp;&amp; (x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nx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+ 3 * dx) &amp;&amp; (y &gt;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&amp;&amp; (y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+ 3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j = (x -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/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//Номер столбца и строки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i = (y -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/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u =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j *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dx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//Координаты угла клетки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dx;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2507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1)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Ход крестиков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Pole[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Krest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u, v, dx,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Ход ноликов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Pole[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-1;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u, v, dx,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2677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Проверяем выигрыш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Ver(j);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d1 = Diag1();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d2 = Diag2();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||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|| (d1) || (d2))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1)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Krest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Nol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1)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1083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CrPole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Заполняем поле нулями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n,n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&lt;n;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j=0;j&lt;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n;j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=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015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Проверка горизонтали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 = 0; j &lt; 3;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 = s + Pole[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 == 3)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9020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Ver(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j)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Проверка вертикали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3;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s = s + Pole[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 == 3)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9902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Diag1()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//Проверка главной диагонали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Pole[1, 1] + Pole[2, 2] + Pole[0,0];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 == 3)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551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Крестики-Нолики</a:t>
            </a:r>
            <a:endParaRPr lang="ru-RU" sz="4000" dirty="0">
              <a:solidFill>
                <a:srgbClr val="00B05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A0771-7CA5-4134-84AD-F39196B68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Diag2()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Проверка второй диагонали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 = 0;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Pole[0, 2] + Pole[1, 1] + Pole[2, 0];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 == 3)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res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71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CA71A-3F71-405C-8D94-58E702E1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rgbClr val="FF0000"/>
                </a:solidFill>
                <a:latin typeface="Times New Roman" panose="02020603050405020304" pitchFamily="18" charset="0"/>
              </a:rPr>
              <a:t>До следующей лекции</a:t>
            </a:r>
            <a:endParaRPr lang="ru-RU" sz="4000" dirty="0">
              <a:solidFill>
                <a:srgbClr val="00B050"/>
              </a:solidFill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68CE82A-09C3-44E5-A765-FF53138C8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4478652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2908</Words>
  <Application>Microsoft Office PowerPoint</Application>
  <PresentationFormat>Широкоэкранный</PresentationFormat>
  <Paragraphs>446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8" baseType="lpstr">
      <vt:lpstr>Arial</vt:lpstr>
      <vt:lpstr>Calibri</vt:lpstr>
      <vt:lpstr>Calibri Light</vt:lpstr>
      <vt:lpstr>Consolas</vt:lpstr>
      <vt:lpstr>Courier New</vt:lpstr>
      <vt:lpstr>Times New Roman</vt:lpstr>
      <vt:lpstr>Тема Office</vt:lpstr>
      <vt:lpstr>Windows приложения</vt:lpstr>
      <vt:lpstr>Компонент Timer</vt:lpstr>
      <vt:lpstr>Компонент NumericUpDown </vt:lpstr>
      <vt:lpstr>Неуправляемое движение</vt:lpstr>
      <vt:lpstr>Неуправляемое движение</vt:lpstr>
      <vt:lpstr>Неуправляемое движение</vt:lpstr>
      <vt:lpstr>Неуправляемое движение</vt:lpstr>
      <vt:lpstr>Неуправляемое движение</vt:lpstr>
      <vt:lpstr>Неуправляемое движение</vt:lpstr>
      <vt:lpstr>Движение с помощью клавиш</vt:lpstr>
      <vt:lpstr>Движение с помощью клавиш</vt:lpstr>
      <vt:lpstr>Движение с помощью клавиш</vt:lpstr>
      <vt:lpstr>Движение с помощью клавиш</vt:lpstr>
      <vt:lpstr>Движение с помощью клавиш</vt:lpstr>
      <vt:lpstr>Движение с помощью мыши</vt:lpstr>
      <vt:lpstr>Движение с помощью мыши</vt:lpstr>
      <vt:lpstr>Движение с помощью мыши</vt:lpstr>
      <vt:lpstr>Движение с помощью мыши</vt:lpstr>
      <vt:lpstr>Движение с помощью мыши</vt:lpstr>
      <vt:lpstr>Светофор</vt:lpstr>
      <vt:lpstr>Светофор</vt:lpstr>
      <vt:lpstr>Светофор</vt:lpstr>
      <vt:lpstr>Светофор</vt:lpstr>
      <vt:lpstr>Светофор</vt:lpstr>
      <vt:lpstr>Светофор</vt:lpstr>
      <vt:lpstr>Светофор</vt:lpstr>
      <vt:lpstr>Светофор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Крестики-Нолики</vt:lpstr>
      <vt:lpstr>До следующей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приложения</dc:title>
  <dc:creator>Леонид Попов</dc:creator>
  <cp:lastModifiedBy>Леонид Попов</cp:lastModifiedBy>
  <cp:revision>9</cp:revision>
  <dcterms:created xsi:type="dcterms:W3CDTF">2021-01-24T11:39:56Z</dcterms:created>
  <dcterms:modified xsi:type="dcterms:W3CDTF">2021-02-28T03:25:45Z</dcterms:modified>
</cp:coreProperties>
</file>