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65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-126" y="-3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F1D67-31B8-4904-916E-6DB2E9CB541A}" type="datetimeFigureOut">
              <a:rPr lang="ru-RU" smtClean="0"/>
              <a:pPr/>
              <a:t>23.10.2019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3F73-9007-4705-88CD-09894374793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889272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F1D67-31B8-4904-916E-6DB2E9CB541A}" type="datetimeFigureOut">
              <a:rPr lang="ru-RU" smtClean="0"/>
              <a:pPr/>
              <a:t>23.10.2019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3F73-9007-4705-88CD-09894374793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678387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F1D67-31B8-4904-916E-6DB2E9CB541A}" type="datetimeFigureOut">
              <a:rPr lang="ru-RU" smtClean="0"/>
              <a:pPr/>
              <a:t>23.10.2019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3F73-9007-4705-88CD-09894374793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184993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F1D67-31B8-4904-916E-6DB2E9CB541A}" type="datetimeFigureOut">
              <a:rPr lang="ru-RU" smtClean="0"/>
              <a:pPr/>
              <a:t>23.10.2019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3F73-9007-4705-88CD-09894374793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666954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F1D67-31B8-4904-916E-6DB2E9CB541A}" type="datetimeFigureOut">
              <a:rPr lang="ru-RU" smtClean="0"/>
              <a:pPr/>
              <a:t>23.10.2019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3F73-9007-4705-88CD-09894374793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519477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F1D67-31B8-4904-916E-6DB2E9CB541A}" type="datetimeFigureOut">
              <a:rPr lang="ru-RU" smtClean="0"/>
              <a:pPr/>
              <a:t>23.10.2019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3F73-9007-4705-88CD-09894374793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932670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F1D67-31B8-4904-916E-6DB2E9CB541A}" type="datetimeFigureOut">
              <a:rPr lang="ru-RU" smtClean="0"/>
              <a:pPr/>
              <a:t>23.10.2019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3F73-9007-4705-88CD-09894374793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192493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F1D67-31B8-4904-916E-6DB2E9CB541A}" type="datetimeFigureOut">
              <a:rPr lang="ru-RU" smtClean="0"/>
              <a:pPr/>
              <a:t>23.10.2019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3F73-9007-4705-88CD-09894374793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851852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F1D67-31B8-4904-916E-6DB2E9CB541A}" type="datetimeFigureOut">
              <a:rPr lang="ru-RU" smtClean="0"/>
              <a:pPr/>
              <a:t>23.10.2019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3F73-9007-4705-88CD-09894374793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416840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F1D67-31B8-4904-916E-6DB2E9CB541A}" type="datetimeFigureOut">
              <a:rPr lang="ru-RU" smtClean="0"/>
              <a:pPr/>
              <a:t>23.10.2019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3F73-9007-4705-88CD-09894374793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174961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F1D67-31B8-4904-916E-6DB2E9CB541A}" type="datetimeFigureOut">
              <a:rPr lang="ru-RU" smtClean="0"/>
              <a:pPr/>
              <a:t>23.10.2019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3F73-9007-4705-88CD-09894374793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976235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F1D67-31B8-4904-916E-6DB2E9CB541A}" type="datetimeFigureOut">
              <a:rPr lang="ru-RU" smtClean="0"/>
              <a:pPr/>
              <a:t>23.10.2019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D3F73-9007-4705-88CD-09894374793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689170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FF0000"/>
                </a:solidFill>
              </a:rPr>
              <a:t>Движение сложных рисунков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5400" dirty="0" smtClean="0">
                <a:solidFill>
                  <a:srgbClr val="FF0000"/>
                </a:solidFill>
              </a:rPr>
              <a:t>Списки</a:t>
            </a:r>
            <a:endParaRPr lang="ru-RU" sz="5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2371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7030A0"/>
                </a:solidFill>
              </a:rPr>
              <a:t>Загрузка рисунков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Создадим (нарисуем или найдем в интернете) три рисунка:</a:t>
            </a:r>
          </a:p>
          <a:p>
            <a:r>
              <a:rPr lang="ru-RU" dirty="0" smtClean="0"/>
              <a:t>Сохраним их в директории, в которой сохранен </a:t>
            </a:r>
            <a:r>
              <a:rPr lang="en-US" dirty="0" smtClean="0"/>
              <a:t>Python file</a:t>
            </a:r>
          </a:p>
          <a:p>
            <a:r>
              <a:rPr lang="ru-RU" dirty="0" smtClean="0"/>
              <a:t>Под именами:</a:t>
            </a:r>
          </a:p>
          <a:p>
            <a:r>
              <a:rPr lang="en-US" dirty="0" smtClean="0"/>
              <a:t>drug.jpg </a:t>
            </a:r>
            <a:r>
              <a:rPr lang="ru-RU" dirty="0" smtClean="0"/>
              <a:t>(симпатичный персонаж)</a:t>
            </a:r>
          </a:p>
          <a:p>
            <a:pPr marL="0" indent="0">
              <a:buNone/>
            </a:pPr>
            <a:r>
              <a:rPr lang="ru-RU" dirty="0"/>
              <a:t> </a:t>
            </a:r>
            <a:r>
              <a:rPr lang="en-US" dirty="0" smtClean="0"/>
              <a:t>vrag.jpg (</a:t>
            </a:r>
            <a:r>
              <a:rPr lang="ru-RU" dirty="0" smtClean="0"/>
              <a:t>несимпатичный персонаж)</a:t>
            </a:r>
          </a:p>
          <a:p>
            <a:pPr marL="0" indent="0">
              <a:buNone/>
            </a:pPr>
            <a:r>
              <a:rPr lang="en-US" dirty="0" smtClean="0"/>
              <a:t>dom.jpg (</a:t>
            </a:r>
            <a:r>
              <a:rPr lang="ru-RU" dirty="0" smtClean="0"/>
              <a:t>красивый дом)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490200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7030A0"/>
                </a:solidFill>
              </a:rPr>
              <a:t>Загрузка рисунков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Зададим координаты врага, друга и дома</a:t>
            </a:r>
            <a:endParaRPr lang="en-US" dirty="0" smtClean="0"/>
          </a:p>
          <a:p>
            <a:r>
              <a:rPr lang="en-US" dirty="0" smtClean="0"/>
              <a:t>xv=400</a:t>
            </a:r>
            <a:endParaRPr lang="en-US" dirty="0"/>
          </a:p>
          <a:p>
            <a:r>
              <a:rPr lang="en-US" dirty="0" err="1"/>
              <a:t>yv</a:t>
            </a:r>
            <a:r>
              <a:rPr lang="en-US" dirty="0"/>
              <a:t>=100</a:t>
            </a:r>
          </a:p>
          <a:p>
            <a:r>
              <a:rPr lang="en-US" dirty="0" err="1"/>
              <a:t>xd</a:t>
            </a:r>
            <a:r>
              <a:rPr lang="en-US" dirty="0"/>
              <a:t>=600</a:t>
            </a:r>
          </a:p>
          <a:p>
            <a:r>
              <a:rPr lang="en-US" dirty="0" err="1"/>
              <a:t>yd</a:t>
            </a:r>
            <a:r>
              <a:rPr lang="en-US" dirty="0"/>
              <a:t>=400</a:t>
            </a:r>
          </a:p>
          <a:p>
            <a:r>
              <a:rPr lang="en-US" dirty="0" err="1"/>
              <a:t>xdom</a:t>
            </a:r>
            <a:r>
              <a:rPr lang="en-US" dirty="0"/>
              <a:t>=10</a:t>
            </a:r>
          </a:p>
          <a:p>
            <a:r>
              <a:rPr lang="en-US" dirty="0" err="1"/>
              <a:t>ydom</a:t>
            </a:r>
            <a:r>
              <a:rPr lang="en-US" dirty="0"/>
              <a:t>=500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899271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7030A0"/>
                </a:solidFill>
              </a:rPr>
              <a:t>Загрузка рисунков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Заведем переменные для имен файлов:</a:t>
            </a:r>
          </a:p>
          <a:p>
            <a:r>
              <a:rPr lang="en-US" dirty="0" err="1"/>
              <a:t>drug_file</a:t>
            </a:r>
            <a:r>
              <a:rPr lang="en-US" dirty="0"/>
              <a:t>=</a:t>
            </a:r>
            <a:r>
              <a:rPr lang="en-US" dirty="0">
                <a:solidFill>
                  <a:srgbClr val="00B050"/>
                </a:solidFill>
              </a:rPr>
              <a:t>"zvezdolet1.jpg"</a:t>
            </a:r>
          </a:p>
          <a:p>
            <a:r>
              <a:rPr lang="en-US" dirty="0" err="1"/>
              <a:t>vrag_file</a:t>
            </a:r>
            <a:r>
              <a:rPr lang="en-US" dirty="0"/>
              <a:t>=</a:t>
            </a:r>
            <a:r>
              <a:rPr lang="en-US" dirty="0">
                <a:solidFill>
                  <a:srgbClr val="00B050"/>
                </a:solidFill>
              </a:rPr>
              <a:t>"tarelka1.jpg"</a:t>
            </a:r>
          </a:p>
          <a:p>
            <a:r>
              <a:rPr lang="en-US" dirty="0" err="1"/>
              <a:t>dom_file</a:t>
            </a:r>
            <a:r>
              <a:rPr lang="en-US" dirty="0"/>
              <a:t>=</a:t>
            </a:r>
            <a:r>
              <a:rPr lang="en-US" dirty="0">
                <a:solidFill>
                  <a:srgbClr val="00B050"/>
                </a:solidFill>
              </a:rPr>
              <a:t>"dom1.jpg"</a:t>
            </a:r>
            <a:endParaRPr lang="ru-R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31173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7030A0"/>
                </a:solidFill>
              </a:rPr>
              <a:t>Загрузка рисунков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Создадим переменные для рисунков:</a:t>
            </a:r>
          </a:p>
          <a:p>
            <a:pPr marL="0" indent="0">
              <a:buNone/>
            </a:pPr>
            <a:r>
              <a:rPr lang="en-US" dirty="0"/>
              <a:t>drug=</a:t>
            </a:r>
            <a:r>
              <a:rPr lang="en-US" dirty="0" err="1"/>
              <a:t>pygame.image.load</a:t>
            </a:r>
            <a:r>
              <a:rPr lang="en-US" dirty="0"/>
              <a:t>(</a:t>
            </a:r>
            <a:r>
              <a:rPr lang="en-US" dirty="0" err="1"/>
              <a:t>drug_file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vrag</a:t>
            </a:r>
            <a:r>
              <a:rPr lang="en-US" dirty="0"/>
              <a:t>=</a:t>
            </a:r>
            <a:r>
              <a:rPr lang="en-US" dirty="0" err="1"/>
              <a:t>pygame.image.load</a:t>
            </a:r>
            <a:r>
              <a:rPr lang="en-US" dirty="0"/>
              <a:t>(</a:t>
            </a:r>
            <a:r>
              <a:rPr lang="en-US" dirty="0" err="1"/>
              <a:t>vrag_file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dom</a:t>
            </a:r>
            <a:r>
              <a:rPr lang="en-US" dirty="0"/>
              <a:t>=</a:t>
            </a:r>
            <a:r>
              <a:rPr lang="en-US" dirty="0" err="1"/>
              <a:t>pygame.image.load</a:t>
            </a:r>
            <a:r>
              <a:rPr lang="en-US" dirty="0"/>
              <a:t>(</a:t>
            </a:r>
            <a:r>
              <a:rPr lang="en-US" dirty="0" err="1"/>
              <a:t>dom_file</a:t>
            </a:r>
            <a:r>
              <a:rPr lang="en-US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096753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7030A0"/>
                </a:solidFill>
              </a:rPr>
              <a:t>Загрузка рисунков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 smtClean="0"/>
              <a:t>И выведем рисунки на экран: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while</a:t>
            </a:r>
            <a:r>
              <a:rPr lang="en-US" dirty="0"/>
              <a:t> running: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screen.fill</a:t>
            </a:r>
            <a:r>
              <a:rPr lang="en-US" dirty="0"/>
              <a:t>(THECOLORS[</a:t>
            </a:r>
            <a:r>
              <a:rPr lang="en-US" dirty="0">
                <a:solidFill>
                  <a:srgbClr val="00B050"/>
                </a:solidFill>
              </a:rPr>
              <a:t>'white'</a:t>
            </a:r>
            <a:r>
              <a:rPr lang="en-US" dirty="0"/>
              <a:t>])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screen.blit</a:t>
            </a:r>
            <a:r>
              <a:rPr lang="en-US" dirty="0"/>
              <a:t>(drug, [</a:t>
            </a:r>
            <a:r>
              <a:rPr lang="en-US" dirty="0" err="1"/>
              <a:t>xd,yd</a:t>
            </a:r>
            <a:r>
              <a:rPr lang="en-US" dirty="0"/>
              <a:t>])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screen.blit</a:t>
            </a:r>
            <a:r>
              <a:rPr lang="en-US" dirty="0"/>
              <a:t>(</a:t>
            </a:r>
            <a:r>
              <a:rPr lang="en-US" dirty="0" err="1"/>
              <a:t>vrag</a:t>
            </a:r>
            <a:r>
              <a:rPr lang="en-US" dirty="0"/>
              <a:t>, [</a:t>
            </a:r>
            <a:r>
              <a:rPr lang="en-US" dirty="0" err="1"/>
              <a:t>xv,yv</a:t>
            </a:r>
            <a:r>
              <a:rPr lang="en-US" dirty="0"/>
              <a:t>])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screen.blit</a:t>
            </a:r>
            <a:r>
              <a:rPr lang="en-US" dirty="0"/>
              <a:t>(</a:t>
            </a:r>
            <a:r>
              <a:rPr lang="en-US" dirty="0" err="1"/>
              <a:t>dom</a:t>
            </a:r>
            <a:r>
              <a:rPr lang="en-US" dirty="0"/>
              <a:t>, [</a:t>
            </a:r>
            <a:r>
              <a:rPr lang="en-US" dirty="0" err="1"/>
              <a:t>xdom,ydom</a:t>
            </a:r>
            <a:r>
              <a:rPr lang="en-US" dirty="0"/>
              <a:t>])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for </a:t>
            </a:r>
            <a:r>
              <a:rPr lang="en-US" dirty="0"/>
              <a:t>event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dirty="0"/>
              <a:t> </a:t>
            </a:r>
            <a:r>
              <a:rPr lang="en-US" dirty="0" err="1"/>
              <a:t>pygame.event.get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dirty="0"/>
              <a:t>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pygame.QUIT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            running =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pygame.display.flip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pygame.quit</a:t>
            </a:r>
            <a:r>
              <a:rPr lang="en-US" dirty="0"/>
              <a:t>()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030726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7030A0"/>
                </a:solidFill>
              </a:rPr>
              <a:t>Загрузка рисунков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 smtClean="0"/>
              <a:t>Полный код программы: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</a:t>
            </a:r>
            <a:r>
              <a:rPr lang="en-US" dirty="0" err="1"/>
              <a:t>pygame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pygame.color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THECOLORS</a:t>
            </a:r>
          </a:p>
          <a:p>
            <a:pPr marL="0" indent="0">
              <a:buNone/>
            </a:pPr>
            <a:r>
              <a:rPr lang="en-US" dirty="0" err="1"/>
              <a:t>pygame.init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screenX</a:t>
            </a:r>
            <a:r>
              <a:rPr lang="en-US" dirty="0"/>
              <a:t>=1200</a:t>
            </a:r>
          </a:p>
          <a:p>
            <a:pPr marL="0" indent="0">
              <a:buNone/>
            </a:pPr>
            <a:r>
              <a:rPr lang="en-US" dirty="0" err="1"/>
              <a:t>screenY</a:t>
            </a:r>
            <a:r>
              <a:rPr lang="en-US" dirty="0"/>
              <a:t>=600</a:t>
            </a:r>
          </a:p>
          <a:p>
            <a:pPr marL="0" indent="0">
              <a:buNone/>
            </a:pPr>
            <a:r>
              <a:rPr lang="en-US" dirty="0"/>
              <a:t>screen = </a:t>
            </a:r>
            <a:r>
              <a:rPr lang="en-US" dirty="0" err="1"/>
              <a:t>pygame.display.set_mode</a:t>
            </a:r>
            <a:r>
              <a:rPr lang="en-US" dirty="0"/>
              <a:t>([</a:t>
            </a:r>
            <a:r>
              <a:rPr lang="en-US" dirty="0" err="1"/>
              <a:t>screenX,screenY</a:t>
            </a:r>
            <a:r>
              <a:rPr lang="en-US" dirty="0"/>
              <a:t>])</a:t>
            </a:r>
          </a:p>
          <a:p>
            <a:pPr marL="0" indent="0">
              <a:buNone/>
            </a:pPr>
            <a:r>
              <a:rPr lang="en-US" dirty="0"/>
              <a:t>xv=400</a:t>
            </a:r>
          </a:p>
          <a:p>
            <a:pPr marL="0" indent="0">
              <a:buNone/>
            </a:pPr>
            <a:r>
              <a:rPr lang="en-US" dirty="0" err="1"/>
              <a:t>yv</a:t>
            </a:r>
            <a:r>
              <a:rPr lang="en-US" dirty="0"/>
              <a:t>=100</a:t>
            </a:r>
          </a:p>
          <a:p>
            <a:pPr marL="0" indent="0">
              <a:buNone/>
            </a:pPr>
            <a:r>
              <a:rPr lang="en-US" dirty="0" err="1"/>
              <a:t>xd</a:t>
            </a:r>
            <a:r>
              <a:rPr lang="en-US" dirty="0"/>
              <a:t>=600</a:t>
            </a:r>
          </a:p>
          <a:p>
            <a:pPr marL="0" indent="0">
              <a:buNone/>
            </a:pPr>
            <a:r>
              <a:rPr lang="en-US" dirty="0" err="1"/>
              <a:t>yd</a:t>
            </a:r>
            <a:r>
              <a:rPr lang="en-US" dirty="0"/>
              <a:t>=400</a:t>
            </a:r>
          </a:p>
          <a:p>
            <a:pPr marL="0" indent="0">
              <a:buNone/>
            </a:pPr>
            <a:r>
              <a:rPr lang="en-US" dirty="0" err="1"/>
              <a:t>xdom</a:t>
            </a:r>
            <a:r>
              <a:rPr lang="en-US" dirty="0"/>
              <a:t>=10</a:t>
            </a:r>
          </a:p>
          <a:p>
            <a:pPr marL="0" indent="0">
              <a:buNone/>
            </a:pPr>
            <a:r>
              <a:rPr lang="en-US" dirty="0" err="1"/>
              <a:t>ydom</a:t>
            </a:r>
            <a:r>
              <a:rPr lang="en-US" dirty="0"/>
              <a:t>=500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830804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7030A0"/>
                </a:solidFill>
              </a:rPr>
              <a:t>Загрузка рисунков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drug_file</a:t>
            </a:r>
            <a:r>
              <a:rPr lang="en-US" dirty="0"/>
              <a:t>=</a:t>
            </a:r>
            <a:r>
              <a:rPr lang="en-US" dirty="0">
                <a:solidFill>
                  <a:srgbClr val="00B050"/>
                </a:solidFill>
              </a:rPr>
              <a:t>"zvezdolet1.jpg"</a:t>
            </a:r>
          </a:p>
          <a:p>
            <a:pPr marL="0" indent="0">
              <a:buNone/>
            </a:pPr>
            <a:r>
              <a:rPr lang="en-US" dirty="0" err="1"/>
              <a:t>vrag_file</a:t>
            </a:r>
            <a:r>
              <a:rPr lang="en-US" dirty="0"/>
              <a:t>=</a:t>
            </a:r>
            <a:r>
              <a:rPr lang="en-US" dirty="0">
                <a:solidFill>
                  <a:srgbClr val="00B050"/>
                </a:solidFill>
              </a:rPr>
              <a:t>"tarelka1.jpg"</a:t>
            </a:r>
          </a:p>
          <a:p>
            <a:pPr marL="0" indent="0">
              <a:buNone/>
            </a:pPr>
            <a:r>
              <a:rPr lang="en-US" dirty="0" err="1"/>
              <a:t>dom_file</a:t>
            </a:r>
            <a:r>
              <a:rPr lang="en-US" dirty="0"/>
              <a:t>=</a:t>
            </a:r>
            <a:r>
              <a:rPr lang="en-US" dirty="0">
                <a:solidFill>
                  <a:srgbClr val="00B050"/>
                </a:solidFill>
              </a:rPr>
              <a:t>"dom1.jpg"</a:t>
            </a:r>
          </a:p>
          <a:p>
            <a:pPr marL="0" indent="0">
              <a:buNone/>
            </a:pPr>
            <a:r>
              <a:rPr lang="en-US" dirty="0"/>
              <a:t>drug=</a:t>
            </a:r>
            <a:r>
              <a:rPr lang="en-US" dirty="0" err="1"/>
              <a:t>pygame.image.load</a:t>
            </a:r>
            <a:r>
              <a:rPr lang="en-US" dirty="0"/>
              <a:t>(</a:t>
            </a:r>
            <a:r>
              <a:rPr lang="en-US" dirty="0" err="1"/>
              <a:t>drug_file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vrag</a:t>
            </a:r>
            <a:r>
              <a:rPr lang="en-US" dirty="0"/>
              <a:t>=</a:t>
            </a:r>
            <a:r>
              <a:rPr lang="en-US" dirty="0" err="1"/>
              <a:t>pygame.image.load</a:t>
            </a:r>
            <a:r>
              <a:rPr lang="en-US" dirty="0"/>
              <a:t>(</a:t>
            </a:r>
            <a:r>
              <a:rPr lang="en-US" dirty="0" err="1"/>
              <a:t>vrag_file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dom</a:t>
            </a:r>
            <a:r>
              <a:rPr lang="en-US" dirty="0"/>
              <a:t>=</a:t>
            </a:r>
            <a:r>
              <a:rPr lang="en-US" dirty="0" err="1"/>
              <a:t>pygame.image.load</a:t>
            </a:r>
            <a:r>
              <a:rPr lang="en-US" dirty="0"/>
              <a:t>(</a:t>
            </a:r>
            <a:r>
              <a:rPr lang="en-US" dirty="0" err="1"/>
              <a:t>dom_file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running=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True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64341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7030A0"/>
                </a:solidFill>
              </a:rPr>
              <a:t>Загрузка рисунков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while</a:t>
            </a:r>
            <a:r>
              <a:rPr lang="en-US" dirty="0"/>
              <a:t> running: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screen.fill</a:t>
            </a:r>
            <a:r>
              <a:rPr lang="en-US" dirty="0"/>
              <a:t>(THECOLORS[</a:t>
            </a:r>
            <a:r>
              <a:rPr lang="en-US" dirty="0">
                <a:solidFill>
                  <a:srgbClr val="00B050"/>
                </a:solidFill>
              </a:rPr>
              <a:t>'white'</a:t>
            </a:r>
            <a:r>
              <a:rPr lang="en-US" dirty="0"/>
              <a:t>])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screen.blit</a:t>
            </a:r>
            <a:r>
              <a:rPr lang="en-US" dirty="0"/>
              <a:t>(drug, [</a:t>
            </a:r>
            <a:r>
              <a:rPr lang="en-US" dirty="0" err="1"/>
              <a:t>xd,yd</a:t>
            </a:r>
            <a:r>
              <a:rPr lang="en-US" dirty="0"/>
              <a:t>])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screen.blit</a:t>
            </a:r>
            <a:r>
              <a:rPr lang="en-US" dirty="0"/>
              <a:t>(</a:t>
            </a:r>
            <a:r>
              <a:rPr lang="en-US" dirty="0" err="1"/>
              <a:t>vrag</a:t>
            </a:r>
            <a:r>
              <a:rPr lang="en-US" dirty="0"/>
              <a:t>, [</a:t>
            </a:r>
            <a:r>
              <a:rPr lang="en-US" dirty="0" err="1"/>
              <a:t>xv,yv</a:t>
            </a:r>
            <a:r>
              <a:rPr lang="en-US" dirty="0"/>
              <a:t>])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screen.blit</a:t>
            </a:r>
            <a:r>
              <a:rPr lang="en-US" dirty="0"/>
              <a:t>(</a:t>
            </a:r>
            <a:r>
              <a:rPr lang="en-US" dirty="0" err="1"/>
              <a:t>dom</a:t>
            </a:r>
            <a:r>
              <a:rPr lang="en-US" dirty="0"/>
              <a:t>, [</a:t>
            </a:r>
            <a:r>
              <a:rPr lang="en-US" dirty="0" err="1"/>
              <a:t>xdom,ydom</a:t>
            </a:r>
            <a:r>
              <a:rPr lang="en-US" dirty="0"/>
              <a:t>])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for </a:t>
            </a:r>
            <a:r>
              <a:rPr lang="en-US" dirty="0"/>
              <a:t>event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dirty="0"/>
              <a:t> </a:t>
            </a:r>
            <a:r>
              <a:rPr lang="en-US" dirty="0" err="1"/>
              <a:t>pygame.event.get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dirty="0"/>
              <a:t>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pygame.QUIT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            running =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pygame.display.flip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pygame.quit</a:t>
            </a:r>
            <a:r>
              <a:rPr lang="en-US" dirty="0"/>
              <a:t>()</a:t>
            </a:r>
            <a:endParaRPr lang="ru-RU" dirty="0"/>
          </a:p>
          <a:p>
            <a:pPr marL="0" indent="0">
              <a:buNone/>
            </a:pP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9972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7030A0"/>
                </a:solidFill>
              </a:rPr>
              <a:t>Загрузка рисунков</a:t>
            </a:r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955760" y="1825625"/>
            <a:ext cx="8280480" cy="435133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355654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7030A0"/>
                </a:solidFill>
              </a:rPr>
              <a:t>Загрузка рисунков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Самостоятельно:</a:t>
            </a:r>
          </a:p>
          <a:p>
            <a:r>
              <a:rPr lang="ru-RU" dirty="0" smtClean="0"/>
              <a:t>Заменить в файле управляемого-неуправляемого движения</a:t>
            </a:r>
          </a:p>
          <a:p>
            <a:r>
              <a:rPr lang="ru-RU" dirty="0" smtClean="0"/>
              <a:t>Круг – на врага</a:t>
            </a:r>
          </a:p>
          <a:p>
            <a:r>
              <a:rPr lang="ru-RU" dirty="0" smtClean="0"/>
              <a:t>Ракетку – на друга</a:t>
            </a:r>
          </a:p>
          <a:p>
            <a:r>
              <a:rPr lang="ru-RU" dirty="0" smtClean="0"/>
              <a:t>Дом (пока) просто нарисовать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612320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7030A0"/>
                </a:solidFill>
              </a:rPr>
              <a:t>Загрузка рисунков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Далее: расставляем дома по нижнему краю окна. Примерно так: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for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dirty="0"/>
              <a:t> range(0,12):</a:t>
            </a:r>
          </a:p>
          <a:p>
            <a:pPr marL="457200" lvl="1" indent="0">
              <a:buNone/>
            </a:pPr>
            <a:r>
              <a:rPr lang="en-US" dirty="0" smtClean="0"/>
              <a:t>   </a:t>
            </a:r>
            <a:r>
              <a:rPr lang="en-US" dirty="0" err="1" smtClean="0"/>
              <a:t>screen.blit</a:t>
            </a:r>
            <a:r>
              <a:rPr lang="en-US" dirty="0" smtClean="0"/>
              <a:t>(</a:t>
            </a:r>
            <a:r>
              <a:rPr lang="en-US" dirty="0" err="1" smtClean="0"/>
              <a:t>dom</a:t>
            </a:r>
            <a:r>
              <a:rPr lang="en-US" dirty="0" smtClean="0"/>
              <a:t>, </a:t>
            </a:r>
            <a:r>
              <a:rPr lang="en-US" dirty="0"/>
              <a:t>[</a:t>
            </a:r>
            <a:r>
              <a:rPr lang="en-US" dirty="0" smtClean="0"/>
              <a:t>10+i*100,yd])</a:t>
            </a:r>
          </a:p>
          <a:p>
            <a:pPr marL="457200" lvl="1" indent="0">
              <a:buNone/>
            </a:pPr>
            <a:r>
              <a:rPr lang="ru-RU" dirty="0" smtClean="0"/>
              <a:t>Если враг попадает в дом, дом должен быть разрушен. Важно знать, какой именно дом разрушать (менять рисунок).</a:t>
            </a:r>
          </a:p>
          <a:p>
            <a:pPr marL="457200" lvl="1" indent="0">
              <a:buNone/>
            </a:pPr>
            <a:r>
              <a:rPr lang="ru-RU" dirty="0" smtClean="0"/>
              <a:t>Здесь нам поможет такое важное понятие в </a:t>
            </a:r>
            <a:r>
              <a:rPr lang="en-US" dirty="0" smtClean="0"/>
              <a:t>Python</a:t>
            </a:r>
            <a:r>
              <a:rPr lang="ru-RU" dirty="0" smtClean="0"/>
              <a:t>: </a:t>
            </a:r>
            <a:r>
              <a:rPr lang="ru-RU" b="1" dirty="0" smtClean="0">
                <a:solidFill>
                  <a:srgbClr val="FF0000"/>
                </a:solidFill>
              </a:rPr>
              <a:t>список</a:t>
            </a:r>
            <a:endParaRPr lang="en-US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604356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Списки в </a:t>
            </a:r>
            <a:r>
              <a:rPr lang="en-US" dirty="0" err="1" smtClean="0">
                <a:solidFill>
                  <a:srgbClr val="FF0000"/>
                </a:solidFill>
              </a:rPr>
              <a:t>Pyton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Как вы уже знаете, </a:t>
            </a:r>
            <a:r>
              <a:rPr lang="ru-RU" dirty="0" err="1"/>
              <a:t>Python</a:t>
            </a:r>
            <a:r>
              <a:rPr lang="ru-RU" dirty="0"/>
              <a:t> позволяет сохранять в памяти различные значения и извлекать их оттуда с помощью имен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dirty="0" smtClean="0"/>
              <a:t> </a:t>
            </a:r>
            <a:r>
              <a:rPr lang="ru-RU" dirty="0"/>
              <a:t>До этого момента мы сохраняли </a:t>
            </a:r>
            <a:r>
              <a:rPr lang="ru-RU" i="1" dirty="0"/>
              <a:t>строки </a:t>
            </a:r>
            <a:r>
              <a:rPr lang="ru-RU" dirty="0"/>
              <a:t>и </a:t>
            </a:r>
            <a:r>
              <a:rPr lang="ru-RU" i="1" dirty="0"/>
              <a:t>числа </a:t>
            </a:r>
            <a:r>
              <a:rPr lang="ru-RU" dirty="0"/>
              <a:t>(как </a:t>
            </a:r>
            <a:r>
              <a:rPr lang="ru-RU" i="1" dirty="0"/>
              <a:t>целые</a:t>
            </a:r>
            <a:r>
              <a:rPr lang="ru-RU" dirty="0"/>
              <a:t>, так и с </a:t>
            </a:r>
            <a:r>
              <a:rPr lang="ru-RU" i="1" dirty="0"/>
              <a:t>плавающей точкой</a:t>
            </a:r>
            <a:r>
              <a:rPr lang="ru-RU" dirty="0"/>
              <a:t>). </a:t>
            </a:r>
            <a:endParaRPr lang="en-US" dirty="0" smtClean="0"/>
          </a:p>
          <a:p>
            <a:r>
              <a:rPr lang="ru-RU" dirty="0" smtClean="0"/>
              <a:t>Но </a:t>
            </a:r>
            <a:r>
              <a:rPr lang="ru-RU" dirty="0"/>
              <a:t>иногда необходимо сохранить целую группу, или </a:t>
            </a:r>
            <a:r>
              <a:rPr lang="ru-RU" i="1" dirty="0"/>
              <a:t>коллекцию </a:t>
            </a:r>
            <a:r>
              <a:rPr lang="ru-RU" dirty="0"/>
              <a:t>(</a:t>
            </a:r>
            <a:r>
              <a:rPr lang="ru-RU" dirty="0" err="1"/>
              <a:t>collection</a:t>
            </a:r>
            <a:r>
              <a:rPr lang="ru-RU" dirty="0"/>
              <a:t>), элементов. </a:t>
            </a:r>
            <a:endParaRPr lang="en-US" dirty="0" smtClean="0"/>
          </a:p>
          <a:p>
            <a:r>
              <a:rPr lang="ru-RU" dirty="0" smtClean="0"/>
              <a:t>Это </a:t>
            </a:r>
            <a:r>
              <a:rPr lang="ru-RU" dirty="0"/>
              <a:t>позволяет оперировать всей коллекцией одновременно и упрощает отслеживание групп элементов. </a:t>
            </a:r>
            <a:endParaRPr lang="en-US" dirty="0" smtClean="0"/>
          </a:p>
          <a:p>
            <a:r>
              <a:rPr lang="ru-RU" dirty="0" smtClean="0"/>
              <a:t>Одной </a:t>
            </a:r>
            <a:r>
              <a:rPr lang="ru-RU" dirty="0"/>
              <a:t>из разновидностей коллекции является </a:t>
            </a:r>
            <a:r>
              <a:rPr lang="ru-RU" i="1" dirty="0"/>
              <a:t>список </a:t>
            </a:r>
            <a:r>
              <a:rPr lang="ru-RU" dirty="0"/>
              <a:t>(</a:t>
            </a:r>
            <a:r>
              <a:rPr lang="ru-RU" dirty="0" err="1"/>
              <a:t>list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="" xmlns:p14="http://schemas.microsoft.com/office/powerpoint/2010/main" val="4106354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Списки в </a:t>
            </a:r>
            <a:r>
              <a:rPr lang="en-US" dirty="0" err="1" smtClean="0">
                <a:solidFill>
                  <a:srgbClr val="FF0000"/>
                </a:solidFill>
              </a:rPr>
              <a:t>Pyton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Именно о списках </a:t>
            </a:r>
            <a:r>
              <a:rPr lang="ru-RU" dirty="0" smtClean="0"/>
              <a:t>пойдет </a:t>
            </a:r>
            <a:r>
              <a:rPr lang="ru-RU" dirty="0"/>
              <a:t>речь </a:t>
            </a:r>
            <a:r>
              <a:rPr lang="ru-RU" dirty="0" smtClean="0"/>
              <a:t>на этом занятии. </a:t>
            </a:r>
          </a:p>
          <a:p>
            <a:r>
              <a:rPr lang="ru-RU" dirty="0" smtClean="0"/>
              <a:t>Вы </a:t>
            </a:r>
            <a:r>
              <a:rPr lang="ru-RU" dirty="0"/>
              <a:t>узнаете, как они создаются, модифицируются и применяются в программах.</a:t>
            </a:r>
          </a:p>
          <a:p>
            <a:r>
              <a:rPr lang="ru-RU" dirty="0"/>
              <a:t>Списки крайне полезны и фигурируют во множестве программ. Они будут часто появляться в примерах кода в следующих главах, когда мы </a:t>
            </a:r>
            <a:r>
              <a:rPr lang="ru-RU" dirty="0" smtClean="0"/>
              <a:t>начнем </a:t>
            </a:r>
            <a:r>
              <a:rPr lang="ru-RU" dirty="0"/>
              <a:t>разрабатывать игры.</a:t>
            </a:r>
          </a:p>
        </p:txBody>
      </p:sp>
    </p:spTree>
    <p:extLst>
      <p:ext uri="{BB962C8B-B14F-4D97-AF65-F5344CB8AC3E}">
        <p14:creationId xmlns="" xmlns:p14="http://schemas.microsoft.com/office/powerpoint/2010/main" val="2379305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Списки в </a:t>
            </a:r>
            <a:r>
              <a:rPr lang="en-US" dirty="0" err="1" smtClean="0">
                <a:solidFill>
                  <a:srgbClr val="FF0000"/>
                </a:solidFill>
              </a:rPr>
              <a:t>Pyton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Представим себе, что вам нужно создать список студентов вашей группы. На языке </a:t>
            </a:r>
            <a:r>
              <a:rPr lang="en-US" dirty="0"/>
              <a:t>Python </a:t>
            </a:r>
            <a:r>
              <a:rPr lang="ru-RU" dirty="0"/>
              <a:t>это будет выглядеть так:</a:t>
            </a:r>
          </a:p>
          <a:p>
            <a:r>
              <a:rPr lang="ru-RU" dirty="0"/>
              <a:t> </a:t>
            </a:r>
          </a:p>
          <a:p>
            <a:r>
              <a:rPr lang="en-US" i="1" dirty="0"/>
              <a:t>Students</a:t>
            </a:r>
            <a:r>
              <a:rPr lang="ru-RU" i="1" dirty="0"/>
              <a:t>=[‘</a:t>
            </a:r>
            <a:r>
              <a:rPr lang="en-US" i="1" dirty="0" err="1"/>
              <a:t>Petrov</a:t>
            </a:r>
            <a:r>
              <a:rPr lang="ru-RU" i="1" dirty="0"/>
              <a:t>’, ‘</a:t>
            </a:r>
            <a:r>
              <a:rPr lang="en-US" i="1" dirty="0" err="1"/>
              <a:t>Ivanova</a:t>
            </a:r>
            <a:r>
              <a:rPr lang="ru-RU" i="1" dirty="0"/>
              <a:t>’, ‘Семенов’]</a:t>
            </a:r>
            <a:endParaRPr lang="ru-RU" dirty="0"/>
          </a:p>
          <a:p>
            <a:r>
              <a:rPr lang="ru-RU" dirty="0"/>
              <a:t> </a:t>
            </a:r>
          </a:p>
          <a:p>
            <a:r>
              <a:rPr lang="ru-RU" dirty="0"/>
              <a:t>А если попросить вас написать свои счастливые числа, может получиться нечто такое:</a:t>
            </a:r>
          </a:p>
          <a:p>
            <a:r>
              <a:rPr lang="ru-RU" dirty="0"/>
              <a:t> </a:t>
            </a:r>
          </a:p>
          <a:p>
            <a:r>
              <a:rPr lang="ru-RU" i="1" dirty="0" err="1"/>
              <a:t>luckyNumbers</a:t>
            </a:r>
            <a:r>
              <a:rPr lang="ru-RU" i="1" dirty="0"/>
              <a:t> = [2, 7, 14, 26, 30]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97309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Списки в </a:t>
            </a:r>
            <a:r>
              <a:rPr lang="en-US" dirty="0" err="1" smtClean="0">
                <a:solidFill>
                  <a:srgbClr val="FF0000"/>
                </a:solidFill>
              </a:rPr>
              <a:t>Pyton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данном случае как </a:t>
            </a:r>
            <a:r>
              <a:rPr lang="en-US" dirty="0"/>
              <a:t>students</a:t>
            </a:r>
            <a:r>
              <a:rPr lang="ru-RU" dirty="0"/>
              <a:t>, так и </a:t>
            </a:r>
            <a:r>
              <a:rPr lang="ru-RU" dirty="0" err="1"/>
              <a:t>luckyNumbers</a:t>
            </a:r>
            <a:r>
              <a:rPr lang="ru-RU" dirty="0"/>
              <a:t> — примеры </a:t>
            </a:r>
            <a:r>
              <a:rPr lang="ru-RU" dirty="0" err="1"/>
              <a:t>Python</a:t>
            </a:r>
            <a:r>
              <a:rPr lang="ru-RU" dirty="0"/>
              <a:t>-списков, а входящие в них отдельные объекты называются </a:t>
            </a:r>
            <a:r>
              <a:rPr lang="ru-RU" i="1" dirty="0"/>
              <a:t>элементами </a:t>
            </a:r>
            <a:r>
              <a:rPr lang="ru-RU" dirty="0"/>
              <a:t>(</a:t>
            </a:r>
            <a:r>
              <a:rPr lang="ru-RU" dirty="0" err="1"/>
              <a:t>items</a:t>
            </a:r>
            <a:r>
              <a:rPr lang="ru-RU" dirty="0"/>
              <a:t>). </a:t>
            </a:r>
            <a:endParaRPr lang="ru-RU" dirty="0" smtClean="0"/>
          </a:p>
          <a:p>
            <a:r>
              <a:rPr lang="ru-RU" dirty="0" smtClean="0"/>
              <a:t>Как </a:t>
            </a:r>
            <a:r>
              <a:rPr lang="ru-RU" dirty="0"/>
              <a:t>видите, </a:t>
            </a:r>
            <a:r>
              <a:rPr lang="ru-RU" dirty="0" err="1"/>
              <a:t>Python</a:t>
            </a:r>
            <a:r>
              <a:rPr lang="ru-RU" dirty="0"/>
              <a:t>-списки не сильно отличаются от привычных для вас реальных списков. </a:t>
            </a:r>
            <a:endParaRPr lang="ru-RU" dirty="0" smtClean="0"/>
          </a:p>
          <a:p>
            <a:r>
              <a:rPr lang="ru-RU" dirty="0" smtClean="0"/>
              <a:t>Квадратные </a:t>
            </a:r>
            <a:r>
              <a:rPr lang="ru-RU" dirty="0"/>
              <a:t>скобки показывают начало и конец списка, а запятые отделяют элементы друг от друга.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756735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Списки в </a:t>
            </a:r>
            <a:r>
              <a:rPr lang="en-US" dirty="0" err="1" smtClean="0">
                <a:solidFill>
                  <a:srgbClr val="FF0000"/>
                </a:solidFill>
              </a:rPr>
              <a:t>Pyton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Чтобы создать список, как и любую другую переменную, используем присваивание некоего значения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/>
              <a:t>Мы это уже видели на примере переменной </a:t>
            </a:r>
            <a:r>
              <a:rPr lang="ru-RU" dirty="0" err="1"/>
              <a:t>luckyNumbers</a:t>
            </a:r>
            <a:r>
              <a:rPr lang="ru-RU" dirty="0"/>
              <a:t>. Кроме того, можно создать пустой список:</a:t>
            </a:r>
          </a:p>
          <a:p>
            <a:r>
              <a:rPr lang="ru-RU" dirty="0"/>
              <a:t> </a:t>
            </a:r>
          </a:p>
          <a:p>
            <a:r>
              <a:rPr lang="ru-RU" i="1" dirty="0" err="1"/>
              <a:t>newList</a:t>
            </a:r>
            <a:r>
              <a:rPr lang="ru-RU" i="1" dirty="0"/>
              <a:t> = []</a:t>
            </a:r>
            <a:endParaRPr lang="ru-RU" dirty="0"/>
          </a:p>
          <a:p>
            <a:r>
              <a:rPr lang="ru-RU" dirty="0"/>
              <a:t> </a:t>
            </a:r>
          </a:p>
          <a:p>
            <a:r>
              <a:rPr lang="ru-RU" dirty="0"/>
              <a:t>В квадратных скобках нет ни одного элемента, то есть список является пустым. </a:t>
            </a:r>
            <a:endParaRPr lang="ru-RU" dirty="0" smtClean="0"/>
          </a:p>
          <a:p>
            <a:r>
              <a:rPr lang="ru-RU" dirty="0" smtClean="0"/>
              <a:t>Но </a:t>
            </a:r>
            <a:r>
              <a:rPr lang="ru-RU" dirty="0"/>
              <a:t>какая польза от пустого списка? Зачем он может кому-то понадобиться? </a:t>
            </a:r>
          </a:p>
        </p:txBody>
      </p:sp>
    </p:spTree>
    <p:extLst>
      <p:ext uri="{BB962C8B-B14F-4D97-AF65-F5344CB8AC3E}">
        <p14:creationId xmlns="" xmlns:p14="http://schemas.microsoft.com/office/powerpoint/2010/main" val="370728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Списки в </a:t>
            </a:r>
            <a:r>
              <a:rPr lang="en-US" dirty="0" err="1" smtClean="0">
                <a:solidFill>
                  <a:srgbClr val="FF0000"/>
                </a:solidFill>
              </a:rPr>
              <a:t>Pyton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Дело в том, что часто возникает ситуация, когда вы заранее не знаете, что именно попадет в список. </a:t>
            </a:r>
            <a:endParaRPr lang="ru-RU" dirty="0" smtClean="0"/>
          </a:p>
          <a:p>
            <a:r>
              <a:rPr lang="ru-RU" dirty="0" smtClean="0"/>
              <a:t>Неизвестны </a:t>
            </a:r>
            <a:r>
              <a:rPr lang="ru-RU" dirty="0"/>
              <a:t>ни количество элементов, ни их состав. Известно только, что вы будете пользоваться списком. </a:t>
            </a:r>
            <a:endParaRPr lang="ru-RU" dirty="0" smtClean="0"/>
          </a:p>
          <a:p>
            <a:r>
              <a:rPr lang="ru-RU" dirty="0" smtClean="0"/>
              <a:t>А </a:t>
            </a:r>
            <a:r>
              <a:rPr lang="ru-RU" dirty="0"/>
              <a:t>если у вас есть пустой список, туда можно </a:t>
            </a:r>
            <a:r>
              <a:rPr lang="ru-RU" dirty="0" err="1"/>
              <a:t>добавитьчто</a:t>
            </a:r>
            <a:r>
              <a:rPr lang="ru-RU" dirty="0"/>
              <a:t> угодно. Давайте посмотрим, как это делается.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171113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Списки в </a:t>
            </a:r>
            <a:r>
              <a:rPr lang="en-US" dirty="0" err="1" smtClean="0">
                <a:solidFill>
                  <a:srgbClr val="FF0000"/>
                </a:solidFill>
              </a:rPr>
              <a:t>Pyton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Для добавления элементов в список служит метод </a:t>
            </a:r>
            <a:r>
              <a:rPr lang="ru-RU" dirty="0" err="1"/>
              <a:t>append</a:t>
            </a:r>
            <a:r>
              <a:rPr lang="ru-RU" dirty="0"/>
              <a:t>()</a:t>
            </a:r>
          </a:p>
          <a:p>
            <a:r>
              <a:rPr lang="ru-RU" dirty="0"/>
              <a:t> </a:t>
            </a:r>
          </a:p>
          <a:p>
            <a:r>
              <a:rPr lang="en-US" i="1" dirty="0"/>
              <a:t>&gt;&gt;&gt; friends = []</a:t>
            </a:r>
            <a:endParaRPr lang="ru-RU" dirty="0"/>
          </a:p>
          <a:p>
            <a:r>
              <a:rPr lang="en-US" i="1" dirty="0"/>
              <a:t>&gt;&gt;&gt; </a:t>
            </a:r>
            <a:r>
              <a:rPr lang="en-US" i="1" dirty="0" err="1"/>
              <a:t>friends.append</a:t>
            </a:r>
            <a:r>
              <a:rPr lang="en-US" i="1" dirty="0"/>
              <a:t>('</a:t>
            </a:r>
            <a:r>
              <a:rPr lang="ru-RU" i="1" dirty="0"/>
              <a:t>Иван</a:t>
            </a:r>
            <a:r>
              <a:rPr lang="en-US" i="1" dirty="0"/>
              <a:t>')</a:t>
            </a:r>
            <a:endParaRPr lang="ru-RU" dirty="0"/>
          </a:p>
          <a:p>
            <a:r>
              <a:rPr lang="en-US" i="1" dirty="0"/>
              <a:t>&gt;&gt;&gt; print</a:t>
            </a:r>
            <a:r>
              <a:rPr lang="en-US" b="1" i="1" dirty="0"/>
              <a:t> (</a:t>
            </a:r>
            <a:r>
              <a:rPr lang="en-US" i="1" dirty="0"/>
              <a:t>friends)</a:t>
            </a:r>
            <a:endParaRPr lang="ru-RU" dirty="0"/>
          </a:p>
          <a:p>
            <a:r>
              <a:rPr lang="en-US" dirty="0"/>
              <a:t> </a:t>
            </a:r>
            <a:endParaRPr lang="ru-RU" dirty="0"/>
          </a:p>
          <a:p>
            <a:r>
              <a:rPr lang="ru-RU" dirty="0"/>
              <a:t>Вот какой результат вы получите: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['Иван']</a:t>
            </a:r>
          </a:p>
          <a:p>
            <a:r>
              <a:rPr lang="ru-RU" dirty="0"/>
              <a:t> </a:t>
            </a:r>
          </a:p>
          <a:p>
            <a:r>
              <a:rPr lang="ru-RU" i="1" dirty="0"/>
              <a:t> 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219867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Списки в </a:t>
            </a:r>
            <a:r>
              <a:rPr lang="en-US" dirty="0" err="1" smtClean="0">
                <a:solidFill>
                  <a:srgbClr val="FF0000"/>
                </a:solidFill>
              </a:rPr>
              <a:t>Pyton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Попробуйте добавить еще один элемент:</a:t>
            </a:r>
          </a:p>
          <a:p>
            <a:r>
              <a:rPr lang="ru-RU" dirty="0"/>
              <a:t> </a:t>
            </a:r>
          </a:p>
          <a:p>
            <a:r>
              <a:rPr lang="en-US" i="1" dirty="0"/>
              <a:t>&gt;&gt;&gt; </a:t>
            </a:r>
            <a:r>
              <a:rPr lang="en-US" i="1" dirty="0" err="1"/>
              <a:t>friends.append</a:t>
            </a:r>
            <a:r>
              <a:rPr lang="en-US" i="1" dirty="0"/>
              <a:t>('</a:t>
            </a:r>
            <a:r>
              <a:rPr lang="ru-RU" i="1" dirty="0"/>
              <a:t>Маша</a:t>
            </a:r>
            <a:r>
              <a:rPr lang="en-US" i="1" dirty="0"/>
              <a:t>')</a:t>
            </a:r>
            <a:endParaRPr lang="ru-RU" dirty="0"/>
          </a:p>
          <a:p>
            <a:r>
              <a:rPr lang="en-US" i="1" dirty="0"/>
              <a:t>&gt;&gt;&gt; print</a:t>
            </a:r>
            <a:r>
              <a:rPr lang="en-US" b="1" i="1" dirty="0"/>
              <a:t> </a:t>
            </a:r>
            <a:r>
              <a:rPr lang="en-US" i="1" dirty="0"/>
              <a:t>friends</a:t>
            </a:r>
            <a:endParaRPr lang="ru-RU" dirty="0"/>
          </a:p>
          <a:p>
            <a:r>
              <a:rPr lang="ru-RU" dirty="0" smtClean="0"/>
              <a:t>Результат</a:t>
            </a:r>
            <a:r>
              <a:rPr lang="en-US" dirty="0"/>
              <a:t>:</a:t>
            </a:r>
            <a:endParaRPr lang="ru-RU" dirty="0"/>
          </a:p>
          <a:p>
            <a:r>
              <a:rPr lang="ru-RU" i="1" dirty="0" smtClean="0"/>
              <a:t>[</a:t>
            </a:r>
            <a:r>
              <a:rPr lang="ru-RU" i="1" dirty="0"/>
              <a:t>'Иван', 'Маша']</a:t>
            </a:r>
            <a:endParaRPr lang="ru-RU" dirty="0"/>
          </a:p>
          <a:p>
            <a:r>
              <a:rPr lang="ru-RU" dirty="0"/>
              <a:t>Имейте в виду, что добавлять элементы вы можете только в уже существующий список (пустой или нет). Поэтому первым делом его нужно создать.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944436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Списки в </a:t>
            </a:r>
            <a:r>
              <a:rPr lang="en-US" dirty="0" err="1" smtClean="0">
                <a:solidFill>
                  <a:srgbClr val="FF0000"/>
                </a:solidFill>
              </a:rPr>
              <a:t>Pyton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Списки могут содержать любые данные, которые можно сохранять в </a:t>
            </a:r>
            <a:r>
              <a:rPr lang="ru-RU" dirty="0" err="1"/>
              <a:t>Python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/>
              <a:t>В этот перечень входят числа, строки, объекты и даже другие списки. </a:t>
            </a:r>
            <a:endParaRPr lang="ru-RU" dirty="0" smtClean="0"/>
          </a:p>
          <a:p>
            <a:r>
              <a:rPr lang="ru-RU" dirty="0" smtClean="0"/>
              <a:t>Элементы </a:t>
            </a:r>
            <a:r>
              <a:rPr lang="ru-RU" dirty="0"/>
              <a:t>списка не обязаны принадлежать к одному типу</a:t>
            </a:r>
            <a:r>
              <a:rPr lang="ru-RU" dirty="0" smtClean="0"/>
              <a:t>.</a:t>
            </a:r>
          </a:p>
          <a:p>
            <a:r>
              <a:rPr lang="ru-RU" dirty="0" smtClean="0"/>
              <a:t>Это </a:t>
            </a:r>
            <a:r>
              <a:rPr lang="ru-RU" dirty="0"/>
              <a:t>означает, что в одном списке могут одновременно содержаться, например, числа и строки. </a:t>
            </a:r>
            <a:endParaRPr lang="ru-RU" dirty="0" smtClean="0"/>
          </a:p>
          <a:p>
            <a:r>
              <a:rPr lang="ru-RU" dirty="0" smtClean="0"/>
              <a:t>Это </a:t>
            </a:r>
            <a:r>
              <a:rPr lang="ru-RU" dirty="0"/>
              <a:t>будет выглядеть примерно так:</a:t>
            </a:r>
          </a:p>
          <a:p>
            <a:r>
              <a:rPr lang="ru-RU" dirty="0"/>
              <a:t> </a:t>
            </a:r>
          </a:p>
          <a:p>
            <a:r>
              <a:rPr lang="en-US" i="1" dirty="0" err="1"/>
              <a:t>my_list</a:t>
            </a:r>
            <a:r>
              <a:rPr lang="en-US" i="1" dirty="0"/>
              <a:t> = [5, 10, 23.76, '</a:t>
            </a:r>
            <a:r>
              <a:rPr lang="ru-RU" i="1" dirty="0"/>
              <a:t>Привет</a:t>
            </a:r>
            <a:r>
              <a:rPr lang="en-US" i="1" dirty="0"/>
              <a:t>', </a:t>
            </a:r>
            <a:r>
              <a:rPr lang="en-US" i="1" dirty="0" err="1"/>
              <a:t>myTeacher</a:t>
            </a:r>
            <a:r>
              <a:rPr lang="en-US" i="1" dirty="0"/>
              <a:t>, 7, </a:t>
            </a:r>
            <a:r>
              <a:rPr lang="en-US" i="1" dirty="0" err="1"/>
              <a:t>another_list</a:t>
            </a:r>
            <a:r>
              <a:rPr lang="en-US" i="1" dirty="0"/>
              <a:t>]</a:t>
            </a:r>
            <a:endParaRPr lang="ru-RU" dirty="0"/>
          </a:p>
          <a:p>
            <a:r>
              <a:rPr lang="en-US" dirty="0"/>
              <a:t> 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717415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Списки в </a:t>
            </a:r>
            <a:r>
              <a:rPr lang="en-US" dirty="0" err="1" smtClean="0">
                <a:solidFill>
                  <a:srgbClr val="FF0000"/>
                </a:solidFill>
              </a:rPr>
              <a:t>Pyton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Давайте создадим список с простыми элементами, например с буквами латинского алфавита, чтобы при изучении свойств списков было проще понять, что именно происходит.</a:t>
            </a:r>
          </a:p>
          <a:p>
            <a:r>
              <a:rPr lang="ru-RU" dirty="0"/>
              <a:t> </a:t>
            </a:r>
          </a:p>
          <a:p>
            <a:r>
              <a:rPr lang="ru-RU" i="1" dirty="0"/>
              <a:t> </a:t>
            </a:r>
            <a:r>
              <a:rPr lang="en-US" i="1" dirty="0"/>
              <a:t>letters = ['a', 'b', 'c', 'd', 'e']</a:t>
            </a:r>
            <a:endParaRPr lang="ru-RU" dirty="0"/>
          </a:p>
          <a:p>
            <a:r>
              <a:rPr lang="ru-RU" dirty="0" smtClean="0"/>
              <a:t>Доступ </a:t>
            </a:r>
            <a:r>
              <a:rPr lang="ru-RU" dirty="0"/>
              <a:t>к отдельному элементу списка происходит по номеру его индекса. Индексы начинаются с 0, поэтому первым элементом нашего списка, то есть элементом </a:t>
            </a:r>
            <a:r>
              <a:rPr lang="ru-RU" dirty="0" err="1"/>
              <a:t>letters</a:t>
            </a:r>
            <a:r>
              <a:rPr lang="ru-RU" dirty="0"/>
              <a:t>[0],</a:t>
            </a:r>
          </a:p>
          <a:p>
            <a:r>
              <a:rPr lang="ru-RU" dirty="0"/>
              <a:t>будет буква </a:t>
            </a:r>
            <a:r>
              <a:rPr lang="ru-RU" i="1" dirty="0"/>
              <a:t>а</a:t>
            </a:r>
            <a:r>
              <a:rPr lang="ru-RU" dirty="0"/>
              <a:t>:</a:t>
            </a:r>
          </a:p>
          <a:p>
            <a:r>
              <a:rPr lang="ru-RU" i="1" dirty="0" smtClean="0"/>
              <a:t>&gt;&gt;&gt; </a:t>
            </a:r>
            <a:r>
              <a:rPr lang="en-US" i="1" dirty="0"/>
              <a:t>prin</a:t>
            </a:r>
            <a:r>
              <a:rPr lang="en-US" b="1" i="1" dirty="0"/>
              <a:t>t </a:t>
            </a:r>
            <a:r>
              <a:rPr lang="ru-RU" b="1" i="1" dirty="0"/>
              <a:t>(</a:t>
            </a:r>
            <a:r>
              <a:rPr lang="en-US" i="1" dirty="0"/>
              <a:t>letters</a:t>
            </a:r>
            <a:r>
              <a:rPr lang="ru-RU" i="1" dirty="0"/>
              <a:t>[0])</a:t>
            </a:r>
            <a:endParaRPr lang="ru-RU" dirty="0"/>
          </a:p>
          <a:p>
            <a:r>
              <a:rPr lang="ru-RU" i="1" dirty="0"/>
              <a:t>а</a:t>
            </a:r>
            <a:endParaRPr lang="ru-RU" dirty="0"/>
          </a:p>
          <a:p>
            <a:r>
              <a:rPr lang="en-US" dirty="0"/>
              <a:t> 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256937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Списки в </a:t>
            </a:r>
            <a:r>
              <a:rPr lang="en-US" dirty="0" err="1" smtClean="0">
                <a:solidFill>
                  <a:srgbClr val="FF0000"/>
                </a:solidFill>
              </a:rPr>
              <a:t>Pyton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Попробуем еще раз:</a:t>
            </a:r>
          </a:p>
          <a:p>
            <a:r>
              <a:rPr lang="ru-RU" dirty="0"/>
              <a:t> </a:t>
            </a:r>
          </a:p>
          <a:p>
            <a:r>
              <a:rPr lang="ru-RU" i="1" dirty="0"/>
              <a:t>&gt;&gt;&gt; </a:t>
            </a:r>
            <a:r>
              <a:rPr lang="ru-RU" i="1" dirty="0" err="1"/>
              <a:t>print</a:t>
            </a:r>
            <a:r>
              <a:rPr lang="ru-RU" b="1" i="1" dirty="0"/>
              <a:t> (</a:t>
            </a:r>
            <a:r>
              <a:rPr lang="ru-RU" i="1" dirty="0" err="1"/>
              <a:t>letters</a:t>
            </a:r>
            <a:r>
              <a:rPr lang="ru-RU" i="1" dirty="0"/>
              <a:t>[3])</a:t>
            </a:r>
            <a:endParaRPr lang="ru-RU" dirty="0"/>
          </a:p>
          <a:p>
            <a:r>
              <a:rPr lang="en-US" i="1" dirty="0"/>
              <a:t>d</a:t>
            </a:r>
            <a:endParaRPr lang="ru-RU" dirty="0"/>
          </a:p>
          <a:p>
            <a:r>
              <a:rPr lang="ru-RU" dirty="0"/>
              <a:t> </a:t>
            </a:r>
          </a:p>
          <a:p>
            <a:r>
              <a:rPr lang="ru-RU" dirty="0"/>
              <a:t>Индексы позволяют обеспечить доступ сразу к нескольким элементам списка. Эта операция называется </a:t>
            </a:r>
            <a:r>
              <a:rPr lang="ru-RU" i="1" dirty="0"/>
              <a:t>получением среза </a:t>
            </a:r>
            <a:r>
              <a:rPr lang="ru-RU" dirty="0"/>
              <a:t>(</a:t>
            </a:r>
            <a:r>
              <a:rPr lang="ru-RU" dirty="0" err="1"/>
              <a:t>slicing</a:t>
            </a:r>
            <a:r>
              <a:rPr lang="ru-RU" dirty="0"/>
              <a:t>) списка:</a:t>
            </a:r>
          </a:p>
          <a:p>
            <a:r>
              <a:rPr lang="ru-RU" i="1" dirty="0"/>
              <a:t> </a:t>
            </a:r>
            <a:endParaRPr lang="ru-RU" dirty="0"/>
          </a:p>
          <a:p>
            <a:r>
              <a:rPr lang="ru-RU" i="1" dirty="0"/>
              <a:t>&gt;&gt;&gt; </a:t>
            </a:r>
            <a:r>
              <a:rPr lang="ru-RU" i="1" dirty="0" err="1"/>
              <a:t>print</a:t>
            </a:r>
            <a:r>
              <a:rPr lang="ru-RU" b="1" i="1" dirty="0"/>
              <a:t> (</a:t>
            </a:r>
            <a:r>
              <a:rPr lang="ru-RU" i="1" dirty="0" err="1"/>
              <a:t>letters</a:t>
            </a:r>
            <a:r>
              <a:rPr lang="ru-RU" i="1" dirty="0"/>
              <a:t>[1:4])</a:t>
            </a:r>
            <a:endParaRPr lang="ru-RU" dirty="0"/>
          </a:p>
          <a:p>
            <a:r>
              <a:rPr lang="ru-RU" i="1" dirty="0"/>
              <a:t> </a:t>
            </a:r>
            <a:endParaRPr lang="ru-RU" dirty="0"/>
          </a:p>
          <a:p>
            <a:r>
              <a:rPr lang="ru-RU" i="1" dirty="0"/>
              <a:t>Результат</a:t>
            </a:r>
            <a:endParaRPr lang="ru-RU" dirty="0"/>
          </a:p>
          <a:p>
            <a:r>
              <a:rPr lang="ru-RU" i="1" dirty="0"/>
              <a:t> </a:t>
            </a:r>
            <a:endParaRPr lang="ru-RU" dirty="0"/>
          </a:p>
          <a:p>
            <a:r>
              <a:rPr lang="ru-RU" i="1" dirty="0"/>
              <a:t>['b', 'c', 'd']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534834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Списки в </a:t>
            </a:r>
            <a:r>
              <a:rPr lang="en-US" dirty="0" err="1" smtClean="0">
                <a:solidFill>
                  <a:srgbClr val="FF0000"/>
                </a:solidFill>
              </a:rPr>
              <a:t>Pyton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Как и в случае с функцией </a:t>
            </a:r>
            <a:r>
              <a:rPr lang="ru-RU" dirty="0" err="1"/>
              <a:t>range</a:t>
            </a:r>
            <a:r>
              <a:rPr lang="ru-RU" dirty="0"/>
              <a:t>() в цикле </a:t>
            </a:r>
            <a:r>
              <a:rPr lang="ru-RU" dirty="0" err="1"/>
              <a:t>for</a:t>
            </a:r>
            <a:r>
              <a:rPr lang="ru-RU" dirty="0"/>
              <a:t>, при получении среза извлечение элементов начинается с первого указанного индекса и заканчивается </a:t>
            </a:r>
            <a:r>
              <a:rPr lang="ru-RU" i="1" dirty="0"/>
              <a:t>перед </a:t>
            </a:r>
            <a:r>
              <a:rPr lang="ru-RU" dirty="0"/>
              <a:t>вторым. </a:t>
            </a:r>
            <a:endParaRPr lang="ru-RU" dirty="0" smtClean="0"/>
          </a:p>
          <a:p>
            <a:r>
              <a:rPr lang="ru-RU" dirty="0" smtClean="0"/>
              <a:t>Именно </a:t>
            </a:r>
            <a:r>
              <a:rPr lang="ru-RU" dirty="0"/>
              <a:t>поэтому в предыдущем примере мы получили три, а не четыре элемента. </a:t>
            </a:r>
            <a:endParaRPr lang="ru-RU" dirty="0" smtClean="0"/>
          </a:p>
          <a:p>
            <a:r>
              <a:rPr lang="ru-RU" dirty="0" smtClean="0"/>
              <a:t>Запомните</a:t>
            </a:r>
            <a:r>
              <a:rPr lang="ru-RU" dirty="0"/>
              <a:t>, что получаемое в результате среза количество элементов равно разнице между индексами (4 – 1 = 3, то есть мы получаем три элемента).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430945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Списки в </a:t>
            </a:r>
            <a:r>
              <a:rPr lang="en-US" dirty="0" err="1" smtClean="0">
                <a:solidFill>
                  <a:srgbClr val="FF0000"/>
                </a:solidFill>
              </a:rPr>
              <a:t>Pyton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К настоящему моменту нам достаточно сведений о списках. В дальнейшем мы не раз вернемся к этому вопросу.</a:t>
            </a:r>
          </a:p>
          <a:p>
            <a:r>
              <a:rPr lang="ru-RU" dirty="0" smtClean="0"/>
              <a:t>Перейдем к примерам. Давайте разнообразим наш город.</a:t>
            </a:r>
          </a:p>
          <a:p>
            <a:r>
              <a:rPr lang="ru-RU" dirty="0" smtClean="0"/>
              <a:t>Пуст в нем будут дома трех типов. </a:t>
            </a:r>
            <a:endParaRPr lang="ru-RU" dirty="0"/>
          </a:p>
          <a:p>
            <a:r>
              <a:rPr lang="ru-RU" dirty="0" smtClean="0"/>
              <a:t>Создадим с этой целью список имен файлов с рисунками дома:</a:t>
            </a:r>
          </a:p>
          <a:p>
            <a:r>
              <a:rPr lang="en-US" dirty="0" err="1"/>
              <a:t>dom_file</a:t>
            </a:r>
            <a:r>
              <a:rPr lang="en-US" dirty="0"/>
              <a:t>=[</a:t>
            </a:r>
            <a:r>
              <a:rPr lang="en-US" dirty="0">
                <a:solidFill>
                  <a:srgbClr val="00B050"/>
                </a:solidFill>
              </a:rPr>
              <a:t>"dom1.jpg"</a:t>
            </a:r>
            <a:r>
              <a:rPr lang="en-US" dirty="0"/>
              <a:t>,</a:t>
            </a:r>
            <a:r>
              <a:rPr lang="en-US" dirty="0">
                <a:solidFill>
                  <a:srgbClr val="00B050"/>
                </a:solidFill>
              </a:rPr>
              <a:t>"dom2.png"</a:t>
            </a:r>
            <a:r>
              <a:rPr lang="en-US" dirty="0"/>
              <a:t>,</a:t>
            </a:r>
            <a:r>
              <a:rPr lang="en-US" dirty="0">
                <a:solidFill>
                  <a:srgbClr val="00B050"/>
                </a:solidFill>
              </a:rPr>
              <a:t>"dom3.jpg"</a:t>
            </a:r>
            <a:r>
              <a:rPr lang="en-US" dirty="0"/>
              <a:t>]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391659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Списки в </a:t>
            </a:r>
            <a:r>
              <a:rPr lang="en-US" dirty="0" err="1" smtClean="0">
                <a:solidFill>
                  <a:srgbClr val="FF0000"/>
                </a:solidFill>
              </a:rPr>
              <a:t>Pyton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Создадим список переменных для трех домов:</a:t>
            </a:r>
          </a:p>
          <a:p>
            <a:r>
              <a:rPr lang="en-US" dirty="0" err="1"/>
              <a:t>doma</a:t>
            </a:r>
            <a:r>
              <a:rPr lang="en-US" dirty="0"/>
              <a:t>=[]</a:t>
            </a:r>
          </a:p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for</a:t>
            </a:r>
            <a:r>
              <a:rPr lang="en-US" dirty="0" smtClean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dirty="0"/>
              <a:t> range(3):</a:t>
            </a:r>
          </a:p>
          <a:p>
            <a:r>
              <a:rPr lang="en-US" dirty="0"/>
              <a:t>    </a:t>
            </a:r>
            <a:r>
              <a:rPr lang="en-US" dirty="0" err="1"/>
              <a:t>dom</a:t>
            </a:r>
            <a:r>
              <a:rPr lang="en-US" dirty="0"/>
              <a:t>=</a:t>
            </a:r>
            <a:r>
              <a:rPr lang="en-US" dirty="0" err="1"/>
              <a:t>pygame.image.load</a:t>
            </a:r>
            <a:r>
              <a:rPr lang="en-US" dirty="0"/>
              <a:t>(</a:t>
            </a:r>
            <a:r>
              <a:rPr lang="en-US" dirty="0" err="1"/>
              <a:t>dom_file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</a:t>
            </a:r>
          </a:p>
          <a:p>
            <a:r>
              <a:rPr lang="en-US" dirty="0"/>
              <a:t>    </a:t>
            </a:r>
            <a:r>
              <a:rPr lang="en-US" dirty="0" err="1"/>
              <a:t>doma.append</a:t>
            </a:r>
            <a:r>
              <a:rPr lang="en-US" dirty="0"/>
              <a:t>(</a:t>
            </a:r>
            <a:r>
              <a:rPr lang="en-US" dirty="0" err="1"/>
              <a:t>dom</a:t>
            </a:r>
            <a:r>
              <a:rPr lang="en-US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515391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Списки в </a:t>
            </a:r>
            <a:r>
              <a:rPr lang="en-US" dirty="0" err="1" smtClean="0">
                <a:solidFill>
                  <a:srgbClr val="FF0000"/>
                </a:solidFill>
              </a:rPr>
              <a:t>Pyton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Так теперь будет выглядеть расстановка домов в цикле </a:t>
            </a:r>
            <a:r>
              <a:rPr lang="en-US" dirty="0" smtClean="0"/>
              <a:t>while:</a:t>
            </a:r>
          </a:p>
          <a:p>
            <a:r>
              <a:rPr lang="en-US" dirty="0"/>
              <a:t>k=0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for </a:t>
            </a:r>
            <a:r>
              <a:rPr lang="en-US" dirty="0" err="1"/>
              <a:t>i</a:t>
            </a:r>
            <a:r>
              <a:rPr lang="en-US" dirty="0"/>
              <a:t> i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n</a:t>
            </a:r>
            <a:r>
              <a:rPr lang="en-US" dirty="0"/>
              <a:t> range(0,12</a:t>
            </a:r>
            <a:r>
              <a:rPr lang="en-US" dirty="0" smtClean="0"/>
              <a:t>):</a:t>
            </a:r>
          </a:p>
          <a:p>
            <a:pPr lvl="1"/>
            <a:r>
              <a:rPr lang="en-US" sz="2400" dirty="0"/>
              <a:t> </a:t>
            </a:r>
            <a:r>
              <a:rPr lang="en-US" sz="2400" dirty="0" smtClean="0"/>
              <a:t>      </a:t>
            </a:r>
            <a:r>
              <a:rPr lang="en-US" sz="2400" dirty="0" err="1" smtClean="0"/>
              <a:t>screen.blit</a:t>
            </a:r>
            <a:r>
              <a:rPr lang="en-US" sz="2400" dirty="0" smtClean="0"/>
              <a:t>(</a:t>
            </a:r>
            <a:r>
              <a:rPr lang="en-US" sz="2400" dirty="0" err="1" smtClean="0"/>
              <a:t>doma</a:t>
            </a:r>
            <a:r>
              <a:rPr lang="en-US" sz="2400" dirty="0" smtClean="0"/>
              <a:t>[k</a:t>
            </a:r>
            <a:r>
              <a:rPr lang="en-US" sz="2400" dirty="0"/>
              <a:t>], [</a:t>
            </a:r>
            <a:r>
              <a:rPr lang="en-US" sz="2400" dirty="0" smtClean="0"/>
              <a:t>10+i*100,ydom])</a:t>
            </a:r>
            <a:endParaRPr lang="en-US" sz="2400" dirty="0"/>
          </a:p>
          <a:p>
            <a:r>
              <a:rPr lang="en-US" dirty="0"/>
              <a:t>            k=k+1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        if </a:t>
            </a:r>
            <a:r>
              <a:rPr lang="en-US" dirty="0"/>
              <a:t>k==</a:t>
            </a:r>
            <a:r>
              <a:rPr lang="en-US" dirty="0" smtClean="0"/>
              <a:t>3:k=0</a:t>
            </a:r>
          </a:p>
          <a:p>
            <a:r>
              <a:rPr lang="ru-RU" dirty="0" smtClean="0"/>
              <a:t>Выполним эту расстановку!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991905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 smtClean="0">
                <a:solidFill>
                  <a:schemeClr val="accent5">
                    <a:lumMod val="50000"/>
                  </a:schemeClr>
                </a:solidFill>
              </a:rPr>
              <a:t>Отбивалка</a:t>
            </a:r>
            <a:endParaRPr lang="ru-RU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Правила игры «</a:t>
            </a:r>
            <a:r>
              <a:rPr lang="ru-RU" dirty="0" err="1" smtClean="0"/>
              <a:t>Отбивалка</a:t>
            </a:r>
            <a:r>
              <a:rPr lang="ru-RU" dirty="0" smtClean="0"/>
              <a:t>» просты: враг пытается разрушить город, друг отбивает атаки врага.</a:t>
            </a:r>
          </a:p>
          <a:p>
            <a:r>
              <a:rPr lang="ru-RU" dirty="0" smtClean="0"/>
              <a:t>Рассмотрим пока один вопрос: что происходит, если враг прорвался.</a:t>
            </a:r>
          </a:p>
          <a:p>
            <a:r>
              <a:rPr lang="ru-RU" dirty="0" smtClean="0"/>
              <a:t>Дом, в который он попал разрушается.</a:t>
            </a:r>
          </a:p>
          <a:p>
            <a:r>
              <a:rPr lang="ru-RU" dirty="0" smtClean="0"/>
              <a:t>У друга отнимаются очки.</a:t>
            </a:r>
          </a:p>
          <a:p>
            <a:r>
              <a:rPr lang="ru-RU" dirty="0" smtClean="0"/>
              <a:t>Дом должен разрушаться один раз.</a:t>
            </a:r>
          </a:p>
          <a:p>
            <a:r>
              <a:rPr lang="ru-RU" dirty="0" smtClean="0"/>
              <a:t>Поэтому нужно понять, в какой именно дом попал враг, и цел ли этот дом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171050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 smtClean="0">
                <a:solidFill>
                  <a:schemeClr val="accent5">
                    <a:lumMod val="50000"/>
                  </a:schemeClr>
                </a:solidFill>
              </a:rPr>
              <a:t>Отбивалка</a:t>
            </a:r>
            <a:endParaRPr lang="ru-RU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 этой целью создадим список, в котором будет содержаться </a:t>
            </a:r>
            <a:r>
              <a:rPr lang="ru-RU" dirty="0" err="1" smtClean="0"/>
              <a:t>инофрмация</a:t>
            </a:r>
            <a:r>
              <a:rPr lang="ru-RU" dirty="0" smtClean="0"/>
              <a:t> о состоянии дома. Например, так:</a:t>
            </a:r>
          </a:p>
          <a:p>
            <a:r>
              <a:rPr lang="en-US" dirty="0" err="1"/>
              <a:t>dom_zel</a:t>
            </a:r>
            <a:r>
              <a:rPr lang="en-US" dirty="0" smtClean="0"/>
              <a:t>=[]</a:t>
            </a:r>
            <a:endParaRPr lang="ru-RU" dirty="0" smtClean="0"/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for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range</a:t>
            </a:r>
            <a:r>
              <a:rPr lang="en-US" dirty="0"/>
              <a:t>(0,12):</a:t>
            </a:r>
          </a:p>
          <a:p>
            <a:r>
              <a:rPr lang="en-US" dirty="0"/>
              <a:t>     </a:t>
            </a:r>
            <a:r>
              <a:rPr lang="en-US" dirty="0" err="1"/>
              <a:t>dom_zel.append</a:t>
            </a:r>
            <a:r>
              <a:rPr lang="en-US" dirty="0"/>
              <a:t>(True)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684433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 smtClean="0">
                <a:solidFill>
                  <a:schemeClr val="accent5">
                    <a:lumMod val="50000"/>
                  </a:schemeClr>
                </a:solidFill>
              </a:rPr>
              <a:t>Отбивалка</a:t>
            </a:r>
            <a:endParaRPr lang="ru-RU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Теперь выясним, в какой дом попал враг. Для этого в функцию </a:t>
            </a:r>
            <a:r>
              <a:rPr lang="en-US" dirty="0" err="1" smtClean="0"/>
              <a:t>move_vrag</a:t>
            </a:r>
            <a:r>
              <a:rPr lang="en-US" dirty="0" smtClean="0"/>
              <a:t> </a:t>
            </a:r>
            <a:r>
              <a:rPr lang="ru-RU" dirty="0" smtClean="0"/>
              <a:t>следует ввести такой код: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dirty="0"/>
              <a:t> (y&gt;=</a:t>
            </a:r>
            <a:r>
              <a:rPr lang="en-US" dirty="0" err="1" smtClean="0"/>
              <a:t>screenY-dom_height</a:t>
            </a:r>
            <a:r>
              <a:rPr lang="en-US" dirty="0" smtClean="0"/>
              <a:t>):</a:t>
            </a:r>
            <a:endParaRPr lang="en-US" dirty="0"/>
          </a:p>
          <a:p>
            <a:r>
              <a:rPr lang="en-US" dirty="0"/>
              <a:t>        k=x//</a:t>
            </a:r>
            <a:r>
              <a:rPr lang="en-US" dirty="0" smtClean="0"/>
              <a:t>100 </a:t>
            </a: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ru-RU" dirty="0" smtClean="0">
                <a:solidFill>
                  <a:srgbClr val="FF0000"/>
                </a:solidFill>
              </a:rPr>
              <a:t>У нас дома расставлены с интервалом 100 </a:t>
            </a:r>
            <a:r>
              <a:rPr lang="ru-RU" dirty="0" err="1" smtClean="0">
                <a:solidFill>
                  <a:srgbClr val="FF0000"/>
                </a:solidFill>
              </a:rPr>
              <a:t>пикс</a:t>
            </a:r>
            <a:r>
              <a:rPr lang="ru-RU" dirty="0" smtClean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        </a:t>
            </a:r>
            <a:r>
              <a:rPr lang="en-US" dirty="0" err="1"/>
              <a:t>dom_zel</a:t>
            </a:r>
            <a:r>
              <a:rPr lang="en-US" dirty="0"/>
              <a:t>[k]=</a:t>
            </a:r>
            <a:r>
              <a:rPr lang="en-US" dirty="0" smtClean="0"/>
              <a:t>False</a:t>
            </a:r>
            <a:r>
              <a:rPr lang="ru-RU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ru-RU" dirty="0" smtClean="0">
                <a:solidFill>
                  <a:srgbClr val="FF0000"/>
                </a:solidFill>
              </a:rPr>
              <a:t>Дом разрушен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6099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 smtClean="0">
                <a:solidFill>
                  <a:schemeClr val="accent5">
                    <a:lumMod val="50000"/>
                  </a:schemeClr>
                </a:solidFill>
              </a:rPr>
              <a:t>Отбивалка</a:t>
            </a:r>
            <a:endParaRPr lang="ru-RU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Для разрушения дома нужен взрыв:</a:t>
            </a:r>
          </a:p>
          <a:p>
            <a:r>
              <a:rPr lang="en-US" dirty="0" err="1" smtClean="0"/>
              <a:t>vzriv_file</a:t>
            </a:r>
            <a:r>
              <a:rPr lang="en-US" dirty="0"/>
              <a:t>=</a:t>
            </a:r>
            <a:r>
              <a:rPr lang="en-US" dirty="0">
                <a:solidFill>
                  <a:srgbClr val="00B050"/>
                </a:solidFill>
              </a:rPr>
              <a:t>"</a:t>
            </a:r>
            <a:r>
              <a:rPr lang="en-US" dirty="0" smtClean="0">
                <a:solidFill>
                  <a:srgbClr val="00B050"/>
                </a:solidFill>
              </a:rPr>
              <a:t>vzriv.jpg«</a:t>
            </a:r>
            <a:endParaRPr lang="ru-RU" dirty="0" smtClean="0">
              <a:solidFill>
                <a:srgbClr val="00B050"/>
              </a:solidFill>
            </a:endParaRPr>
          </a:p>
          <a:p>
            <a:r>
              <a:rPr lang="en-US" dirty="0" err="1"/>
              <a:t>vzriv</a:t>
            </a:r>
            <a:r>
              <a:rPr lang="en-US" dirty="0"/>
              <a:t>=</a:t>
            </a:r>
            <a:r>
              <a:rPr lang="en-US" dirty="0" err="1"/>
              <a:t>pygame.image.load</a:t>
            </a:r>
            <a:r>
              <a:rPr lang="en-US" dirty="0"/>
              <a:t>(</a:t>
            </a:r>
            <a:r>
              <a:rPr lang="en-US" dirty="0" err="1"/>
              <a:t>vzriv_file</a:t>
            </a:r>
            <a:r>
              <a:rPr lang="en-US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402687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 smtClean="0">
                <a:solidFill>
                  <a:schemeClr val="accent5">
                    <a:lumMod val="50000"/>
                  </a:schemeClr>
                </a:solidFill>
              </a:rPr>
              <a:t>Отбивалка</a:t>
            </a:r>
            <a:endParaRPr lang="ru-RU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Фрагмент кода из цикла </a:t>
            </a:r>
            <a:r>
              <a:rPr lang="en-US" dirty="0" smtClean="0"/>
              <a:t>while, </a:t>
            </a:r>
            <a:r>
              <a:rPr lang="ru-RU" dirty="0" smtClean="0"/>
              <a:t>ответственный за </a:t>
            </a:r>
            <a:r>
              <a:rPr lang="ru-RU" dirty="0" err="1" smtClean="0"/>
              <a:t>отрисовку</a:t>
            </a:r>
            <a:r>
              <a:rPr lang="ru-RU" dirty="0" smtClean="0"/>
              <a:t> дома или взрыва приобретает такой вид:</a:t>
            </a:r>
          </a:p>
          <a:p>
            <a:r>
              <a:rPr lang="en-US" dirty="0"/>
              <a:t>k=0</a:t>
            </a:r>
          </a:p>
          <a:p>
            <a:r>
              <a:rPr lang="en-US" dirty="0"/>
              <a:t>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for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range</a:t>
            </a:r>
            <a:r>
              <a:rPr lang="en-US" dirty="0"/>
              <a:t>(0,12):</a:t>
            </a:r>
          </a:p>
          <a:p>
            <a:r>
              <a:rPr lang="en-US" dirty="0"/>
              <a:t>   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if </a:t>
            </a:r>
            <a:r>
              <a:rPr lang="en-US" dirty="0" err="1"/>
              <a:t>dom_zel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]:</a:t>
            </a:r>
          </a:p>
          <a:p>
            <a:r>
              <a:rPr lang="en-US" dirty="0"/>
              <a:t>            </a:t>
            </a:r>
            <a:r>
              <a:rPr lang="en-US" dirty="0" err="1"/>
              <a:t>screen.blit</a:t>
            </a:r>
            <a:r>
              <a:rPr lang="en-US" dirty="0"/>
              <a:t>(</a:t>
            </a:r>
            <a:r>
              <a:rPr lang="en-US" dirty="0" err="1"/>
              <a:t>doma</a:t>
            </a:r>
            <a:r>
              <a:rPr lang="en-US" dirty="0"/>
              <a:t>[k], [10+i*100,730])</a:t>
            </a:r>
          </a:p>
          <a:p>
            <a:r>
              <a:rPr lang="en-US" dirty="0"/>
              <a:t>            k=k+1</a:t>
            </a:r>
          </a:p>
          <a:p>
            <a:r>
              <a:rPr lang="en-US" dirty="0"/>
              <a:t>       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if </a:t>
            </a:r>
            <a:r>
              <a:rPr lang="en-US" dirty="0"/>
              <a:t>k==3:k=0</a:t>
            </a:r>
          </a:p>
          <a:p>
            <a:r>
              <a:rPr lang="en-US" dirty="0"/>
              <a:t>    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else</a:t>
            </a:r>
            <a:r>
              <a:rPr lang="en-US" dirty="0"/>
              <a:t>: </a:t>
            </a:r>
            <a:r>
              <a:rPr lang="en-US" dirty="0" err="1"/>
              <a:t>screen.blit</a:t>
            </a:r>
            <a:r>
              <a:rPr lang="en-US" dirty="0"/>
              <a:t>(</a:t>
            </a:r>
            <a:r>
              <a:rPr lang="en-US" dirty="0" err="1"/>
              <a:t>vzriv</a:t>
            </a:r>
            <a:r>
              <a:rPr lang="en-US" dirty="0"/>
              <a:t>, [10+i*100,730]) 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024195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Стрельба в компьютерной игре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Во многих динамических играх используется стрельба. </a:t>
            </a:r>
            <a:endParaRPr lang="ru-RU" dirty="0" smtClean="0"/>
          </a:p>
          <a:p>
            <a:r>
              <a:rPr lang="ru-RU" dirty="0" smtClean="0"/>
              <a:t>Пуля</a:t>
            </a:r>
            <a:r>
              <a:rPr lang="ru-RU" dirty="0"/>
              <a:t>, выпущенная игроком, должна поразить «противника». Обычно выстрел производится при нажатии клавиши «пробел». </a:t>
            </a:r>
            <a:endParaRPr lang="ru-RU" dirty="0" smtClean="0"/>
          </a:p>
          <a:p>
            <a:r>
              <a:rPr lang="ru-RU" dirty="0" smtClean="0"/>
              <a:t>Далее</a:t>
            </a:r>
            <a:r>
              <a:rPr lang="ru-RU" dirty="0"/>
              <a:t>: при нажатии этой клавиши изображение пули должно появиться вблизи орудия. </a:t>
            </a:r>
            <a:endParaRPr lang="ru-RU" dirty="0" smtClean="0"/>
          </a:p>
          <a:p>
            <a:r>
              <a:rPr lang="ru-RU" dirty="0" smtClean="0"/>
              <a:t>Само </a:t>
            </a:r>
            <a:r>
              <a:rPr lang="ru-RU" dirty="0"/>
              <a:t>движение пули – это неуправляемое движение, которое начинается в момент, когда мы нажали пробел.</a:t>
            </a:r>
          </a:p>
        </p:txBody>
      </p:sp>
    </p:spTree>
    <p:extLst>
      <p:ext uri="{BB962C8B-B14F-4D97-AF65-F5344CB8AC3E}">
        <p14:creationId xmlns="" xmlns:p14="http://schemas.microsoft.com/office/powerpoint/2010/main" val="2276957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Стрельба в компьютерной игре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Поэтому нужно каким-то образом отметить, что выстрел произведен, и пуля может лететь. С этой целью уместно использовать переменную типа </a:t>
            </a:r>
            <a:r>
              <a:rPr lang="en-US" i="1" dirty="0"/>
              <a:t>Boolean </a:t>
            </a:r>
            <a:r>
              <a:rPr lang="ru-RU" dirty="0"/>
              <a:t>с именем, например, </a:t>
            </a:r>
            <a:r>
              <a:rPr lang="en-US" i="1" dirty="0" err="1"/>
              <a:t>vistrel</a:t>
            </a:r>
            <a:r>
              <a:rPr lang="ru-RU" i="1" dirty="0"/>
              <a:t>. </a:t>
            </a:r>
            <a:endParaRPr lang="ru-RU" dirty="0"/>
          </a:p>
          <a:p>
            <a:r>
              <a:rPr lang="ru-RU" dirty="0"/>
              <a:t> </a:t>
            </a:r>
          </a:p>
          <a:p>
            <a:r>
              <a:rPr lang="en-US" i="1" dirty="0" err="1" smtClean="0"/>
              <a:t>Vistrel</a:t>
            </a:r>
            <a:r>
              <a:rPr lang="ru-RU" i="1" dirty="0" smtClean="0"/>
              <a:t>=</a:t>
            </a:r>
            <a:r>
              <a:rPr lang="en-US" i="1" dirty="0" smtClean="0">
                <a:solidFill>
                  <a:schemeClr val="accent2">
                    <a:lumMod val="75000"/>
                  </a:schemeClr>
                </a:solidFill>
              </a:rPr>
              <a:t>False</a:t>
            </a:r>
            <a:r>
              <a:rPr lang="ru-RU" i="1" dirty="0" smtClean="0"/>
              <a:t> </a:t>
            </a:r>
            <a:r>
              <a:rPr lang="en-US" i="1" dirty="0">
                <a:solidFill>
                  <a:srgbClr val="FF0000"/>
                </a:solidFill>
              </a:rPr>
              <a:t>#</a:t>
            </a:r>
            <a:r>
              <a:rPr lang="ru-RU" i="1" dirty="0" smtClean="0">
                <a:solidFill>
                  <a:srgbClr val="FF0000"/>
                </a:solidFill>
              </a:rPr>
              <a:t>Выстрел </a:t>
            </a:r>
            <a:r>
              <a:rPr lang="ru-RU" i="1" dirty="0">
                <a:solidFill>
                  <a:srgbClr val="FF0000"/>
                </a:solidFill>
              </a:rPr>
              <a:t>не </a:t>
            </a:r>
            <a:r>
              <a:rPr lang="ru-RU" i="1" dirty="0" smtClean="0">
                <a:solidFill>
                  <a:srgbClr val="FF0000"/>
                </a:solidFill>
              </a:rPr>
              <a:t>произведен</a:t>
            </a:r>
          </a:p>
          <a:p>
            <a:r>
              <a:rPr lang="en-US" i="1" dirty="0" err="1" smtClean="0"/>
              <a:t>Vz</a:t>
            </a:r>
            <a:r>
              <a:rPr lang="en-US" i="1" dirty="0" smtClean="0"/>
              <a:t>=</a:t>
            </a:r>
            <a:r>
              <a:rPr lang="en-US" i="1" dirty="0" smtClean="0">
                <a:solidFill>
                  <a:schemeClr val="accent2">
                    <a:lumMod val="75000"/>
                  </a:schemeClr>
                </a:solidFill>
              </a:rPr>
              <a:t>False </a:t>
            </a:r>
            <a:r>
              <a:rPr lang="en-US" i="1" dirty="0" smtClean="0">
                <a:solidFill>
                  <a:srgbClr val="FF0000"/>
                </a:solidFill>
              </a:rPr>
              <a:t># </a:t>
            </a:r>
            <a:r>
              <a:rPr lang="ru-RU" i="1" dirty="0" smtClean="0">
                <a:solidFill>
                  <a:srgbClr val="FF0000"/>
                </a:solidFill>
              </a:rPr>
              <a:t>Взрыв не произошел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60624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Стрельба в компьютерной игре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Реакцию на нажатие пробела уместно включить в процедуру </a:t>
            </a:r>
            <a:r>
              <a:rPr lang="en-US" dirty="0" err="1"/>
              <a:t>move_racet</a:t>
            </a:r>
            <a:r>
              <a:rPr lang="en-US" dirty="0"/>
              <a:t>(step)</a:t>
            </a:r>
            <a:r>
              <a:rPr lang="ru-RU" dirty="0" smtClean="0"/>
              <a:t>. </a:t>
            </a:r>
            <a:endParaRPr lang="en-US" dirty="0" smtClean="0"/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def</a:t>
            </a:r>
            <a:r>
              <a:rPr lang="en-US" dirty="0"/>
              <a:t> </a:t>
            </a:r>
            <a:r>
              <a:rPr lang="en-US" dirty="0" err="1" smtClean="0">
                <a:solidFill>
                  <a:srgbClr val="0070C0"/>
                </a:solidFill>
              </a:rPr>
              <a:t>move_drug</a:t>
            </a:r>
            <a:r>
              <a:rPr lang="en-US" dirty="0" smtClean="0"/>
              <a:t>(step</a:t>
            </a:r>
            <a:r>
              <a:rPr lang="en-US" dirty="0"/>
              <a:t>):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global </a:t>
            </a:r>
            <a:r>
              <a:rPr lang="en-US" dirty="0" err="1"/>
              <a:t>xr,xv,yv,vistrel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dirty="0"/>
              <a:t> </a:t>
            </a:r>
            <a:r>
              <a:rPr lang="en-US" dirty="0" err="1"/>
              <a:t>event.key</a:t>
            </a:r>
            <a:r>
              <a:rPr lang="en-US" dirty="0"/>
              <a:t> == </a:t>
            </a:r>
            <a:r>
              <a:rPr lang="en-US" dirty="0" err="1"/>
              <a:t>pygame.K_LEFT</a:t>
            </a:r>
            <a:r>
              <a:rPr lang="en-US" dirty="0"/>
              <a:t>:</a:t>
            </a:r>
          </a:p>
          <a:p>
            <a:r>
              <a:rPr lang="en-US" dirty="0"/>
              <a:t>            </a:t>
            </a:r>
            <a:r>
              <a:rPr lang="en-US" dirty="0" err="1"/>
              <a:t>xr</a:t>
            </a:r>
            <a:r>
              <a:rPr lang="en-US" dirty="0"/>
              <a:t>=</a:t>
            </a:r>
            <a:r>
              <a:rPr lang="en-US" dirty="0" err="1"/>
              <a:t>xr</a:t>
            </a:r>
            <a:r>
              <a:rPr lang="en-US" dirty="0"/>
              <a:t>-step</a:t>
            </a:r>
          </a:p>
          <a:p>
            <a:r>
              <a:rPr lang="en-US" dirty="0"/>
              <a:t>   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elif</a:t>
            </a:r>
            <a:r>
              <a:rPr lang="en-US" dirty="0"/>
              <a:t> </a:t>
            </a:r>
            <a:r>
              <a:rPr lang="en-US" dirty="0" err="1"/>
              <a:t>event.key</a:t>
            </a:r>
            <a:r>
              <a:rPr lang="en-US" dirty="0"/>
              <a:t> == </a:t>
            </a:r>
            <a:r>
              <a:rPr lang="en-US" dirty="0" err="1"/>
              <a:t>pygame.K_RIGHT</a:t>
            </a:r>
            <a:r>
              <a:rPr lang="en-US" dirty="0"/>
              <a:t>:</a:t>
            </a:r>
          </a:p>
          <a:p>
            <a:r>
              <a:rPr lang="en-US" dirty="0"/>
              <a:t>            </a:t>
            </a:r>
            <a:r>
              <a:rPr lang="en-US" dirty="0" err="1"/>
              <a:t>xr</a:t>
            </a:r>
            <a:r>
              <a:rPr lang="en-US" dirty="0"/>
              <a:t>=</a:t>
            </a:r>
            <a:r>
              <a:rPr lang="en-US" dirty="0" err="1"/>
              <a:t>xr+step</a:t>
            </a:r>
            <a:endParaRPr lang="en-US" dirty="0"/>
          </a:p>
          <a:p>
            <a:r>
              <a:rPr lang="en-US" dirty="0"/>
              <a:t>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elif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/>
              <a:t>event.key</a:t>
            </a:r>
            <a:r>
              <a:rPr lang="en-US" dirty="0"/>
              <a:t>==</a:t>
            </a:r>
            <a:r>
              <a:rPr lang="en-US" dirty="0" err="1"/>
              <a:t>pygame.K_SPACE</a:t>
            </a:r>
            <a:r>
              <a:rPr lang="en-US" dirty="0"/>
              <a:t>:</a:t>
            </a:r>
          </a:p>
          <a:p>
            <a:r>
              <a:rPr lang="en-US" dirty="0"/>
              <a:t>        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dirty="0"/>
              <a:t> (</a:t>
            </a:r>
            <a:r>
              <a:rPr lang="en-US" dirty="0" err="1"/>
              <a:t>vistrel</a:t>
            </a:r>
            <a:r>
              <a:rPr lang="en-US" dirty="0"/>
              <a:t>==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  <a:r>
              <a:rPr lang="en-US" dirty="0"/>
              <a:t>):</a:t>
            </a:r>
          </a:p>
          <a:p>
            <a:r>
              <a:rPr lang="en-US" dirty="0"/>
              <a:t>                </a:t>
            </a:r>
            <a:r>
              <a:rPr lang="en-US" dirty="0" err="1"/>
              <a:t>vistrel</a:t>
            </a:r>
            <a:r>
              <a:rPr lang="en-US" dirty="0"/>
              <a:t>=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True</a:t>
            </a:r>
          </a:p>
          <a:p>
            <a:r>
              <a:rPr lang="en-US" dirty="0"/>
              <a:t>                xv=xr+80</a:t>
            </a:r>
          </a:p>
          <a:p>
            <a:r>
              <a:rPr lang="en-US" dirty="0"/>
              <a:t>                </a:t>
            </a:r>
            <a:r>
              <a:rPr lang="en-US" dirty="0" err="1"/>
              <a:t>yv</a:t>
            </a:r>
            <a:r>
              <a:rPr lang="en-US" dirty="0"/>
              <a:t>=yr-20</a:t>
            </a:r>
          </a:p>
          <a:p>
            <a:r>
              <a:rPr lang="en-US" dirty="0"/>
              <a:t>                </a:t>
            </a:r>
            <a:r>
              <a:rPr lang="en-US" dirty="0" err="1"/>
              <a:t>screen.blit</a:t>
            </a:r>
            <a:r>
              <a:rPr lang="en-US" dirty="0"/>
              <a:t>(</a:t>
            </a:r>
            <a:r>
              <a:rPr lang="en-US" dirty="0" err="1"/>
              <a:t>racet</a:t>
            </a:r>
            <a:r>
              <a:rPr lang="en-US" dirty="0"/>
              <a:t>, [</a:t>
            </a:r>
            <a:r>
              <a:rPr lang="en-US" dirty="0" err="1"/>
              <a:t>xv,yv</a:t>
            </a:r>
            <a:r>
              <a:rPr lang="en-US" dirty="0"/>
              <a:t>])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653656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Стрельба в компьютерной игре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Процедура, реализующая полет пули достаточно проста:</a:t>
            </a:r>
          </a:p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def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polet</a:t>
            </a:r>
            <a:r>
              <a:rPr lang="en-US" dirty="0"/>
              <a:t>():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global</a:t>
            </a:r>
            <a:r>
              <a:rPr lang="en-US" dirty="0"/>
              <a:t> </a:t>
            </a:r>
            <a:r>
              <a:rPr lang="en-US" dirty="0" err="1"/>
              <a:t>x,y,xv,yv,vistrel,vz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yv</a:t>
            </a:r>
            <a:r>
              <a:rPr lang="en-US" dirty="0"/>
              <a:t>=yv-5</a:t>
            </a:r>
          </a:p>
          <a:p>
            <a:r>
              <a:rPr lang="en-US" dirty="0"/>
              <a:t>    </a:t>
            </a:r>
            <a:r>
              <a:rPr lang="en-US" dirty="0" err="1"/>
              <a:t>screen.blit</a:t>
            </a:r>
            <a:r>
              <a:rPr lang="en-US" dirty="0"/>
              <a:t>(</a:t>
            </a:r>
            <a:r>
              <a:rPr lang="en-US" dirty="0" err="1"/>
              <a:t>racet</a:t>
            </a:r>
            <a:r>
              <a:rPr lang="en-US" dirty="0"/>
              <a:t>, [</a:t>
            </a:r>
            <a:r>
              <a:rPr lang="en-US" dirty="0" err="1"/>
              <a:t>xv,yv</a:t>
            </a:r>
            <a:r>
              <a:rPr lang="en-US" dirty="0"/>
              <a:t>])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dirty="0"/>
              <a:t> </a:t>
            </a:r>
            <a:r>
              <a:rPr lang="en-US" dirty="0" err="1"/>
              <a:t>yv</a:t>
            </a:r>
            <a:r>
              <a:rPr lang="en-US" dirty="0"/>
              <a:t> &lt;=50: </a:t>
            </a:r>
            <a:r>
              <a:rPr lang="en-US" dirty="0" err="1"/>
              <a:t>vistrel</a:t>
            </a:r>
            <a:r>
              <a:rPr lang="en-US" dirty="0"/>
              <a:t>=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</a:p>
          <a:p>
            <a:r>
              <a:rPr lang="en-US" dirty="0"/>
              <a:t>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if </a:t>
            </a:r>
            <a:r>
              <a:rPr lang="en-US" dirty="0"/>
              <a:t>(xv&gt;=x)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and</a:t>
            </a:r>
            <a:r>
              <a:rPr lang="en-US" dirty="0"/>
              <a:t> (xv&lt;=x+50)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and</a:t>
            </a:r>
            <a:r>
              <a:rPr lang="en-US" dirty="0"/>
              <a:t> (</a:t>
            </a:r>
            <a:r>
              <a:rPr lang="en-US" dirty="0" err="1"/>
              <a:t>yv</a:t>
            </a:r>
            <a:r>
              <a:rPr lang="en-US" dirty="0"/>
              <a:t>&lt;=y+20):</a:t>
            </a:r>
          </a:p>
          <a:p>
            <a:r>
              <a:rPr lang="en-US" dirty="0"/>
              <a:t>        </a:t>
            </a:r>
            <a:r>
              <a:rPr lang="en-US" dirty="0" err="1"/>
              <a:t>vistrel</a:t>
            </a:r>
            <a:r>
              <a:rPr lang="en-US" dirty="0"/>
              <a:t>=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</a:p>
          <a:p>
            <a:r>
              <a:rPr lang="en-US" dirty="0"/>
              <a:t>        </a:t>
            </a:r>
            <a:r>
              <a:rPr lang="en-US" dirty="0" err="1" smtClean="0"/>
              <a:t>vz</a:t>
            </a:r>
            <a:r>
              <a:rPr lang="en-US" dirty="0" smtClean="0"/>
              <a:t>=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True</a:t>
            </a:r>
            <a:r>
              <a:rPr lang="en-US" dirty="0" smtClean="0"/>
              <a:t> #</a:t>
            </a:r>
            <a:r>
              <a:rPr lang="ru-RU" dirty="0" smtClean="0"/>
              <a:t>Эта переменная отвечает за взрыв при попадании во врага</a:t>
            </a:r>
            <a:endParaRPr lang="en-US" dirty="0"/>
          </a:p>
          <a:p>
            <a:r>
              <a:rPr lang="en-US" dirty="0"/>
              <a:t>        y=50</a:t>
            </a:r>
          </a:p>
          <a:p>
            <a:r>
              <a:rPr lang="en-US" dirty="0"/>
              <a:t>        x=</a:t>
            </a:r>
            <a:r>
              <a:rPr lang="en-US" dirty="0" err="1"/>
              <a:t>random.randint</a:t>
            </a:r>
            <a:r>
              <a:rPr lang="en-US" dirty="0"/>
              <a:t>(10, 1100)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444930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Стрельба в компьютерной игре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 smtClean="0"/>
              <a:t>В </a:t>
            </a:r>
            <a:r>
              <a:rPr lang="ru-RU" dirty="0" err="1" smtClean="0"/>
              <a:t>оснвном</a:t>
            </a:r>
            <a:r>
              <a:rPr lang="ru-RU" dirty="0" smtClean="0"/>
              <a:t> цикле </a:t>
            </a:r>
            <a:r>
              <a:rPr lang="en-US" dirty="0" smtClean="0"/>
              <a:t>while </a:t>
            </a:r>
            <a:r>
              <a:rPr lang="ru-RU" dirty="0" smtClean="0"/>
              <a:t>теперь появится такой код: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dirty="0"/>
              <a:t> </a:t>
            </a:r>
            <a:r>
              <a:rPr lang="en-US" dirty="0" err="1"/>
              <a:t>vistrel</a:t>
            </a:r>
            <a:r>
              <a:rPr lang="en-US" dirty="0"/>
              <a:t>: </a:t>
            </a:r>
            <a:r>
              <a:rPr lang="en-US" dirty="0" err="1"/>
              <a:t>polet</a:t>
            </a:r>
            <a:r>
              <a:rPr lang="en-US" dirty="0" smtClean="0"/>
              <a:t>()</a:t>
            </a:r>
          </a:p>
          <a:p>
            <a:r>
              <a:rPr lang="ru-RU" dirty="0" smtClean="0"/>
              <a:t>И, наконец, реализация взрыва: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while </a:t>
            </a:r>
            <a:r>
              <a:rPr lang="en-US" dirty="0"/>
              <a:t>running:</a:t>
            </a:r>
          </a:p>
          <a:p>
            <a:r>
              <a:rPr lang="en-US" dirty="0"/>
              <a:t>    </a:t>
            </a:r>
            <a:r>
              <a:rPr lang="en-US" dirty="0" err="1"/>
              <a:t>screen.fill</a:t>
            </a:r>
            <a:r>
              <a:rPr lang="en-US" dirty="0"/>
              <a:t>(THECOLORS[</a:t>
            </a:r>
            <a:r>
              <a:rPr lang="en-US" dirty="0">
                <a:solidFill>
                  <a:srgbClr val="00B050"/>
                </a:solidFill>
              </a:rPr>
              <a:t>'white'</a:t>
            </a:r>
            <a:r>
              <a:rPr lang="en-US" dirty="0"/>
              <a:t>])</a:t>
            </a:r>
          </a:p>
          <a:p>
            <a:r>
              <a:rPr lang="en-US" dirty="0"/>
              <a:t>    </a:t>
            </a:r>
            <a:r>
              <a:rPr lang="en-US" dirty="0" err="1"/>
              <a:t>screen.blit</a:t>
            </a:r>
            <a:r>
              <a:rPr lang="en-US" dirty="0"/>
              <a:t>(text, [250, 50] )</a:t>
            </a:r>
          </a:p>
          <a:p>
            <a:r>
              <a:rPr lang="en-US" dirty="0"/>
              <a:t>    </a:t>
            </a:r>
            <a:r>
              <a:rPr lang="en-US" dirty="0" err="1"/>
              <a:t>screen.blit</a:t>
            </a:r>
            <a:r>
              <a:rPr lang="en-US" dirty="0"/>
              <a:t>(drug, [</a:t>
            </a:r>
            <a:r>
              <a:rPr lang="en-US" dirty="0" err="1"/>
              <a:t>xr,yr</a:t>
            </a:r>
            <a:r>
              <a:rPr lang="en-US" dirty="0"/>
              <a:t>])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dirty="0"/>
              <a:t> </a:t>
            </a:r>
            <a:r>
              <a:rPr lang="en-US" dirty="0" err="1"/>
              <a:t>vz</a:t>
            </a:r>
            <a:r>
              <a:rPr lang="en-US" dirty="0"/>
              <a:t>:</a:t>
            </a:r>
          </a:p>
          <a:p>
            <a:r>
              <a:rPr lang="en-US" dirty="0"/>
              <a:t>        </a:t>
            </a:r>
            <a:r>
              <a:rPr lang="en-US" dirty="0" err="1"/>
              <a:t>screen.blit</a:t>
            </a:r>
            <a:r>
              <a:rPr lang="en-US" dirty="0"/>
              <a:t>(</a:t>
            </a:r>
            <a:r>
              <a:rPr lang="en-US" dirty="0" err="1"/>
              <a:t>vzriv</a:t>
            </a:r>
            <a:r>
              <a:rPr lang="en-US" dirty="0"/>
              <a:t>, [</a:t>
            </a:r>
            <a:r>
              <a:rPr lang="en-US" dirty="0" err="1"/>
              <a:t>xv,yv</a:t>
            </a:r>
            <a:r>
              <a:rPr lang="en-US" dirty="0"/>
              <a:t>])</a:t>
            </a:r>
          </a:p>
          <a:p>
            <a:r>
              <a:rPr lang="en-US" dirty="0"/>
              <a:t>        </a:t>
            </a:r>
            <a:r>
              <a:rPr lang="en-US" dirty="0" err="1"/>
              <a:t>pygame.display.flip</a:t>
            </a:r>
            <a:r>
              <a:rPr lang="en-US" dirty="0"/>
              <a:t>()        </a:t>
            </a:r>
          </a:p>
          <a:p>
            <a:r>
              <a:rPr lang="en-US" dirty="0"/>
              <a:t>        </a:t>
            </a:r>
            <a:r>
              <a:rPr lang="en-US" dirty="0" err="1"/>
              <a:t>pygame.time.delay</a:t>
            </a:r>
            <a:r>
              <a:rPr lang="en-US" dirty="0"/>
              <a:t>(1000)</a:t>
            </a:r>
          </a:p>
          <a:p>
            <a:r>
              <a:rPr lang="en-US" dirty="0"/>
              <a:t>        </a:t>
            </a:r>
            <a:r>
              <a:rPr lang="en-US" dirty="0" err="1"/>
              <a:t>vz</a:t>
            </a:r>
            <a:r>
              <a:rPr lang="en-US" dirty="0"/>
              <a:t>=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09108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Стрельба в компьютерной игре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 smtClean="0"/>
              <a:t>Процедура, реализующая полет пули достаточно проста:</a:t>
            </a:r>
          </a:p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def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0070C0"/>
                </a:solidFill>
              </a:rPr>
              <a:t>polet</a:t>
            </a:r>
            <a:r>
              <a:rPr lang="en-US" dirty="0" smtClean="0"/>
              <a:t>():</a:t>
            </a:r>
          </a:p>
          <a:p>
            <a:r>
              <a:rPr lang="en-US" dirty="0" smtClean="0"/>
              <a:t>   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global</a:t>
            </a:r>
            <a:r>
              <a:rPr lang="en-US" dirty="0" smtClean="0"/>
              <a:t> </a:t>
            </a:r>
            <a:r>
              <a:rPr lang="en-US" dirty="0" err="1" smtClean="0"/>
              <a:t>x,y,xv,yv,vistrel,vz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f</a:t>
            </a:r>
            <a:r>
              <a:rPr lang="en-US" dirty="0" smtClean="0"/>
              <a:t>or </a:t>
            </a:r>
            <a:r>
              <a:rPr lang="en-US" dirty="0" err="1" smtClean="0"/>
              <a:t>i</a:t>
            </a:r>
            <a:r>
              <a:rPr lang="en-US" dirty="0" smtClean="0"/>
              <a:t> in range(5):</a:t>
            </a:r>
            <a:endParaRPr lang="en-US" dirty="0" smtClean="0"/>
          </a:p>
          <a:p>
            <a:r>
              <a:rPr lang="en-US" dirty="0" smtClean="0"/>
              <a:t>    </a:t>
            </a:r>
            <a:r>
              <a:rPr lang="en-US" dirty="0" smtClean="0"/>
              <a:t>	</a:t>
            </a:r>
            <a:r>
              <a:rPr lang="en-US" dirty="0" err="1" smtClean="0"/>
              <a:t>yv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]=</a:t>
            </a:r>
            <a:r>
              <a:rPr lang="en-US" dirty="0" err="1" smtClean="0"/>
              <a:t>yv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]-5</a:t>
            </a:r>
            <a:endParaRPr lang="en-US" dirty="0" smtClean="0"/>
          </a:p>
          <a:p>
            <a:r>
              <a:rPr lang="en-US" dirty="0" smtClean="0"/>
              <a:t>    </a:t>
            </a:r>
            <a:r>
              <a:rPr lang="en-US" dirty="0" smtClean="0"/>
              <a:t>	</a:t>
            </a:r>
            <a:r>
              <a:rPr lang="en-US" dirty="0" err="1" smtClean="0"/>
              <a:t>screen.blit</a:t>
            </a:r>
            <a:r>
              <a:rPr lang="en-US" dirty="0" smtClean="0"/>
              <a:t>(</a:t>
            </a:r>
            <a:r>
              <a:rPr lang="en-US" dirty="0" err="1" smtClean="0"/>
              <a:t>racet</a:t>
            </a:r>
            <a:r>
              <a:rPr lang="en-US" dirty="0" smtClean="0"/>
              <a:t>, [</a:t>
            </a:r>
            <a:r>
              <a:rPr lang="en-US" dirty="0" smtClean="0"/>
              <a:t>xv[</a:t>
            </a:r>
            <a:r>
              <a:rPr lang="en-US" dirty="0" err="1" smtClean="0"/>
              <a:t>i</a:t>
            </a:r>
            <a:r>
              <a:rPr lang="en-US" dirty="0" smtClean="0"/>
              <a:t>],</a:t>
            </a:r>
            <a:r>
              <a:rPr lang="en-US" dirty="0" err="1" smtClean="0"/>
              <a:t>yv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])</a:t>
            </a:r>
            <a:endParaRPr lang="en-US" dirty="0" smtClean="0"/>
          </a:p>
          <a:p>
            <a:r>
              <a:rPr lang="en-US" dirty="0" smtClean="0"/>
              <a:t>    </a:t>
            </a:r>
            <a:r>
              <a:rPr lang="en-US" dirty="0" smtClean="0"/>
              <a:t>	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dirty="0" smtClean="0"/>
              <a:t> </a:t>
            </a:r>
            <a:r>
              <a:rPr lang="en-US" dirty="0" err="1" smtClean="0"/>
              <a:t>yv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 </a:t>
            </a:r>
            <a:r>
              <a:rPr lang="en-US" dirty="0" smtClean="0"/>
              <a:t>&lt;=50: </a:t>
            </a:r>
            <a:r>
              <a:rPr lang="en-US" dirty="0" err="1" smtClean="0"/>
              <a:t>vistrel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]=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False</a:t>
            </a:r>
            <a:endParaRPr lang="en-US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dirty="0" smtClean="0"/>
              <a:t>  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	If </a:t>
            </a:r>
            <a:r>
              <a:rPr lang="en-US" dirty="0" smtClean="0"/>
              <a:t>(</a:t>
            </a:r>
            <a:r>
              <a:rPr lang="en-US" dirty="0" smtClean="0"/>
              <a:t>xv[</a:t>
            </a:r>
            <a:r>
              <a:rPr lang="en-US" dirty="0" err="1" smtClean="0"/>
              <a:t>i</a:t>
            </a:r>
            <a:r>
              <a:rPr lang="en-US" dirty="0" smtClean="0"/>
              <a:t>]&gt;=</a:t>
            </a:r>
            <a:r>
              <a:rPr lang="en-US" dirty="0" smtClean="0"/>
              <a:t>x)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and</a:t>
            </a:r>
            <a:r>
              <a:rPr lang="en-US" dirty="0" smtClean="0"/>
              <a:t> (</a:t>
            </a:r>
            <a:r>
              <a:rPr lang="en-US" dirty="0" smtClean="0"/>
              <a:t>xv[</a:t>
            </a:r>
            <a:r>
              <a:rPr lang="en-US" dirty="0" err="1" smtClean="0"/>
              <a:t>i</a:t>
            </a:r>
            <a:r>
              <a:rPr lang="en-US" dirty="0" smtClean="0"/>
              <a:t>]&lt;=</a:t>
            </a:r>
            <a:r>
              <a:rPr lang="en-US" dirty="0" smtClean="0"/>
              <a:t>x+50)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and</a:t>
            </a:r>
            <a:r>
              <a:rPr lang="en-US" dirty="0" smtClean="0"/>
              <a:t> (</a:t>
            </a:r>
            <a:r>
              <a:rPr lang="en-US" dirty="0" err="1" smtClean="0"/>
              <a:t>yv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]&lt;=</a:t>
            </a:r>
            <a:r>
              <a:rPr lang="en-US" dirty="0" smtClean="0"/>
              <a:t>y+20):</a:t>
            </a:r>
          </a:p>
          <a:p>
            <a:r>
              <a:rPr lang="en-US" dirty="0" smtClean="0"/>
              <a:t>       </a:t>
            </a:r>
            <a:r>
              <a:rPr lang="en-US" dirty="0" smtClean="0"/>
              <a:t>		 </a:t>
            </a:r>
            <a:r>
              <a:rPr lang="en-US" dirty="0" err="1" smtClean="0"/>
              <a:t>vistrel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]=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False</a:t>
            </a:r>
            <a:endParaRPr lang="en-US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dirty="0" smtClean="0"/>
              <a:t>        </a:t>
            </a:r>
            <a:r>
              <a:rPr lang="en-US" dirty="0" smtClean="0"/>
              <a:t>		</a:t>
            </a:r>
            <a:r>
              <a:rPr lang="en-US" dirty="0" err="1" smtClean="0"/>
              <a:t>vz</a:t>
            </a:r>
            <a:r>
              <a:rPr lang="en-US" dirty="0" smtClean="0"/>
              <a:t>=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True</a:t>
            </a:r>
            <a:r>
              <a:rPr lang="en-US" dirty="0" smtClean="0"/>
              <a:t> </a:t>
            </a:r>
            <a:r>
              <a:rPr lang="en-US" dirty="0" smtClean="0"/>
              <a:t>#</a:t>
            </a:r>
            <a:r>
              <a:rPr lang="ru-RU" dirty="0" smtClean="0"/>
              <a:t>Эта переменная отвечает за взрыв при попадании во врага</a:t>
            </a:r>
            <a:endParaRPr lang="en-US" dirty="0" smtClean="0"/>
          </a:p>
          <a:p>
            <a:r>
              <a:rPr lang="en-US" dirty="0" smtClean="0"/>
              <a:t>        </a:t>
            </a:r>
            <a:r>
              <a:rPr lang="en-US" dirty="0" smtClean="0"/>
              <a:t>		y=50</a:t>
            </a:r>
            <a:endParaRPr lang="en-US" dirty="0" smtClean="0"/>
          </a:p>
          <a:p>
            <a:r>
              <a:rPr lang="en-US" dirty="0" smtClean="0"/>
              <a:t>        </a:t>
            </a:r>
            <a:r>
              <a:rPr lang="en-US" dirty="0" smtClean="0"/>
              <a:t>		x=</a:t>
            </a:r>
            <a:r>
              <a:rPr lang="en-US" dirty="0" err="1" smtClean="0"/>
              <a:t>random.randint</a:t>
            </a:r>
            <a:r>
              <a:rPr lang="en-US" dirty="0" smtClean="0"/>
              <a:t>(10</a:t>
            </a:r>
            <a:r>
              <a:rPr lang="en-US" dirty="0" smtClean="0"/>
              <a:t>, 1100)</a:t>
            </a:r>
            <a:endParaRPr lang="ru-RU" dirty="0" smtClean="0"/>
          </a:p>
          <a:p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09108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1467</Words>
  <Application>Microsoft Office PowerPoint</Application>
  <PresentationFormat>Произвольный</PresentationFormat>
  <Paragraphs>286</Paragraphs>
  <Slides>38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39" baseType="lpstr">
      <vt:lpstr>Тема Office</vt:lpstr>
      <vt:lpstr>Движение сложных рисунков</vt:lpstr>
      <vt:lpstr>Загрузка рисунков</vt:lpstr>
      <vt:lpstr>Загрузка рисунков</vt:lpstr>
      <vt:lpstr>Загрузка рисунков</vt:lpstr>
      <vt:lpstr>Загрузка рисунков</vt:lpstr>
      <vt:lpstr>Загрузка рисунков</vt:lpstr>
      <vt:lpstr>Загрузка рисунков</vt:lpstr>
      <vt:lpstr>Загрузка рисунков</vt:lpstr>
      <vt:lpstr>Загрузка рисунков</vt:lpstr>
      <vt:lpstr>Загрузка рисунков</vt:lpstr>
      <vt:lpstr>Загрузка рисунков</vt:lpstr>
      <vt:lpstr>Загрузка рисунков</vt:lpstr>
      <vt:lpstr>Списки в Pyton</vt:lpstr>
      <vt:lpstr>Списки в Pyton</vt:lpstr>
      <vt:lpstr>Списки в Pyton</vt:lpstr>
      <vt:lpstr>Списки в Pyton</vt:lpstr>
      <vt:lpstr>Списки в Pyton</vt:lpstr>
      <vt:lpstr>Списки в Pyton</vt:lpstr>
      <vt:lpstr>Списки в Pyton</vt:lpstr>
      <vt:lpstr>Списки в Pyton</vt:lpstr>
      <vt:lpstr>Списки в Pyton</vt:lpstr>
      <vt:lpstr>Списки в Pyton</vt:lpstr>
      <vt:lpstr>Списки в Pyton</vt:lpstr>
      <vt:lpstr>Списки в Pyton</vt:lpstr>
      <vt:lpstr>Списки в Pyton</vt:lpstr>
      <vt:lpstr>Списки в Pyton</vt:lpstr>
      <vt:lpstr>Списки в Pyton</vt:lpstr>
      <vt:lpstr>Отбивалка</vt:lpstr>
      <vt:lpstr>Отбивалка</vt:lpstr>
      <vt:lpstr>Отбивалка</vt:lpstr>
      <vt:lpstr>Отбивалка</vt:lpstr>
      <vt:lpstr>Отбивалка</vt:lpstr>
      <vt:lpstr>Стрельба в компьютерной игре</vt:lpstr>
      <vt:lpstr>Стрельба в компьютерной игре</vt:lpstr>
      <vt:lpstr>Стрельба в компьютерной игре</vt:lpstr>
      <vt:lpstr>Стрельба в компьютерной игре</vt:lpstr>
      <vt:lpstr>Стрельба в компьютерной игре</vt:lpstr>
      <vt:lpstr>Стрельба в компьютерной игре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Движение сложных рисунков</dc:title>
  <dc:creator>Leonid</dc:creator>
  <cp:lastModifiedBy>popov_lkx</cp:lastModifiedBy>
  <cp:revision>42</cp:revision>
  <dcterms:created xsi:type="dcterms:W3CDTF">2019-09-28T12:30:25Z</dcterms:created>
  <dcterms:modified xsi:type="dcterms:W3CDTF">2019-10-23T04:53:26Z</dcterms:modified>
</cp:coreProperties>
</file>