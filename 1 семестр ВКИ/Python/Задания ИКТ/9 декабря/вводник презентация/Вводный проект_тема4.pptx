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79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02" r:id="rId6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-126" y="-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2955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88352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43667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5229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7692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79951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56843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67469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73429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942709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29388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59BE9-1E00-4A4B-A700-9B8C20CC68CE}" type="datetimeFigureOut">
              <a:rPr lang="ru-RU" smtClean="0"/>
              <a:pPr/>
              <a:t>25.09.2019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F73BB-E06B-454E-907B-B504648652E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167347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FF0000"/>
                </a:solidFill>
              </a:rPr>
              <a:t>Движение объектов по экрану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solidFill>
                  <a:schemeClr val="accent2">
                    <a:lumMod val="75000"/>
                  </a:schemeClr>
                </a:solidFill>
              </a:rPr>
              <a:t>Управляемое и неуправляемое движения</a:t>
            </a:r>
            <a:endParaRPr lang="ru-RU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3292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Управляемое </a:t>
            </a:r>
            <a:r>
              <a:rPr lang="ru-RU" dirty="0" smtClean="0">
                <a:solidFill>
                  <a:schemeClr val="accent2">
                    <a:lumMod val="75000"/>
                  </a:schemeClr>
                </a:solidFill>
              </a:rPr>
              <a:t>движения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/>
            </a:r>
            <a:br>
              <a:rPr lang="ru-RU" dirty="0">
                <a:solidFill>
                  <a:schemeClr val="accent2">
                    <a:lumMod val="75000"/>
                  </a:schemeClr>
                </a:solidFill>
              </a:rPr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Неуправляемое движение («шарик» по экрану) мы реализовали в последней задаче предыдущего занятия. Напомним ее код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3239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Неуправляемое 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#Неуправляемое движение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pygame.color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THECOLORS</a:t>
            </a:r>
          </a:p>
          <a:p>
            <a:pPr marL="0" indent="0">
              <a:buNone/>
            </a:pPr>
            <a:r>
              <a:rPr lang="en-US" sz="2400" dirty="0" err="1"/>
              <a:t>screenX</a:t>
            </a:r>
            <a:r>
              <a:rPr lang="en-US" sz="2400" dirty="0"/>
              <a:t>=900</a:t>
            </a:r>
          </a:p>
          <a:p>
            <a:pPr marL="0" indent="0">
              <a:buNone/>
            </a:pPr>
            <a:r>
              <a:rPr lang="en-US" sz="2400" dirty="0" err="1"/>
              <a:t>screenY</a:t>
            </a:r>
            <a:r>
              <a:rPr lang="en-US" sz="2400" dirty="0"/>
              <a:t>=600</a:t>
            </a:r>
          </a:p>
          <a:p>
            <a:pPr marL="0" indent="0">
              <a:buNone/>
            </a:pPr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</a:t>
            </a:r>
            <a:r>
              <a:rPr lang="en-US" sz="2400" dirty="0" err="1"/>
              <a:t>screenX,screenY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x=640</a:t>
            </a:r>
          </a:p>
          <a:p>
            <a:pPr marL="0" indent="0">
              <a:buNone/>
            </a:pPr>
            <a:r>
              <a:rPr lang="en-US" sz="2400" dirty="0"/>
              <a:t>y=480</a:t>
            </a:r>
          </a:p>
          <a:p>
            <a:pPr marL="0" indent="0">
              <a:buNone/>
            </a:pPr>
            <a:r>
              <a:rPr lang="en-US" sz="2400" dirty="0"/>
              <a:t>dx=2</a:t>
            </a:r>
          </a:p>
          <a:p>
            <a:pPr marL="0" indent="0">
              <a:buNone/>
            </a:pPr>
            <a:r>
              <a:rPr lang="en-US" sz="2400" dirty="0" err="1"/>
              <a:t>dy</a:t>
            </a:r>
            <a:r>
              <a:rPr lang="en-US" sz="2400" dirty="0"/>
              <a:t>=2</a:t>
            </a:r>
          </a:p>
          <a:p>
            <a:pPr marL="0" indent="0">
              <a:buNone/>
            </a:pPr>
            <a:r>
              <a:rPr lang="en-US" sz="2400" dirty="0"/>
              <a:t>r=20</a:t>
            </a:r>
          </a:p>
          <a:p>
            <a:pPr marL="0" indent="0">
              <a:buNone/>
            </a:pP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r, 0)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207131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Неуправляемое 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screen.fill</a:t>
            </a:r>
            <a:r>
              <a:rPr lang="en-US" sz="2400" dirty="0"/>
              <a:t>(THECOLORS[</a:t>
            </a:r>
            <a:r>
              <a:rPr lang="en-US" sz="2400" dirty="0">
                <a:solidFill>
                  <a:srgbClr val="00B050"/>
                </a:solidFill>
              </a:rPr>
              <a:t>'white'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x=</a:t>
            </a:r>
            <a:r>
              <a:rPr lang="en-US" sz="2400" dirty="0" err="1"/>
              <a:t>x+dx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y=</a:t>
            </a:r>
            <a:r>
              <a:rPr lang="en-US" sz="2400" dirty="0" err="1"/>
              <a:t>y+dy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r, 0)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/>
              <a:t>(x&lt;=r) or (x&gt;=</a:t>
            </a:r>
            <a:r>
              <a:rPr lang="en-US" sz="2400" dirty="0" err="1"/>
              <a:t>screenX</a:t>
            </a:r>
            <a:r>
              <a:rPr lang="en-US" sz="2400" dirty="0"/>
              <a:t>-r):</a:t>
            </a:r>
          </a:p>
          <a:p>
            <a:pPr marL="0" indent="0">
              <a:buNone/>
            </a:pPr>
            <a:r>
              <a:rPr lang="en-US" sz="2400" dirty="0"/>
              <a:t>        dx=-dx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/>
              <a:t>(y&lt;=r) or (y&gt;=</a:t>
            </a:r>
            <a:r>
              <a:rPr lang="en-US" sz="2400" dirty="0" err="1"/>
              <a:t>screenY</a:t>
            </a:r>
            <a:r>
              <a:rPr lang="en-US" sz="2400" dirty="0"/>
              <a:t>-r):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dy</a:t>
            </a:r>
            <a:r>
              <a:rPr lang="en-US" sz="2400" dirty="0"/>
              <a:t>=-</a:t>
            </a:r>
            <a:r>
              <a:rPr lang="en-US" sz="2400" dirty="0" err="1"/>
              <a:t>dy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pygame.time.delay</a:t>
            </a:r>
            <a:r>
              <a:rPr lang="en-US" sz="2400" dirty="0"/>
              <a:t>(10)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37678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Неуправляемое 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sz="2400" dirty="0"/>
              <a:t>event in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485358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Теперь рассмотрим управляемое движение. </a:t>
            </a:r>
            <a:endParaRPr lang="ru-RU" sz="2400" dirty="0" smtClean="0"/>
          </a:p>
          <a:p>
            <a:r>
              <a:rPr lang="ru-RU" sz="2400" dirty="0" smtClean="0"/>
              <a:t>Управлять </a:t>
            </a:r>
            <a:r>
              <a:rPr lang="ru-RU" sz="2400" dirty="0"/>
              <a:t>объектами мы будем с помощью клавиатуры. </a:t>
            </a:r>
            <a:endParaRPr lang="ru-RU" sz="2400" dirty="0" smtClean="0"/>
          </a:p>
          <a:p>
            <a:r>
              <a:rPr lang="ru-RU" sz="2400" dirty="0" smtClean="0"/>
              <a:t>Алгоритм </a:t>
            </a:r>
            <a:r>
              <a:rPr lang="ru-RU" sz="2400" dirty="0"/>
              <a:t>такого движения достаточно прост. </a:t>
            </a:r>
            <a:endParaRPr lang="ru-RU" sz="2400" dirty="0" smtClean="0"/>
          </a:p>
          <a:p>
            <a:r>
              <a:rPr lang="ru-RU" sz="2400" dirty="0" smtClean="0"/>
              <a:t>Вначале</a:t>
            </a:r>
            <a:r>
              <a:rPr lang="ru-RU" sz="2400" dirty="0"/>
              <a:t>, как и для неуправляемого объекта, мы должны задать его начальные координаты и шаг, с которым он будет перемещаться</a:t>
            </a:r>
            <a:r>
              <a:rPr lang="ru-RU" sz="2400" dirty="0" smtClean="0"/>
              <a:t>.</a:t>
            </a:r>
          </a:p>
          <a:p>
            <a:pPr marL="0" indent="0">
              <a:buNone/>
            </a:pPr>
            <a:r>
              <a:rPr lang="ru-RU" sz="2400" dirty="0" smtClean="0"/>
              <a:t> </a:t>
            </a:r>
            <a:r>
              <a:rPr lang="ru-RU" sz="2400" dirty="0"/>
              <a:t>Затем мы должны изобразить его на экране в начальном положении.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Далее</a:t>
            </a:r>
            <a:r>
              <a:rPr lang="ru-RU" sz="2400" dirty="0"/>
              <a:t>: при нажатии определенной клавиши, объект должен смещаться в нужную сторону на заданный шаг.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При </a:t>
            </a:r>
            <a:r>
              <a:rPr lang="ru-RU" sz="2400" dirty="0"/>
              <a:t>этом мы должны его стереть, изменить координату и нарисовать в новом месте.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66934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Для того чтобы реализовать этот алгоритм, мы должны познакомиться с некоторыми принципами работы клавиатуры компьютера.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Каждая </a:t>
            </a:r>
            <a:r>
              <a:rPr lang="ru-RU" sz="2400" dirty="0"/>
              <a:t>клавиша компьютера имеет специальный код, который вырабатывается при ее нажатии.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В  модуле </a:t>
            </a:r>
            <a:r>
              <a:rPr lang="en-US" sz="2400" dirty="0" err="1" smtClean="0"/>
              <a:t>pygame</a:t>
            </a:r>
            <a:r>
              <a:rPr lang="en-US" sz="2400" dirty="0" smtClean="0"/>
              <a:t> </a:t>
            </a:r>
            <a:r>
              <a:rPr lang="ru-RU" sz="2400" dirty="0" smtClean="0"/>
              <a:t>эти коды представлены в виде некоторых констант.</a:t>
            </a:r>
          </a:p>
          <a:p>
            <a:pPr marL="0" indent="0">
              <a:buNone/>
            </a:pPr>
            <a:r>
              <a:rPr lang="ru-RU" sz="2400" dirty="0" smtClean="0"/>
              <a:t>На следующем слайде представлены некоторые наиболее необходимые нам константы.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94718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K_ESCAPE – </a:t>
            </a:r>
            <a:r>
              <a:rPr lang="en-US" sz="2400" dirty="0" smtClean="0"/>
              <a:t>escape</a:t>
            </a:r>
          </a:p>
          <a:p>
            <a:pPr marL="0" indent="0">
              <a:buNone/>
            </a:pPr>
            <a:r>
              <a:rPr lang="ru-RU" sz="2400" dirty="0" smtClean="0"/>
              <a:t>K_SPACE</a:t>
            </a:r>
            <a:r>
              <a:rPr lang="en-US" sz="2400" dirty="0" smtClean="0"/>
              <a:t> – </a:t>
            </a:r>
            <a:r>
              <a:rPr lang="ru-RU" sz="2400" dirty="0" smtClean="0"/>
              <a:t>пробел</a:t>
            </a:r>
            <a:endParaRPr lang="en-US" sz="2400" dirty="0" smtClean="0"/>
          </a:p>
          <a:p>
            <a:pPr marL="0" indent="0">
              <a:buNone/>
            </a:pPr>
            <a:r>
              <a:rPr lang="ru-RU" sz="2400" dirty="0" smtClean="0"/>
              <a:t>K_UP</a:t>
            </a:r>
            <a:r>
              <a:rPr lang="en-US" sz="2400" dirty="0" smtClean="0"/>
              <a:t> – </a:t>
            </a:r>
            <a:r>
              <a:rPr lang="ru-RU" sz="2400" dirty="0" smtClean="0"/>
              <a:t>стрелка «вверх»</a:t>
            </a:r>
          </a:p>
          <a:p>
            <a:pPr marL="0" indent="0">
              <a:buNone/>
            </a:pPr>
            <a:r>
              <a:rPr lang="ru-RU" sz="2400" dirty="0" smtClean="0"/>
              <a:t>K_DOWN – стрелка «вниз»</a:t>
            </a:r>
          </a:p>
          <a:p>
            <a:pPr marL="0" indent="0">
              <a:buNone/>
            </a:pPr>
            <a:r>
              <a:rPr lang="ru-RU" sz="2400" dirty="0" smtClean="0"/>
              <a:t>K_RIGHT – стрелка «направо»</a:t>
            </a:r>
          </a:p>
          <a:p>
            <a:pPr marL="0" indent="0">
              <a:buNone/>
            </a:pPr>
            <a:r>
              <a:rPr lang="ru-RU" sz="2400" dirty="0" smtClean="0"/>
              <a:t>K_LEFT- стрелка «налево»</a:t>
            </a:r>
          </a:p>
          <a:p>
            <a:pPr marL="0" indent="0">
              <a:buNone/>
            </a:pPr>
            <a:r>
              <a:rPr lang="ru-RU" sz="2400" dirty="0" smtClean="0"/>
              <a:t>K_TAB – </a:t>
            </a:r>
            <a:r>
              <a:rPr lang="en-US" sz="2400" dirty="0" smtClean="0"/>
              <a:t>Tab</a:t>
            </a:r>
          </a:p>
          <a:p>
            <a:pPr marL="0" indent="0">
              <a:buNone/>
            </a:pPr>
            <a:r>
              <a:rPr lang="ru-RU" sz="2400" dirty="0" smtClean="0"/>
              <a:t>K_1</a:t>
            </a:r>
            <a:r>
              <a:rPr lang="en-US" sz="2400" dirty="0" smtClean="0"/>
              <a:t> – </a:t>
            </a:r>
            <a:r>
              <a:rPr lang="ru-RU" sz="2400" dirty="0" smtClean="0"/>
              <a:t>цифры</a:t>
            </a:r>
          </a:p>
          <a:p>
            <a:pPr marL="0" indent="0">
              <a:buNone/>
            </a:pPr>
            <a:r>
              <a:rPr lang="ru-RU" sz="2400" dirty="0" err="1" smtClean="0"/>
              <a:t>K_a</a:t>
            </a:r>
            <a:r>
              <a:rPr lang="ru-RU" sz="2400" dirty="0" smtClean="0"/>
              <a:t> - буквы</a:t>
            </a:r>
            <a:endParaRPr lang="en-US" sz="2400" dirty="0" smtClean="0"/>
          </a:p>
          <a:p>
            <a:pPr marL="0" indent="0">
              <a:buNone/>
            </a:pPr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212944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Когда мы нажимаем на клавишу, происходит событие клавиатуры. </a:t>
            </a:r>
          </a:p>
          <a:p>
            <a:pPr marL="0" indent="0">
              <a:buNone/>
            </a:pPr>
            <a:r>
              <a:rPr lang="ru-RU" sz="2400" dirty="0" smtClean="0"/>
              <a:t>Очередь событий клавиатуры и мыши опрашивает цикл </a:t>
            </a:r>
            <a:r>
              <a:rPr lang="en-US" sz="2400" dirty="0" smtClean="0"/>
              <a:t>while. </a:t>
            </a:r>
            <a:endParaRPr lang="ru-RU" sz="2400" dirty="0" smtClean="0"/>
          </a:p>
          <a:p>
            <a:pPr marL="0" indent="0">
              <a:buNone/>
            </a:pPr>
            <a:r>
              <a:rPr lang="ru-RU" sz="2400" dirty="0" smtClean="0"/>
              <a:t>До сих пор мы знали одно событие: закрытие графического окна: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sz="2400" dirty="0"/>
              <a:t>event in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39944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Познакомимся с событиями </a:t>
            </a:r>
            <a:r>
              <a:rPr lang="ru-RU" sz="2400" dirty="0" smtClean="0"/>
              <a:t>клавиатуры.</a:t>
            </a:r>
            <a:endParaRPr lang="ru-RU" sz="2400" dirty="0"/>
          </a:p>
          <a:p>
            <a:pPr marL="0" indent="0">
              <a:buNone/>
            </a:pPr>
            <a:r>
              <a:rPr lang="ru-RU" sz="2400" dirty="0" smtClean="0"/>
              <a:t>Для нас важны два события:</a:t>
            </a:r>
          </a:p>
          <a:p>
            <a:pPr marL="0" indent="0">
              <a:buNone/>
            </a:pPr>
            <a:r>
              <a:rPr lang="ru-RU" sz="2400" dirty="0" err="1"/>
              <a:t>pygame.KEYDOWN</a:t>
            </a:r>
            <a:r>
              <a:rPr lang="ru-RU" sz="2400" dirty="0"/>
              <a:t> </a:t>
            </a:r>
            <a:r>
              <a:rPr lang="ru-RU" sz="2400" dirty="0" smtClean="0"/>
              <a:t>– событие нажатия на клавишу</a:t>
            </a:r>
          </a:p>
          <a:p>
            <a:pPr marL="0" indent="0">
              <a:buNone/>
            </a:pPr>
            <a:r>
              <a:rPr lang="ru-RU" sz="2400" dirty="0" err="1"/>
              <a:t>pygame.KEYUP</a:t>
            </a:r>
            <a:r>
              <a:rPr lang="ru-RU" sz="2400" dirty="0"/>
              <a:t> </a:t>
            </a:r>
            <a:r>
              <a:rPr lang="ru-RU" sz="2400" dirty="0" smtClean="0"/>
              <a:t> - событие отпускания клавиши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46442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Соответствующий фрагмент кода будет иметь вид: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for</a:t>
            </a:r>
            <a:r>
              <a:rPr lang="en-US" sz="2400" dirty="0"/>
              <a:t> event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sz="2400" dirty="0"/>
              <a:t>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  <a:r>
              <a:rPr lang="en-US" sz="2400" dirty="0" smtClean="0">
                <a:solidFill>
                  <a:srgbClr val="FF0000"/>
                </a:solidFill>
              </a:rPr>
              <a:t># </a:t>
            </a:r>
            <a:r>
              <a:rPr lang="ru-RU" sz="2400" dirty="0" smtClean="0">
                <a:solidFill>
                  <a:srgbClr val="FF0000"/>
                </a:solidFill>
              </a:rPr>
              <a:t>Закрытие окна 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/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pygame.KEYDOWN</a:t>
            </a:r>
            <a:r>
              <a:rPr lang="en-US" sz="2400" dirty="0" smtClean="0">
                <a:solidFill>
                  <a:srgbClr val="FF0000"/>
                </a:solidFill>
              </a:rPr>
              <a:t>:#</a:t>
            </a:r>
            <a:r>
              <a:rPr lang="ru-RU" sz="2400" dirty="0" smtClean="0">
                <a:solidFill>
                  <a:srgbClr val="FF0000"/>
                </a:solidFill>
              </a:rPr>
              <a:t>Если нажата клавиша</a:t>
            </a:r>
            <a:endParaRPr lang="ru-RU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ru-RU" sz="2400" dirty="0"/>
              <a:t>           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sz="2400" dirty="0" err="1"/>
              <a:t>event.key</a:t>
            </a:r>
            <a:r>
              <a:rPr lang="en-US" sz="2400" dirty="0"/>
              <a:t> == </a:t>
            </a:r>
            <a:r>
              <a:rPr lang="en-US" sz="2400" dirty="0" err="1"/>
              <a:t>pygame.K_UP</a:t>
            </a:r>
            <a:r>
              <a:rPr lang="en-US" sz="2400" dirty="0" smtClean="0">
                <a:solidFill>
                  <a:srgbClr val="FF0000"/>
                </a:solidFill>
              </a:rPr>
              <a:t>:# </a:t>
            </a:r>
            <a:r>
              <a:rPr lang="ru-RU" sz="2400" dirty="0" smtClean="0">
                <a:solidFill>
                  <a:srgbClr val="FF0000"/>
                </a:solidFill>
              </a:rPr>
              <a:t>И если это стрелка «вверх»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       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 smtClean="0">
                <a:solidFill>
                  <a:srgbClr val="FF0000"/>
                </a:solidFill>
              </a:rPr>
              <a:t>Что-то там программа должна сделать</a:t>
            </a:r>
            <a:endParaRPr lang="ru-R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0273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2400" dirty="0" smtClean="0"/>
              <a:t>В итоге мы получим следующий код, который и проанализируем: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#Управляемое движение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pygame.color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sz="2400" dirty="0"/>
              <a:t>THECOLORS</a:t>
            </a:r>
          </a:p>
          <a:p>
            <a:pPr marL="0" indent="0">
              <a:buNone/>
            </a:pPr>
            <a:r>
              <a:rPr lang="en-US" sz="2400" dirty="0" err="1"/>
              <a:t>screenX</a:t>
            </a:r>
            <a:r>
              <a:rPr lang="en-US" sz="2400" dirty="0"/>
              <a:t>=900</a:t>
            </a:r>
          </a:p>
          <a:p>
            <a:pPr marL="0" indent="0">
              <a:buNone/>
            </a:pPr>
            <a:r>
              <a:rPr lang="en-US" sz="2400" dirty="0" err="1"/>
              <a:t>screenY</a:t>
            </a:r>
            <a:r>
              <a:rPr lang="en-US" sz="2400" dirty="0"/>
              <a:t>=600</a:t>
            </a:r>
          </a:p>
          <a:p>
            <a:pPr marL="0" indent="0">
              <a:buNone/>
            </a:pPr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</a:t>
            </a:r>
            <a:r>
              <a:rPr lang="en-US" sz="2400" dirty="0" err="1"/>
              <a:t>screenX,screenY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 err="1"/>
              <a:t>xr</a:t>
            </a:r>
            <a:r>
              <a:rPr lang="en-US" sz="2400" dirty="0"/>
              <a:t>=400</a:t>
            </a:r>
          </a:p>
          <a:p>
            <a:pPr marL="0" indent="0">
              <a:buNone/>
            </a:pPr>
            <a:r>
              <a:rPr lang="en-US" sz="2400" dirty="0" err="1"/>
              <a:t>yr</a:t>
            </a:r>
            <a:r>
              <a:rPr lang="en-US" sz="2400" dirty="0"/>
              <a:t>=200</a:t>
            </a:r>
          </a:p>
          <a:p>
            <a:pPr marL="0" indent="0">
              <a:buNone/>
            </a:pPr>
            <a:r>
              <a:rPr lang="en-US" sz="2400" dirty="0"/>
              <a:t>width=30</a:t>
            </a:r>
          </a:p>
          <a:p>
            <a:pPr marL="0" indent="0">
              <a:buNone/>
            </a:pPr>
            <a:r>
              <a:rPr lang="en-US" sz="2400" dirty="0" err="1"/>
              <a:t>heigth</a:t>
            </a:r>
            <a:r>
              <a:rPr lang="en-US" sz="2400" dirty="0"/>
              <a:t>=150</a:t>
            </a:r>
          </a:p>
          <a:p>
            <a:pPr marL="0" indent="0">
              <a:buNone/>
            </a:pPr>
            <a:r>
              <a:rPr lang="en-US" sz="2400" dirty="0" smtClean="0"/>
              <a:t>step=10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>
                <a:solidFill>
                  <a:srgbClr val="FF0000"/>
                </a:solidFill>
              </a:rPr>
              <a:t>Шаг </a:t>
            </a:r>
            <a:r>
              <a:rPr lang="ru-RU" sz="2400" dirty="0" smtClean="0">
                <a:solidFill>
                  <a:srgbClr val="FF0000"/>
                </a:solidFill>
              </a:rPr>
              <a:t>ракетки. При каждом шаге ракетка перемещается на 10 пикселей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67384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#P</a:t>
            </a:r>
            <a:r>
              <a:rPr lang="ru-RU" sz="2400" dirty="0" err="1">
                <a:solidFill>
                  <a:srgbClr val="FF0000"/>
                </a:solidFill>
              </a:rPr>
              <a:t>акетка</a:t>
            </a:r>
            <a:r>
              <a:rPr lang="ru-RU" sz="2400" dirty="0">
                <a:solidFill>
                  <a:srgbClr val="FF0000"/>
                </a:solidFill>
              </a:rPr>
              <a:t> в начальном положении</a:t>
            </a:r>
          </a:p>
          <a:p>
            <a:pPr marL="0" indent="0">
              <a:buNone/>
            </a:pPr>
            <a:r>
              <a:rPr lang="en-US" sz="2400" dirty="0" err="1"/>
              <a:t>pygame.draw.rect</a:t>
            </a:r>
            <a:r>
              <a:rPr lang="en-US" sz="2400" dirty="0"/>
              <a:t>(</a:t>
            </a:r>
            <a:r>
              <a:rPr lang="en-US" sz="2400" dirty="0" err="1"/>
              <a:t>screen,THECOLORS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B050"/>
                </a:solidFill>
              </a:rPr>
              <a:t>'brown'</a:t>
            </a:r>
            <a:r>
              <a:rPr lang="en-US" sz="2400" dirty="0"/>
              <a:t>] , [</a:t>
            </a:r>
            <a:r>
              <a:rPr lang="en-US" sz="2400" dirty="0" err="1"/>
              <a:t>xr</a:t>
            </a:r>
            <a:r>
              <a:rPr lang="en-US" sz="2400" dirty="0"/>
              <a:t>, </a:t>
            </a:r>
            <a:r>
              <a:rPr lang="en-US" sz="2400" dirty="0" err="1"/>
              <a:t>yr</a:t>
            </a:r>
            <a:r>
              <a:rPr lang="en-US" sz="2400" dirty="0"/>
              <a:t>, width, </a:t>
            </a:r>
            <a:r>
              <a:rPr lang="en-US" sz="2400" dirty="0" err="1"/>
              <a:t>heigth</a:t>
            </a:r>
            <a:r>
              <a:rPr lang="en-US" sz="2400" dirty="0"/>
              <a:t>], 0)</a:t>
            </a:r>
          </a:p>
          <a:p>
            <a:pPr marL="0" indent="0">
              <a:buNone/>
            </a:pPr>
            <a:r>
              <a:rPr lang="en-US" sz="2400" dirty="0"/>
              <a:t>running =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sz="24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screen.fill</a:t>
            </a:r>
            <a:r>
              <a:rPr lang="en-US" sz="2400" dirty="0"/>
              <a:t>(THECOLORS['white</a:t>
            </a:r>
            <a:r>
              <a:rPr lang="en-US" sz="2400" dirty="0" smtClean="0"/>
              <a:t>'])</a:t>
            </a:r>
            <a:r>
              <a:rPr lang="en-US" sz="2400" dirty="0" smtClean="0">
                <a:solidFill>
                  <a:srgbClr val="FF0000"/>
                </a:solidFill>
              </a:rPr>
              <a:t># </a:t>
            </a:r>
            <a:r>
              <a:rPr lang="ru-RU" sz="2400" dirty="0" smtClean="0">
                <a:solidFill>
                  <a:srgbClr val="FF0000"/>
                </a:solidFill>
              </a:rPr>
              <a:t>Стираем все изображения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for </a:t>
            </a:r>
            <a:r>
              <a:rPr lang="en-US" sz="2400" dirty="0"/>
              <a:t>event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sz="2400" dirty="0"/>
              <a:t> </a:t>
            </a:r>
            <a:r>
              <a:rPr lang="en-US" sz="2400" dirty="0" err="1"/>
              <a:t>pygame.event.get</a:t>
            </a:r>
            <a:r>
              <a:rPr lang="en-US" sz="2400" dirty="0" smtClean="0"/>
              <a:t>():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 smtClean="0">
                <a:solidFill>
                  <a:srgbClr val="FF0000"/>
                </a:solidFill>
              </a:rPr>
              <a:t>Закрываем окно, если необходимо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/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2264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</a:rPr>
              <a:t>   </a:t>
            </a:r>
            <a:r>
              <a:rPr lang="en-US" sz="2400" dirty="0" err="1" smtClean="0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pygame.KEYDOWN</a:t>
            </a:r>
            <a:r>
              <a:rPr lang="en-US" sz="2400" dirty="0">
                <a:solidFill>
                  <a:srgbClr val="FF0000"/>
                </a:solidFill>
              </a:rPr>
              <a:t>:#</a:t>
            </a:r>
            <a:r>
              <a:rPr lang="ru-RU" sz="2400" dirty="0">
                <a:solidFill>
                  <a:srgbClr val="FF0000"/>
                </a:solidFill>
              </a:rPr>
              <a:t>Движение ракетки</a:t>
            </a:r>
          </a:p>
          <a:p>
            <a:pPr marL="0" indent="0">
              <a:buNone/>
            </a:pPr>
            <a:r>
              <a:rPr lang="ru-RU" sz="2400" dirty="0"/>
              <a:t>           </a:t>
            </a:r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sz="2400" dirty="0" err="1"/>
              <a:t>event.key</a:t>
            </a:r>
            <a:r>
              <a:rPr lang="en-US" sz="2400" dirty="0"/>
              <a:t> == </a:t>
            </a:r>
            <a:r>
              <a:rPr lang="en-US" sz="2400" dirty="0" err="1"/>
              <a:t>pygame.K_UP</a:t>
            </a:r>
            <a:r>
              <a:rPr lang="en-US" sz="2400" dirty="0" smtClean="0"/>
              <a:t>: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 </a:t>
            </a:r>
            <a:r>
              <a:rPr lang="ru-RU" sz="2400" dirty="0" smtClean="0">
                <a:solidFill>
                  <a:srgbClr val="FF0000"/>
                </a:solidFill>
              </a:rPr>
              <a:t>Если вверх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        </a:t>
            </a:r>
            <a:r>
              <a:rPr lang="en-US" sz="2400" dirty="0" err="1" smtClean="0"/>
              <a:t>yr</a:t>
            </a:r>
            <a:r>
              <a:rPr lang="en-US" sz="2400" dirty="0" smtClean="0"/>
              <a:t>=</a:t>
            </a:r>
            <a:r>
              <a:rPr lang="en-US" sz="2400" dirty="0" err="1" smtClean="0"/>
              <a:t>yr</a:t>
            </a:r>
            <a:r>
              <a:rPr lang="en-US" sz="2400" dirty="0" smtClean="0"/>
              <a:t>-step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 </a:t>
            </a:r>
            <a:r>
              <a:rPr lang="ru-RU" sz="2400" dirty="0" smtClean="0">
                <a:solidFill>
                  <a:srgbClr val="FF0000"/>
                </a:solidFill>
              </a:rPr>
              <a:t>Перемещаемся на шаг вверх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/>
              <a:t>event.key</a:t>
            </a:r>
            <a:r>
              <a:rPr lang="en-US" sz="2400" dirty="0"/>
              <a:t> == </a:t>
            </a:r>
            <a:r>
              <a:rPr lang="en-US" sz="2400" dirty="0" err="1"/>
              <a:t>pygame.K_DOWN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      </a:t>
            </a:r>
            <a:r>
              <a:rPr lang="en-US" sz="2400" dirty="0" err="1" smtClean="0"/>
              <a:t>yr</a:t>
            </a:r>
            <a:r>
              <a:rPr lang="en-US" sz="2400" dirty="0" smtClean="0"/>
              <a:t>=</a:t>
            </a:r>
            <a:r>
              <a:rPr lang="en-US" sz="2400" dirty="0" err="1" smtClean="0"/>
              <a:t>yr+step</a:t>
            </a:r>
            <a:r>
              <a:rPr lang="ru-RU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# </a:t>
            </a:r>
            <a:r>
              <a:rPr lang="ru-RU" sz="2400" dirty="0" smtClean="0">
                <a:solidFill>
                  <a:srgbClr val="FF0000"/>
                </a:solidFill>
              </a:rPr>
              <a:t>И так далее</a:t>
            </a: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/>
              <a:t>event.key</a:t>
            </a:r>
            <a:r>
              <a:rPr lang="en-US" sz="2400" dirty="0"/>
              <a:t> == </a:t>
            </a:r>
            <a:r>
              <a:rPr lang="en-US" sz="2400" dirty="0" err="1"/>
              <a:t>pygame.K_LEFT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      </a:t>
            </a:r>
            <a:r>
              <a:rPr lang="en-US" sz="2400" dirty="0" err="1"/>
              <a:t>xr</a:t>
            </a:r>
            <a:r>
              <a:rPr lang="en-US" sz="2400" dirty="0"/>
              <a:t>=</a:t>
            </a:r>
            <a:r>
              <a:rPr lang="en-US" sz="2400" dirty="0" err="1"/>
              <a:t>xr</a:t>
            </a:r>
            <a:r>
              <a:rPr lang="en-US" sz="2400" dirty="0"/>
              <a:t>-step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/>
              <a:t> </a:t>
            </a:r>
            <a:r>
              <a:rPr lang="en-US" sz="2400" dirty="0" err="1"/>
              <a:t>event.key</a:t>
            </a:r>
            <a:r>
              <a:rPr lang="en-US" sz="2400" dirty="0"/>
              <a:t> == </a:t>
            </a:r>
            <a:r>
              <a:rPr lang="en-US" sz="2400" dirty="0" err="1"/>
              <a:t>pygame.K_RIGHT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      </a:t>
            </a:r>
            <a:r>
              <a:rPr lang="en-US" sz="2400" dirty="0" err="1" smtClean="0"/>
              <a:t>xr</a:t>
            </a:r>
            <a:r>
              <a:rPr lang="en-US" sz="2400" dirty="0" smtClean="0"/>
              <a:t>=</a:t>
            </a:r>
            <a:r>
              <a:rPr lang="en-US" sz="2400" dirty="0" err="1" smtClean="0"/>
              <a:t>xr+step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err="1"/>
              <a:t>pygame.draw.rect</a:t>
            </a:r>
            <a:r>
              <a:rPr lang="en-US" sz="2400" dirty="0"/>
              <a:t>(</a:t>
            </a:r>
            <a:r>
              <a:rPr lang="en-US" sz="2400" dirty="0" err="1"/>
              <a:t>screen,THECOLORS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B050"/>
                </a:solidFill>
              </a:rPr>
              <a:t>'brown'] </a:t>
            </a:r>
            <a:r>
              <a:rPr lang="en-US" sz="2400" dirty="0"/>
              <a:t>, [</a:t>
            </a:r>
            <a:r>
              <a:rPr lang="en-US" sz="2400" dirty="0" err="1"/>
              <a:t>xr</a:t>
            </a:r>
            <a:r>
              <a:rPr lang="en-US" sz="2400" dirty="0"/>
              <a:t>, </a:t>
            </a:r>
            <a:r>
              <a:rPr lang="en-US" sz="2400" dirty="0" err="1"/>
              <a:t>yr</a:t>
            </a:r>
            <a:r>
              <a:rPr lang="en-US" sz="2400" dirty="0"/>
              <a:t>, width, </a:t>
            </a:r>
            <a:r>
              <a:rPr lang="en-US" sz="2400" dirty="0" err="1"/>
              <a:t>heigth</a:t>
            </a:r>
            <a:r>
              <a:rPr lang="en-US" sz="2400" dirty="0"/>
              <a:t>], 0)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r>
              <a:rPr lang="en-US" sz="2400" dirty="0" err="1" smtClean="0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32242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977201" y="1825625"/>
            <a:ext cx="62375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9446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Самостоятельно:</a:t>
            </a:r>
          </a:p>
          <a:p>
            <a:r>
              <a:rPr lang="ru-RU" dirty="0" smtClean="0"/>
              <a:t>Разместите по краям графического окна две «ракетки» разного цвета.</a:t>
            </a:r>
          </a:p>
          <a:p>
            <a:r>
              <a:rPr lang="ru-RU" dirty="0" smtClean="0"/>
              <a:t>Одна должна управляться стрелками, другая клавишами</a:t>
            </a:r>
          </a:p>
          <a:p>
            <a:r>
              <a:rPr lang="en-US" dirty="0" smtClean="0"/>
              <a:t>q, w, </a:t>
            </a:r>
            <a:r>
              <a:rPr lang="en-US" dirty="0" err="1" smtClean="0"/>
              <a:t>a,s</a:t>
            </a:r>
            <a:endParaRPr lang="en-US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02524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Возможно, вы обратили внимание, что при нажатии и удержании клавиши со стрелкой</a:t>
            </a:r>
          </a:p>
          <a:p>
            <a:r>
              <a:rPr lang="ru-RU" dirty="0"/>
              <a:t>М</a:t>
            </a:r>
            <a:r>
              <a:rPr lang="ru-RU" dirty="0" smtClean="0"/>
              <a:t>яч </a:t>
            </a:r>
            <a:r>
              <a:rPr lang="ru-RU" dirty="0"/>
              <a:t>все равно перемещается всего на один шаг вверх или вниз. Дело в том, что мы </a:t>
            </a:r>
            <a:r>
              <a:rPr lang="ru-RU" dirty="0" smtClean="0"/>
              <a:t>не </a:t>
            </a:r>
            <a:r>
              <a:rPr lang="ru-RU" dirty="0"/>
              <a:t>объяснили программе, как реагировать на </a:t>
            </a:r>
            <a:r>
              <a:rPr lang="ru-RU" i="1" dirty="0"/>
              <a:t>удержание </a:t>
            </a:r>
            <a:r>
              <a:rPr lang="ru-RU" dirty="0"/>
              <a:t>нажатой клавиши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 ответ </a:t>
            </a:r>
            <a:r>
              <a:rPr lang="ru-RU" dirty="0" smtClean="0"/>
              <a:t>на действие </a:t>
            </a:r>
            <a:r>
              <a:rPr lang="ru-RU" dirty="0"/>
              <a:t>пользователя генерируется одно событие KEYDOWN, хотя в случае </a:t>
            </a:r>
            <a:r>
              <a:rPr lang="ru-RU" dirty="0" smtClean="0"/>
              <a:t>удержания клавиши </a:t>
            </a:r>
            <a:r>
              <a:rPr lang="ru-RU" dirty="0" err="1"/>
              <a:t>Pygame</a:t>
            </a:r>
            <a:r>
              <a:rPr lang="ru-RU" dirty="0"/>
              <a:t>-модуль позволяет генерировать множественные события KEYDOWN</a:t>
            </a:r>
          </a:p>
        </p:txBody>
      </p:sp>
    </p:spTree>
    <p:extLst>
      <p:ext uri="{BB962C8B-B14F-4D97-AF65-F5344CB8AC3E}">
        <p14:creationId xmlns:p14="http://schemas.microsoft.com/office/powerpoint/2010/main" xmlns="" val="57343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Эта операция </a:t>
            </a:r>
            <a:r>
              <a:rPr lang="ru-RU" dirty="0"/>
              <a:t>называется </a:t>
            </a:r>
            <a:r>
              <a:rPr lang="ru-RU" i="1" dirty="0"/>
              <a:t>повтором нажатия клавиши </a:t>
            </a:r>
            <a:r>
              <a:rPr lang="ru-RU" dirty="0"/>
              <a:t>(</a:t>
            </a:r>
            <a:r>
              <a:rPr lang="ru-RU" dirty="0" err="1"/>
              <a:t>key</a:t>
            </a:r>
            <a:r>
              <a:rPr lang="ru-RU" dirty="0"/>
              <a:t> </a:t>
            </a:r>
            <a:r>
              <a:rPr lang="ru-RU" dirty="0" err="1"/>
              <a:t>repeat</a:t>
            </a:r>
            <a:r>
              <a:rPr lang="ru-RU" dirty="0"/>
              <a:t>). </a:t>
            </a:r>
            <a:endParaRPr lang="ru-RU" dirty="0" smtClean="0"/>
          </a:p>
          <a:p>
            <a:r>
              <a:rPr lang="ru-RU" dirty="0" smtClean="0"/>
              <a:t>Вы </a:t>
            </a:r>
            <a:r>
              <a:rPr lang="ru-RU" dirty="0"/>
              <a:t>указываете, </a:t>
            </a:r>
            <a:r>
              <a:rPr lang="ru-RU" dirty="0" smtClean="0"/>
              <a:t>сколько</a:t>
            </a:r>
            <a:r>
              <a:rPr lang="en-US" dirty="0" smtClean="0"/>
              <a:t> </a:t>
            </a:r>
            <a:r>
              <a:rPr lang="ru-RU" dirty="0" smtClean="0"/>
              <a:t>времени </a:t>
            </a:r>
            <a:r>
              <a:rPr lang="ru-RU" dirty="0"/>
              <a:t>должно пройти до момента повтора и как часто следует повторять операцию.</a:t>
            </a:r>
          </a:p>
          <a:p>
            <a:r>
              <a:rPr lang="ru-RU" dirty="0"/>
              <a:t>Все параметры задаются в миллисекундах (сотых долях секунды). Вот как это </a:t>
            </a:r>
            <a:r>
              <a:rPr lang="ru-RU" dirty="0" smtClean="0"/>
              <a:t>выглядит:</a:t>
            </a:r>
          </a:p>
          <a:p>
            <a:pPr marL="0" indent="0">
              <a:buNone/>
            </a:pPr>
            <a:r>
              <a:rPr lang="en-US" dirty="0"/>
              <a:t>delay = 100</a:t>
            </a:r>
          </a:p>
          <a:p>
            <a:pPr marL="0" indent="0">
              <a:buNone/>
            </a:pPr>
            <a:r>
              <a:rPr lang="en-US" dirty="0"/>
              <a:t>interval = </a:t>
            </a:r>
            <a:r>
              <a:rPr lang="en-US" dirty="0" smtClean="0"/>
              <a:t>50</a:t>
            </a:r>
          </a:p>
          <a:p>
            <a:pPr marL="0" indent="0">
              <a:buNone/>
            </a:pPr>
            <a:r>
              <a:rPr lang="en-US" dirty="0" err="1" smtClean="0"/>
              <a:t>pygame.key.set_repeat</a:t>
            </a:r>
            <a:r>
              <a:rPr lang="en-US" dirty="0" smtClean="0"/>
              <a:t>(delay, interval)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2231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0070C0"/>
                </a:solidFill>
              </a:rPr>
              <a:t>Управляемое </a:t>
            </a:r>
            <a:r>
              <a:rPr lang="ru-RU" dirty="0">
                <a:solidFill>
                  <a:srgbClr val="0070C0"/>
                </a:solidFill>
              </a:rPr>
              <a:t>движение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Параметр </a:t>
            </a:r>
            <a:r>
              <a:rPr lang="ru-RU" dirty="0" err="1"/>
              <a:t>delay</a:t>
            </a:r>
            <a:r>
              <a:rPr lang="ru-RU" dirty="0"/>
              <a:t> указывает модулю </a:t>
            </a:r>
            <a:r>
              <a:rPr lang="ru-RU" dirty="0" err="1"/>
              <a:t>Pygame</a:t>
            </a:r>
            <a:r>
              <a:rPr lang="ru-RU" dirty="0"/>
              <a:t>, через какой промежуток времени </a:t>
            </a:r>
            <a:r>
              <a:rPr lang="ru-RU" dirty="0" smtClean="0"/>
              <a:t>следует повторить </a:t>
            </a:r>
            <a:r>
              <a:rPr lang="ru-RU" dirty="0"/>
              <a:t>действие, а параметр </a:t>
            </a:r>
            <a:r>
              <a:rPr lang="ru-RU" dirty="0" err="1"/>
              <a:t>interval</a:t>
            </a:r>
            <a:r>
              <a:rPr lang="ru-RU" dirty="0"/>
              <a:t> задает темп повтора, то есть </a:t>
            </a:r>
            <a:r>
              <a:rPr lang="ru-RU" dirty="0" smtClean="0"/>
              <a:t>промежуток между </a:t>
            </a:r>
            <a:r>
              <a:rPr lang="ru-RU" dirty="0"/>
              <a:t>отдельными событиями </a:t>
            </a:r>
            <a:r>
              <a:rPr lang="en-US" dirty="0"/>
              <a:t>KEYDOWN.</a:t>
            </a:r>
          </a:p>
          <a:p>
            <a:r>
              <a:rPr lang="ru-RU" dirty="0"/>
              <a:t>Добавьте этот фрагмент кода </a:t>
            </a:r>
            <a:r>
              <a:rPr lang="ru-RU" dirty="0" smtClean="0"/>
              <a:t>после </a:t>
            </a:r>
            <a:r>
              <a:rPr lang="ru-RU" dirty="0"/>
              <a:t>строки </a:t>
            </a:r>
            <a:r>
              <a:rPr lang="ru-RU" dirty="0" err="1"/>
              <a:t>pygame.init</a:t>
            </a:r>
            <a:r>
              <a:rPr lang="ru-RU" dirty="0"/>
              <a:t>, но перед </a:t>
            </a:r>
            <a:r>
              <a:rPr lang="ru-RU" dirty="0" smtClean="0"/>
              <a:t>циклом </a:t>
            </a:r>
            <a:r>
              <a:rPr lang="ru-RU" dirty="0" err="1" smtClean="0"/>
              <a:t>while</a:t>
            </a:r>
            <a:r>
              <a:rPr lang="ru-RU" dirty="0" smtClean="0"/>
              <a:t> </a:t>
            </a:r>
            <a:r>
              <a:rPr lang="ru-RU" dirty="0"/>
              <a:t>и посмотрите, как изменится поведение программы.</a:t>
            </a:r>
          </a:p>
        </p:txBody>
      </p:sp>
    </p:spTree>
    <p:extLst>
      <p:ext uri="{BB962C8B-B14F-4D97-AF65-F5344CB8AC3E}">
        <p14:creationId xmlns:p14="http://schemas.microsoft.com/office/powerpoint/2010/main" xmlns="" val="423273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Функции в программировании можно представить как изолированный блок кода, обращение к которому в процессе выполнения программы может быть многократным. </a:t>
            </a:r>
            <a:endParaRPr lang="en-US" dirty="0" smtClean="0"/>
          </a:p>
          <a:p>
            <a:r>
              <a:rPr lang="ru-RU" dirty="0" smtClean="0"/>
              <a:t>Зачем </a:t>
            </a:r>
            <a:r>
              <a:rPr lang="ru-RU" dirty="0"/>
              <a:t>нужны такие блоки инструкций? </a:t>
            </a:r>
            <a:endParaRPr lang="en-US" dirty="0" smtClean="0"/>
          </a:p>
          <a:p>
            <a:r>
              <a:rPr lang="ru-RU" dirty="0" smtClean="0"/>
              <a:t>В </a:t>
            </a:r>
            <a:r>
              <a:rPr lang="ru-RU" dirty="0"/>
              <a:t>первую очередь, чтобы сократить объем исходного кода: рационально вынести часто повторяющиеся выражения в отдельный блок и, затем, по мере надобности, обращаться к нему. </a:t>
            </a:r>
          </a:p>
        </p:txBody>
      </p:sp>
    </p:spTree>
    <p:extLst>
      <p:ext uri="{BB962C8B-B14F-4D97-AF65-F5344CB8AC3E}">
        <p14:creationId xmlns:p14="http://schemas.microsoft.com/office/powerpoint/2010/main" xmlns="" val="90172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Ниже мы определим функцию, которую затем используем. Функция выводит на экран почтовый адрес.</a:t>
            </a:r>
          </a:p>
          <a:p>
            <a:pPr marL="0" indent="0">
              <a:buNone/>
            </a:pPr>
            <a:r>
              <a:rPr lang="en-US" i="1" dirty="0" err="1" smtClean="0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b="1" i="1" dirty="0" smtClean="0"/>
              <a:t> </a:t>
            </a:r>
            <a:r>
              <a:rPr lang="en-US" i="1" dirty="0" err="1" smtClean="0"/>
              <a:t>printMyAddress</a:t>
            </a:r>
            <a:r>
              <a:rPr lang="en-US" i="1" dirty="0" smtClean="0"/>
              <a:t>():</a:t>
            </a:r>
            <a:endParaRPr lang="ru-RU" dirty="0" smtClean="0"/>
          </a:p>
          <a:p>
            <a:pPr marL="0" indent="0"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print</a:t>
            </a:r>
            <a:r>
              <a:rPr lang="en-US" b="1" i="1" dirty="0" smtClean="0"/>
              <a:t> </a:t>
            </a:r>
            <a:r>
              <a:rPr lang="en-US" b="1" i="1" dirty="0"/>
              <a:t>(</a:t>
            </a:r>
            <a:r>
              <a:rPr lang="en-US" i="1" dirty="0"/>
              <a:t>"Warren Sande")</a:t>
            </a:r>
            <a:endParaRPr lang="ru-RU" dirty="0"/>
          </a:p>
          <a:p>
            <a:pPr marL="0" indent="0"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print</a:t>
            </a:r>
            <a:r>
              <a:rPr lang="en-US" b="1" i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b="1" i="1" dirty="0"/>
              <a:t>(</a:t>
            </a:r>
            <a:r>
              <a:rPr lang="en-US" i="1" dirty="0"/>
              <a:t>"123 Main Street")</a:t>
            </a:r>
            <a:endParaRPr lang="ru-RU" dirty="0"/>
          </a:p>
          <a:p>
            <a:pPr marL="0" indent="0"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print</a:t>
            </a:r>
            <a:r>
              <a:rPr lang="en-US" b="1" i="1" dirty="0" smtClean="0"/>
              <a:t> </a:t>
            </a:r>
            <a:r>
              <a:rPr lang="en-US" b="1" i="1" dirty="0"/>
              <a:t>(</a:t>
            </a:r>
            <a:r>
              <a:rPr lang="en-US" i="1" dirty="0"/>
              <a:t>"Ottawa, Ontario, Canada")</a:t>
            </a:r>
            <a:endParaRPr lang="ru-RU" dirty="0"/>
          </a:p>
          <a:p>
            <a:pPr marL="0" indent="0">
              <a:buNone/>
            </a:pPr>
            <a:r>
              <a:rPr lang="en-US" i="1" dirty="0" smtClean="0"/>
              <a:t>	</a:t>
            </a:r>
            <a:r>
              <a:rPr lang="en-US" i="1" dirty="0" smtClean="0">
                <a:solidFill>
                  <a:schemeClr val="accent2">
                    <a:lumMod val="75000"/>
                  </a:schemeClr>
                </a:solidFill>
              </a:rPr>
              <a:t>print</a:t>
            </a:r>
            <a:r>
              <a:rPr lang="en-US" b="1" i="1" dirty="0" smtClean="0"/>
              <a:t> </a:t>
            </a:r>
            <a:r>
              <a:rPr lang="en-US" b="1" i="1" dirty="0"/>
              <a:t>(</a:t>
            </a:r>
            <a:r>
              <a:rPr lang="en-US" i="1" dirty="0"/>
              <a:t>"K2M 2E9")</a:t>
            </a:r>
            <a:endParaRPr lang="ru-RU" dirty="0"/>
          </a:p>
          <a:p>
            <a:pPr marL="0" indent="0">
              <a:buNone/>
            </a:pPr>
            <a:r>
              <a:rPr lang="en-US" i="1" dirty="0" err="1" smtClean="0"/>
              <a:t>PrintMyAddress</a:t>
            </a:r>
            <a:r>
              <a:rPr lang="en-US" i="1" dirty="0" smtClean="0"/>
              <a:t>()</a:t>
            </a:r>
            <a:endParaRPr lang="ru-RU" dirty="0"/>
          </a:p>
          <a:p>
            <a:r>
              <a:rPr lang="en-US" i="1" dirty="0"/>
              <a:t> 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0663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Получается следующий результат:</a:t>
            </a:r>
          </a:p>
          <a:p>
            <a:pPr marL="0" indent="0">
              <a:buNone/>
            </a:pPr>
            <a:r>
              <a:rPr lang="ru-RU" dirty="0"/>
              <a:t> </a:t>
            </a:r>
          </a:p>
          <a:p>
            <a:pPr marL="0" indent="0">
              <a:buNone/>
            </a:pPr>
            <a:r>
              <a:rPr lang="en-US" i="1" dirty="0"/>
              <a:t>&gt;&gt;&gt; </a:t>
            </a:r>
            <a:endParaRPr lang="ru-RU" dirty="0"/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</a:rPr>
              <a:t>Warren Sande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rgbClr val="0070C0"/>
                </a:solidFill>
              </a:rPr>
              <a:t>123 </a:t>
            </a:r>
            <a:r>
              <a:rPr lang="en-US" i="1" dirty="0">
                <a:solidFill>
                  <a:srgbClr val="0070C0"/>
                </a:solidFill>
              </a:rPr>
              <a:t>Main Street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</a:rPr>
              <a:t>Ottawa, Ontario, Canada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i="1" dirty="0">
                <a:solidFill>
                  <a:srgbClr val="0070C0"/>
                </a:solidFill>
              </a:rPr>
              <a:t>K</a:t>
            </a:r>
            <a:r>
              <a:rPr lang="ru-RU" i="1" dirty="0">
                <a:solidFill>
                  <a:srgbClr val="0070C0"/>
                </a:solidFill>
              </a:rPr>
              <a:t>2</a:t>
            </a:r>
            <a:r>
              <a:rPr lang="en-US" i="1" dirty="0">
                <a:solidFill>
                  <a:srgbClr val="0070C0"/>
                </a:solidFill>
              </a:rPr>
              <a:t>M</a:t>
            </a:r>
            <a:r>
              <a:rPr lang="ru-RU" i="1" dirty="0">
                <a:solidFill>
                  <a:srgbClr val="0070C0"/>
                </a:solidFill>
              </a:rPr>
              <a:t> 2</a:t>
            </a:r>
            <a:r>
              <a:rPr lang="en-US" i="1" dirty="0">
                <a:solidFill>
                  <a:srgbClr val="0070C0"/>
                </a:solidFill>
              </a:rPr>
              <a:t>E</a:t>
            </a:r>
            <a:r>
              <a:rPr lang="ru-RU" i="1" dirty="0">
                <a:solidFill>
                  <a:srgbClr val="0070C0"/>
                </a:solidFill>
              </a:rPr>
              <a:t>9</a:t>
            </a:r>
            <a:endParaRPr lang="ru-RU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i="1" dirty="0"/>
              <a:t> 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2630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строке 1 мы определяем функцию с помощью ключевого слова </a:t>
            </a:r>
            <a:r>
              <a:rPr lang="ru-RU" dirty="0" err="1"/>
              <a:t>def</a:t>
            </a:r>
            <a:r>
              <a:rPr lang="ru-RU" dirty="0"/>
              <a:t>. </a:t>
            </a:r>
            <a:endParaRPr lang="en-US" dirty="0" smtClean="0"/>
          </a:p>
          <a:p>
            <a:r>
              <a:rPr lang="ru-RU" dirty="0" smtClean="0"/>
              <a:t>Мы указываем</a:t>
            </a:r>
            <a:r>
              <a:rPr lang="en-US" dirty="0" smtClean="0"/>
              <a:t> </a:t>
            </a:r>
            <a:r>
              <a:rPr lang="ru-RU" dirty="0" smtClean="0"/>
              <a:t>имя </a:t>
            </a:r>
            <a:r>
              <a:rPr lang="ru-RU" dirty="0"/>
              <a:t>функции, затем ставим скобки () и двоеточие:</a:t>
            </a:r>
          </a:p>
          <a:p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printMyAddress</a:t>
            </a:r>
            <a:r>
              <a:rPr lang="en-US" dirty="0"/>
              <a:t>():</a:t>
            </a:r>
          </a:p>
          <a:p>
            <a:r>
              <a:rPr lang="ru-RU" dirty="0"/>
              <a:t>Зачем нужны скобки, вы скоро узнаете. Двоеточие же сообщает интерпретатору </a:t>
            </a:r>
            <a:r>
              <a:rPr lang="ru-RU" dirty="0" err="1"/>
              <a:t>Python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что </a:t>
            </a:r>
            <a:r>
              <a:rPr lang="ru-RU" dirty="0"/>
              <a:t>следом идет блок кода (как в случае с циклами </a:t>
            </a:r>
            <a:r>
              <a:rPr lang="ru-RU" dirty="0" err="1"/>
              <a:t>for</a:t>
            </a:r>
            <a:r>
              <a:rPr lang="ru-RU" dirty="0"/>
              <a:t> и </a:t>
            </a:r>
            <a:r>
              <a:rPr lang="ru-RU" dirty="0" err="1"/>
              <a:t>while</a:t>
            </a:r>
            <a:r>
              <a:rPr lang="ru-RU" dirty="0"/>
              <a:t> и инструкцией </a:t>
            </a:r>
            <a:r>
              <a:rPr lang="ru-RU" dirty="0" err="1"/>
              <a:t>if</a:t>
            </a:r>
            <a:r>
              <a:rPr lang="ru-RU" dirty="0"/>
              <a:t>).</a:t>
            </a:r>
          </a:p>
          <a:p>
            <a:r>
              <a:rPr lang="ru-RU" dirty="0"/>
              <a:t>После этого мы пишем код функции.</a:t>
            </a:r>
          </a:p>
        </p:txBody>
      </p:sp>
    </p:spTree>
    <p:extLst>
      <p:ext uri="{BB962C8B-B14F-4D97-AF65-F5344CB8AC3E}">
        <p14:creationId xmlns:p14="http://schemas.microsoft.com/office/powerpoint/2010/main" xmlns="" val="2081518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 err="1"/>
              <a:t>printMyAddress</a:t>
            </a:r>
            <a:r>
              <a:rPr lang="ru-RU" dirty="0" smtClean="0"/>
              <a:t> </a:t>
            </a:r>
            <a:r>
              <a:rPr lang="ru-RU" dirty="0"/>
              <a:t>– это имя функции, которое (так же как и имена переменных) может быть почти любым, но желательно осмысленным. </a:t>
            </a:r>
            <a:endParaRPr lang="ru-RU" dirty="0" smtClean="0"/>
          </a:p>
          <a:p>
            <a:r>
              <a:rPr lang="ru-RU" dirty="0" smtClean="0"/>
              <a:t>После </a:t>
            </a:r>
            <a:r>
              <a:rPr lang="ru-RU" dirty="0"/>
              <a:t>в скобках перечисляются параметры функции. Если их нет, то скобки остаются пустыми. </a:t>
            </a:r>
            <a:endParaRPr lang="ru-RU" dirty="0" smtClean="0"/>
          </a:p>
          <a:p>
            <a:r>
              <a:rPr lang="ru-RU" dirty="0" smtClean="0"/>
              <a:t>Далее </a:t>
            </a:r>
            <a:r>
              <a:rPr lang="ru-RU" dirty="0"/>
              <a:t>идет двоеточие, обозначающее окончание заголовка функции (аналогично с условиями и циклами). </a:t>
            </a:r>
            <a:endParaRPr lang="ru-RU" dirty="0" smtClean="0"/>
          </a:p>
          <a:p>
            <a:r>
              <a:rPr lang="ru-RU" dirty="0" smtClean="0"/>
              <a:t>После </a:t>
            </a:r>
            <a:r>
              <a:rPr lang="ru-RU" dirty="0"/>
              <a:t>заголовка с новой строки и с отступом следуют выражения тела функции. В конце тела функции присутствует инструкция </a:t>
            </a:r>
            <a:r>
              <a:rPr lang="ru-RU" b="1" dirty="0" err="1"/>
              <a:t>return</a:t>
            </a:r>
            <a:r>
              <a:rPr lang="ru-RU" b="1" dirty="0"/>
              <a:t> </a:t>
            </a:r>
            <a:r>
              <a:rPr lang="ru-RU" dirty="0"/>
              <a:t>(может и не быть), которая возвращает значение(я) в основную ветку программы. </a:t>
            </a:r>
          </a:p>
        </p:txBody>
      </p:sp>
    </p:spTree>
    <p:extLst>
      <p:ext uri="{BB962C8B-B14F-4D97-AF65-F5344CB8AC3E}">
        <p14:creationId xmlns:p14="http://schemas.microsoft.com/office/powerpoint/2010/main" xmlns="" val="3629604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программировании термин </a:t>
            </a:r>
            <a:r>
              <a:rPr lang="ru-RU" i="1" dirty="0" smtClean="0"/>
              <a:t>аргумент(параметр) </a:t>
            </a:r>
            <a:r>
              <a:rPr lang="ru-RU" dirty="0"/>
              <a:t>означает передаваемый в функцию фрагмент информации.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называется </a:t>
            </a:r>
            <a:r>
              <a:rPr lang="ru-RU" i="1" dirty="0"/>
              <a:t>передачей </a:t>
            </a:r>
            <a:r>
              <a:rPr lang="ru-RU" dirty="0"/>
              <a:t>аргумента в функцию. </a:t>
            </a:r>
            <a:endParaRPr lang="ru-RU" dirty="0" smtClean="0"/>
          </a:p>
          <a:p>
            <a:r>
              <a:rPr lang="ru-RU" dirty="0" smtClean="0"/>
              <a:t>Представьте</a:t>
            </a:r>
            <a:r>
              <a:rPr lang="ru-RU" dirty="0"/>
              <a:t>, что вам нужна функция, выводящая на печать адреса всех членов вашей семьи. Адрес во всех случаях будет один и тот же, а вот имена разные. </a:t>
            </a:r>
          </a:p>
        </p:txBody>
      </p:sp>
    </p:spTree>
    <p:extLst>
      <p:ext uri="{BB962C8B-B14F-4D97-AF65-F5344CB8AC3E}">
        <p14:creationId xmlns:p14="http://schemas.microsoft.com/office/powerpoint/2010/main" xmlns="" val="427958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это работает, проще всего продемонстрировать на примере. В приведенной ниже программе функция вывода адреса была отредактирована таким образом, что имя адресата </a:t>
            </a:r>
            <a:r>
              <a:rPr lang="ru-RU" dirty="0" smtClean="0"/>
              <a:t>превратилось в </a:t>
            </a:r>
            <a:r>
              <a:rPr lang="ru-RU" dirty="0"/>
              <a:t>аргумент. </a:t>
            </a:r>
            <a:endParaRPr lang="ru-RU" dirty="0" smtClean="0"/>
          </a:p>
          <a:p>
            <a:r>
              <a:rPr lang="ru-RU" dirty="0" smtClean="0"/>
              <a:t>Аргументы</a:t>
            </a:r>
            <a:r>
              <a:rPr lang="ru-RU" dirty="0"/>
              <a:t>, как и все другие переменные, имеют имена. Эту переменную назовем </a:t>
            </a:r>
            <a:r>
              <a:rPr lang="ru-RU" dirty="0" err="1"/>
              <a:t>myName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После </a:t>
            </a:r>
            <a:r>
              <a:rPr lang="ru-RU" dirty="0"/>
              <a:t>запуска функции переменная </a:t>
            </a:r>
            <a:r>
              <a:rPr lang="ru-RU" dirty="0" err="1"/>
              <a:t>myName</a:t>
            </a:r>
            <a:r>
              <a:rPr lang="ru-RU" dirty="0"/>
              <a:t> принимает значение переданного в функцию аргумента. Этот аргумент указывается в скобках в момент вызова функции.</a:t>
            </a:r>
          </a:p>
        </p:txBody>
      </p:sp>
    </p:spTree>
    <p:extLst>
      <p:ext uri="{BB962C8B-B14F-4D97-AF65-F5344CB8AC3E}">
        <p14:creationId xmlns:p14="http://schemas.microsoft.com/office/powerpoint/2010/main" xmlns="" val="234309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b="1" dirty="0"/>
              <a:t> </a:t>
            </a:r>
            <a:r>
              <a:rPr lang="en-US" dirty="0" err="1"/>
              <a:t>printMyAddress</a:t>
            </a:r>
            <a:r>
              <a:rPr lang="en-US" dirty="0"/>
              <a:t>(</a:t>
            </a:r>
            <a:r>
              <a:rPr lang="en-US" dirty="0" err="1"/>
              <a:t>myName</a:t>
            </a:r>
            <a:r>
              <a:rPr lang="en-US" dirty="0"/>
              <a:t>):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>
                <a:solidFill>
                  <a:srgbClr val="7030A0"/>
                </a:solidFill>
              </a:rPr>
              <a:t>print</a:t>
            </a:r>
            <a:r>
              <a:rPr lang="en-US" b="1" dirty="0" smtClean="0"/>
              <a:t> </a:t>
            </a:r>
            <a:r>
              <a:rPr lang="en-US" b="1" dirty="0"/>
              <a:t>(</a:t>
            </a:r>
            <a:r>
              <a:rPr lang="en-US" dirty="0" err="1"/>
              <a:t>myName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>
                <a:solidFill>
                  <a:srgbClr val="7030A0"/>
                </a:solidFill>
              </a:rPr>
              <a:t>prin</a:t>
            </a:r>
            <a:r>
              <a:rPr lang="en-US" b="1" dirty="0" smtClean="0">
                <a:solidFill>
                  <a:srgbClr val="7030A0"/>
                </a:solidFill>
              </a:rPr>
              <a:t>t</a:t>
            </a:r>
            <a:r>
              <a:rPr lang="en-US" b="1" dirty="0" smtClean="0"/>
              <a:t> </a:t>
            </a:r>
            <a:r>
              <a:rPr lang="en-US" b="1" dirty="0"/>
              <a:t>(</a:t>
            </a:r>
            <a:r>
              <a:rPr lang="en-US" dirty="0">
                <a:solidFill>
                  <a:srgbClr val="00B050"/>
                </a:solidFill>
              </a:rPr>
              <a:t>"123 Main Street"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>
                <a:solidFill>
                  <a:srgbClr val="7030A0"/>
                </a:solidFill>
              </a:rPr>
              <a:t>print</a:t>
            </a:r>
            <a:r>
              <a:rPr lang="en-US" b="1" dirty="0" smtClean="0"/>
              <a:t> </a:t>
            </a:r>
            <a:r>
              <a:rPr lang="en-US" b="1" dirty="0"/>
              <a:t>(</a:t>
            </a:r>
            <a:r>
              <a:rPr lang="en-US" dirty="0">
                <a:solidFill>
                  <a:srgbClr val="00B050"/>
                </a:solidFill>
              </a:rPr>
              <a:t>"Ottawa, Ontario, Canada"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>
                <a:solidFill>
                  <a:srgbClr val="7030A0"/>
                </a:solidFill>
              </a:rPr>
              <a:t>print</a:t>
            </a:r>
            <a:r>
              <a:rPr lang="en-US" b="1" dirty="0" smtClean="0">
                <a:solidFill>
                  <a:srgbClr val="7030A0"/>
                </a:solidFill>
              </a:rPr>
              <a:t> </a:t>
            </a:r>
            <a:r>
              <a:rPr lang="en-US" b="1" dirty="0"/>
              <a:t>(</a:t>
            </a:r>
            <a:r>
              <a:rPr lang="en-US" dirty="0">
                <a:solidFill>
                  <a:srgbClr val="00B050"/>
                </a:solidFill>
              </a:rPr>
              <a:t>"K2M 2E9"</a:t>
            </a:r>
            <a:r>
              <a:rPr lang="en-US" dirty="0"/>
              <a:t>)</a:t>
            </a:r>
            <a:endParaRPr lang="ru-RU" dirty="0"/>
          </a:p>
          <a:p>
            <a:pPr marL="0" indent="0">
              <a:buNone/>
            </a:pPr>
            <a:r>
              <a:rPr lang="en-US" dirty="0" smtClean="0"/>
              <a:t>Print</a:t>
            </a:r>
            <a:r>
              <a:rPr lang="ru-RU" dirty="0" smtClean="0"/>
              <a:t>(</a:t>
            </a:r>
            <a:r>
              <a:rPr lang="en-US" dirty="0" err="1" smtClean="0"/>
              <a:t>MyAddress</a:t>
            </a:r>
            <a:r>
              <a:rPr lang="en-US" dirty="0"/>
              <a:t>("Carter Sande</a:t>
            </a:r>
            <a:r>
              <a:rPr lang="en-US" dirty="0" smtClean="0"/>
              <a:t>")</a:t>
            </a:r>
            <a:r>
              <a:rPr lang="ru-RU" dirty="0" smtClean="0"/>
              <a:t>)</a:t>
            </a:r>
            <a:endParaRPr lang="ru-RU" dirty="0"/>
          </a:p>
          <a:p>
            <a:r>
              <a:rPr lang="en-US" i="1" dirty="0"/>
              <a:t> </a:t>
            </a:r>
            <a:r>
              <a:rPr lang="ru-RU" dirty="0" smtClean="0"/>
              <a:t>Аргументов может быть и несколько. В таком случае их в скобках перечислят через запятую.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74423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Заставить функцию возвращать значения позволяет ключевое слово </a:t>
            </a:r>
            <a:r>
              <a:rPr lang="ru-RU" dirty="0" err="1"/>
              <a:t>return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Рассмотрим, как </a:t>
            </a:r>
            <a:r>
              <a:rPr lang="ru-RU" dirty="0"/>
              <a:t>это выглядит на примере функции, рассчитывающей цену с учетом налога</a:t>
            </a:r>
            <a:r>
              <a:rPr lang="ru-RU" dirty="0" smtClean="0"/>
              <a:t>: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b="1" dirty="0"/>
              <a:t> </a:t>
            </a:r>
            <a:r>
              <a:rPr lang="en-US" dirty="0" err="1"/>
              <a:t>calculateTax</a:t>
            </a:r>
            <a:r>
              <a:rPr lang="en-US" dirty="0"/>
              <a:t>(price, </a:t>
            </a:r>
            <a:r>
              <a:rPr lang="en-US" dirty="0" err="1"/>
              <a:t>tax_rate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en-US" dirty="0" smtClean="0"/>
              <a:t>total </a:t>
            </a:r>
            <a:r>
              <a:rPr lang="en-US" dirty="0"/>
              <a:t>= price + (price * </a:t>
            </a:r>
            <a:r>
              <a:rPr lang="en-US" dirty="0" err="1"/>
              <a:t>tax_rate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ru-RU" b="1" dirty="0" smtClean="0"/>
              <a:t>	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return</a:t>
            </a:r>
            <a:r>
              <a:rPr lang="en-US" b="1" dirty="0" smtClean="0"/>
              <a:t> </a:t>
            </a:r>
            <a:r>
              <a:rPr lang="ru-RU" b="1" dirty="0" smtClean="0"/>
              <a:t>(</a:t>
            </a:r>
            <a:r>
              <a:rPr lang="en-US" dirty="0" smtClean="0"/>
              <a:t>total</a:t>
            </a:r>
            <a:r>
              <a:rPr lang="ru-RU" dirty="0" smtClean="0"/>
              <a:t>)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my_price</a:t>
            </a:r>
            <a:r>
              <a:rPr lang="en-US" dirty="0"/>
              <a:t> = </a:t>
            </a:r>
            <a:r>
              <a:rPr lang="en-US" dirty="0" smtClean="0"/>
              <a:t>float(input (</a:t>
            </a:r>
            <a:r>
              <a:rPr lang="ru-RU" dirty="0" smtClean="0"/>
              <a:t>))</a:t>
            </a:r>
            <a:endParaRPr lang="ru-RU" dirty="0"/>
          </a:p>
          <a:p>
            <a:pPr marL="0" indent="0">
              <a:buNone/>
            </a:pPr>
            <a:r>
              <a:rPr lang="en-US" dirty="0" err="1"/>
              <a:t>totalPrice</a:t>
            </a:r>
            <a:r>
              <a:rPr lang="en-US" dirty="0"/>
              <a:t> = </a:t>
            </a:r>
            <a:r>
              <a:rPr lang="en-US" dirty="0" err="1" smtClean="0"/>
              <a:t>calculateTax</a:t>
            </a:r>
            <a:r>
              <a:rPr lang="en-US" dirty="0" smtClean="0"/>
              <a:t>(</a:t>
            </a:r>
            <a:r>
              <a:rPr lang="en-US" dirty="0" err="1" smtClean="0"/>
              <a:t>my_pric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ru-RU" dirty="0">
                <a:solidFill>
                  <a:srgbClr val="00B050"/>
                </a:solidFill>
              </a:rPr>
              <a:t>Введите цену: "</a:t>
            </a:r>
            <a:r>
              <a:rPr lang="en-US" dirty="0" smtClean="0"/>
              <a:t>e</a:t>
            </a:r>
            <a:r>
              <a:rPr lang="en-US" dirty="0"/>
              <a:t>, 0.06)</a:t>
            </a:r>
          </a:p>
          <a:p>
            <a:pPr marL="0" indent="0">
              <a:buNone/>
            </a:pPr>
            <a:r>
              <a:rPr lang="ru-RU" dirty="0">
                <a:solidFill>
                  <a:srgbClr val="7030A0"/>
                </a:solidFill>
              </a:rPr>
              <a:t>р</a:t>
            </a:r>
            <a:r>
              <a:rPr lang="en-US" dirty="0" err="1" smtClean="0">
                <a:solidFill>
                  <a:srgbClr val="7030A0"/>
                </a:solidFill>
              </a:rPr>
              <a:t>rint</a:t>
            </a:r>
            <a:r>
              <a:rPr lang="ru-RU" b="1" dirty="0" smtClean="0"/>
              <a:t>(</a:t>
            </a:r>
            <a:r>
              <a:rPr lang="en-US" b="1" dirty="0" smtClean="0"/>
              <a:t> </a:t>
            </a:r>
            <a:r>
              <a:rPr lang="en-US" dirty="0">
                <a:solidFill>
                  <a:srgbClr val="00B050"/>
                </a:solidFill>
              </a:rPr>
              <a:t>"</a:t>
            </a:r>
            <a:r>
              <a:rPr lang="ru-RU" dirty="0">
                <a:solidFill>
                  <a:srgbClr val="00B050"/>
                </a:solidFill>
              </a:rPr>
              <a:t>цена = "</a:t>
            </a:r>
            <a:r>
              <a:rPr lang="ru-RU" dirty="0"/>
              <a:t>, </a:t>
            </a:r>
            <a:r>
              <a:rPr lang="en-US" dirty="0" err="1"/>
              <a:t>my_price</a:t>
            </a:r>
            <a:r>
              <a:rPr lang="en-US" dirty="0"/>
              <a:t>, " </a:t>
            </a:r>
            <a:r>
              <a:rPr lang="ru-RU" dirty="0">
                <a:solidFill>
                  <a:srgbClr val="00B050"/>
                </a:solidFill>
              </a:rPr>
              <a:t>Итоговая цена = "</a:t>
            </a:r>
            <a:r>
              <a:rPr lang="ru-RU" dirty="0"/>
              <a:t>, </a:t>
            </a:r>
            <a:r>
              <a:rPr lang="en-US" dirty="0" err="1" smtClean="0"/>
              <a:t>totalPrice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17079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Вызов </a:t>
            </a:r>
            <a:r>
              <a:rPr lang="ru-RU" dirty="0"/>
              <a:t>функции означает запуск ее внутреннего кода. Если вы определите функцию, но ни разу ее не вызовете, ее код так и не будет запущен.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вызова функции достаточно указать ее имя, за которым следуют скобки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33790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приведенном примере переменные </a:t>
            </a:r>
            <a:r>
              <a:rPr lang="ru-RU" dirty="0" err="1"/>
              <a:t>price</a:t>
            </a:r>
            <a:r>
              <a:rPr lang="ru-RU" dirty="0"/>
              <a:t> и </a:t>
            </a:r>
            <a:r>
              <a:rPr lang="ru-RU" dirty="0" err="1"/>
              <a:t>total</a:t>
            </a:r>
            <a:r>
              <a:rPr lang="ru-RU" dirty="0"/>
              <a:t> используются только внутри функции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 </a:t>
            </a:r>
            <a:r>
              <a:rPr lang="ru-RU" dirty="0" smtClean="0"/>
              <a:t>этом случае </a:t>
            </a:r>
            <a:r>
              <a:rPr lang="ru-RU" dirty="0"/>
              <a:t>говорят о том, что </a:t>
            </a:r>
            <a:r>
              <a:rPr lang="ru-RU" i="1" dirty="0"/>
              <a:t>областью видимости </a:t>
            </a:r>
            <a:r>
              <a:rPr lang="ru-RU" dirty="0"/>
              <a:t>переменных </a:t>
            </a:r>
            <a:r>
              <a:rPr lang="ru-RU" dirty="0" err="1"/>
              <a:t>price</a:t>
            </a:r>
            <a:r>
              <a:rPr lang="ru-RU" dirty="0"/>
              <a:t>, </a:t>
            </a:r>
            <a:r>
              <a:rPr lang="ru-RU" dirty="0" err="1"/>
              <a:t>total</a:t>
            </a:r>
            <a:r>
              <a:rPr lang="ru-RU" dirty="0"/>
              <a:t> и </a:t>
            </a:r>
            <a:r>
              <a:rPr lang="ru-RU" dirty="0" err="1" smtClean="0"/>
              <a:t>tax_rate</a:t>
            </a:r>
            <a:r>
              <a:rPr lang="ru-RU" dirty="0" smtClean="0"/>
              <a:t> является </a:t>
            </a:r>
            <a:r>
              <a:rPr lang="ru-RU" dirty="0"/>
              <a:t>функция </a:t>
            </a:r>
            <a:r>
              <a:rPr lang="ru-RU" dirty="0" err="1"/>
              <a:t>calculateTax</a:t>
            </a:r>
            <a:r>
              <a:rPr lang="ru-RU" dirty="0"/>
              <a:t>(). Еще они называются </a:t>
            </a:r>
            <a:r>
              <a:rPr lang="ru-RU" i="1" dirty="0"/>
              <a:t>локальными переменными</a:t>
            </a:r>
            <a:r>
              <a:rPr lang="ru-RU" dirty="0"/>
              <a:t>.</a:t>
            </a:r>
          </a:p>
          <a:p>
            <a:r>
              <a:rPr lang="ru-RU" dirty="0"/>
              <a:t>Итак, </a:t>
            </a:r>
            <a:r>
              <a:rPr lang="ru-RU" dirty="0" err="1"/>
              <a:t>price</a:t>
            </a:r>
            <a:r>
              <a:rPr lang="ru-RU" dirty="0"/>
              <a:t>, </a:t>
            </a:r>
            <a:r>
              <a:rPr lang="ru-RU" dirty="0" err="1"/>
              <a:t>total</a:t>
            </a:r>
            <a:r>
              <a:rPr lang="ru-RU" dirty="0"/>
              <a:t> и </a:t>
            </a:r>
            <a:r>
              <a:rPr lang="ru-RU" dirty="0" err="1"/>
              <a:t>tax_rate</a:t>
            </a:r>
            <a:r>
              <a:rPr lang="ru-RU" dirty="0"/>
              <a:t> — это локальные переменные функции </a:t>
            </a:r>
            <a:r>
              <a:rPr lang="ru-RU" dirty="0" err="1"/>
              <a:t>calculateTax</a:t>
            </a:r>
            <a:r>
              <a:rPr lang="ru-RU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xmlns="" val="2971215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</a:t>
            </a:r>
            <a:r>
              <a:rPr lang="ru-RU" dirty="0" smtClean="0"/>
              <a:t>еременная </a:t>
            </a:r>
            <a:r>
              <a:rPr lang="en-US" dirty="0"/>
              <a:t>price </a:t>
            </a:r>
            <a:r>
              <a:rPr lang="ru-RU" dirty="0"/>
              <a:t>не </a:t>
            </a:r>
            <a:r>
              <a:rPr lang="ru-RU" dirty="0" smtClean="0"/>
              <a:t>определена вне </a:t>
            </a:r>
            <a:r>
              <a:rPr lang="ru-RU" dirty="0"/>
              <a:t>функции </a:t>
            </a:r>
            <a:r>
              <a:rPr lang="ru-RU" dirty="0" err="1"/>
              <a:t>calculateTax</a:t>
            </a:r>
            <a:r>
              <a:rPr lang="ru-RU" dirty="0"/>
              <a:t>(). </a:t>
            </a:r>
            <a:endParaRPr lang="ru-RU" dirty="0" smtClean="0"/>
          </a:p>
          <a:p>
            <a:r>
              <a:rPr lang="ru-RU" dirty="0" smtClean="0"/>
              <a:t>Она </a:t>
            </a:r>
            <a:r>
              <a:rPr lang="ru-RU" dirty="0"/>
              <a:t>существует только во время работы функции</a:t>
            </a:r>
            <a:r>
              <a:rPr lang="ru-RU" dirty="0" smtClean="0"/>
              <a:t>.</a:t>
            </a:r>
          </a:p>
          <a:p>
            <a:r>
              <a:rPr lang="ru-RU" smtClean="0"/>
              <a:t>Поэтому </a:t>
            </a:r>
            <a:r>
              <a:rPr lang="ru-RU" dirty="0"/>
              <a:t>при попытке вывести ее значение в коде, не относящемся к функции, </a:t>
            </a:r>
            <a:r>
              <a:rPr lang="ru-RU"/>
              <a:t>вы </a:t>
            </a:r>
            <a:r>
              <a:rPr lang="ru-RU" smtClean="0"/>
              <a:t>получаете сообщение </a:t>
            </a:r>
            <a:r>
              <a:rPr lang="ru-RU" dirty="0"/>
              <a:t>об ошибке.</a:t>
            </a:r>
          </a:p>
        </p:txBody>
      </p:sp>
    </p:spTree>
    <p:extLst>
      <p:ext uri="{BB962C8B-B14F-4D97-AF65-F5344CB8AC3E}">
        <p14:creationId xmlns:p14="http://schemas.microsoft.com/office/powerpoint/2010/main" xmlns="" val="1927011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</a:t>
            </a:r>
            <a:r>
              <a:rPr lang="ru-RU" dirty="0" smtClean="0"/>
              <a:t>ри </a:t>
            </a:r>
            <a:r>
              <a:rPr lang="ru-RU" dirty="0"/>
              <a:t>попытке изменить внутри функции </a:t>
            </a:r>
            <a:r>
              <a:rPr lang="ru-RU" dirty="0" smtClean="0"/>
              <a:t>значение </a:t>
            </a:r>
            <a:r>
              <a:rPr lang="ru-RU" i="1" dirty="0"/>
              <a:t>глобальной переменной </a:t>
            </a:r>
            <a:r>
              <a:rPr lang="ru-RU" dirty="0"/>
              <a:t>интерпретатор </a:t>
            </a:r>
            <a:r>
              <a:rPr lang="ru-RU" dirty="0" err="1"/>
              <a:t>Python</a:t>
            </a:r>
            <a:r>
              <a:rPr lang="ru-RU" dirty="0"/>
              <a:t> создает вместо нее новую </a:t>
            </a:r>
            <a:r>
              <a:rPr lang="ru-RU" i="1" dirty="0" smtClean="0"/>
              <a:t>переменную </a:t>
            </a:r>
            <a:r>
              <a:rPr lang="ru-RU" dirty="0"/>
              <a:t>— </a:t>
            </a:r>
            <a:r>
              <a:rPr lang="ru-RU" i="1" dirty="0"/>
              <a:t>локальную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сделано, чтобы исключить возможность случайного </a:t>
            </a:r>
            <a:r>
              <a:rPr lang="ru-RU" dirty="0" smtClean="0"/>
              <a:t>изменения глобальной </a:t>
            </a:r>
            <a:r>
              <a:rPr lang="ru-RU" dirty="0"/>
              <a:t>переменной внутри функции.</a:t>
            </a:r>
          </a:p>
          <a:p>
            <a:r>
              <a:rPr lang="ru-RU" dirty="0"/>
              <a:t>Но бывают случаи, когда в подобных обстоятельствах нам </a:t>
            </a:r>
            <a:r>
              <a:rPr lang="ru-RU" i="1" dirty="0"/>
              <a:t>требуется </a:t>
            </a:r>
            <a:r>
              <a:rPr lang="ru-RU" dirty="0"/>
              <a:t>изменить </a:t>
            </a:r>
            <a:r>
              <a:rPr lang="ru-RU" dirty="0" smtClean="0"/>
              <a:t>глобальную </a:t>
            </a:r>
            <a:r>
              <a:rPr lang="ru-RU" dirty="0"/>
              <a:t>переменную. Как это можно сделать?</a:t>
            </a:r>
          </a:p>
        </p:txBody>
      </p:sp>
    </p:spTree>
    <p:extLst>
      <p:ext uri="{BB962C8B-B14F-4D97-AF65-F5344CB8AC3E}">
        <p14:creationId xmlns:p14="http://schemas.microsoft.com/office/powerpoint/2010/main" xmlns="" val="108077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</a:t>
            </a:r>
            <a:r>
              <a:rPr lang="ru-RU" dirty="0" err="1"/>
              <a:t>Python</a:t>
            </a:r>
            <a:r>
              <a:rPr lang="ru-RU" dirty="0"/>
              <a:t> есть ключевое слово </a:t>
            </a:r>
            <a:r>
              <a:rPr lang="ru-RU" dirty="0" err="1"/>
              <a:t>global</a:t>
            </a:r>
            <a:r>
              <a:rPr lang="ru-RU" dirty="0"/>
              <a:t>, позволяющее обойти запрет на изменение </a:t>
            </a:r>
            <a:r>
              <a:rPr lang="ru-RU" dirty="0" smtClean="0"/>
              <a:t>глобальной </a:t>
            </a:r>
            <a:r>
              <a:rPr lang="ru-RU" dirty="0"/>
              <a:t>переменной. Вот как оно используется:</a:t>
            </a:r>
          </a:p>
          <a:p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dirty="0" err="1"/>
              <a:t>calculateTax</a:t>
            </a:r>
            <a:r>
              <a:rPr lang="en-US" dirty="0"/>
              <a:t>(price, </a:t>
            </a:r>
            <a:r>
              <a:rPr lang="en-US" dirty="0" err="1"/>
              <a:t>tax_rate</a:t>
            </a:r>
            <a:r>
              <a:rPr lang="en-US" dirty="0"/>
              <a:t>):</a:t>
            </a:r>
          </a:p>
          <a:p>
            <a:pPr lvl="1"/>
            <a:r>
              <a:rPr lang="en-US" b="1" dirty="0"/>
              <a:t>global </a:t>
            </a:r>
            <a:r>
              <a:rPr lang="en-US" dirty="0" err="1"/>
              <a:t>my_price</a:t>
            </a:r>
            <a:endParaRPr lang="en-US" dirty="0"/>
          </a:p>
          <a:p>
            <a:r>
              <a:rPr lang="ru-RU" dirty="0"/>
              <a:t>Ключевое слово </a:t>
            </a:r>
            <a:r>
              <a:rPr lang="ru-RU" dirty="0" err="1"/>
              <a:t>global</a:t>
            </a:r>
            <a:r>
              <a:rPr lang="ru-RU" dirty="0"/>
              <a:t> позволяет интерпретатору </a:t>
            </a:r>
            <a:r>
              <a:rPr lang="ru-RU" dirty="0" err="1"/>
              <a:t>Python</a:t>
            </a:r>
            <a:r>
              <a:rPr lang="ru-RU" dirty="0"/>
              <a:t> не создавать </a:t>
            </a:r>
            <a:r>
              <a:rPr lang="ru-RU" dirty="0" smtClean="0"/>
              <a:t>локальную переменную </a:t>
            </a:r>
            <a:r>
              <a:rPr lang="ru-RU" dirty="0" err="1"/>
              <a:t>my_price</a:t>
            </a:r>
            <a:r>
              <a:rPr lang="ru-RU" dirty="0"/>
              <a:t>, а воспользоваться глобальной переменной </a:t>
            </a:r>
            <a:r>
              <a:rPr lang="ru-RU" dirty="0" err="1"/>
              <a:t>my_price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глобальной </a:t>
            </a:r>
            <a:r>
              <a:rPr lang="ru-RU" dirty="0"/>
              <a:t>переменной с таким названием не существует, он ее создаст.</a:t>
            </a:r>
          </a:p>
        </p:txBody>
      </p:sp>
    </p:spTree>
    <p:extLst>
      <p:ext uri="{BB962C8B-B14F-4D97-AF65-F5344CB8AC3E}">
        <p14:creationId xmlns:p14="http://schemas.microsoft.com/office/powerpoint/2010/main" xmlns="" val="33071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Рассмотрим работу функций на примерах движения по экрану.</a:t>
            </a:r>
          </a:p>
          <a:p>
            <a:r>
              <a:rPr lang="ru-RU" dirty="0" smtClean="0"/>
              <a:t>Создадим функции, ответственные за неуправляемое и управляемое движение.</a:t>
            </a:r>
            <a:endParaRPr lang="en-US" dirty="0" smtClean="0"/>
          </a:p>
          <a:p>
            <a:r>
              <a:rPr lang="ru-RU" dirty="0" smtClean="0"/>
              <a:t>Начнем с функции неуправляемого движения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320332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2060"/>
                </a:solidFill>
              </a:rPr>
              <a:t>move_ball</a:t>
            </a:r>
            <a:r>
              <a:rPr lang="en-US" dirty="0"/>
              <a:t>(</a:t>
            </a:r>
            <a:r>
              <a:rPr lang="en-US" dirty="0" err="1"/>
              <a:t>r,color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global </a:t>
            </a:r>
            <a:r>
              <a:rPr lang="en-US" dirty="0" err="1"/>
              <a:t>x,y,dx,dy,n,text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x=</a:t>
            </a:r>
            <a:r>
              <a:rPr lang="en-US" dirty="0" err="1"/>
              <a:t>x+dx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y=</a:t>
            </a:r>
            <a:r>
              <a:rPr lang="en-US" dirty="0" err="1"/>
              <a:t>y+dy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pygame.draw.circle</a:t>
            </a:r>
            <a:r>
              <a:rPr lang="en-US" dirty="0"/>
              <a:t>(screen, </a:t>
            </a:r>
            <a:r>
              <a:rPr lang="en-US" dirty="0" smtClean="0"/>
              <a:t>color, </a:t>
            </a:r>
            <a:r>
              <a:rPr lang="en-US" dirty="0"/>
              <a:t>r, 0)#</a:t>
            </a:r>
            <a:r>
              <a:rPr lang="ru-RU" dirty="0"/>
              <a:t>Движение шарика</a:t>
            </a:r>
          </a:p>
          <a:p>
            <a:pPr marL="0" indent="0">
              <a:buNone/>
            </a:pPr>
            <a:r>
              <a:rPr lang="ru-RU" dirty="0"/>
              <a:t>  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dirty="0"/>
              <a:t>(x&gt;=</a:t>
            </a:r>
            <a:r>
              <a:rPr lang="en-US" dirty="0" err="1"/>
              <a:t>screenX</a:t>
            </a:r>
            <a:r>
              <a:rPr lang="en-US" dirty="0"/>
              <a:t>-r):</a:t>
            </a:r>
          </a:p>
          <a:p>
            <a:pPr marL="0" indent="0">
              <a:buNone/>
            </a:pPr>
            <a:r>
              <a:rPr lang="en-US" dirty="0"/>
              <a:t>        x=40</a:t>
            </a:r>
          </a:p>
          <a:p>
            <a:pPr marL="0" indent="0">
              <a:buNone/>
            </a:pPr>
            <a:r>
              <a:rPr lang="en-US" dirty="0"/>
              <a:t>        y=</a:t>
            </a:r>
            <a:r>
              <a:rPr lang="en-US" dirty="0" err="1"/>
              <a:t>random.randint</a:t>
            </a:r>
            <a:r>
              <a:rPr lang="en-US" dirty="0"/>
              <a:t>(10, 400)</a:t>
            </a:r>
          </a:p>
          <a:p>
            <a:pPr marL="0" indent="0">
              <a:buNone/>
            </a:pPr>
            <a:r>
              <a:rPr lang="en-US" dirty="0"/>
              <a:t>        n=n-2</a:t>
            </a:r>
          </a:p>
          <a:p>
            <a:pPr marL="0" indent="0">
              <a:buNone/>
            </a:pPr>
            <a:r>
              <a:rPr lang="en-US" dirty="0"/>
              <a:t>        text = </a:t>
            </a:r>
            <a:r>
              <a:rPr lang="en-US" dirty="0" err="1"/>
              <a:t>font.render</a:t>
            </a:r>
            <a:r>
              <a:rPr lang="en-US" dirty="0"/>
              <a:t>(" </a:t>
            </a:r>
            <a:r>
              <a:rPr lang="ru-RU" dirty="0"/>
              <a:t>Очки "+</a:t>
            </a:r>
            <a:r>
              <a:rPr lang="en-US" dirty="0" err="1"/>
              <a:t>str</a:t>
            </a:r>
            <a:r>
              <a:rPr lang="en-US" dirty="0"/>
              <a:t>(n),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dirty="0"/>
              <a:t>, THECOLORS ["blue"])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/>
              <a:t>(x&lt;=r):</a:t>
            </a:r>
          </a:p>
          <a:p>
            <a:pPr marL="0" indent="0">
              <a:buNone/>
            </a:pPr>
            <a:r>
              <a:rPr lang="en-US" dirty="0"/>
              <a:t>        dx=-dx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if </a:t>
            </a:r>
            <a:r>
              <a:rPr lang="en-US" dirty="0"/>
              <a:t>(y&lt;=r)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or </a:t>
            </a:r>
            <a:r>
              <a:rPr lang="en-US" dirty="0"/>
              <a:t>(y&gt;=</a:t>
            </a:r>
            <a:r>
              <a:rPr lang="en-US" dirty="0" err="1"/>
              <a:t>screenY</a:t>
            </a:r>
            <a:r>
              <a:rPr lang="en-US" dirty="0"/>
              <a:t>-r):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dy</a:t>
            </a:r>
            <a:r>
              <a:rPr lang="en-US" dirty="0"/>
              <a:t>=-</a:t>
            </a:r>
            <a:r>
              <a:rPr lang="en-US" dirty="0" err="1"/>
              <a:t>dy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37023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Функция управляемого движения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move_racet</a:t>
            </a:r>
            <a:r>
              <a:rPr lang="en-US" dirty="0"/>
              <a:t>(step):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global </a:t>
            </a:r>
            <a:r>
              <a:rPr lang="en-US" dirty="0" err="1"/>
              <a:t>yr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pygame.K_UP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yr</a:t>
            </a:r>
            <a:r>
              <a:rPr lang="en-US" dirty="0"/>
              <a:t>=</a:t>
            </a:r>
            <a:r>
              <a:rPr lang="en-US" dirty="0" err="1"/>
              <a:t>yr</a:t>
            </a:r>
            <a:r>
              <a:rPr lang="en-US" dirty="0"/>
              <a:t>-step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pygame.K_DOWN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yr</a:t>
            </a:r>
            <a:r>
              <a:rPr lang="en-US" dirty="0"/>
              <a:t>=</a:t>
            </a:r>
            <a:r>
              <a:rPr lang="en-US" dirty="0" err="1"/>
              <a:t>yr+step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89542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Функция проверки столкновения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proverka</a:t>
            </a:r>
            <a:r>
              <a:rPr lang="en-US" dirty="0"/>
              <a:t>(</a:t>
            </a:r>
            <a:r>
              <a:rPr lang="en-US" dirty="0" err="1"/>
              <a:t>x,y,xr,yr,width,heigth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global </a:t>
            </a:r>
            <a:r>
              <a:rPr lang="en-US" dirty="0" err="1"/>
              <a:t>dx,n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(y&gt;=(</a:t>
            </a:r>
            <a:r>
              <a:rPr lang="en-US" dirty="0" err="1"/>
              <a:t>yr</a:t>
            </a:r>
            <a:r>
              <a:rPr lang="en-US" dirty="0"/>
              <a:t>-r))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(y&lt;=(</a:t>
            </a:r>
            <a:r>
              <a:rPr lang="en-US" dirty="0" err="1"/>
              <a:t>yr+heigth</a:t>
            </a:r>
            <a:r>
              <a:rPr lang="en-US" dirty="0"/>
              <a:t>))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 </a:t>
            </a:r>
            <a:r>
              <a:rPr lang="en-US" dirty="0"/>
              <a:t>(x&gt;=(</a:t>
            </a:r>
            <a:r>
              <a:rPr lang="en-US" dirty="0" err="1"/>
              <a:t>xr</a:t>
            </a:r>
            <a:r>
              <a:rPr lang="en-US" dirty="0"/>
              <a:t>-r))and (x&lt;(</a:t>
            </a:r>
            <a:r>
              <a:rPr lang="en-US" dirty="0" err="1"/>
              <a:t>xr+width</a:t>
            </a:r>
            <a:r>
              <a:rPr lang="en-US" dirty="0"/>
              <a:t>)):</a:t>
            </a:r>
          </a:p>
          <a:p>
            <a:pPr marL="0" indent="0">
              <a:buNone/>
            </a:pPr>
            <a:r>
              <a:rPr lang="en-US" dirty="0"/>
              <a:t>        dx=-dx</a:t>
            </a:r>
          </a:p>
          <a:p>
            <a:pPr marL="0" indent="0">
              <a:buNone/>
            </a:pPr>
            <a:r>
              <a:rPr lang="en-US" dirty="0"/>
              <a:t>        n=n+1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schet</a:t>
            </a:r>
            <a:r>
              <a:rPr lang="en-US" dirty="0"/>
              <a:t>(n)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47574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smtClean="0"/>
              <a:t>Функция счета очков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schet</a:t>
            </a:r>
            <a:r>
              <a:rPr lang="en-US" dirty="0"/>
              <a:t>(n):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global</a:t>
            </a:r>
            <a:r>
              <a:rPr lang="en-US" dirty="0"/>
              <a:t> text</a:t>
            </a:r>
          </a:p>
          <a:p>
            <a:pPr marL="0" indent="0">
              <a:buNone/>
            </a:pPr>
            <a:r>
              <a:rPr lang="en-US" dirty="0"/>
              <a:t>    text 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 </a:t>
            </a:r>
            <a:r>
              <a:rPr lang="ru-RU" dirty="0">
                <a:solidFill>
                  <a:srgbClr val="00B050"/>
                </a:solidFill>
              </a:rPr>
              <a:t>Очки "</a:t>
            </a:r>
            <a:r>
              <a:rPr lang="ru-RU" dirty="0"/>
              <a:t>+</a:t>
            </a:r>
            <a:r>
              <a:rPr lang="en-US" dirty="0" err="1"/>
              <a:t>str</a:t>
            </a:r>
            <a:r>
              <a:rPr lang="en-US" dirty="0"/>
              <a:t>(n),True, THECOLORS [</a:t>
            </a:r>
            <a:r>
              <a:rPr lang="en-US" dirty="0">
                <a:solidFill>
                  <a:srgbClr val="00B050"/>
                </a:solidFill>
              </a:rPr>
              <a:t>"blue"</a:t>
            </a:r>
            <a:r>
              <a:rPr lang="en-US" dirty="0"/>
              <a:t>])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179594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#Неуправляемое и управляемое движение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 smtClean="0"/>
              <a:t> </a:t>
            </a:r>
            <a:r>
              <a:rPr lang="en-US" dirty="0" err="1"/>
              <a:t>pygame</a:t>
            </a:r>
            <a:r>
              <a:rPr lang="en-US" dirty="0"/>
              <a:t>, sys, random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pygame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dirty="0"/>
              <a:t> font</a:t>
            </a:r>
          </a:p>
          <a:p>
            <a:pPr marL="0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pygame.color</a:t>
            </a:r>
            <a:r>
              <a:rPr lang="en-US" dirty="0"/>
              <a:t> import THECOLORS</a:t>
            </a:r>
          </a:p>
          <a:p>
            <a:pPr marL="0" indent="0">
              <a:buNone/>
            </a:pPr>
            <a:r>
              <a:rPr lang="en-US" dirty="0"/>
              <a:t>font = </a:t>
            </a:r>
            <a:r>
              <a:rPr lang="en-US" dirty="0" err="1"/>
              <a:t>pygame.font.Font</a:t>
            </a:r>
            <a:r>
              <a:rPr lang="en-US" dirty="0"/>
              <a:t>(None, 24)</a:t>
            </a:r>
          </a:p>
          <a:p>
            <a:pPr marL="0" indent="0">
              <a:buNone/>
            </a:pPr>
            <a:r>
              <a:rPr lang="en-US" dirty="0" err="1"/>
              <a:t>screenX</a:t>
            </a:r>
            <a:r>
              <a:rPr lang="en-US" dirty="0"/>
              <a:t>=900</a:t>
            </a:r>
          </a:p>
          <a:p>
            <a:pPr marL="0" indent="0">
              <a:buNone/>
            </a:pPr>
            <a:r>
              <a:rPr lang="en-US" dirty="0" err="1"/>
              <a:t>screenY</a:t>
            </a:r>
            <a:r>
              <a:rPr lang="en-US" dirty="0"/>
              <a:t>=600</a:t>
            </a:r>
          </a:p>
          <a:p>
            <a:pPr marL="0" indent="0">
              <a:buNone/>
            </a:pPr>
            <a:r>
              <a:rPr lang="en-US" dirty="0"/>
              <a:t>screen = </a:t>
            </a:r>
            <a:r>
              <a:rPr lang="en-US" dirty="0" err="1"/>
              <a:t>pygame.display.set_mode</a:t>
            </a:r>
            <a:r>
              <a:rPr lang="en-US" dirty="0"/>
              <a:t>([</a:t>
            </a:r>
            <a:r>
              <a:rPr lang="en-US" dirty="0" err="1"/>
              <a:t>screenX,screenY</a:t>
            </a:r>
            <a:r>
              <a:rPr lang="en-US" dirty="0"/>
              <a:t>])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9568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x=40</a:t>
            </a:r>
          </a:p>
          <a:p>
            <a:pPr marL="0" indent="0">
              <a:buNone/>
            </a:pPr>
            <a:r>
              <a:rPr lang="en-US" dirty="0"/>
              <a:t>y=480</a:t>
            </a:r>
          </a:p>
          <a:p>
            <a:pPr marL="0" indent="0">
              <a:buNone/>
            </a:pPr>
            <a:r>
              <a:rPr lang="en-US" dirty="0"/>
              <a:t>dx=2</a:t>
            </a:r>
          </a:p>
          <a:p>
            <a:pPr marL="0" indent="0">
              <a:buNone/>
            </a:pPr>
            <a:r>
              <a:rPr lang="en-US" dirty="0" err="1"/>
              <a:t>dy</a:t>
            </a:r>
            <a:r>
              <a:rPr lang="en-US" dirty="0"/>
              <a:t>=2</a:t>
            </a:r>
          </a:p>
          <a:p>
            <a:pPr marL="0" indent="0">
              <a:buNone/>
            </a:pPr>
            <a:r>
              <a:rPr lang="en-US" dirty="0"/>
              <a:t>r=20</a:t>
            </a:r>
          </a:p>
          <a:p>
            <a:pPr marL="0" indent="0">
              <a:buNone/>
            </a:pPr>
            <a:r>
              <a:rPr lang="en-US" dirty="0" err="1"/>
              <a:t>xr</a:t>
            </a:r>
            <a:r>
              <a:rPr lang="en-US" dirty="0"/>
              <a:t>=750</a:t>
            </a:r>
          </a:p>
          <a:p>
            <a:pPr marL="0" indent="0">
              <a:buNone/>
            </a:pPr>
            <a:r>
              <a:rPr lang="en-US" dirty="0" err="1"/>
              <a:t>yr</a:t>
            </a:r>
            <a:r>
              <a:rPr lang="en-US" dirty="0"/>
              <a:t>=200</a:t>
            </a:r>
          </a:p>
          <a:p>
            <a:pPr marL="0" indent="0">
              <a:buNone/>
            </a:pPr>
            <a:r>
              <a:rPr lang="en-US" dirty="0"/>
              <a:t>width=30</a:t>
            </a:r>
          </a:p>
          <a:p>
            <a:pPr marL="0" indent="0">
              <a:buNone/>
            </a:pPr>
            <a:r>
              <a:rPr lang="en-US" dirty="0" err="1"/>
              <a:t>heigth</a:t>
            </a:r>
            <a:r>
              <a:rPr lang="en-US" dirty="0"/>
              <a:t>=200</a:t>
            </a:r>
          </a:p>
          <a:p>
            <a:pPr marL="0" indent="0">
              <a:buNone/>
            </a:pPr>
            <a:r>
              <a:rPr lang="en-US" dirty="0"/>
              <a:t>step=10</a:t>
            </a:r>
          </a:p>
          <a:p>
            <a:pPr marL="0" indent="0">
              <a:buNone/>
            </a:pPr>
            <a:r>
              <a:rPr lang="en-US" dirty="0"/>
              <a:t>n=0</a:t>
            </a:r>
          </a:p>
          <a:p>
            <a:pPr marL="0" indent="0">
              <a:buNone/>
            </a:pPr>
            <a:r>
              <a:rPr lang="en-US" dirty="0"/>
              <a:t>color=THECOLORS[</a:t>
            </a:r>
            <a:r>
              <a:rPr lang="en-US" dirty="0">
                <a:solidFill>
                  <a:srgbClr val="00B050"/>
                </a:solidFill>
              </a:rPr>
              <a:t>'red'</a:t>
            </a:r>
            <a:r>
              <a:rPr lang="en-US" dirty="0"/>
              <a:t>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09863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/>
              <a:t>schet</a:t>
            </a:r>
            <a:r>
              <a:rPr lang="en-US" dirty="0"/>
              <a:t>(n):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globa</a:t>
            </a:r>
            <a:r>
              <a:rPr lang="en-US" dirty="0"/>
              <a:t>l text</a:t>
            </a:r>
          </a:p>
          <a:p>
            <a:pPr marL="0" indent="0">
              <a:buNone/>
            </a:pPr>
            <a:r>
              <a:rPr lang="en-US" dirty="0"/>
              <a:t>    text 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 </a:t>
            </a:r>
            <a:r>
              <a:rPr lang="ru-RU" dirty="0">
                <a:solidFill>
                  <a:srgbClr val="00B050"/>
                </a:solidFill>
              </a:rPr>
              <a:t>Очки "</a:t>
            </a:r>
            <a:r>
              <a:rPr lang="ru-RU" dirty="0"/>
              <a:t>+</a:t>
            </a:r>
            <a:r>
              <a:rPr lang="en-US" dirty="0" err="1">
                <a:solidFill>
                  <a:srgbClr val="7030A0"/>
                </a:solidFill>
              </a:rPr>
              <a:t>str</a:t>
            </a:r>
            <a:r>
              <a:rPr lang="en-US" dirty="0"/>
              <a:t>(n),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dirty="0"/>
              <a:t>, THECOLORS [</a:t>
            </a:r>
            <a:r>
              <a:rPr lang="en-US" dirty="0">
                <a:solidFill>
                  <a:srgbClr val="00B050"/>
                </a:solidFill>
              </a:rPr>
              <a:t>"blue"</a:t>
            </a:r>
            <a:r>
              <a:rPr lang="en-US" dirty="0"/>
              <a:t>])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29112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move_ball</a:t>
            </a:r>
            <a:r>
              <a:rPr lang="en-US" dirty="0"/>
              <a:t>(</a:t>
            </a:r>
            <a:r>
              <a:rPr lang="en-US" dirty="0" err="1"/>
              <a:t>r,color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global </a:t>
            </a:r>
            <a:r>
              <a:rPr lang="en-US" dirty="0" err="1"/>
              <a:t>x,y,dx,dy,n,text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x=</a:t>
            </a:r>
            <a:r>
              <a:rPr lang="en-US" dirty="0" err="1"/>
              <a:t>x+dx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y=</a:t>
            </a:r>
            <a:r>
              <a:rPr lang="en-US" dirty="0" err="1"/>
              <a:t>y+dy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pygame.draw.circle</a:t>
            </a:r>
            <a:r>
              <a:rPr lang="en-US" dirty="0"/>
              <a:t>(</a:t>
            </a:r>
            <a:r>
              <a:rPr lang="en-US" dirty="0" err="1"/>
              <a:t>screen,color</a:t>
            </a:r>
            <a:r>
              <a:rPr lang="en-US" dirty="0"/>
              <a:t>,[</a:t>
            </a:r>
            <a:r>
              <a:rPr lang="en-US" dirty="0" err="1"/>
              <a:t>x,y</a:t>
            </a:r>
            <a:r>
              <a:rPr lang="en-US" dirty="0"/>
              <a:t>], r, 0)#</a:t>
            </a:r>
            <a:r>
              <a:rPr lang="ru-RU" dirty="0"/>
              <a:t>Движение шарика</a:t>
            </a:r>
          </a:p>
          <a:p>
            <a:pPr marL="0" indent="0">
              <a:buNone/>
            </a:pPr>
            <a:r>
              <a:rPr lang="ru-RU" dirty="0"/>
              <a:t>   </a:t>
            </a:r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dirty="0"/>
              <a:t>(x&gt;=</a:t>
            </a:r>
            <a:r>
              <a:rPr lang="en-US" dirty="0" err="1"/>
              <a:t>screenX</a:t>
            </a:r>
            <a:r>
              <a:rPr lang="en-US" dirty="0"/>
              <a:t>-r):</a:t>
            </a:r>
          </a:p>
          <a:p>
            <a:pPr marL="0" indent="0">
              <a:buNone/>
            </a:pPr>
            <a:r>
              <a:rPr lang="en-US" dirty="0"/>
              <a:t>        x=40</a:t>
            </a:r>
          </a:p>
          <a:p>
            <a:pPr marL="0" indent="0">
              <a:buNone/>
            </a:pPr>
            <a:r>
              <a:rPr lang="en-US" dirty="0"/>
              <a:t>        y=</a:t>
            </a:r>
            <a:r>
              <a:rPr lang="en-US" dirty="0" err="1"/>
              <a:t>random.randint</a:t>
            </a:r>
            <a:r>
              <a:rPr lang="en-US" dirty="0"/>
              <a:t>(10, 400)</a:t>
            </a:r>
          </a:p>
          <a:p>
            <a:pPr marL="0" indent="0">
              <a:buNone/>
            </a:pPr>
            <a:r>
              <a:rPr lang="en-US" dirty="0"/>
              <a:t>        n=n-2</a:t>
            </a:r>
          </a:p>
          <a:p>
            <a:pPr marL="0" indent="0">
              <a:buNone/>
            </a:pPr>
            <a:r>
              <a:rPr lang="en-US" dirty="0"/>
              <a:t>        text = </a:t>
            </a:r>
            <a:r>
              <a:rPr lang="en-US" dirty="0" err="1"/>
              <a:t>font.render</a:t>
            </a:r>
            <a:r>
              <a:rPr lang="en-US" dirty="0"/>
              <a:t>(</a:t>
            </a:r>
            <a:r>
              <a:rPr lang="en-US" dirty="0">
                <a:solidFill>
                  <a:srgbClr val="00B050"/>
                </a:solidFill>
              </a:rPr>
              <a:t>" </a:t>
            </a:r>
            <a:r>
              <a:rPr lang="ru-RU" dirty="0">
                <a:solidFill>
                  <a:srgbClr val="00B050"/>
                </a:solidFill>
              </a:rPr>
              <a:t>Очки "</a:t>
            </a:r>
            <a:r>
              <a:rPr lang="ru-RU" dirty="0"/>
              <a:t>+</a:t>
            </a:r>
            <a:r>
              <a:rPr lang="en-US" dirty="0" err="1"/>
              <a:t>str</a:t>
            </a:r>
            <a:r>
              <a:rPr lang="en-US" dirty="0"/>
              <a:t>(n),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dirty="0"/>
              <a:t>, THECOLORS [</a:t>
            </a:r>
            <a:r>
              <a:rPr lang="en-US" dirty="0">
                <a:solidFill>
                  <a:srgbClr val="00B050"/>
                </a:solidFill>
              </a:rPr>
              <a:t>"blue"</a:t>
            </a:r>
            <a:r>
              <a:rPr lang="en-US" dirty="0"/>
              <a:t>])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(x&lt;=r):</a:t>
            </a:r>
          </a:p>
          <a:p>
            <a:pPr marL="0" indent="0">
              <a:buNone/>
            </a:pPr>
            <a:r>
              <a:rPr lang="en-US" dirty="0"/>
              <a:t>        dx=-dx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 </a:t>
            </a:r>
            <a:r>
              <a:rPr lang="en-US" dirty="0"/>
              <a:t>(y&lt;=r)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or </a:t>
            </a:r>
            <a:r>
              <a:rPr lang="en-US" dirty="0"/>
              <a:t>(y&gt;=</a:t>
            </a:r>
            <a:r>
              <a:rPr lang="en-US" dirty="0" err="1"/>
              <a:t>screenY</a:t>
            </a:r>
            <a:r>
              <a:rPr lang="en-US" dirty="0"/>
              <a:t>-r):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dy</a:t>
            </a:r>
            <a:r>
              <a:rPr lang="en-US" dirty="0"/>
              <a:t>=-</a:t>
            </a:r>
            <a:r>
              <a:rPr lang="en-US" dirty="0" err="1"/>
              <a:t>dy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70334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proverka</a:t>
            </a:r>
            <a:r>
              <a:rPr lang="en-US" dirty="0"/>
              <a:t>(</a:t>
            </a:r>
            <a:r>
              <a:rPr lang="en-US" dirty="0" err="1"/>
              <a:t>x,y,xr,yr,width,heigth</a:t>
            </a:r>
            <a:r>
              <a:rPr lang="en-US" dirty="0"/>
              <a:t>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globa</a:t>
            </a:r>
            <a:r>
              <a:rPr lang="en-US" dirty="0"/>
              <a:t>l </a:t>
            </a:r>
            <a:r>
              <a:rPr lang="en-US" dirty="0" err="1"/>
              <a:t>dx,n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(y&gt;=(</a:t>
            </a:r>
            <a:r>
              <a:rPr lang="en-US" dirty="0" err="1"/>
              <a:t>yr</a:t>
            </a:r>
            <a:r>
              <a:rPr lang="en-US" dirty="0"/>
              <a:t>-r))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(y&lt;=(</a:t>
            </a:r>
            <a:r>
              <a:rPr lang="en-US" dirty="0" err="1"/>
              <a:t>yr+heigth</a:t>
            </a:r>
            <a:r>
              <a:rPr lang="en-US" dirty="0"/>
              <a:t>))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(x&gt;=(</a:t>
            </a:r>
            <a:r>
              <a:rPr lang="en-US" dirty="0" err="1"/>
              <a:t>xr</a:t>
            </a:r>
            <a:r>
              <a:rPr lang="en-US" dirty="0"/>
              <a:t>-r))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dirty="0"/>
              <a:t> (x&lt;(</a:t>
            </a:r>
            <a:r>
              <a:rPr lang="en-US" dirty="0" err="1"/>
              <a:t>xr+width</a:t>
            </a:r>
            <a:r>
              <a:rPr lang="en-US" dirty="0"/>
              <a:t>)):</a:t>
            </a:r>
          </a:p>
          <a:p>
            <a:pPr marL="0" indent="0">
              <a:buNone/>
            </a:pPr>
            <a:r>
              <a:rPr lang="en-US" dirty="0"/>
              <a:t>        dx=-dx</a:t>
            </a:r>
          </a:p>
          <a:p>
            <a:pPr marL="0" indent="0">
              <a:buNone/>
            </a:pPr>
            <a:r>
              <a:rPr lang="en-US" dirty="0"/>
              <a:t>        n=n+1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schet</a:t>
            </a:r>
            <a:r>
              <a:rPr lang="en-US" dirty="0"/>
              <a:t>(n)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68742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move_racet</a:t>
            </a:r>
            <a:r>
              <a:rPr lang="en-US" dirty="0"/>
              <a:t>(step):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global</a:t>
            </a:r>
            <a:r>
              <a:rPr lang="en-US" dirty="0"/>
              <a:t> </a:t>
            </a:r>
            <a:r>
              <a:rPr lang="en-US" dirty="0" err="1"/>
              <a:t>yr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dirty="0"/>
              <a:t>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pygame.K_UP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yr</a:t>
            </a:r>
            <a:r>
              <a:rPr lang="en-US" dirty="0"/>
              <a:t>=</a:t>
            </a:r>
            <a:r>
              <a:rPr lang="en-US" dirty="0" err="1"/>
              <a:t>yr</a:t>
            </a:r>
            <a:r>
              <a:rPr lang="en-US" dirty="0"/>
              <a:t>-step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dirty="0"/>
              <a:t> </a:t>
            </a:r>
            <a:r>
              <a:rPr lang="en-US" dirty="0" err="1"/>
              <a:t>event.key</a:t>
            </a:r>
            <a:r>
              <a:rPr lang="en-US" dirty="0"/>
              <a:t> == </a:t>
            </a:r>
            <a:r>
              <a:rPr lang="en-US" dirty="0" err="1"/>
              <a:t>pygame.K_DOWN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yr</a:t>
            </a:r>
            <a:r>
              <a:rPr lang="en-US" dirty="0"/>
              <a:t>=</a:t>
            </a:r>
            <a:r>
              <a:rPr lang="en-US" dirty="0" err="1"/>
              <a:t>yr+step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50647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pygame.draw.circle</a:t>
            </a:r>
            <a:r>
              <a:rPr lang="en-US" sz="2400" dirty="0"/>
              <a:t>(screen, color,[</a:t>
            </a:r>
            <a:r>
              <a:rPr lang="en-US" sz="2400" dirty="0" err="1"/>
              <a:t>x,y</a:t>
            </a:r>
            <a:r>
              <a:rPr lang="en-US" sz="2400" dirty="0"/>
              <a:t>], r, 0)</a:t>
            </a:r>
          </a:p>
          <a:p>
            <a:pPr marL="0" indent="0">
              <a:buNone/>
            </a:pPr>
            <a:r>
              <a:rPr lang="en-US" sz="2400" dirty="0" err="1"/>
              <a:t>pygame.draw.rect</a:t>
            </a:r>
            <a:r>
              <a:rPr lang="en-US" sz="2400" dirty="0"/>
              <a:t>(</a:t>
            </a:r>
            <a:r>
              <a:rPr lang="en-US" sz="2400" dirty="0" err="1"/>
              <a:t>screen,THECOLORS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B050"/>
                </a:solidFill>
              </a:rPr>
              <a:t>'brown'</a:t>
            </a:r>
            <a:r>
              <a:rPr lang="en-US" sz="2400" dirty="0"/>
              <a:t>] , [</a:t>
            </a:r>
            <a:r>
              <a:rPr lang="en-US" sz="2400" dirty="0" err="1"/>
              <a:t>xr</a:t>
            </a:r>
            <a:r>
              <a:rPr lang="en-US" sz="2400" dirty="0"/>
              <a:t>, </a:t>
            </a:r>
            <a:r>
              <a:rPr lang="en-US" sz="2400" dirty="0" err="1"/>
              <a:t>yr</a:t>
            </a:r>
            <a:r>
              <a:rPr lang="en-US" sz="2400" dirty="0"/>
              <a:t>, width, </a:t>
            </a:r>
            <a:r>
              <a:rPr lang="en-US" sz="2400" dirty="0" err="1"/>
              <a:t>heigth</a:t>
            </a:r>
            <a:r>
              <a:rPr lang="en-US" sz="2400" dirty="0"/>
              <a:t>], 0)</a:t>
            </a:r>
          </a:p>
          <a:p>
            <a:pPr marL="0" indent="0">
              <a:buNone/>
            </a:pPr>
            <a:r>
              <a:rPr lang="en-US" sz="2400" dirty="0"/>
              <a:t>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 </a:t>
            </a:r>
            <a:r>
              <a:rPr lang="ru-RU" sz="2400" dirty="0">
                <a:solidFill>
                  <a:srgbClr val="00B050"/>
                </a:solidFill>
              </a:rPr>
              <a:t>Очки "</a:t>
            </a:r>
            <a:r>
              <a:rPr lang="ru-RU" sz="2400" dirty="0"/>
              <a:t>+</a:t>
            </a:r>
            <a:r>
              <a:rPr lang="en-US" sz="2400" dirty="0" err="1"/>
              <a:t>str</a:t>
            </a:r>
            <a:r>
              <a:rPr lang="en-US" sz="2400" dirty="0"/>
              <a:t>(n),True, THECOLORS [</a:t>
            </a:r>
            <a:r>
              <a:rPr lang="en-US" sz="2400" dirty="0">
                <a:solidFill>
                  <a:srgbClr val="00B050"/>
                </a:solidFill>
              </a:rPr>
              <a:t>"blue"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delay = 100</a:t>
            </a:r>
          </a:p>
          <a:p>
            <a:pPr marL="0" indent="0">
              <a:buNone/>
            </a:pPr>
            <a:r>
              <a:rPr lang="en-US" sz="2400" dirty="0"/>
              <a:t>interval = 50</a:t>
            </a:r>
          </a:p>
          <a:p>
            <a:pPr marL="0" indent="0">
              <a:buNone/>
            </a:pPr>
            <a:r>
              <a:rPr lang="en-US" sz="2400" dirty="0" err="1"/>
              <a:t>pygame.key.set_repeat</a:t>
            </a:r>
            <a:r>
              <a:rPr lang="en-US" sz="2400" dirty="0"/>
              <a:t>(delay, interval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pPr marL="0" indent="0">
              <a:buNone/>
            </a:pPr>
            <a:r>
              <a:rPr lang="en-US" sz="2400" dirty="0"/>
              <a:t>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26020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screen.fill</a:t>
            </a:r>
            <a:r>
              <a:rPr lang="en-US" sz="2400" dirty="0"/>
              <a:t>(THECOLORS[</a:t>
            </a:r>
            <a:r>
              <a:rPr lang="en-US" sz="2400" dirty="0">
                <a:solidFill>
                  <a:srgbClr val="00B050"/>
                </a:solidFill>
              </a:rPr>
              <a:t>'white'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screen.blit</a:t>
            </a:r>
            <a:r>
              <a:rPr lang="en-US" sz="2400" dirty="0"/>
              <a:t>(text, [250, 50] 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move_ball</a:t>
            </a:r>
            <a:r>
              <a:rPr lang="en-US" sz="2400" dirty="0"/>
              <a:t>(</a:t>
            </a:r>
            <a:r>
              <a:rPr lang="en-US" sz="2400" dirty="0" err="1"/>
              <a:t>r,color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proverka</a:t>
            </a:r>
            <a:r>
              <a:rPr lang="en-US" sz="2400" dirty="0"/>
              <a:t>(</a:t>
            </a:r>
            <a:r>
              <a:rPr lang="en-US" sz="2400" dirty="0" err="1"/>
              <a:t>x,y,xr,yr,width,heigth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pygame.time.delay</a:t>
            </a:r>
            <a:r>
              <a:rPr lang="en-US" sz="2400" dirty="0"/>
              <a:t>(10)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for </a:t>
            </a:r>
            <a:r>
              <a:rPr lang="en-US" sz="2400" dirty="0"/>
              <a:t>event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sz="2400" dirty="0"/>
              <a:t>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running = False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pygame.KEYDOWN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 </a:t>
            </a:r>
            <a:r>
              <a:rPr lang="en-US" sz="2400" dirty="0" err="1"/>
              <a:t>move_racet</a:t>
            </a:r>
            <a:r>
              <a:rPr lang="en-US" sz="2400" dirty="0"/>
              <a:t>(step)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pygame.draw.rect</a:t>
            </a:r>
            <a:r>
              <a:rPr lang="en-US" sz="2400" dirty="0"/>
              <a:t>(</a:t>
            </a:r>
            <a:r>
              <a:rPr lang="en-US" sz="2400" dirty="0" err="1"/>
              <a:t>screen,THECOLORS</a:t>
            </a:r>
            <a:r>
              <a:rPr lang="en-US" sz="2400" dirty="0"/>
              <a:t>[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'brown'</a:t>
            </a:r>
            <a:r>
              <a:rPr lang="en-US" sz="2400" dirty="0"/>
              <a:t>] , [</a:t>
            </a:r>
            <a:r>
              <a:rPr lang="en-US" sz="2400" dirty="0" err="1"/>
              <a:t>xr</a:t>
            </a:r>
            <a:r>
              <a:rPr lang="en-US" sz="2400" dirty="0"/>
              <a:t>, </a:t>
            </a:r>
            <a:r>
              <a:rPr lang="en-US" sz="2400" dirty="0" err="1"/>
              <a:t>yr</a:t>
            </a:r>
            <a:r>
              <a:rPr lang="en-US" sz="2400" dirty="0"/>
              <a:t>, width, </a:t>
            </a:r>
            <a:r>
              <a:rPr lang="en-US" sz="2400" dirty="0" err="1"/>
              <a:t>heigth</a:t>
            </a:r>
            <a:r>
              <a:rPr lang="en-US" sz="2400" dirty="0"/>
              <a:t>], 0)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96343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 </a:t>
            </a:r>
            <a:r>
              <a:rPr lang="ru-RU" sz="2400" dirty="0" err="1"/>
              <a:t>Python</a:t>
            </a:r>
            <a:r>
              <a:rPr lang="ru-RU" sz="2400" dirty="0"/>
              <a:t> модулями называются небольшие фрагменты большой программы. Каждый модуль находится в отдельном файле на жестком диске вашего компьютера. </a:t>
            </a:r>
            <a:endParaRPr lang="ru-RU" sz="2400" dirty="0" smtClean="0"/>
          </a:p>
          <a:p>
            <a:r>
              <a:rPr lang="ru-RU" sz="2400" dirty="0" smtClean="0"/>
              <a:t>Можно </a:t>
            </a:r>
            <a:r>
              <a:rPr lang="ru-RU" sz="2400" dirty="0"/>
              <a:t>взять большую программу и разбить ее на несколько модулей, или файлов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 </a:t>
            </a:r>
            <a:r>
              <a:rPr lang="ru-RU" sz="2400" dirty="0"/>
              <a:t>А можно пойти другим путем — начать с маленького модуля и, добавляя фрагменты, создать большую программу.</a:t>
            </a:r>
          </a:p>
          <a:p>
            <a:r>
              <a:rPr lang="ru-RU" sz="2400" dirty="0"/>
              <a:t>Давайте создадим модуль.</a:t>
            </a:r>
          </a:p>
        </p:txBody>
      </p:sp>
    </p:spTree>
    <p:extLst>
      <p:ext uri="{BB962C8B-B14F-4D97-AF65-F5344CB8AC3E}">
        <p14:creationId xmlns:p14="http://schemas.microsoft.com/office/powerpoint/2010/main" xmlns="" val="3269206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Введите код </a:t>
            </a:r>
            <a:r>
              <a:rPr lang="ru-RU" sz="2400" dirty="0" smtClean="0"/>
              <a:t>в </a:t>
            </a:r>
            <a:r>
              <a:rPr lang="ru-RU" sz="2400" dirty="0"/>
              <a:t>IDLE-редактор и сохраните его под именем </a:t>
            </a:r>
            <a:r>
              <a:rPr lang="ru-RU" sz="2400" i="1" dirty="0"/>
              <a:t>my_module.py</a:t>
            </a:r>
            <a:r>
              <a:rPr lang="ru-RU" sz="2400" dirty="0" smtClean="0"/>
              <a:t>.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# </a:t>
            </a:r>
            <a:r>
              <a:rPr lang="ru-RU" sz="2400" i="1" dirty="0">
                <a:solidFill>
                  <a:srgbClr val="FF0000"/>
                </a:solidFill>
              </a:rPr>
              <a:t>это файл</a:t>
            </a:r>
            <a:r>
              <a:rPr lang="en-US" sz="2400" i="1" dirty="0">
                <a:solidFill>
                  <a:srgbClr val="FF0000"/>
                </a:solidFill>
              </a:rPr>
              <a:t> "my_module.py"</a:t>
            </a:r>
            <a:endParaRPr lang="ru-RU" sz="2400" dirty="0">
              <a:solidFill>
                <a:srgbClr val="FF0000"/>
              </a:solidFill>
            </a:endParaRPr>
          </a:p>
          <a:p>
            <a:r>
              <a:rPr lang="ru-RU" sz="2400" i="1" dirty="0">
                <a:solidFill>
                  <a:srgbClr val="FF0000"/>
                </a:solidFill>
              </a:rPr>
              <a:t># мы собираемся использовать его в другой программе</a:t>
            </a:r>
            <a:endParaRPr lang="ru-RU" sz="2400" dirty="0">
              <a:solidFill>
                <a:srgbClr val="FF0000"/>
              </a:solidFill>
            </a:endParaRPr>
          </a:p>
          <a:p>
            <a:r>
              <a:rPr lang="en-US" sz="2400" i="1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sz="2400" b="1" i="1" dirty="0"/>
              <a:t> </a:t>
            </a:r>
            <a:r>
              <a:rPr lang="en-US" sz="2400" i="1" dirty="0" err="1"/>
              <a:t>c_to_f</a:t>
            </a:r>
            <a:r>
              <a:rPr lang="en-US" sz="2400" i="1" dirty="0"/>
              <a:t>(</a:t>
            </a:r>
            <a:r>
              <a:rPr lang="en-US" sz="2400" i="1" dirty="0" err="1"/>
              <a:t>celsius</a:t>
            </a:r>
            <a:r>
              <a:rPr lang="en-US" sz="2400" i="1" dirty="0"/>
              <a:t>):</a:t>
            </a:r>
            <a:endParaRPr lang="ru-RU" sz="2400" dirty="0"/>
          </a:p>
          <a:p>
            <a:pPr lvl="1"/>
            <a:r>
              <a:rPr lang="en-US" sz="2000" i="1" dirty="0" err="1"/>
              <a:t>fahrenheit</a:t>
            </a:r>
            <a:r>
              <a:rPr lang="en-US" sz="2000" i="1" dirty="0"/>
              <a:t> = </a:t>
            </a:r>
            <a:r>
              <a:rPr lang="en-US" sz="2000" i="1" dirty="0" err="1"/>
              <a:t>celsius</a:t>
            </a:r>
            <a:r>
              <a:rPr lang="en-US" sz="2000" i="1" dirty="0"/>
              <a:t> * 9.0 / 5 + 32</a:t>
            </a:r>
            <a:endParaRPr lang="ru-RU" sz="2000" dirty="0"/>
          </a:p>
          <a:p>
            <a:pPr lvl="1"/>
            <a:r>
              <a:rPr lang="en-US" sz="2000" i="1" dirty="0"/>
              <a:t>return</a:t>
            </a:r>
            <a:r>
              <a:rPr lang="en-US" sz="2000" b="1" i="1" dirty="0"/>
              <a:t> </a:t>
            </a:r>
            <a:r>
              <a:rPr lang="en-US" sz="2000" i="1" dirty="0"/>
              <a:t>Fahrenheit</a:t>
            </a:r>
            <a:endParaRPr lang="ru-RU" sz="2000" dirty="0"/>
          </a:p>
          <a:p>
            <a:r>
              <a:rPr lang="en-US" sz="2400" dirty="0"/>
              <a:t> </a:t>
            </a:r>
            <a:endParaRPr lang="ru-RU" sz="2400" dirty="0"/>
          </a:p>
          <a:p>
            <a:r>
              <a:rPr lang="ru-RU" sz="2400" dirty="0"/>
              <a:t>Готово</a:t>
            </a:r>
            <a:r>
              <a:rPr lang="en-US" sz="2400" dirty="0"/>
              <a:t>! </a:t>
            </a:r>
            <a:r>
              <a:rPr lang="ru-RU" sz="2400" dirty="0"/>
              <a:t>Вы только что создали модуль! Он содержит единственную функцию </a:t>
            </a:r>
            <a:r>
              <a:rPr lang="ru-RU" sz="2400" dirty="0" err="1"/>
              <a:t>c_to_f</a:t>
            </a:r>
            <a:r>
              <a:rPr lang="ru-RU" sz="2400" dirty="0"/>
              <a:t>(),выполняющую преобразование температуры из градусов Цельсия в градусы Фаренгейта.</a:t>
            </a:r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2653992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Теперь воспользуемся модулем </a:t>
            </a:r>
            <a:r>
              <a:rPr lang="ru-RU" sz="2400" i="1" dirty="0"/>
              <a:t>my_module.py </a:t>
            </a:r>
            <a:r>
              <a:rPr lang="ru-RU" sz="2400" dirty="0"/>
              <a:t>в другой программе. </a:t>
            </a:r>
            <a:endParaRPr lang="ru-RU" sz="2400" dirty="0" smtClean="0"/>
          </a:p>
          <a:p>
            <a:r>
              <a:rPr lang="ru-RU" sz="2400" dirty="0" smtClean="0"/>
              <a:t>Если </a:t>
            </a:r>
            <a:r>
              <a:rPr lang="ru-RU" sz="2400" dirty="0"/>
              <a:t>вы хотите воспользоваться заключенной в модуле функциональностью, первым делом следует объяснить интерпретатору </a:t>
            </a:r>
            <a:r>
              <a:rPr lang="ru-RU" sz="2400" dirty="0" err="1"/>
              <a:t>Python</a:t>
            </a:r>
            <a:r>
              <a:rPr lang="ru-RU" sz="2400" dirty="0"/>
              <a:t>, какой модуль вам нужен. </a:t>
            </a:r>
            <a:endParaRPr lang="ru-RU" sz="2400" dirty="0" smtClean="0"/>
          </a:p>
          <a:p>
            <a:r>
              <a:rPr lang="ru-RU" sz="2400" dirty="0" smtClean="0"/>
              <a:t>Для </a:t>
            </a:r>
            <a:r>
              <a:rPr lang="ru-RU" sz="2400" dirty="0"/>
              <a:t>включения в программу сторонних модулей в </a:t>
            </a:r>
            <a:r>
              <a:rPr lang="ru-RU" sz="2400" dirty="0" err="1"/>
              <a:t>Python</a:t>
            </a:r>
            <a:r>
              <a:rPr lang="ru-RU" sz="2400" dirty="0"/>
              <a:t> существует ключевое слово </a:t>
            </a:r>
            <a:r>
              <a:rPr lang="ru-RU" sz="2400" dirty="0" err="1"/>
              <a:t>import</a:t>
            </a:r>
            <a:r>
              <a:rPr lang="ru-RU" sz="2400" dirty="0" smtClean="0"/>
              <a:t>. Вот </a:t>
            </a:r>
            <a:r>
              <a:rPr lang="ru-RU" sz="2400" dirty="0"/>
              <a:t>как оно используется:</a:t>
            </a:r>
          </a:p>
          <a:p>
            <a:r>
              <a:rPr lang="ru-RU" sz="2400" dirty="0"/>
              <a:t> </a:t>
            </a:r>
          </a:p>
          <a:p>
            <a:r>
              <a:rPr lang="ru-RU" sz="2400" i="1" dirty="0" err="1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ru-RU" sz="2400" b="1" i="1" dirty="0"/>
              <a:t> </a:t>
            </a:r>
            <a:r>
              <a:rPr lang="ru-RU" sz="2400" i="1" dirty="0" err="1"/>
              <a:t>my_module</a:t>
            </a:r>
            <a:endParaRPr lang="ru-RU" sz="2400" dirty="0"/>
          </a:p>
          <a:p>
            <a:r>
              <a:rPr lang="ru-RU" sz="2400" dirty="0"/>
              <a:t> </a:t>
            </a:r>
          </a:p>
          <a:p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200296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Давайте напишем программу, в которой будет фигурировать только что созданный нами модуль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 </a:t>
            </a:r>
            <a:r>
              <a:rPr lang="ru-RU" sz="2400" dirty="0"/>
              <a:t>Мы собираемся выполнить преобразование температуры при помощи функции </a:t>
            </a:r>
            <a:r>
              <a:rPr lang="ru-RU" sz="2400" dirty="0" err="1"/>
              <a:t>c_to_f</a:t>
            </a:r>
            <a:r>
              <a:rPr lang="ru-RU" sz="2400" dirty="0"/>
              <a:t>(). Вы уже умеете пользоваться функциями и передавать в них параметры (или аргументы). </a:t>
            </a:r>
            <a:endParaRPr lang="ru-RU" sz="2400" dirty="0" smtClean="0"/>
          </a:p>
          <a:p>
            <a:r>
              <a:rPr lang="ru-RU" sz="2400" dirty="0" smtClean="0"/>
              <a:t>Но </a:t>
            </a:r>
            <a:r>
              <a:rPr lang="ru-RU" sz="2400" dirty="0"/>
              <a:t>в данном случае функция находится в отдельном файле, не связанном с основной программой, поэтому нам потребуется ключевое слово </a:t>
            </a:r>
            <a:r>
              <a:rPr lang="ru-RU" sz="2400" dirty="0" err="1"/>
              <a:t>import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dirty="0" smtClean="0"/>
              <a:t>Представленная </a:t>
            </a:r>
            <a:r>
              <a:rPr lang="ru-RU" sz="2400" dirty="0"/>
              <a:t>программа использует созданный нами модуль </a:t>
            </a:r>
            <a:r>
              <a:rPr lang="ru-RU" sz="2400" i="1" dirty="0"/>
              <a:t>my_module.py</a:t>
            </a:r>
            <a:r>
              <a:rPr lang="ru-RU" sz="2400" dirty="0" smtClean="0"/>
              <a:t>.</a:t>
            </a:r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0832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err="1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ru-RU" sz="2400" b="1" dirty="0"/>
              <a:t> </a:t>
            </a:r>
            <a:r>
              <a:rPr lang="ru-RU" sz="2400" dirty="0" err="1"/>
              <a:t>my_module</a:t>
            </a:r>
            <a:endParaRPr lang="ru-RU" sz="2400" dirty="0"/>
          </a:p>
          <a:p>
            <a:r>
              <a:rPr lang="ru-RU" sz="2400" dirty="0" err="1"/>
              <a:t>celsius</a:t>
            </a:r>
            <a:r>
              <a:rPr lang="ru-RU" sz="2400" dirty="0"/>
              <a:t> = </a:t>
            </a:r>
            <a:r>
              <a:rPr lang="ru-RU" sz="2400" dirty="0" err="1" smtClean="0">
                <a:solidFill>
                  <a:srgbClr val="7030A0"/>
                </a:solidFill>
              </a:rPr>
              <a:t>float</a:t>
            </a:r>
            <a:r>
              <a:rPr lang="ru-RU" sz="2400" dirty="0" smtClean="0"/>
              <a:t>(</a:t>
            </a:r>
            <a:r>
              <a:rPr lang="ru-RU" sz="2400" dirty="0" err="1" smtClean="0">
                <a:solidFill>
                  <a:srgbClr val="7030A0"/>
                </a:solidFill>
              </a:rPr>
              <a:t>input</a:t>
            </a:r>
            <a:r>
              <a:rPr lang="ru-RU" sz="2400" dirty="0" smtClean="0"/>
              <a:t> </a:t>
            </a:r>
            <a:r>
              <a:rPr lang="ru-RU" sz="2400" dirty="0"/>
              <a:t>(</a:t>
            </a:r>
            <a:r>
              <a:rPr lang="ru-RU" sz="2400" dirty="0">
                <a:solidFill>
                  <a:srgbClr val="00B050"/>
                </a:solidFill>
              </a:rPr>
              <a:t>"Введите температуру в градусах Цельсия: "</a:t>
            </a:r>
            <a:r>
              <a:rPr lang="ru-RU" sz="2400" dirty="0"/>
              <a:t>))</a:t>
            </a:r>
          </a:p>
          <a:p>
            <a:r>
              <a:rPr lang="en-US" sz="2400" dirty="0" err="1"/>
              <a:t>fahrenheit</a:t>
            </a:r>
            <a:r>
              <a:rPr lang="en-US" sz="2400" dirty="0"/>
              <a:t> = </a:t>
            </a:r>
            <a:r>
              <a:rPr lang="en-US" sz="2400" dirty="0" err="1"/>
              <a:t>my_module.c_to_f</a:t>
            </a:r>
            <a:r>
              <a:rPr lang="en-US" sz="2400" dirty="0"/>
              <a:t>(</a:t>
            </a:r>
            <a:r>
              <a:rPr lang="en-US" sz="2400" dirty="0" err="1"/>
              <a:t>celsius</a:t>
            </a:r>
            <a:r>
              <a:rPr lang="en-US" sz="2400" dirty="0"/>
              <a:t>)</a:t>
            </a:r>
            <a:endParaRPr lang="ru-RU" sz="2400" dirty="0"/>
          </a:p>
          <a:p>
            <a:r>
              <a:rPr lang="en-US" sz="2400" dirty="0">
                <a:solidFill>
                  <a:srgbClr val="7030A0"/>
                </a:solidFill>
              </a:rPr>
              <a:t>print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ru-RU" sz="2400" dirty="0">
                <a:solidFill>
                  <a:srgbClr val="00B050"/>
                </a:solidFill>
              </a:rPr>
              <a:t>Это</a:t>
            </a:r>
            <a:r>
              <a:rPr lang="en-US" sz="2400" dirty="0">
                <a:solidFill>
                  <a:srgbClr val="00B050"/>
                </a:solidFill>
              </a:rPr>
              <a:t> "</a:t>
            </a:r>
            <a:r>
              <a:rPr lang="en-US" sz="2400" dirty="0"/>
              <a:t>, </a:t>
            </a:r>
            <a:r>
              <a:rPr lang="en-US" sz="2400" dirty="0" err="1"/>
              <a:t>fahrenheit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50"/>
                </a:solidFill>
              </a:rPr>
              <a:t>" </a:t>
            </a:r>
            <a:r>
              <a:rPr lang="ru-RU" sz="2400" dirty="0">
                <a:solidFill>
                  <a:srgbClr val="00B050"/>
                </a:solidFill>
              </a:rPr>
              <a:t>градусов Фаренгейта</a:t>
            </a:r>
            <a:r>
              <a:rPr lang="en-US" sz="2400" dirty="0">
                <a:solidFill>
                  <a:srgbClr val="00B050"/>
                </a:solidFill>
              </a:rPr>
              <a:t>"</a:t>
            </a:r>
            <a:r>
              <a:rPr lang="en-US" sz="2400" dirty="0"/>
              <a:t>)</a:t>
            </a:r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4037921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</a:rPr>
              <a:t>Импортировать функции и объекты из модуля можно и по другому:</a:t>
            </a:r>
            <a:endParaRPr lang="ru-RU" sz="2400" dirty="0"/>
          </a:p>
          <a:p>
            <a:r>
              <a:rPr lang="en-US" sz="2400" i="1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i="1" dirty="0"/>
              <a:t> </a:t>
            </a:r>
            <a:r>
              <a:rPr lang="en-US" sz="2400" i="1" dirty="0" err="1"/>
              <a:t>my_module</a:t>
            </a:r>
            <a:endParaRPr lang="ru-RU" sz="2400" dirty="0"/>
          </a:p>
          <a:p>
            <a:r>
              <a:rPr lang="en-US" sz="2400" i="1" dirty="0" smtClean="0"/>
              <a:t>from </a:t>
            </a:r>
            <a:r>
              <a:rPr lang="en-US" sz="2400" i="1" dirty="0"/>
              <a:t>my</a:t>
            </a:r>
            <a:r>
              <a:rPr lang="ru-RU" sz="2400" i="1" dirty="0"/>
              <a:t>_</a:t>
            </a:r>
            <a:r>
              <a:rPr lang="en-US" sz="2400" i="1" dirty="0"/>
              <a:t>module</a:t>
            </a:r>
            <a:r>
              <a:rPr lang="ru-RU" sz="2400" i="1" dirty="0"/>
              <a:t> * </a:t>
            </a:r>
            <a:r>
              <a:rPr lang="en-US" sz="2400" i="1" dirty="0" smtClean="0"/>
              <a:t>#</a:t>
            </a:r>
            <a:r>
              <a:rPr lang="ru-RU" sz="2400" i="1" dirty="0" smtClean="0"/>
              <a:t>- </a:t>
            </a:r>
            <a:r>
              <a:rPr lang="ru-RU" sz="2400" i="1" dirty="0"/>
              <a:t>импортируются все имена в </a:t>
            </a:r>
            <a:r>
              <a:rPr lang="en-US" sz="2400" i="1" dirty="0"/>
              <a:t>my</a:t>
            </a:r>
            <a:r>
              <a:rPr lang="ru-RU" sz="2400" i="1" dirty="0"/>
              <a:t>_</a:t>
            </a:r>
            <a:r>
              <a:rPr lang="en-US" sz="2400" i="1" dirty="0"/>
              <a:t>module</a:t>
            </a:r>
            <a:endParaRPr lang="ru-RU" sz="2400" dirty="0"/>
          </a:p>
          <a:p>
            <a:r>
              <a:rPr lang="ru-RU" sz="2400" i="1" dirty="0" err="1"/>
              <a:t>celsius</a:t>
            </a:r>
            <a:r>
              <a:rPr lang="ru-RU" sz="2400" i="1" dirty="0"/>
              <a:t> = </a:t>
            </a:r>
            <a:r>
              <a:rPr lang="ru-RU" sz="2400" i="1" dirty="0" err="1"/>
              <a:t>float</a:t>
            </a:r>
            <a:r>
              <a:rPr lang="ru-RU" sz="2400" i="1" dirty="0"/>
              <a:t>(</a:t>
            </a:r>
            <a:r>
              <a:rPr lang="ru-RU" sz="2400" i="1" dirty="0" err="1"/>
              <a:t>raw_input</a:t>
            </a:r>
            <a:r>
              <a:rPr lang="ru-RU" sz="2400" i="1" dirty="0"/>
              <a:t> ("Введите температуру в градусах Цельсия: "))</a:t>
            </a:r>
            <a:endParaRPr lang="ru-RU" sz="2400" dirty="0"/>
          </a:p>
          <a:p>
            <a:r>
              <a:rPr lang="en-US" sz="2400" i="1" dirty="0" err="1"/>
              <a:t>fahrenheit</a:t>
            </a:r>
            <a:r>
              <a:rPr lang="en-US" sz="2400" i="1" dirty="0"/>
              <a:t> = </a:t>
            </a:r>
            <a:r>
              <a:rPr lang="en-US" sz="2400" i="1" dirty="0" err="1"/>
              <a:t>my_module.c_to_f</a:t>
            </a:r>
            <a:r>
              <a:rPr lang="en-US" sz="2400" i="1" dirty="0"/>
              <a:t>(</a:t>
            </a:r>
            <a:r>
              <a:rPr lang="en-US" sz="2400" i="1" dirty="0" err="1"/>
              <a:t>celsius</a:t>
            </a:r>
            <a:r>
              <a:rPr lang="en-US" sz="2400" i="1" dirty="0"/>
              <a:t>)</a:t>
            </a:r>
            <a:endParaRPr lang="ru-RU" sz="2400" dirty="0"/>
          </a:p>
          <a:p>
            <a:r>
              <a:rPr lang="en-US" sz="2400" i="1" dirty="0"/>
              <a:t>print</a:t>
            </a:r>
            <a:r>
              <a:rPr lang="en-US" sz="2400" b="1" i="1" dirty="0"/>
              <a:t> (</a:t>
            </a:r>
            <a:r>
              <a:rPr lang="en-US" sz="2400" i="1" dirty="0"/>
              <a:t>"</a:t>
            </a:r>
            <a:r>
              <a:rPr lang="ru-RU" sz="2400" i="1" dirty="0"/>
              <a:t>Это</a:t>
            </a:r>
            <a:r>
              <a:rPr lang="en-US" sz="2400" i="1" dirty="0"/>
              <a:t> ", </a:t>
            </a:r>
            <a:r>
              <a:rPr lang="en-US" sz="2400" i="1" dirty="0" err="1"/>
              <a:t>fahrenheit</a:t>
            </a:r>
            <a:r>
              <a:rPr lang="en-US" sz="2400" i="1" dirty="0"/>
              <a:t>, " </a:t>
            </a:r>
            <a:r>
              <a:rPr lang="ru-RU" sz="2400" i="1" dirty="0"/>
              <a:t>градусов Фаренгейта</a:t>
            </a:r>
            <a:r>
              <a:rPr lang="en-US" sz="2400" i="1" dirty="0"/>
              <a:t>")</a:t>
            </a:r>
            <a:endParaRPr lang="ru-RU" sz="2400" dirty="0"/>
          </a:p>
          <a:p>
            <a:r>
              <a:rPr lang="en-US" sz="2400" i="1" dirty="0"/>
              <a:t> </a:t>
            </a:r>
            <a:endParaRPr lang="ru-RU" sz="2400" dirty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68268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400" dirty="0" smtClean="0"/>
              <a:t>Проиллюстрируем применение модулей на примере </a:t>
            </a:r>
            <a:r>
              <a:rPr lang="ru-RU" sz="2400" dirty="0" err="1" smtClean="0"/>
              <a:t>управляеього</a:t>
            </a:r>
            <a:r>
              <a:rPr lang="ru-RU" sz="2400" dirty="0" smtClean="0"/>
              <a:t> и неуправляемого движения:</a:t>
            </a:r>
          </a:p>
          <a:p>
            <a:r>
              <a:rPr lang="ru-RU" sz="2400" dirty="0" smtClean="0"/>
              <a:t>Создадим модуль </a:t>
            </a:r>
            <a:r>
              <a:rPr lang="en-US" sz="2400" dirty="0" err="1" smtClean="0"/>
              <a:t>mod_udar</a:t>
            </a:r>
            <a:r>
              <a:rPr lang="en-US" sz="2400" dirty="0" smtClean="0"/>
              <a:t>. </a:t>
            </a:r>
            <a:r>
              <a:rPr lang="ru-RU" sz="2400" dirty="0" smtClean="0"/>
              <a:t>Вот его код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r>
              <a:rPr lang="en-US" sz="2400" dirty="0"/>
              <a:t>, sys, random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font</a:t>
            </a:r>
          </a:p>
          <a:p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pygame.color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THECOLORS</a:t>
            </a:r>
          </a:p>
          <a:p>
            <a:r>
              <a:rPr lang="en-US" sz="2400" dirty="0"/>
              <a:t>font = </a:t>
            </a:r>
            <a:r>
              <a:rPr lang="en-US" sz="2400" dirty="0" err="1"/>
              <a:t>pygame.font.Font</a:t>
            </a:r>
            <a:r>
              <a:rPr lang="en-US" sz="2400" dirty="0"/>
              <a:t>(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None</a:t>
            </a:r>
            <a:r>
              <a:rPr lang="en-US" sz="2400" dirty="0"/>
              <a:t>, 24)</a:t>
            </a:r>
          </a:p>
          <a:p>
            <a:r>
              <a:rPr lang="en-US" sz="2400" dirty="0" err="1"/>
              <a:t>screenX</a:t>
            </a:r>
            <a:r>
              <a:rPr lang="en-US" sz="2400" dirty="0"/>
              <a:t>=900</a:t>
            </a:r>
          </a:p>
          <a:p>
            <a:r>
              <a:rPr lang="en-US" sz="2400" dirty="0" err="1"/>
              <a:t>screenY</a:t>
            </a:r>
            <a:r>
              <a:rPr lang="en-US" sz="2400" dirty="0"/>
              <a:t>=600</a:t>
            </a:r>
          </a:p>
          <a:p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</a:t>
            </a:r>
            <a:r>
              <a:rPr lang="en-US" sz="2400" dirty="0" err="1"/>
              <a:t>screenX,screenY</a:t>
            </a:r>
            <a:r>
              <a:rPr lang="en-US" sz="2400" dirty="0"/>
              <a:t>])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409949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</a:t>
            </a:r>
            <a:r>
              <a:rPr lang="en-US" sz="2400" dirty="0" err="1"/>
              <a:t>screenX,screenY</a:t>
            </a:r>
            <a:r>
              <a:rPr lang="en-US" sz="2400" dirty="0"/>
              <a:t>])</a:t>
            </a:r>
          </a:p>
          <a:p>
            <a:r>
              <a:rPr lang="en-US" sz="2400" dirty="0"/>
              <a:t>x=40</a:t>
            </a:r>
          </a:p>
          <a:p>
            <a:r>
              <a:rPr lang="en-US" sz="2400" dirty="0"/>
              <a:t>y=480</a:t>
            </a:r>
          </a:p>
          <a:p>
            <a:r>
              <a:rPr lang="en-US" sz="2400" dirty="0"/>
              <a:t>dx=2</a:t>
            </a:r>
          </a:p>
          <a:p>
            <a:r>
              <a:rPr lang="en-US" sz="2400" dirty="0" err="1"/>
              <a:t>dy</a:t>
            </a:r>
            <a:r>
              <a:rPr lang="en-US" sz="2400" dirty="0"/>
              <a:t>=2</a:t>
            </a:r>
          </a:p>
          <a:p>
            <a:r>
              <a:rPr lang="en-US" sz="2400" dirty="0"/>
              <a:t>r=20</a:t>
            </a:r>
          </a:p>
          <a:p>
            <a:r>
              <a:rPr lang="en-US" sz="2400" dirty="0" err="1"/>
              <a:t>xr</a:t>
            </a:r>
            <a:r>
              <a:rPr lang="en-US" sz="2400" dirty="0"/>
              <a:t>=750</a:t>
            </a:r>
          </a:p>
          <a:p>
            <a:r>
              <a:rPr lang="en-US" sz="2400" dirty="0" err="1"/>
              <a:t>yr</a:t>
            </a:r>
            <a:r>
              <a:rPr lang="en-US" sz="2400" dirty="0"/>
              <a:t>=200</a:t>
            </a:r>
          </a:p>
          <a:p>
            <a:r>
              <a:rPr lang="en-US" sz="2400" dirty="0"/>
              <a:t>width=30</a:t>
            </a:r>
          </a:p>
          <a:p>
            <a:r>
              <a:rPr lang="en-US" sz="2400" dirty="0" err="1"/>
              <a:t>heigth</a:t>
            </a:r>
            <a:r>
              <a:rPr lang="en-US" sz="2400" dirty="0"/>
              <a:t>=200</a:t>
            </a:r>
          </a:p>
          <a:p>
            <a:r>
              <a:rPr lang="en-US" sz="2400" dirty="0"/>
              <a:t>step=10</a:t>
            </a:r>
          </a:p>
          <a:p>
            <a:r>
              <a:rPr lang="en-US" sz="2400" dirty="0"/>
              <a:t>n=0</a:t>
            </a:r>
          </a:p>
          <a:p>
            <a:r>
              <a:rPr lang="en-US" sz="2400" dirty="0"/>
              <a:t>color=THECOLORS[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342530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schet</a:t>
            </a:r>
            <a:r>
              <a:rPr lang="en-US" sz="2400" dirty="0"/>
              <a:t>(n):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global</a:t>
            </a:r>
            <a:r>
              <a:rPr lang="en-US" sz="2400" dirty="0"/>
              <a:t> text</a:t>
            </a:r>
          </a:p>
          <a:p>
            <a:pPr marL="0" indent="0">
              <a:buNone/>
            </a:pPr>
            <a:r>
              <a:rPr lang="en-US" sz="2400" dirty="0"/>
              <a:t>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 </a:t>
            </a:r>
            <a:r>
              <a:rPr lang="ru-RU" sz="2400" dirty="0">
                <a:solidFill>
                  <a:srgbClr val="00B050"/>
                </a:solidFill>
              </a:rPr>
              <a:t>Очки "</a:t>
            </a:r>
            <a:r>
              <a:rPr lang="ru-RU" sz="2400" dirty="0"/>
              <a:t>+</a:t>
            </a:r>
            <a:r>
              <a:rPr lang="en-US" sz="2400" dirty="0" err="1">
                <a:solidFill>
                  <a:srgbClr val="7030A0"/>
                </a:solidFill>
              </a:rPr>
              <a:t>str</a:t>
            </a:r>
            <a:r>
              <a:rPr lang="en-US" sz="2400" dirty="0"/>
              <a:t>(n),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sz="2400" dirty="0"/>
              <a:t>, THECOLORS [</a:t>
            </a:r>
            <a:r>
              <a:rPr lang="en-US" sz="2400" dirty="0">
                <a:solidFill>
                  <a:srgbClr val="00B050"/>
                </a:solidFill>
              </a:rPr>
              <a:t>"blue"</a:t>
            </a:r>
            <a:r>
              <a:rPr lang="en-US" sz="2400" dirty="0"/>
              <a:t>])</a:t>
            </a:r>
            <a:endParaRPr lang="en-US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proverka</a:t>
            </a:r>
            <a:r>
              <a:rPr lang="en-US" sz="2400" dirty="0"/>
              <a:t>(</a:t>
            </a:r>
            <a:r>
              <a:rPr lang="en-US" sz="2400" dirty="0" err="1"/>
              <a:t>x,y,xr,yr,width,heigth</a:t>
            </a:r>
            <a:r>
              <a:rPr lang="en-US" sz="2400" dirty="0"/>
              <a:t>):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global</a:t>
            </a:r>
            <a:r>
              <a:rPr lang="en-US" sz="2400" dirty="0"/>
              <a:t> </a:t>
            </a:r>
            <a:r>
              <a:rPr lang="en-US" sz="2400" dirty="0" err="1"/>
              <a:t>dx,n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/>
              <a:t>(y&gt;=(</a:t>
            </a:r>
            <a:r>
              <a:rPr lang="en-US" sz="2400" dirty="0" err="1"/>
              <a:t>yr</a:t>
            </a:r>
            <a:r>
              <a:rPr lang="en-US" sz="2400" dirty="0"/>
              <a:t>-r))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sz="2400" dirty="0"/>
              <a:t> (y&lt;=(</a:t>
            </a:r>
            <a:r>
              <a:rPr lang="en-US" sz="2400" dirty="0" err="1"/>
              <a:t>yr+heigth</a:t>
            </a:r>
            <a:r>
              <a:rPr lang="en-US" sz="2400" dirty="0"/>
              <a:t>))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and</a:t>
            </a:r>
            <a:r>
              <a:rPr lang="en-US" sz="2400" dirty="0"/>
              <a:t> (x&gt;=(</a:t>
            </a:r>
            <a:r>
              <a:rPr lang="en-US" sz="2400" dirty="0" err="1"/>
              <a:t>xr</a:t>
            </a:r>
            <a:r>
              <a:rPr lang="en-US" sz="2400" dirty="0"/>
              <a:t>-r))and (x&lt;(</a:t>
            </a:r>
            <a:r>
              <a:rPr lang="en-US" sz="2400" dirty="0" err="1"/>
              <a:t>xr+width</a:t>
            </a:r>
            <a:r>
              <a:rPr lang="en-US" sz="2400" dirty="0"/>
              <a:t>)):</a:t>
            </a:r>
          </a:p>
          <a:p>
            <a:pPr marL="0" indent="0">
              <a:buNone/>
            </a:pPr>
            <a:r>
              <a:rPr lang="en-US" sz="2400" dirty="0"/>
              <a:t>        dx=-dx</a:t>
            </a:r>
          </a:p>
          <a:p>
            <a:pPr marL="0" indent="0">
              <a:buNone/>
            </a:pPr>
            <a:r>
              <a:rPr lang="en-US" sz="2400" dirty="0"/>
              <a:t>        n=n+1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schet</a:t>
            </a:r>
            <a:r>
              <a:rPr lang="en-US" sz="2400" dirty="0"/>
              <a:t>(n)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413072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sz="2400" dirty="0"/>
              <a:t> </a:t>
            </a:r>
            <a:r>
              <a:rPr lang="en-US" sz="2400" dirty="0" err="1">
                <a:solidFill>
                  <a:srgbClr val="0070C0"/>
                </a:solidFill>
              </a:rPr>
              <a:t>move_ball</a:t>
            </a:r>
            <a:r>
              <a:rPr lang="en-US" sz="2400" dirty="0"/>
              <a:t>(</a:t>
            </a:r>
            <a:r>
              <a:rPr lang="en-US" sz="2400" dirty="0" err="1"/>
              <a:t>r,color</a:t>
            </a:r>
            <a:r>
              <a:rPr lang="en-US" sz="2400" dirty="0"/>
              <a:t>):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global </a:t>
            </a:r>
            <a:r>
              <a:rPr lang="en-US" sz="2400" dirty="0" err="1"/>
              <a:t>x,y,dx,dy,n,text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x=</a:t>
            </a:r>
            <a:r>
              <a:rPr lang="en-US" sz="2400" dirty="0" err="1"/>
              <a:t>x+dx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y=</a:t>
            </a:r>
            <a:r>
              <a:rPr lang="en-US" sz="2400" dirty="0" err="1"/>
              <a:t>y+dy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</a:t>
            </a:r>
            <a:r>
              <a:rPr lang="en-US" sz="2400" dirty="0" err="1"/>
              <a:t>screen,color</a:t>
            </a:r>
            <a:r>
              <a:rPr lang="en-US" sz="2400" dirty="0"/>
              <a:t>,[</a:t>
            </a:r>
            <a:r>
              <a:rPr lang="en-US" sz="2400" dirty="0" err="1"/>
              <a:t>x,y</a:t>
            </a:r>
            <a:r>
              <a:rPr lang="en-US" sz="2400" dirty="0"/>
              <a:t>], r, 0)#</a:t>
            </a:r>
            <a:r>
              <a:rPr lang="ru-RU" sz="2400" dirty="0"/>
              <a:t>Движение шарика</a:t>
            </a:r>
          </a:p>
          <a:p>
            <a:pPr marL="0" indent="0">
              <a:buNone/>
            </a:pPr>
            <a:r>
              <a:rPr lang="ru-RU" sz="2400" dirty="0"/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/>
              <a:t> (x&gt;=</a:t>
            </a:r>
            <a:r>
              <a:rPr lang="en-US" sz="2400" dirty="0" err="1"/>
              <a:t>screenX</a:t>
            </a:r>
            <a:r>
              <a:rPr lang="en-US" sz="2400" dirty="0"/>
              <a:t>-r):</a:t>
            </a:r>
          </a:p>
          <a:p>
            <a:pPr marL="0" indent="0">
              <a:buNone/>
            </a:pPr>
            <a:r>
              <a:rPr lang="en-US" sz="2400" dirty="0"/>
              <a:t>        x=40</a:t>
            </a:r>
          </a:p>
          <a:p>
            <a:pPr marL="0" indent="0">
              <a:buNone/>
            </a:pPr>
            <a:r>
              <a:rPr lang="en-US" sz="2400" dirty="0"/>
              <a:t>        y=</a:t>
            </a:r>
            <a:r>
              <a:rPr lang="en-US" sz="2400" dirty="0" err="1"/>
              <a:t>random.randint</a:t>
            </a:r>
            <a:r>
              <a:rPr lang="en-US" sz="2400" dirty="0"/>
              <a:t>(10, 400)</a:t>
            </a:r>
          </a:p>
          <a:p>
            <a:pPr marL="0" indent="0">
              <a:buNone/>
            </a:pPr>
            <a:r>
              <a:rPr lang="en-US" sz="2400" dirty="0"/>
              <a:t>        n=n-2</a:t>
            </a:r>
          </a:p>
          <a:p>
            <a:pPr marL="0" indent="0">
              <a:buNone/>
            </a:pPr>
            <a:r>
              <a:rPr lang="en-US" sz="2400" dirty="0"/>
              <a:t>        text = </a:t>
            </a:r>
            <a:r>
              <a:rPr lang="en-US" sz="2400" dirty="0" err="1"/>
              <a:t>font.render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B050"/>
                </a:solidFill>
              </a:rPr>
              <a:t>" </a:t>
            </a:r>
            <a:r>
              <a:rPr lang="ru-RU" sz="2400" dirty="0">
                <a:solidFill>
                  <a:srgbClr val="00B050"/>
                </a:solidFill>
              </a:rPr>
              <a:t>Очки "</a:t>
            </a:r>
            <a:r>
              <a:rPr lang="ru-RU" sz="2400" dirty="0"/>
              <a:t>+</a:t>
            </a:r>
            <a:r>
              <a:rPr lang="en-US" sz="2400" dirty="0" err="1">
                <a:solidFill>
                  <a:srgbClr val="7030A0"/>
                </a:solidFill>
              </a:rPr>
              <a:t>str</a:t>
            </a:r>
            <a:r>
              <a:rPr lang="en-US" sz="2400" dirty="0"/>
              <a:t>(n),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sz="2400" dirty="0"/>
              <a:t>, THECOLORS [</a:t>
            </a:r>
            <a:r>
              <a:rPr lang="en-US" sz="2400" dirty="0">
                <a:solidFill>
                  <a:srgbClr val="00B050"/>
                </a:solidFill>
              </a:rPr>
              <a:t>"blue"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/>
              <a:t> (x&lt;=r):</a:t>
            </a:r>
          </a:p>
          <a:p>
            <a:pPr marL="0" indent="0">
              <a:buNone/>
            </a:pPr>
            <a:r>
              <a:rPr lang="en-US" sz="2400" dirty="0"/>
              <a:t>        dx=-dx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if </a:t>
            </a:r>
            <a:r>
              <a:rPr lang="en-US" sz="2400" dirty="0"/>
              <a:t>(y&lt;=r) or (y&gt;=</a:t>
            </a:r>
            <a:r>
              <a:rPr lang="en-US" sz="2400" dirty="0" err="1"/>
              <a:t>screenY</a:t>
            </a:r>
            <a:r>
              <a:rPr lang="en-US" sz="2400" dirty="0"/>
              <a:t>-r):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dy</a:t>
            </a:r>
            <a:r>
              <a:rPr lang="en-US" sz="2400" dirty="0"/>
              <a:t>=-</a:t>
            </a:r>
            <a:r>
              <a:rPr lang="en-US" sz="2400" dirty="0" err="1"/>
              <a:t>dy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proverka</a:t>
            </a:r>
            <a:r>
              <a:rPr lang="en-US" sz="2400" dirty="0"/>
              <a:t>(</a:t>
            </a:r>
            <a:r>
              <a:rPr lang="en-US" sz="2400" dirty="0" err="1"/>
              <a:t>x,y,xr,yr,width,heigth</a:t>
            </a:r>
            <a:r>
              <a:rPr lang="en-US" sz="2400" dirty="0"/>
              <a:t>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204974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def</a:t>
            </a:r>
            <a:r>
              <a:rPr lang="en-US" sz="2400" dirty="0"/>
              <a:t> </a:t>
            </a:r>
            <a:r>
              <a:rPr lang="en-US" sz="2400" dirty="0" err="1"/>
              <a:t>move_racet</a:t>
            </a:r>
            <a:r>
              <a:rPr lang="en-US" sz="2400" dirty="0"/>
              <a:t>(step):</a:t>
            </a:r>
          </a:p>
          <a:p>
            <a:pPr marL="0" indent="0">
              <a:buNone/>
            </a:pPr>
            <a:r>
              <a:rPr lang="en-US" sz="2400" dirty="0"/>
              <a:t>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global </a:t>
            </a:r>
            <a:r>
              <a:rPr lang="en-US" sz="2400" dirty="0" err="1"/>
              <a:t>yr,text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color,[</a:t>
            </a:r>
            <a:r>
              <a:rPr lang="en-US" sz="2400" dirty="0" err="1"/>
              <a:t>x,y</a:t>
            </a:r>
            <a:r>
              <a:rPr lang="en-US" sz="2400" dirty="0"/>
              <a:t>], r, 0)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pygame.draw.rect</a:t>
            </a:r>
            <a:r>
              <a:rPr lang="en-US" sz="2400" dirty="0"/>
              <a:t>(</a:t>
            </a:r>
            <a:r>
              <a:rPr lang="en-US" sz="2400" dirty="0" err="1"/>
              <a:t>screen,THECOLORS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B050"/>
                </a:solidFill>
              </a:rPr>
              <a:t>'brown'</a:t>
            </a:r>
            <a:r>
              <a:rPr lang="en-US" sz="2400" dirty="0"/>
              <a:t>] , [</a:t>
            </a:r>
            <a:r>
              <a:rPr lang="en-US" sz="2400" dirty="0" err="1"/>
              <a:t>xr</a:t>
            </a:r>
            <a:r>
              <a:rPr lang="en-US" sz="2400" dirty="0"/>
              <a:t>, </a:t>
            </a:r>
            <a:r>
              <a:rPr lang="en-US" sz="2400" dirty="0" err="1"/>
              <a:t>yr</a:t>
            </a:r>
            <a:r>
              <a:rPr lang="en-US" sz="2400" dirty="0"/>
              <a:t>, width, </a:t>
            </a:r>
            <a:r>
              <a:rPr lang="en-US" sz="2400" dirty="0" err="1"/>
              <a:t>heigth</a:t>
            </a:r>
            <a:r>
              <a:rPr lang="en-US" sz="2400" dirty="0"/>
              <a:t>], 0)</a:t>
            </a:r>
          </a:p>
          <a:p>
            <a:pPr marL="0" indent="0">
              <a:buNone/>
            </a:pPr>
            <a:r>
              <a:rPr lang="en-US" sz="2400" dirty="0"/>
              <a:t>    text = </a:t>
            </a:r>
            <a:r>
              <a:rPr lang="en-US" sz="2400" dirty="0" err="1"/>
              <a:t>font.render</a:t>
            </a:r>
            <a:r>
              <a:rPr lang="en-US" sz="2400" dirty="0">
                <a:solidFill>
                  <a:srgbClr val="00B050"/>
                </a:solidFill>
              </a:rPr>
              <a:t>(" </a:t>
            </a:r>
            <a:r>
              <a:rPr lang="ru-RU" sz="2400" dirty="0">
                <a:solidFill>
                  <a:srgbClr val="00B050"/>
                </a:solidFill>
              </a:rPr>
              <a:t>Очки "</a:t>
            </a:r>
            <a:r>
              <a:rPr lang="ru-RU" sz="2400" dirty="0"/>
              <a:t>+</a:t>
            </a:r>
            <a:r>
              <a:rPr lang="en-US" sz="2400" dirty="0" err="1">
                <a:solidFill>
                  <a:srgbClr val="7030A0"/>
                </a:solidFill>
              </a:rPr>
              <a:t>str</a:t>
            </a:r>
            <a:r>
              <a:rPr lang="en-US" sz="2400" dirty="0"/>
              <a:t>(n),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r>
              <a:rPr lang="en-US" sz="2400" dirty="0"/>
              <a:t>, THECOLORS [</a:t>
            </a:r>
            <a:r>
              <a:rPr lang="en-US" sz="2400" dirty="0">
                <a:solidFill>
                  <a:srgbClr val="00B050"/>
                </a:solidFill>
              </a:rPr>
              <a:t>"blue"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delay = 100</a:t>
            </a:r>
          </a:p>
          <a:p>
            <a:pPr marL="0" indent="0">
              <a:buNone/>
            </a:pPr>
            <a:r>
              <a:rPr lang="en-US" sz="2400" dirty="0"/>
              <a:t>    interval = 50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pygame.key.set_repeat</a:t>
            </a:r>
            <a:r>
              <a:rPr lang="en-US" sz="2400" dirty="0"/>
              <a:t>(delay, interval)</a:t>
            </a:r>
          </a:p>
          <a:p>
            <a:pPr marL="0" indent="0">
              <a:buNone/>
            </a:pPr>
            <a:r>
              <a:rPr lang="en-US" sz="2400" dirty="0"/>
              <a:t>    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5064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screen.fill</a:t>
            </a:r>
            <a:r>
              <a:rPr lang="en-US" sz="2400" dirty="0"/>
              <a:t>(THECOLORS[</a:t>
            </a:r>
            <a:r>
              <a:rPr lang="en-US" sz="2400" dirty="0">
                <a:solidFill>
                  <a:srgbClr val="00B050"/>
                </a:solidFill>
              </a:rPr>
              <a:t>'white'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screen.blit</a:t>
            </a:r>
            <a:r>
              <a:rPr lang="en-US" sz="2400" dirty="0"/>
              <a:t>(text, [250, 50] )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move_ball</a:t>
            </a:r>
            <a:r>
              <a:rPr lang="en-US" sz="2400" dirty="0"/>
              <a:t>(</a:t>
            </a:r>
            <a:r>
              <a:rPr lang="en-US" sz="2400" dirty="0" err="1"/>
              <a:t>r,color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pygame.time.delay</a:t>
            </a:r>
            <a:r>
              <a:rPr lang="en-US" sz="2400" dirty="0"/>
              <a:t>(10)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for </a:t>
            </a:r>
            <a:r>
              <a:rPr lang="en-US" sz="2400" dirty="0"/>
              <a:t>event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sz="2400" dirty="0"/>
              <a:t>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      running = False</a:t>
            </a: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pygame.KEYDOWN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            if </a:t>
            </a:r>
            <a:r>
              <a:rPr lang="en-US" sz="2400" dirty="0" err="1"/>
              <a:t>event.key</a:t>
            </a:r>
            <a:r>
              <a:rPr lang="en-US" sz="2400" dirty="0"/>
              <a:t> == </a:t>
            </a:r>
            <a:r>
              <a:rPr lang="en-US" sz="2400" dirty="0" err="1"/>
              <a:t>pygame.K_UP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         </a:t>
            </a:r>
            <a:r>
              <a:rPr lang="en-US" sz="2400" dirty="0" err="1"/>
              <a:t>yr</a:t>
            </a:r>
            <a:r>
              <a:rPr lang="en-US" sz="2400" dirty="0"/>
              <a:t>=</a:t>
            </a:r>
            <a:r>
              <a:rPr lang="en-US" sz="2400" dirty="0" err="1"/>
              <a:t>yr</a:t>
            </a:r>
            <a:r>
              <a:rPr lang="en-US" sz="2400" dirty="0"/>
              <a:t>-step</a:t>
            </a:r>
          </a:p>
          <a:p>
            <a:pPr marL="0" indent="0">
              <a:buNone/>
            </a:pPr>
            <a:r>
              <a:rPr lang="en-US" sz="2400" dirty="0"/>
              <a:t>               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/>
              <a:t> </a:t>
            </a:r>
            <a:r>
              <a:rPr lang="en-US" sz="2400" dirty="0" err="1"/>
              <a:t>event.key</a:t>
            </a:r>
            <a:r>
              <a:rPr lang="en-US" sz="2400" dirty="0"/>
              <a:t> == </a:t>
            </a:r>
            <a:r>
              <a:rPr lang="en-US" sz="2400" dirty="0" err="1"/>
              <a:t>pygame.K_DOWN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         </a:t>
            </a:r>
            <a:r>
              <a:rPr lang="en-US" sz="2400" dirty="0" err="1"/>
              <a:t>yr</a:t>
            </a:r>
            <a:r>
              <a:rPr lang="en-US" sz="2400" dirty="0"/>
              <a:t>=</a:t>
            </a:r>
            <a:r>
              <a:rPr lang="en-US" sz="2400" dirty="0" err="1"/>
              <a:t>yr+step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pygame.draw.rect</a:t>
            </a:r>
            <a:r>
              <a:rPr lang="en-US" sz="2400" dirty="0"/>
              <a:t>(</a:t>
            </a:r>
            <a:r>
              <a:rPr lang="en-US" sz="2400" dirty="0" err="1"/>
              <a:t>screen,THECOLORS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B050"/>
                </a:solidFill>
              </a:rPr>
              <a:t>'brown'</a:t>
            </a:r>
            <a:r>
              <a:rPr lang="en-US" sz="2400" dirty="0"/>
              <a:t>] , [</a:t>
            </a:r>
            <a:r>
              <a:rPr lang="en-US" sz="2400" dirty="0" err="1"/>
              <a:t>xr</a:t>
            </a:r>
            <a:r>
              <a:rPr lang="en-US" sz="2400" dirty="0"/>
              <a:t>, </a:t>
            </a:r>
            <a:r>
              <a:rPr lang="en-US" sz="2400" dirty="0" err="1"/>
              <a:t>yr</a:t>
            </a:r>
            <a:r>
              <a:rPr lang="en-US" sz="2400" dirty="0"/>
              <a:t>, width, </a:t>
            </a:r>
            <a:r>
              <a:rPr lang="en-US" sz="2400" dirty="0" err="1"/>
              <a:t>heigth</a:t>
            </a:r>
            <a:r>
              <a:rPr lang="en-US" sz="2400" dirty="0"/>
              <a:t>], 0)</a:t>
            </a:r>
          </a:p>
          <a:p>
            <a:pPr marL="0" indent="0">
              <a:buNone/>
            </a:pPr>
            <a:r>
              <a:rPr lang="en-US" sz="2400" dirty="0"/>
              <a:t>        </a:t>
            </a: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31606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Модули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Программа, которая вызывает этот модуль, выглядит так:</a:t>
            </a:r>
          </a:p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#Неуправляемое и управляемое движение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r>
              <a:rPr lang="en-US" sz="2400" dirty="0"/>
              <a:t>, sys, random, </a:t>
            </a:r>
            <a:r>
              <a:rPr lang="en-US" sz="2400" dirty="0" err="1"/>
              <a:t>mod_udar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r>
              <a:rPr lang="en-US" sz="2400" dirty="0"/>
              <a:t> import font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mod_udar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sz="2400" dirty="0" err="1"/>
              <a:t>move_racet</a:t>
            </a: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/>
              <a:t>step=10</a:t>
            </a:r>
          </a:p>
          <a:p>
            <a:pPr marL="0" indent="0">
              <a:buNone/>
            </a:pPr>
            <a:r>
              <a:rPr lang="en-US" sz="2400" dirty="0" err="1"/>
              <a:t>mod_udar.move_racet</a:t>
            </a:r>
            <a:r>
              <a:rPr lang="en-US" sz="2400" dirty="0"/>
              <a:t>(step)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 smtClean="0"/>
              <a:t>()</a:t>
            </a:r>
            <a:r>
              <a:rPr lang="en-US" sz="2400" dirty="0" smtClean="0">
                <a:solidFill>
                  <a:srgbClr val="FF0000"/>
                </a:solidFill>
              </a:rPr>
              <a:t>#</a:t>
            </a:r>
            <a:r>
              <a:rPr lang="ru-RU" sz="2400" dirty="0" smtClean="0">
                <a:solidFill>
                  <a:srgbClr val="FF0000"/>
                </a:solidFill>
              </a:rPr>
              <a:t>И все!</a:t>
            </a:r>
            <a:endParaRPr lang="ru-RU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80874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Перемещение с помощью мыши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>
                <a:solidFill>
                  <a:srgbClr val="FF0000"/>
                </a:solidFill>
              </a:rPr>
              <a:t>#Перемещение с помощью мыши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import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r>
              <a:rPr lang="en-US" sz="2400" dirty="0"/>
              <a:t>, sys, random</a:t>
            </a:r>
          </a:p>
          <a:p>
            <a:pPr marL="0" indent="0">
              <a:buNone/>
            </a:pPr>
            <a:r>
              <a:rPr lang="en-US" sz="2400" dirty="0" err="1"/>
              <a:t>pygame.init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pygame.color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sz="2400" dirty="0"/>
              <a:t>THECOLORS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from</a:t>
            </a:r>
            <a:r>
              <a:rPr lang="en-US" sz="2400" dirty="0"/>
              <a:t> </a:t>
            </a:r>
            <a:r>
              <a:rPr lang="en-US" sz="2400" dirty="0" err="1"/>
              <a:t>pygame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import </a:t>
            </a:r>
            <a:r>
              <a:rPr lang="en-US" sz="2400" dirty="0"/>
              <a:t>font</a:t>
            </a:r>
          </a:p>
          <a:p>
            <a:pPr marL="0" indent="0">
              <a:buNone/>
            </a:pPr>
            <a:r>
              <a:rPr lang="en-US" sz="2400" dirty="0"/>
              <a:t>screen = </a:t>
            </a:r>
            <a:r>
              <a:rPr lang="en-US" sz="2400" dirty="0" err="1"/>
              <a:t>pygame.display.set_mode</a:t>
            </a:r>
            <a:r>
              <a:rPr lang="en-US" sz="2400" dirty="0"/>
              <a:t>([640,480])</a:t>
            </a:r>
          </a:p>
          <a:p>
            <a:pPr marL="0" indent="0">
              <a:buNone/>
            </a:pPr>
            <a:r>
              <a:rPr lang="en-US" sz="2400" dirty="0"/>
              <a:t>running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400" dirty="0"/>
              <a:t>r=30</a:t>
            </a:r>
          </a:p>
          <a:p>
            <a:pPr marL="0" indent="0">
              <a:buNone/>
            </a:pPr>
            <a:r>
              <a:rPr lang="en-US" sz="2400" dirty="0"/>
              <a:t>x=320</a:t>
            </a:r>
          </a:p>
          <a:p>
            <a:pPr marL="0" indent="0">
              <a:buNone/>
            </a:pPr>
            <a:r>
              <a:rPr lang="en-US" sz="2400" dirty="0"/>
              <a:t>y=240</a:t>
            </a:r>
          </a:p>
          <a:p>
            <a:pPr marL="0" indent="0">
              <a:buNone/>
            </a:pPr>
            <a:r>
              <a:rPr lang="en-US" sz="2400" dirty="0" err="1"/>
              <a:t>my_down</a:t>
            </a:r>
            <a:r>
              <a:rPr lang="en-US" sz="2400" dirty="0"/>
              <a:t>=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  <a:endParaRPr lang="ru-RU" sz="24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5874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solidFill>
                  <a:srgbClr val="FF0000"/>
                </a:solidFill>
              </a:rPr>
              <a:t>Перемещение с помощью мыши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while</a:t>
            </a:r>
            <a:r>
              <a:rPr lang="en-US" sz="2400" dirty="0"/>
              <a:t> running: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screen.fill</a:t>
            </a:r>
            <a:r>
              <a:rPr lang="en-US" sz="2400" dirty="0"/>
              <a:t>(THECOLORS[</a:t>
            </a:r>
            <a:r>
              <a:rPr lang="en-US" sz="2400" dirty="0">
                <a:solidFill>
                  <a:srgbClr val="00B050"/>
                </a:solidFill>
              </a:rPr>
              <a:t>'white'</a:t>
            </a:r>
            <a:r>
              <a:rPr lang="en-US" sz="2400" dirty="0"/>
              <a:t>])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pygame.draw.circle</a:t>
            </a:r>
            <a:r>
              <a:rPr lang="en-US" sz="2400" dirty="0"/>
              <a:t>(screen, THECOLORS[</a:t>
            </a:r>
            <a:r>
              <a:rPr lang="en-US" sz="2400" dirty="0">
                <a:solidFill>
                  <a:srgbClr val="00B050"/>
                </a:solidFill>
              </a:rPr>
              <a:t>'red'</a:t>
            </a:r>
            <a:r>
              <a:rPr lang="en-US" sz="2400" dirty="0"/>
              <a:t>],[</a:t>
            </a:r>
            <a:r>
              <a:rPr lang="en-US" sz="2400" dirty="0" err="1"/>
              <a:t>x,y</a:t>
            </a:r>
            <a:r>
              <a:rPr lang="en-US" sz="2400" dirty="0"/>
              <a:t>], r, 0)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   for </a:t>
            </a:r>
            <a:r>
              <a:rPr lang="en-US" sz="2400" dirty="0"/>
              <a:t>event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in</a:t>
            </a:r>
            <a:r>
              <a:rPr lang="en-US" sz="2400" dirty="0"/>
              <a:t> </a:t>
            </a:r>
            <a:r>
              <a:rPr lang="en-US" sz="2400" dirty="0" err="1"/>
              <a:t>pygame.event.get</a:t>
            </a:r>
            <a:r>
              <a:rPr lang="en-US" sz="2400" dirty="0"/>
              <a:t>():</a:t>
            </a:r>
          </a:p>
          <a:p>
            <a:pPr marL="0" indent="0">
              <a:buNone/>
            </a:pPr>
            <a:r>
              <a:rPr lang="en-US" sz="2400" dirty="0"/>
              <a:t>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 if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pygame.QUIT</a:t>
            </a:r>
            <a:r>
              <a:rPr lang="en-US" sz="2400" dirty="0"/>
              <a:t>: </a:t>
            </a:r>
          </a:p>
          <a:p>
            <a:pPr marL="0" indent="0">
              <a:buNone/>
            </a:pPr>
            <a:r>
              <a:rPr lang="en-US" sz="2400" dirty="0"/>
              <a:t>          running = False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/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pygame.MOUSEBUTTONDOWN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 err="1"/>
              <a:t>my_down</a:t>
            </a:r>
            <a:r>
              <a:rPr lang="en-US" sz="2400" dirty="0"/>
              <a:t>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True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/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pygame.MOUSEBUTTONUP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 err="1"/>
              <a:t>my_down</a:t>
            </a:r>
            <a:r>
              <a:rPr lang="en-US" sz="2400" dirty="0"/>
              <a:t> =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  <a:p>
            <a:pPr marL="0" indent="0">
              <a:buNone/>
            </a:pPr>
            <a:r>
              <a:rPr lang="en-US" sz="2400" dirty="0"/>
              <a:t>      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elif</a:t>
            </a:r>
            <a:r>
              <a:rPr lang="en-US" sz="2400" dirty="0"/>
              <a:t> </a:t>
            </a:r>
            <a:r>
              <a:rPr lang="en-US" sz="2400" dirty="0" err="1"/>
              <a:t>event.type</a:t>
            </a:r>
            <a:r>
              <a:rPr lang="en-US" sz="2400" dirty="0"/>
              <a:t> == </a:t>
            </a:r>
            <a:r>
              <a:rPr lang="en-US" sz="2400" dirty="0" err="1"/>
              <a:t>pygame.MOUSEMOTION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if</a:t>
            </a:r>
            <a:r>
              <a:rPr lang="en-US" sz="2400" dirty="0"/>
              <a:t> </a:t>
            </a:r>
            <a:r>
              <a:rPr lang="en-US" sz="2400" dirty="0" err="1"/>
              <a:t>my_down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r>
              <a:rPr lang="en-US" sz="2400" dirty="0"/>
              <a:t>               (x1,y1)= </a:t>
            </a:r>
            <a:r>
              <a:rPr lang="en-US" sz="2400" dirty="0" err="1"/>
              <a:t>event.pos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   if (abs(x1-x)&lt;r) and(abs(y1-y)&lt;r):</a:t>
            </a:r>
          </a:p>
          <a:p>
            <a:pPr marL="0" indent="0">
              <a:buNone/>
            </a:pPr>
            <a:r>
              <a:rPr lang="en-US" sz="2400" dirty="0"/>
              <a:t>                    x=x1</a:t>
            </a:r>
          </a:p>
          <a:p>
            <a:pPr marL="0" indent="0">
              <a:buNone/>
            </a:pPr>
            <a:r>
              <a:rPr lang="en-US" sz="2400" dirty="0"/>
              <a:t>                    y=y1</a:t>
            </a:r>
          </a:p>
          <a:p>
            <a:pPr marL="0" indent="0">
              <a:buNone/>
            </a:pPr>
            <a:r>
              <a:rPr lang="en-US" sz="2400" dirty="0"/>
              <a:t>    </a:t>
            </a:r>
            <a:r>
              <a:rPr lang="en-US" sz="2400" dirty="0" err="1"/>
              <a:t>pygame.display.flip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r>
              <a:rPr lang="en-US" sz="2400" dirty="0" err="1"/>
              <a:t>pygame.quit</a:t>
            </a:r>
            <a:r>
              <a:rPr lang="en-US" sz="2400" dirty="0"/>
              <a:t>()</a:t>
            </a:r>
          </a:p>
          <a:p>
            <a:pPr marL="0" indent="0">
              <a:buNone/>
            </a:pPr>
            <a:endParaRPr lang="ru-RU" sz="2400" dirty="0" smtClean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9558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Функции в программировании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Самостоятельно:</a:t>
            </a:r>
          </a:p>
          <a:p>
            <a:pPr marL="0" indent="0">
              <a:buNone/>
            </a:pPr>
            <a:r>
              <a:rPr lang="ru-RU" sz="2400" dirty="0" smtClean="0"/>
              <a:t>Сделать «теннис» : две ракетки, счет очков для </a:t>
            </a:r>
            <a:r>
              <a:rPr lang="ru-RU" sz="2400" smtClean="0"/>
              <a:t>двух играющих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178034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</TotalTime>
  <Words>2952</Words>
  <Application>Microsoft Office PowerPoint</Application>
  <PresentationFormat>Произвольный</PresentationFormat>
  <Paragraphs>493</Paragraphs>
  <Slides>62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63" baseType="lpstr">
      <vt:lpstr>Тема Office</vt:lpstr>
      <vt:lpstr>Движение объектов по экрану</vt:lpstr>
      <vt:lpstr>Управляемое движения </vt:lpstr>
      <vt:lpstr>Неуправляемое движение </vt:lpstr>
      <vt:lpstr>Неуправляемое движение </vt:lpstr>
      <vt:lpstr>Неуправляемое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Управляемое движение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Функции в программировании </vt:lpstr>
      <vt:lpstr>Модули</vt:lpstr>
      <vt:lpstr>Модули</vt:lpstr>
      <vt:lpstr>Модули</vt:lpstr>
      <vt:lpstr>Модули</vt:lpstr>
      <vt:lpstr>Модули</vt:lpstr>
      <vt:lpstr>Модули</vt:lpstr>
      <vt:lpstr>Модули</vt:lpstr>
      <vt:lpstr>Модули</vt:lpstr>
      <vt:lpstr>Модули</vt:lpstr>
      <vt:lpstr>Модули</vt:lpstr>
      <vt:lpstr>Модули</vt:lpstr>
      <vt:lpstr>Модули</vt:lpstr>
      <vt:lpstr>Модули</vt:lpstr>
      <vt:lpstr>Перемещение с помощью мыши</vt:lpstr>
      <vt:lpstr>Перемещение с помощью мыши</vt:lpstr>
      <vt:lpstr>Функции в программировании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Движение объектов по экрану</dc:title>
  <dc:creator>Leonid</dc:creator>
  <cp:lastModifiedBy>popov_lkx</cp:lastModifiedBy>
  <cp:revision>37</cp:revision>
  <dcterms:created xsi:type="dcterms:W3CDTF">2019-09-03T14:26:57Z</dcterms:created>
  <dcterms:modified xsi:type="dcterms:W3CDTF">2019-09-25T04:55:06Z</dcterms:modified>
</cp:coreProperties>
</file>