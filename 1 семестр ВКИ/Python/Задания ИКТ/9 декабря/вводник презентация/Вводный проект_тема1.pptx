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70" r:id="rId12"/>
    <p:sldId id="265" r:id="rId13"/>
    <p:sldId id="266" r:id="rId14"/>
    <p:sldId id="267" r:id="rId15"/>
    <p:sldId id="268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59" d="100"/>
          <a:sy n="59" d="100"/>
        </p:scale>
        <p:origin x="102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BE069-3A74-4CF3-919C-4C012692501D}" type="datetimeFigureOut">
              <a:rPr lang="ru-RU" smtClean="0"/>
              <a:t>25.08.2019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CFDFA-C005-4CCC-BA6B-67E1BB7120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2634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BE069-3A74-4CF3-919C-4C012692501D}" type="datetimeFigureOut">
              <a:rPr lang="ru-RU" smtClean="0"/>
              <a:t>25.08.2019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CFDFA-C005-4CCC-BA6B-67E1BB7120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5497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BE069-3A74-4CF3-919C-4C012692501D}" type="datetimeFigureOut">
              <a:rPr lang="ru-RU" smtClean="0"/>
              <a:t>25.08.2019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CFDFA-C005-4CCC-BA6B-67E1BB7120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8182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BE069-3A74-4CF3-919C-4C012692501D}" type="datetimeFigureOut">
              <a:rPr lang="ru-RU" smtClean="0"/>
              <a:t>25.08.2019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CFDFA-C005-4CCC-BA6B-67E1BB7120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1939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BE069-3A74-4CF3-919C-4C012692501D}" type="datetimeFigureOut">
              <a:rPr lang="ru-RU" smtClean="0"/>
              <a:t>25.08.2019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CFDFA-C005-4CCC-BA6B-67E1BB7120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457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BE069-3A74-4CF3-919C-4C012692501D}" type="datetimeFigureOut">
              <a:rPr lang="ru-RU" smtClean="0"/>
              <a:t>25.08.2019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CFDFA-C005-4CCC-BA6B-67E1BB7120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7086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BE069-3A74-4CF3-919C-4C012692501D}" type="datetimeFigureOut">
              <a:rPr lang="ru-RU" smtClean="0"/>
              <a:t>25.08.2019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CFDFA-C005-4CCC-BA6B-67E1BB7120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9233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BE069-3A74-4CF3-919C-4C012692501D}" type="datetimeFigureOut">
              <a:rPr lang="ru-RU" smtClean="0"/>
              <a:t>25.08.2019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CFDFA-C005-4CCC-BA6B-67E1BB7120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9492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BE069-3A74-4CF3-919C-4C012692501D}" type="datetimeFigureOut">
              <a:rPr lang="ru-RU" smtClean="0"/>
              <a:t>25.08.2019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CFDFA-C005-4CCC-BA6B-67E1BB7120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174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BE069-3A74-4CF3-919C-4C012692501D}" type="datetimeFigureOut">
              <a:rPr lang="ru-RU" smtClean="0"/>
              <a:t>25.08.2019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CFDFA-C005-4CCC-BA6B-67E1BB7120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2961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BE069-3A74-4CF3-919C-4C012692501D}" type="datetimeFigureOut">
              <a:rPr lang="ru-RU" smtClean="0"/>
              <a:t>25.08.2019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CFDFA-C005-4CCC-BA6B-67E1BB7120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1525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FBE069-3A74-4CF3-919C-4C012692501D}" type="datetimeFigureOut">
              <a:rPr lang="ru-RU" smtClean="0"/>
              <a:t>25.08.2019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BCFDFA-C005-4CCC-BA6B-67E1BB7120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5051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>
                <a:solidFill>
                  <a:srgbClr val="FF0000"/>
                </a:solidFill>
              </a:rPr>
              <a:t>Вводный проект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3200" dirty="0" smtClean="0">
                <a:solidFill>
                  <a:schemeClr val="accent2">
                    <a:lumMod val="50000"/>
                  </a:schemeClr>
                </a:solidFill>
              </a:rPr>
              <a:t>Тема 1. Графика в языке </a:t>
            </a:r>
            <a:r>
              <a:rPr lang="en-US" sz="3200" dirty="0" smtClean="0">
                <a:solidFill>
                  <a:schemeClr val="accent2">
                    <a:lumMod val="50000"/>
                  </a:schemeClr>
                </a:solidFill>
              </a:rPr>
              <a:t>Python. </a:t>
            </a:r>
            <a:r>
              <a:rPr lang="ru-RU" sz="3200" dirty="0" smtClean="0">
                <a:solidFill>
                  <a:schemeClr val="accent2">
                    <a:lumMod val="50000"/>
                  </a:schemeClr>
                </a:solidFill>
              </a:rPr>
              <a:t>Модуль </a:t>
            </a:r>
            <a:r>
              <a:rPr lang="en-US" sz="3200" dirty="0" err="1" smtClean="0">
                <a:solidFill>
                  <a:schemeClr val="accent2">
                    <a:lumMod val="50000"/>
                  </a:schemeClr>
                </a:solidFill>
              </a:rPr>
              <a:t>pygame</a:t>
            </a:r>
            <a:endParaRPr lang="ru-RU" sz="3200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6198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FF0000"/>
                </a:solidFill>
              </a:rPr>
              <a:t>Вводный проект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В основу обучения </a:t>
            </a:r>
            <a:r>
              <a:rPr lang="ru-RU" dirty="0"/>
              <a:t>программированию на </a:t>
            </a:r>
            <a:r>
              <a:rPr lang="en-US" dirty="0" smtClean="0"/>
              <a:t>Python</a:t>
            </a:r>
            <a:r>
              <a:rPr lang="ru-RU" dirty="0" smtClean="0"/>
              <a:t> положена </a:t>
            </a:r>
            <a:r>
              <a:rPr lang="ru-RU" dirty="0"/>
              <a:t>методика начального обучения программированию, разработанная Л.А. Москвиной с соавторами и апробированная и развитая в учебном процессе Высшего колледжа информатики </a:t>
            </a:r>
            <a:r>
              <a:rPr lang="ru-RU" dirty="0" smtClean="0"/>
              <a:t>НГУ.</a:t>
            </a:r>
          </a:p>
          <a:p>
            <a:r>
              <a:rPr lang="ru-RU" dirty="0" smtClean="0"/>
              <a:t> Эта методика получила </a:t>
            </a:r>
            <a:r>
              <a:rPr lang="ru-RU" dirty="0"/>
              <a:t>в ВКИ рабочее </a:t>
            </a:r>
            <a:r>
              <a:rPr lang="ru-RU" dirty="0" smtClean="0"/>
              <a:t>название</a:t>
            </a:r>
          </a:p>
          <a:p>
            <a:pPr algn="ctr"/>
            <a:r>
              <a:rPr lang="ru-RU" sz="4800" dirty="0" smtClean="0">
                <a:solidFill>
                  <a:srgbClr val="FF0000"/>
                </a:solidFill>
              </a:rPr>
              <a:t>«</a:t>
            </a:r>
            <a:r>
              <a:rPr lang="ru-RU" sz="4800" dirty="0">
                <a:solidFill>
                  <a:srgbClr val="FF0000"/>
                </a:solidFill>
              </a:rPr>
              <a:t>Вводный проект».</a:t>
            </a:r>
          </a:p>
        </p:txBody>
      </p:sp>
    </p:spTree>
    <p:extLst>
      <p:ext uri="{BB962C8B-B14F-4D97-AF65-F5344CB8AC3E}">
        <p14:creationId xmlns:p14="http://schemas.microsoft.com/office/powerpoint/2010/main" val="1302840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FF0000"/>
                </a:solidFill>
              </a:rPr>
              <a:t>Вводный проект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Идея этой методики предельно проста: обучиться программированию можно только в процессе программирования. </a:t>
            </a:r>
            <a:endParaRPr lang="ru-RU" dirty="0" smtClean="0"/>
          </a:p>
          <a:p>
            <a:r>
              <a:rPr lang="ru-RU" dirty="0" smtClean="0"/>
              <a:t>Поэтому </a:t>
            </a:r>
            <a:r>
              <a:rPr lang="ru-RU" dirty="0"/>
              <a:t>с первых шагов вы будете учиться создавать большую программу, объединенную единым замыслом – компьютерную игру. </a:t>
            </a:r>
          </a:p>
        </p:txBody>
      </p:sp>
    </p:spTree>
    <p:extLst>
      <p:ext uri="{BB962C8B-B14F-4D97-AF65-F5344CB8AC3E}">
        <p14:creationId xmlns:p14="http://schemas.microsoft.com/office/powerpoint/2010/main" val="1621112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FF0000"/>
                </a:solidFill>
              </a:rPr>
              <a:t>Вводный проект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Задачей первого этапа обучения является всесторонняя подготовка к созданию игровой программы. </a:t>
            </a:r>
            <a:endParaRPr lang="ru-RU" dirty="0" smtClean="0"/>
          </a:p>
          <a:p>
            <a:r>
              <a:rPr lang="ru-RU" dirty="0" smtClean="0"/>
              <a:t>Вы </a:t>
            </a:r>
            <a:r>
              <a:rPr lang="ru-RU" dirty="0"/>
              <a:t>овладеете основами языка, изучите его графические возможности и основополагающие алгоритмы программирования</a:t>
            </a:r>
            <a:r>
              <a:rPr lang="ru-RU" dirty="0" smtClean="0"/>
              <a:t>.</a:t>
            </a:r>
          </a:p>
          <a:p>
            <a:r>
              <a:rPr lang="ru-RU" dirty="0" smtClean="0"/>
              <a:t>Мы начнем с изучения графики в системе </a:t>
            </a:r>
            <a:r>
              <a:rPr lang="en-US" dirty="0" smtClean="0"/>
              <a:t>Python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853301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0070C0"/>
                </a:solidFill>
              </a:rPr>
              <a:t>Графика в системе </a:t>
            </a:r>
            <a:r>
              <a:rPr lang="en-US" dirty="0" smtClean="0">
                <a:solidFill>
                  <a:srgbClr val="0070C0"/>
                </a:solidFill>
              </a:rPr>
              <a:t>Python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Создавать на своем компьютере графику (и добавлять к ней звук) не так-то просто</a:t>
            </a:r>
            <a:r>
              <a:rPr lang="ru-RU" dirty="0" smtClean="0"/>
              <a:t>.</a:t>
            </a:r>
          </a:p>
          <a:p>
            <a:r>
              <a:rPr lang="ru-RU" dirty="0" smtClean="0"/>
              <a:t> </a:t>
            </a:r>
            <a:r>
              <a:rPr lang="ru-RU" dirty="0"/>
              <a:t>Вам придется иметь дело с операционной системой, видеокартой и большим количеством низкоуровневого кода, о котором нам пока не хочется даже говорить. </a:t>
            </a:r>
            <a:endParaRPr lang="ru-RU" dirty="0" smtClean="0"/>
          </a:p>
          <a:p>
            <a:r>
              <a:rPr lang="ru-RU" dirty="0" smtClean="0"/>
              <a:t>Поэтому </a:t>
            </a:r>
            <a:r>
              <a:rPr lang="ru-RU" dirty="0"/>
              <a:t>для простоты решения мы воспользуемся </a:t>
            </a:r>
            <a:r>
              <a:rPr lang="ru-RU" dirty="0" err="1"/>
              <a:t>Python</a:t>
            </a:r>
            <a:r>
              <a:rPr lang="ru-RU" dirty="0"/>
              <a:t>-модулем, который называется </a:t>
            </a:r>
            <a:r>
              <a:rPr lang="ru-RU" dirty="0" err="1"/>
              <a:t>Pygame</a:t>
            </a:r>
            <a:r>
              <a:rPr lang="ru-RU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94544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0070C0"/>
                </a:solidFill>
              </a:rPr>
              <a:t>Графика в системе </a:t>
            </a:r>
            <a:r>
              <a:rPr lang="en-US" dirty="0" smtClean="0">
                <a:solidFill>
                  <a:srgbClr val="0070C0"/>
                </a:solidFill>
              </a:rPr>
              <a:t>Python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Первым делом нам нужно окно, в котором будет нарисована вся графика. Вот очень простая программа, которая нам его создаст</a:t>
            </a:r>
          </a:p>
          <a:p>
            <a:pPr marL="0" indent="0">
              <a:buNone/>
            </a:pPr>
            <a:r>
              <a:rPr lang="ru-RU" dirty="0" smtClean="0"/>
              <a:t>#Программа создания графического окна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impor</a:t>
            </a:r>
            <a:r>
              <a:rPr lang="en-US" dirty="0" smtClean="0"/>
              <a:t>t </a:t>
            </a:r>
            <a:r>
              <a:rPr lang="en-US" dirty="0" err="1" smtClean="0"/>
              <a:t>pygame</a:t>
            </a:r>
            <a:r>
              <a:rPr lang="en-US" dirty="0" smtClean="0"/>
              <a:t> #</a:t>
            </a:r>
            <a:r>
              <a:rPr lang="ru-RU" dirty="0" smtClean="0"/>
              <a:t>Импортируем модуль </a:t>
            </a:r>
            <a:r>
              <a:rPr lang="en-US" dirty="0" err="1" smtClean="0"/>
              <a:t>pygame</a:t>
            </a:r>
            <a:endParaRPr lang="en-US" dirty="0" smtClean="0"/>
          </a:p>
          <a:p>
            <a:pPr marL="0" indent="0">
              <a:buNone/>
            </a:pPr>
            <a:r>
              <a:rPr lang="en-US" dirty="0" err="1" smtClean="0"/>
              <a:t>pygame.init</a:t>
            </a:r>
            <a:r>
              <a:rPr lang="en-US" dirty="0" smtClean="0"/>
              <a:t>()#</a:t>
            </a:r>
            <a:r>
              <a:rPr lang="ru-RU" dirty="0" smtClean="0"/>
              <a:t>Инициализируем модуль </a:t>
            </a:r>
            <a:r>
              <a:rPr lang="en-US" dirty="0" err="1" smtClean="0"/>
              <a:t>pygame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screen = </a:t>
            </a:r>
            <a:r>
              <a:rPr lang="en-US" dirty="0" err="1" smtClean="0"/>
              <a:t>pygame.display.set_mode</a:t>
            </a:r>
            <a:r>
              <a:rPr lang="en-US" dirty="0" smtClean="0"/>
              <a:t>([640, 480])#</a:t>
            </a:r>
            <a:r>
              <a:rPr lang="ru-RU" dirty="0" smtClean="0"/>
              <a:t>задаем размеры экрана</a:t>
            </a:r>
          </a:p>
          <a:p>
            <a:pPr marL="0" indent="0">
              <a:buNone/>
            </a:pPr>
            <a:r>
              <a:rPr lang="en-US" dirty="0" smtClean="0"/>
              <a:t>running = 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True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while</a:t>
            </a:r>
            <a:r>
              <a:rPr lang="en-US" dirty="0" smtClean="0"/>
              <a:t> running:</a:t>
            </a:r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for</a:t>
            </a:r>
            <a:r>
              <a:rPr lang="en-US" dirty="0" smtClean="0"/>
              <a:t> event 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in</a:t>
            </a:r>
            <a:r>
              <a:rPr lang="en-US" dirty="0" smtClean="0"/>
              <a:t> </a:t>
            </a:r>
            <a:r>
              <a:rPr lang="en-US" dirty="0" err="1" smtClean="0"/>
              <a:t>pygame.event.get</a:t>
            </a:r>
            <a:r>
              <a:rPr lang="en-US" dirty="0" smtClean="0"/>
              <a:t>():#</a:t>
            </a:r>
            <a:r>
              <a:rPr lang="ru-RU" dirty="0" smtClean="0"/>
              <a:t>просматриваем очередь событий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</a:t>
            </a:r>
            <a:r>
              <a:rPr lang="ru-RU" dirty="0" smtClean="0"/>
              <a:t> 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if</a:t>
            </a:r>
            <a:r>
              <a:rPr lang="en-US" dirty="0" smtClean="0"/>
              <a:t> </a:t>
            </a:r>
            <a:r>
              <a:rPr lang="en-US" dirty="0" err="1" smtClean="0"/>
              <a:t>event.type</a:t>
            </a:r>
            <a:r>
              <a:rPr lang="en-US" dirty="0" smtClean="0"/>
              <a:t> == </a:t>
            </a:r>
            <a:r>
              <a:rPr lang="en-US" dirty="0" err="1" smtClean="0"/>
              <a:t>pygame.QUIT</a:t>
            </a:r>
            <a:r>
              <a:rPr lang="en-US" dirty="0" smtClean="0"/>
              <a:t>:#</a:t>
            </a:r>
            <a:r>
              <a:rPr lang="ru-RU" dirty="0" smtClean="0"/>
              <a:t>если закрыто окно</a:t>
            </a:r>
          </a:p>
          <a:p>
            <a:pPr marL="0" indent="0">
              <a:buNone/>
            </a:pPr>
            <a:r>
              <a:rPr lang="en-US" dirty="0" smtClean="0"/>
              <a:t>			</a:t>
            </a:r>
            <a:r>
              <a:rPr lang="ru-RU" dirty="0" smtClean="0"/>
              <a:t> </a:t>
            </a:r>
            <a:r>
              <a:rPr lang="en-US" dirty="0" smtClean="0"/>
              <a:t>running = 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False</a:t>
            </a:r>
            <a:r>
              <a:rPr lang="en-US" dirty="0" smtClean="0"/>
              <a:t> #</a:t>
            </a:r>
            <a:r>
              <a:rPr lang="ru-RU" dirty="0" smtClean="0"/>
              <a:t>Выходим из цикла </a:t>
            </a:r>
          </a:p>
          <a:p>
            <a:pPr marL="0" indent="0">
              <a:buNone/>
            </a:pPr>
            <a:r>
              <a:rPr lang="en-US" dirty="0" err="1" smtClean="0"/>
              <a:t>pygame.quit</a:t>
            </a:r>
            <a:r>
              <a:rPr lang="en-US" dirty="0" smtClean="0"/>
              <a:t>() #</a:t>
            </a:r>
            <a:r>
              <a:rPr lang="ru-RU" dirty="0" smtClean="0"/>
              <a:t>закрываем графическое окно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52805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0070C0"/>
                </a:solidFill>
              </a:rPr>
              <a:t>Графика в системе </a:t>
            </a:r>
            <a:r>
              <a:rPr lang="en-US" dirty="0" smtClean="0">
                <a:solidFill>
                  <a:srgbClr val="0070C0"/>
                </a:solidFill>
              </a:rPr>
              <a:t>Python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ru-RU" dirty="0" smtClean="0"/>
              <a:t>Графическое окно</a:t>
            </a:r>
          </a:p>
          <a:p>
            <a:pPr algn="ctr"/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2672" y="2247220"/>
            <a:ext cx="5627914" cy="4452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011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0070C0"/>
                </a:solidFill>
              </a:rPr>
              <a:t>Прямоугольник</a:t>
            </a:r>
            <a:br>
              <a:rPr lang="ru-RU" dirty="0" smtClean="0">
                <a:solidFill>
                  <a:srgbClr val="0070C0"/>
                </a:solidFill>
              </a:rPr>
            </a:b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Следующая программа будет рисовать прямоугольник.</a:t>
            </a:r>
          </a:p>
          <a:p>
            <a:r>
              <a:rPr lang="ru-RU" dirty="0" smtClean="0"/>
              <a:t>Положение объектов на графическом окне задается в пикселях.</a:t>
            </a:r>
          </a:p>
          <a:p>
            <a:r>
              <a:rPr lang="ru-RU" dirty="0" smtClean="0"/>
              <a:t>Началом координат является верхний левый угол окна.</a:t>
            </a:r>
          </a:p>
          <a:p>
            <a:r>
              <a:rPr lang="ru-RU" dirty="0" smtClean="0"/>
              <a:t>Чем больше значение координаты Х, тем</a:t>
            </a:r>
            <a:r>
              <a:rPr lang="ru-RU" dirty="0" smtClean="0">
                <a:solidFill>
                  <a:srgbClr val="FF0000"/>
                </a:solidFill>
              </a:rPr>
              <a:t> левее </a:t>
            </a:r>
            <a:r>
              <a:rPr lang="ru-RU" dirty="0" smtClean="0"/>
              <a:t>положение точки;</a:t>
            </a:r>
          </a:p>
          <a:p>
            <a:r>
              <a:rPr lang="ru-RU" dirty="0" smtClean="0"/>
              <a:t>Чем больше значение координаты </a:t>
            </a:r>
            <a:r>
              <a:rPr lang="en-US" dirty="0" smtClean="0"/>
              <a:t>Y</a:t>
            </a:r>
            <a:r>
              <a:rPr lang="ru-RU" dirty="0" smtClean="0"/>
              <a:t>, тем ниже положение точки.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41158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0070C0"/>
                </a:solidFill>
              </a:rPr>
              <a:t>Прямоугольник (код)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import</a:t>
            </a:r>
            <a:r>
              <a:rPr lang="en-US" dirty="0" smtClean="0"/>
              <a:t> </a:t>
            </a:r>
            <a:r>
              <a:rPr lang="en-US" dirty="0" err="1" smtClean="0"/>
              <a:t>pygame</a:t>
            </a:r>
            <a:endParaRPr lang="en-US" dirty="0" smtClean="0"/>
          </a:p>
          <a:p>
            <a:r>
              <a:rPr lang="en-US" dirty="0" err="1" smtClean="0"/>
              <a:t>pygame.init</a:t>
            </a:r>
            <a:r>
              <a:rPr lang="en-US" dirty="0" smtClean="0"/>
              <a:t>()</a:t>
            </a:r>
          </a:p>
          <a:p>
            <a:r>
              <a:rPr lang="en-US" dirty="0" smtClean="0"/>
              <a:t>screen = </a:t>
            </a:r>
            <a:r>
              <a:rPr lang="en-US" dirty="0" err="1" smtClean="0"/>
              <a:t>pygame.display.set_mode</a:t>
            </a:r>
            <a:r>
              <a:rPr lang="en-US" dirty="0" smtClean="0"/>
              <a:t>([640,480])</a:t>
            </a:r>
          </a:p>
          <a:p>
            <a:r>
              <a:rPr lang="en-US" dirty="0" err="1" smtClean="0"/>
              <a:t>screen.fill</a:t>
            </a:r>
            <a:r>
              <a:rPr lang="en-US" dirty="0" smtClean="0"/>
              <a:t>([255, 255, 255])#</a:t>
            </a:r>
            <a:r>
              <a:rPr lang="ru-RU" dirty="0" smtClean="0"/>
              <a:t>белый экран</a:t>
            </a:r>
          </a:p>
          <a:p>
            <a:r>
              <a:rPr lang="ru-RU" dirty="0" smtClean="0">
                <a:solidFill>
                  <a:srgbClr val="FF0000"/>
                </a:solidFill>
              </a:rPr>
              <a:t>#Размеры и положение прямоугольника</a:t>
            </a:r>
          </a:p>
          <a:p>
            <a:r>
              <a:rPr lang="en-US" dirty="0" smtClean="0"/>
              <a:t>width = 200</a:t>
            </a:r>
          </a:p>
          <a:p>
            <a:r>
              <a:rPr lang="en-US" dirty="0" smtClean="0"/>
              <a:t>height = 100</a:t>
            </a:r>
          </a:p>
          <a:p>
            <a:r>
              <a:rPr lang="en-US" dirty="0" smtClean="0"/>
              <a:t>top = 100</a:t>
            </a:r>
          </a:p>
          <a:p>
            <a:r>
              <a:rPr lang="en-US" dirty="0" smtClean="0"/>
              <a:t>left = 100</a:t>
            </a:r>
            <a:endParaRPr lang="ru-RU" dirty="0" smtClean="0"/>
          </a:p>
          <a:p>
            <a:r>
              <a:rPr lang="en-US" dirty="0" smtClean="0">
                <a:solidFill>
                  <a:srgbClr val="FF0000"/>
                </a:solidFill>
              </a:rPr>
              <a:t># draw the rectangle</a:t>
            </a:r>
          </a:p>
          <a:p>
            <a:r>
              <a:rPr lang="en-US" dirty="0" err="1" smtClean="0"/>
              <a:t>pygame.draw.rect</a:t>
            </a:r>
            <a:r>
              <a:rPr lang="en-US" dirty="0" smtClean="0"/>
              <a:t>(screen, [255,0,0], [left, top, width, height], 0)</a:t>
            </a:r>
          </a:p>
          <a:p>
            <a:endParaRPr lang="ru-RU" dirty="0"/>
          </a:p>
        </p:txBody>
      </p:sp>
      <p:sp>
        <p:nvSpPr>
          <p:cNvPr id="6" name="Объект 5"/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#screen - </a:t>
            </a:r>
            <a:r>
              <a:rPr lang="ru-RU" dirty="0" smtClean="0">
                <a:solidFill>
                  <a:srgbClr val="FF0000"/>
                </a:solidFill>
              </a:rPr>
              <a:t>на чем рисуем</a:t>
            </a:r>
          </a:p>
          <a:p>
            <a:r>
              <a:rPr lang="ru-RU" dirty="0" smtClean="0">
                <a:solidFill>
                  <a:srgbClr val="FF0000"/>
                </a:solidFill>
              </a:rPr>
              <a:t>#[255,0,0] - цвет </a:t>
            </a:r>
            <a:r>
              <a:rPr lang="en-US" dirty="0" smtClean="0">
                <a:solidFill>
                  <a:srgbClr val="FF0000"/>
                </a:solidFill>
              </a:rPr>
              <a:t>RGB, red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#[left, top, width, height]- </a:t>
            </a:r>
            <a:r>
              <a:rPr lang="ru-RU" dirty="0" smtClean="0">
                <a:solidFill>
                  <a:srgbClr val="FF0000"/>
                </a:solidFill>
              </a:rPr>
              <a:t>координаты левого верхнего угла, длина ширина</a:t>
            </a:r>
          </a:p>
          <a:p>
            <a:r>
              <a:rPr lang="ru-RU" dirty="0" smtClean="0">
                <a:solidFill>
                  <a:srgbClr val="FF0000"/>
                </a:solidFill>
              </a:rPr>
              <a:t># 0 - сплошная заливка, 1,2 и </a:t>
            </a:r>
            <a:r>
              <a:rPr lang="ru-RU" dirty="0" err="1" smtClean="0">
                <a:solidFill>
                  <a:srgbClr val="FF0000"/>
                </a:solidFill>
              </a:rPr>
              <a:t>т.д</a:t>
            </a:r>
            <a:r>
              <a:rPr lang="ru-RU" dirty="0" smtClean="0">
                <a:solidFill>
                  <a:srgbClr val="FF0000"/>
                </a:solidFill>
              </a:rPr>
              <a:t> - ширина линии контура, заливка отсутствует</a:t>
            </a:r>
          </a:p>
          <a:p>
            <a:r>
              <a:rPr lang="en-US" dirty="0" err="1" smtClean="0"/>
              <a:t>pygame.display.flip</a:t>
            </a:r>
            <a:r>
              <a:rPr lang="en-US" dirty="0" smtClean="0">
                <a:solidFill>
                  <a:srgbClr val="FF0000"/>
                </a:solidFill>
              </a:rPr>
              <a:t>()# </a:t>
            </a:r>
            <a:r>
              <a:rPr lang="ru-RU" dirty="0" smtClean="0">
                <a:solidFill>
                  <a:srgbClr val="FF0000"/>
                </a:solidFill>
              </a:rPr>
              <a:t>Вывод изображения в графическое окно</a:t>
            </a:r>
          </a:p>
          <a:p>
            <a:r>
              <a:rPr lang="en-US" dirty="0" smtClean="0"/>
              <a:t>running = 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True</a:t>
            </a:r>
          </a:p>
          <a:p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while</a:t>
            </a:r>
            <a:r>
              <a:rPr lang="en-US" dirty="0" smtClean="0"/>
              <a:t> running:</a:t>
            </a:r>
          </a:p>
          <a:p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    for </a:t>
            </a:r>
            <a:r>
              <a:rPr lang="en-US" dirty="0" smtClean="0"/>
              <a:t>event 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in </a:t>
            </a:r>
            <a:r>
              <a:rPr lang="en-US" dirty="0" err="1" smtClean="0"/>
              <a:t>pygame.event.get</a:t>
            </a:r>
            <a:r>
              <a:rPr lang="en-US" dirty="0" smtClean="0"/>
              <a:t>():</a:t>
            </a:r>
          </a:p>
          <a:p>
            <a:r>
              <a:rPr lang="en-US" dirty="0" smtClean="0"/>
              <a:t>        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if</a:t>
            </a:r>
            <a:r>
              <a:rPr lang="en-US" dirty="0" smtClean="0"/>
              <a:t> </a:t>
            </a:r>
            <a:r>
              <a:rPr lang="en-US" dirty="0" err="1" smtClean="0"/>
              <a:t>event.type</a:t>
            </a:r>
            <a:r>
              <a:rPr lang="en-US" dirty="0" smtClean="0"/>
              <a:t> == </a:t>
            </a:r>
            <a:r>
              <a:rPr lang="en-US" dirty="0" err="1" smtClean="0"/>
              <a:t>pygame.QUIT</a:t>
            </a:r>
            <a:r>
              <a:rPr lang="en-US" dirty="0" smtClean="0"/>
              <a:t>: </a:t>
            </a:r>
          </a:p>
          <a:p>
            <a:r>
              <a:rPr lang="en-US" dirty="0" smtClean="0"/>
              <a:t>            running = 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False</a:t>
            </a:r>
          </a:p>
          <a:p>
            <a:r>
              <a:rPr lang="en-US" dirty="0" err="1" smtClean="0"/>
              <a:t>pygame.quit</a:t>
            </a:r>
            <a:r>
              <a:rPr lang="en-US" dirty="0" smtClean="0"/>
              <a:t>()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35109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70C0"/>
                </a:solidFill>
              </a:rPr>
              <a:t>Прямоугольник (код)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Для вывода объекта в </a:t>
            </a:r>
            <a:r>
              <a:rPr lang="ru-RU" dirty="0" err="1"/>
              <a:t>Pygame</a:t>
            </a:r>
            <a:r>
              <a:rPr lang="ru-RU" dirty="0"/>
              <a:t>-окне (у нас это происходит на </a:t>
            </a:r>
            <a:r>
              <a:rPr lang="ru-RU" dirty="0" smtClean="0"/>
              <a:t>поверхности </a:t>
            </a:r>
            <a:r>
              <a:rPr lang="ru-RU" dirty="0" err="1"/>
              <a:t>screen</a:t>
            </a:r>
            <a:r>
              <a:rPr lang="ru-RU" dirty="0"/>
              <a:t>, созданной в строке </a:t>
            </a:r>
            <a:r>
              <a:rPr lang="ru-RU" dirty="0" smtClean="0"/>
              <a:t>3) </a:t>
            </a:r>
            <a:r>
              <a:rPr lang="ru-RU" dirty="0"/>
              <a:t>строятся две его</a:t>
            </a:r>
          </a:p>
          <a:p>
            <a:r>
              <a:rPr lang="ru-RU" dirty="0"/>
              <a:t>копии. </a:t>
            </a:r>
            <a:endParaRPr lang="ru-RU" dirty="0" smtClean="0"/>
          </a:p>
          <a:p>
            <a:r>
              <a:rPr lang="ru-RU" dirty="0" smtClean="0"/>
              <a:t>Дело </a:t>
            </a:r>
            <a:r>
              <a:rPr lang="ru-RU" dirty="0"/>
              <a:t>в том, что разрабатываемая анимация должна быть</a:t>
            </a:r>
          </a:p>
          <a:p>
            <a:r>
              <a:rPr lang="ru-RU" dirty="0"/>
              <a:t>максимально быстрой и максимально гладкой. </a:t>
            </a:r>
            <a:endParaRPr lang="ru-RU" dirty="0" smtClean="0"/>
          </a:p>
          <a:p>
            <a:r>
              <a:rPr lang="ru-RU" dirty="0" smtClean="0"/>
              <a:t>Поэтому вместо полного </a:t>
            </a:r>
            <a:r>
              <a:rPr lang="ru-RU" dirty="0"/>
              <a:t>обновления экрана при внесении даже небольших </a:t>
            </a:r>
            <a:r>
              <a:rPr lang="ru-RU" dirty="0" smtClean="0"/>
              <a:t>изменений </a:t>
            </a:r>
            <a:r>
              <a:rPr lang="ru-RU" dirty="0"/>
              <a:t>можно сразу выполнять все изменения, а потом </a:t>
            </a:r>
            <a:r>
              <a:rPr lang="ru-RU" dirty="0" smtClean="0"/>
              <a:t>быстро «переходить</a:t>
            </a:r>
            <a:r>
              <a:rPr lang="ru-RU" dirty="0"/>
              <a:t>» на новую версию графического фрагмента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72554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70C0"/>
                </a:solidFill>
              </a:rPr>
              <a:t>Прямоугольник (код)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dirty="0" smtClean="0"/>
              <a:t>Именно это </a:t>
            </a:r>
            <a:r>
              <a:rPr lang="ru-RU" dirty="0"/>
              <a:t>делает команда </a:t>
            </a:r>
            <a:r>
              <a:rPr lang="ru-RU" dirty="0" err="1"/>
              <a:t>pygame.display.flip</a:t>
            </a:r>
            <a:r>
              <a:rPr lang="ru-RU" dirty="0"/>
              <a:t>(). </a:t>
            </a:r>
            <a:endParaRPr lang="ru-RU" dirty="0" smtClean="0"/>
          </a:p>
          <a:p>
            <a:r>
              <a:rPr lang="ru-RU" dirty="0" smtClean="0"/>
              <a:t>В </a:t>
            </a:r>
            <a:r>
              <a:rPr lang="ru-RU" dirty="0"/>
              <a:t>результате изменения появляются </a:t>
            </a:r>
            <a:r>
              <a:rPr lang="ru-RU" dirty="0" smtClean="0"/>
              <a:t>не постепенно</a:t>
            </a:r>
            <a:r>
              <a:rPr lang="ru-RU" dirty="0"/>
              <a:t>, а сразу, что позволяет избежать возникновения на экране кругов, </a:t>
            </a:r>
            <a:r>
              <a:rPr lang="ru-RU" dirty="0" smtClean="0"/>
              <a:t>нарисованных </a:t>
            </a:r>
            <a:r>
              <a:rPr lang="ru-RU" dirty="0"/>
              <a:t>лишь наполовину (или инопланетян, или других объектов).</a:t>
            </a:r>
          </a:p>
          <a:p>
            <a:r>
              <a:rPr lang="ru-RU" dirty="0"/>
              <a:t>Две копии можно представить как текущий экран и «следующий» экран. </a:t>
            </a:r>
            <a:endParaRPr lang="ru-RU" dirty="0" smtClean="0"/>
          </a:p>
          <a:p>
            <a:r>
              <a:rPr lang="ru-RU" dirty="0" smtClean="0"/>
              <a:t>Текущий </a:t>
            </a:r>
            <a:r>
              <a:rPr lang="ru-RU" dirty="0"/>
              <a:t>экран </a:t>
            </a:r>
            <a:r>
              <a:rPr lang="ru-RU" dirty="0" smtClean="0"/>
              <a:t>—это </a:t>
            </a:r>
            <a:r>
              <a:rPr lang="ru-RU" dirty="0"/>
              <a:t>то, что вы видите сейчас. «Следующий» экран вы увидите после перехода. </a:t>
            </a:r>
            <a:endParaRPr lang="ru-RU" dirty="0" smtClean="0"/>
          </a:p>
          <a:p>
            <a:r>
              <a:rPr lang="ru-RU" dirty="0" smtClean="0"/>
              <a:t>Все изменения </a:t>
            </a:r>
            <a:r>
              <a:rPr lang="ru-RU" dirty="0"/>
              <a:t>в рисунок вносятся на «следующем» экране, и вы видите их уже после перехода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09187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0070C0"/>
                </a:solidFill>
              </a:rPr>
              <a:t>Прямоугольник (результат)</a:t>
            </a:r>
            <a:endParaRPr lang="ru-RU" dirty="0"/>
          </a:p>
        </p:txBody>
      </p:sp>
      <p:pic>
        <p:nvPicPr>
          <p:cNvPr id="7" name="Объект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46021" y="1825625"/>
            <a:ext cx="549995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632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Круг(код)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impor</a:t>
            </a:r>
            <a:r>
              <a:rPr lang="en-US" dirty="0" smtClean="0"/>
              <a:t>t </a:t>
            </a:r>
            <a:r>
              <a:rPr lang="en-US" dirty="0" err="1" smtClean="0"/>
              <a:t>pygame</a:t>
            </a:r>
            <a:endParaRPr lang="en-US" dirty="0" smtClean="0"/>
          </a:p>
          <a:p>
            <a:r>
              <a:rPr lang="en-US" dirty="0" err="1" smtClean="0"/>
              <a:t>pygame.init</a:t>
            </a:r>
            <a:r>
              <a:rPr lang="en-US" dirty="0" smtClean="0"/>
              <a:t>()</a:t>
            </a:r>
          </a:p>
          <a:p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from</a:t>
            </a:r>
            <a:r>
              <a:rPr lang="en-US" dirty="0" smtClean="0"/>
              <a:t> </a:t>
            </a:r>
            <a:r>
              <a:rPr lang="en-US" dirty="0" err="1" smtClean="0"/>
              <a:t>pygame.color</a:t>
            </a:r>
            <a:r>
              <a:rPr lang="en-US" dirty="0" smtClean="0"/>
              <a:t> 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import</a:t>
            </a:r>
            <a:r>
              <a:rPr lang="en-US" dirty="0" smtClean="0"/>
              <a:t> THECOLORS </a:t>
            </a:r>
            <a:r>
              <a:rPr lang="en-US" dirty="0" smtClean="0">
                <a:solidFill>
                  <a:srgbClr val="FF0000"/>
                </a:solidFill>
              </a:rPr>
              <a:t># </a:t>
            </a:r>
            <a:r>
              <a:rPr lang="ru-RU" dirty="0" smtClean="0">
                <a:solidFill>
                  <a:srgbClr val="FF0000"/>
                </a:solidFill>
              </a:rPr>
              <a:t>Эта библиотека позволяет задавать цвета</a:t>
            </a:r>
          </a:p>
          <a:p>
            <a:r>
              <a:rPr lang="en-US" dirty="0" smtClean="0"/>
              <a:t>screen = </a:t>
            </a:r>
            <a:r>
              <a:rPr lang="en-US" dirty="0" err="1" smtClean="0"/>
              <a:t>pygame.display.set_mode</a:t>
            </a:r>
            <a:r>
              <a:rPr lang="en-US" dirty="0" smtClean="0"/>
              <a:t>([640,480])</a:t>
            </a:r>
          </a:p>
          <a:p>
            <a:r>
              <a:rPr lang="en-US" dirty="0" err="1" smtClean="0"/>
              <a:t>screen.fill</a:t>
            </a:r>
            <a:r>
              <a:rPr lang="en-US" dirty="0" smtClean="0"/>
              <a:t>([255,255,255]) </a:t>
            </a:r>
            <a:r>
              <a:rPr lang="en-US" dirty="0" smtClean="0">
                <a:solidFill>
                  <a:srgbClr val="FF0000"/>
                </a:solidFill>
              </a:rPr>
              <a:t># </a:t>
            </a:r>
            <a:r>
              <a:rPr lang="ru-RU" dirty="0" smtClean="0">
                <a:solidFill>
                  <a:srgbClr val="FF0000"/>
                </a:solidFill>
              </a:rPr>
              <a:t>Белый экран</a:t>
            </a:r>
          </a:p>
          <a:p>
            <a:r>
              <a:rPr lang="en-US" dirty="0" err="1" smtClean="0"/>
              <a:t>pygame.draw.circle</a:t>
            </a:r>
            <a:r>
              <a:rPr lang="en-US" dirty="0" smtClean="0"/>
              <a:t>(screen, THECOLORS['blue'],[320,240], 100, 0)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#screen - </a:t>
            </a:r>
            <a:r>
              <a:rPr lang="ru-RU" dirty="0" smtClean="0">
                <a:solidFill>
                  <a:srgbClr val="FF0000"/>
                </a:solidFill>
              </a:rPr>
              <a:t>на чем рисуем</a:t>
            </a:r>
          </a:p>
          <a:p>
            <a:r>
              <a:rPr lang="ru-RU" dirty="0" smtClean="0">
                <a:solidFill>
                  <a:srgbClr val="FF0000"/>
                </a:solidFill>
              </a:rPr>
              <a:t>#</a:t>
            </a:r>
            <a:r>
              <a:rPr lang="en-US" dirty="0" smtClean="0">
                <a:solidFill>
                  <a:srgbClr val="FF0000"/>
                </a:solidFill>
              </a:rPr>
              <a:t>THECOLORS['red'] - </a:t>
            </a:r>
            <a:r>
              <a:rPr lang="ru-RU" dirty="0" smtClean="0">
                <a:solidFill>
                  <a:srgbClr val="FF0000"/>
                </a:solidFill>
              </a:rPr>
              <a:t>цвет</a:t>
            </a:r>
          </a:p>
          <a:p>
            <a:r>
              <a:rPr lang="ru-RU" dirty="0" smtClean="0">
                <a:solidFill>
                  <a:srgbClr val="FF0000"/>
                </a:solidFill>
              </a:rPr>
              <a:t>#[320,240] - координаты центра круга</a:t>
            </a:r>
          </a:p>
          <a:p>
            <a:r>
              <a:rPr lang="ru-RU" dirty="0" smtClean="0">
                <a:solidFill>
                  <a:srgbClr val="FF0000"/>
                </a:solidFill>
              </a:rPr>
              <a:t>#100 - радиус</a:t>
            </a:r>
          </a:p>
          <a:p>
            <a:r>
              <a:rPr lang="ru-RU" dirty="0" smtClean="0">
                <a:solidFill>
                  <a:srgbClr val="FF0000"/>
                </a:solidFill>
              </a:rPr>
              <a:t># 0 - сплошная заливка, 1,2 и т. д. - ширина линии контура, заливка отсутствует</a:t>
            </a:r>
            <a:endParaRPr lang="ru-R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7182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Круг(код)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pygame.display.flip</a:t>
            </a:r>
            <a:r>
              <a:rPr lang="en-US" dirty="0" smtClean="0"/>
              <a:t>() </a:t>
            </a:r>
            <a:r>
              <a:rPr lang="en-US" dirty="0" smtClean="0">
                <a:solidFill>
                  <a:srgbClr val="FF0000"/>
                </a:solidFill>
              </a:rPr>
              <a:t># </a:t>
            </a:r>
            <a:r>
              <a:rPr lang="ru-RU" dirty="0" smtClean="0">
                <a:solidFill>
                  <a:srgbClr val="FF0000"/>
                </a:solidFill>
              </a:rPr>
              <a:t>Эта команда выводит изображения в окно.</a:t>
            </a:r>
          </a:p>
          <a:p>
            <a:r>
              <a:rPr lang="en-US" dirty="0" smtClean="0"/>
              <a:t>running  = 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True</a:t>
            </a:r>
          </a:p>
          <a:p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while</a:t>
            </a:r>
            <a:r>
              <a:rPr lang="en-US" dirty="0" smtClean="0"/>
              <a:t> running:</a:t>
            </a:r>
          </a:p>
          <a:p>
            <a:r>
              <a:rPr lang="en-US" dirty="0" smtClean="0"/>
              <a:t>    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for</a:t>
            </a:r>
            <a:r>
              <a:rPr lang="en-US" dirty="0" smtClean="0"/>
              <a:t> event 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in</a:t>
            </a:r>
            <a:r>
              <a:rPr lang="en-US" dirty="0" smtClean="0"/>
              <a:t> </a:t>
            </a:r>
            <a:r>
              <a:rPr lang="en-US" dirty="0" err="1" smtClean="0"/>
              <a:t>pygame.event.get</a:t>
            </a:r>
            <a:r>
              <a:rPr lang="en-US" dirty="0" smtClean="0"/>
              <a:t>():</a:t>
            </a:r>
          </a:p>
          <a:p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        if </a:t>
            </a:r>
            <a:r>
              <a:rPr lang="en-US" dirty="0" err="1" smtClean="0"/>
              <a:t>event.type</a:t>
            </a:r>
            <a:r>
              <a:rPr lang="en-US" dirty="0" smtClean="0"/>
              <a:t> == </a:t>
            </a:r>
            <a:r>
              <a:rPr lang="en-US" dirty="0" err="1" smtClean="0"/>
              <a:t>pygame.QUIT</a:t>
            </a:r>
            <a:r>
              <a:rPr lang="en-US" dirty="0" smtClean="0"/>
              <a:t>: </a:t>
            </a:r>
          </a:p>
          <a:p>
            <a:r>
              <a:rPr lang="en-US" dirty="0" smtClean="0"/>
              <a:t>            running = 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False</a:t>
            </a:r>
          </a:p>
          <a:p>
            <a:r>
              <a:rPr lang="en-US" dirty="0" err="1" smtClean="0"/>
              <a:t>pygame.quit</a:t>
            </a:r>
            <a:r>
              <a:rPr lang="en-US" dirty="0" smtClean="0"/>
              <a:t>()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10538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Круг(результат)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46021" y="1825625"/>
            <a:ext cx="549995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947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chemeClr val="accent2">
                    <a:lumMod val="75000"/>
                  </a:schemeClr>
                </a:solidFill>
              </a:rPr>
              <a:t>Треугольник и линия (код)</a:t>
            </a:r>
            <a:endParaRPr lang="ru-RU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import</a:t>
            </a:r>
            <a:r>
              <a:rPr lang="en-US" dirty="0"/>
              <a:t> </a:t>
            </a:r>
            <a:r>
              <a:rPr lang="en-US" dirty="0" err="1"/>
              <a:t>pygame</a:t>
            </a:r>
            <a:endParaRPr lang="en-US" dirty="0"/>
          </a:p>
          <a:p>
            <a:r>
              <a:rPr lang="en-US" dirty="0" err="1"/>
              <a:t>pygame.init</a:t>
            </a:r>
            <a:r>
              <a:rPr lang="en-US" dirty="0"/>
              <a:t>()</a:t>
            </a: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from</a:t>
            </a:r>
            <a:r>
              <a:rPr lang="en-US" dirty="0"/>
              <a:t> </a:t>
            </a:r>
            <a:r>
              <a:rPr lang="en-US" dirty="0" err="1"/>
              <a:t>pygame.color</a:t>
            </a:r>
            <a:r>
              <a:rPr lang="en-US" dirty="0"/>
              <a:t>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import</a:t>
            </a:r>
            <a:r>
              <a:rPr lang="en-US" dirty="0"/>
              <a:t> THECOLORS</a:t>
            </a:r>
          </a:p>
          <a:p>
            <a:r>
              <a:rPr lang="en-US" dirty="0"/>
              <a:t>triangle=[[100,100],[100,200],[200,100]]#</a:t>
            </a:r>
            <a:r>
              <a:rPr lang="ru-RU" dirty="0"/>
              <a:t>координаты вершин треугольника</a:t>
            </a:r>
          </a:p>
          <a:p>
            <a:r>
              <a:rPr lang="en-US" dirty="0"/>
              <a:t>screen = </a:t>
            </a:r>
            <a:r>
              <a:rPr lang="en-US" dirty="0" err="1"/>
              <a:t>pygame.display.set_mode</a:t>
            </a:r>
            <a:r>
              <a:rPr lang="en-US" dirty="0"/>
              <a:t>([640,480])</a:t>
            </a:r>
          </a:p>
          <a:p>
            <a:r>
              <a:rPr lang="en-US" dirty="0" err="1"/>
              <a:t>screen.fill</a:t>
            </a:r>
            <a:r>
              <a:rPr lang="en-US" dirty="0"/>
              <a:t>([255,255,255]) # fill screen with white</a:t>
            </a:r>
          </a:p>
          <a:p>
            <a:r>
              <a:rPr lang="en-US" dirty="0" err="1"/>
              <a:t>pygame.draw.polygon</a:t>
            </a:r>
            <a:r>
              <a:rPr lang="en-US" dirty="0"/>
              <a:t>(screen,[0,255,0],triangle,0)#</a:t>
            </a:r>
            <a:r>
              <a:rPr lang="ru-RU" dirty="0"/>
              <a:t>рисуем треугольник</a:t>
            </a:r>
          </a:p>
          <a:p>
            <a:r>
              <a:rPr lang="ru-RU" dirty="0">
                <a:solidFill>
                  <a:srgbClr val="FF0000"/>
                </a:solidFill>
              </a:rPr>
              <a:t>#[0,255,0] - цвет</a:t>
            </a:r>
          </a:p>
          <a:p>
            <a:r>
              <a:rPr lang="ru-RU" dirty="0">
                <a:solidFill>
                  <a:srgbClr val="FF0000"/>
                </a:solidFill>
              </a:rPr>
              <a:t>#</a:t>
            </a:r>
            <a:r>
              <a:rPr lang="en-US" dirty="0">
                <a:solidFill>
                  <a:srgbClr val="FF0000"/>
                </a:solidFill>
              </a:rPr>
              <a:t>triangle - </a:t>
            </a:r>
            <a:r>
              <a:rPr lang="ru-RU" dirty="0">
                <a:solidFill>
                  <a:srgbClr val="FF0000"/>
                </a:solidFill>
              </a:rPr>
              <a:t>координаты вершин</a:t>
            </a:r>
          </a:p>
          <a:p>
            <a:r>
              <a:rPr lang="ru-RU" dirty="0">
                <a:solidFill>
                  <a:srgbClr val="FF0000"/>
                </a:solidFill>
              </a:rPr>
              <a:t>#0 - заполнение</a:t>
            </a:r>
          </a:p>
        </p:txBody>
      </p:sp>
    </p:spTree>
    <p:extLst>
      <p:ext uri="{BB962C8B-B14F-4D97-AF65-F5344CB8AC3E}">
        <p14:creationId xmlns:p14="http://schemas.microsoft.com/office/powerpoint/2010/main" val="2391890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chemeClr val="accent2">
                    <a:lumMod val="75000"/>
                  </a:schemeClr>
                </a:solidFill>
              </a:rPr>
              <a:t>Треугольник и линия (код)</a:t>
            </a:r>
            <a:endParaRPr lang="ru-RU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err="1"/>
              <a:t>pygame.draw.lines</a:t>
            </a:r>
            <a:r>
              <a:rPr lang="en-US" dirty="0"/>
              <a:t>(screen, THECOLORS[</a:t>
            </a:r>
            <a:r>
              <a:rPr lang="en-US" dirty="0">
                <a:solidFill>
                  <a:srgbClr val="00B050"/>
                </a:solidFill>
              </a:rPr>
              <a:t>'blue'],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False</a:t>
            </a:r>
            <a:r>
              <a:rPr lang="en-US" dirty="0"/>
              <a:t>,[[500,300],[400,400]],3)</a:t>
            </a:r>
          </a:p>
          <a:p>
            <a:r>
              <a:rPr lang="en-US" dirty="0">
                <a:solidFill>
                  <a:srgbClr val="FF0000"/>
                </a:solidFill>
              </a:rPr>
              <a:t>#</a:t>
            </a:r>
            <a:r>
              <a:rPr lang="ru-RU" dirty="0">
                <a:solidFill>
                  <a:srgbClr val="FF0000"/>
                </a:solidFill>
              </a:rPr>
              <a:t>рисуем линию</a:t>
            </a:r>
          </a:p>
          <a:p>
            <a:r>
              <a:rPr lang="ru-RU" dirty="0">
                <a:solidFill>
                  <a:srgbClr val="FF0000"/>
                </a:solidFill>
              </a:rPr>
              <a:t>#</a:t>
            </a:r>
            <a:r>
              <a:rPr lang="en-US" dirty="0">
                <a:solidFill>
                  <a:srgbClr val="FF0000"/>
                </a:solidFill>
              </a:rPr>
              <a:t>THECOLORS[] - </a:t>
            </a:r>
            <a:r>
              <a:rPr lang="ru-RU" dirty="0">
                <a:solidFill>
                  <a:srgbClr val="FF0000"/>
                </a:solidFill>
              </a:rPr>
              <a:t>цвет</a:t>
            </a:r>
          </a:p>
          <a:p>
            <a:r>
              <a:rPr lang="ru-RU" dirty="0">
                <a:solidFill>
                  <a:srgbClr val="FF0000"/>
                </a:solidFill>
              </a:rPr>
              <a:t>#</a:t>
            </a:r>
            <a:r>
              <a:rPr lang="en-US" dirty="0">
                <a:solidFill>
                  <a:srgbClr val="FF0000"/>
                </a:solidFill>
              </a:rPr>
              <a:t>FALSE - </a:t>
            </a:r>
            <a:r>
              <a:rPr lang="ru-RU" dirty="0">
                <a:solidFill>
                  <a:srgbClr val="FF0000"/>
                </a:solidFill>
              </a:rPr>
              <a:t>линия незамкнута</a:t>
            </a:r>
          </a:p>
          <a:p>
            <a:r>
              <a:rPr lang="ru-RU" dirty="0">
                <a:solidFill>
                  <a:srgbClr val="FF0000"/>
                </a:solidFill>
              </a:rPr>
              <a:t>#[[500,300],[400,400] - координаты концов линии</a:t>
            </a:r>
          </a:p>
          <a:p>
            <a:r>
              <a:rPr lang="ru-RU" dirty="0">
                <a:solidFill>
                  <a:srgbClr val="FF0000"/>
                </a:solidFill>
              </a:rPr>
              <a:t>#3 - толщина линии</a:t>
            </a:r>
          </a:p>
          <a:p>
            <a:r>
              <a:rPr lang="en-US" dirty="0" err="1"/>
              <a:t>pygame.display.flip</a:t>
            </a:r>
            <a:r>
              <a:rPr lang="en-US" dirty="0"/>
              <a:t>()</a:t>
            </a:r>
          </a:p>
          <a:p>
            <a:r>
              <a:rPr lang="en-US" dirty="0"/>
              <a:t>running  =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True</a:t>
            </a: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while</a:t>
            </a:r>
            <a:r>
              <a:rPr lang="en-US" dirty="0"/>
              <a:t> running:</a:t>
            </a:r>
          </a:p>
          <a:p>
            <a:r>
              <a:rPr lang="en-US" dirty="0"/>
              <a:t>  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for </a:t>
            </a:r>
            <a:r>
              <a:rPr lang="en-US" dirty="0"/>
              <a:t>event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in</a:t>
            </a:r>
            <a:r>
              <a:rPr lang="en-US" dirty="0"/>
              <a:t> </a:t>
            </a:r>
            <a:r>
              <a:rPr lang="en-US" dirty="0" err="1"/>
              <a:t>pygame.event.get</a:t>
            </a:r>
            <a:r>
              <a:rPr lang="en-US" dirty="0"/>
              <a:t>():</a:t>
            </a:r>
          </a:p>
          <a:p>
            <a:r>
              <a:rPr lang="en-US" dirty="0"/>
              <a:t>      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if </a:t>
            </a:r>
            <a:r>
              <a:rPr lang="en-US" dirty="0" err="1"/>
              <a:t>event.type</a:t>
            </a:r>
            <a:r>
              <a:rPr lang="en-US" dirty="0"/>
              <a:t> == </a:t>
            </a:r>
            <a:r>
              <a:rPr lang="en-US" dirty="0" err="1"/>
              <a:t>pygame.QUIT</a:t>
            </a:r>
            <a:r>
              <a:rPr lang="en-US" dirty="0"/>
              <a:t>: </a:t>
            </a:r>
          </a:p>
          <a:p>
            <a:r>
              <a:rPr lang="en-US" dirty="0"/>
              <a:t>            running =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False</a:t>
            </a:r>
          </a:p>
          <a:p>
            <a:r>
              <a:rPr lang="en-US" dirty="0" err="1"/>
              <a:t>pygame.quit</a:t>
            </a:r>
            <a:r>
              <a:rPr lang="en-US" dirty="0"/>
              <a:t>()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54150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FF0000"/>
                </a:solidFill>
              </a:rPr>
              <a:t>Японский флаг (код)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import</a:t>
            </a:r>
            <a:r>
              <a:rPr lang="en-US" dirty="0" smtClean="0"/>
              <a:t> </a:t>
            </a:r>
            <a:r>
              <a:rPr lang="en-US" dirty="0" err="1"/>
              <a:t>pygame</a:t>
            </a:r>
            <a:r>
              <a:rPr lang="en-US" dirty="0"/>
              <a:t>, sys</a:t>
            </a:r>
          </a:p>
          <a:p>
            <a:pPr marL="0" indent="0">
              <a:buNone/>
            </a:pPr>
            <a:r>
              <a:rPr lang="en-US" dirty="0" err="1"/>
              <a:t>pygame.init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from</a:t>
            </a:r>
            <a:r>
              <a:rPr lang="en-US" dirty="0"/>
              <a:t> </a:t>
            </a:r>
            <a:r>
              <a:rPr lang="en-US" dirty="0" err="1"/>
              <a:t>pygame.color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import </a:t>
            </a:r>
            <a:r>
              <a:rPr lang="en-US" dirty="0"/>
              <a:t>THECOLORS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from</a:t>
            </a:r>
            <a:r>
              <a:rPr lang="en-US" dirty="0"/>
              <a:t> </a:t>
            </a:r>
            <a:r>
              <a:rPr lang="en-US" dirty="0" err="1"/>
              <a:t>pygame</a:t>
            </a:r>
            <a:r>
              <a:rPr lang="en-US" dirty="0"/>
              <a:t>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import</a:t>
            </a:r>
            <a:r>
              <a:rPr lang="en-US" dirty="0"/>
              <a:t> </a:t>
            </a:r>
            <a:r>
              <a:rPr lang="en-US" dirty="0" smtClean="0"/>
              <a:t>font</a:t>
            </a:r>
            <a:r>
              <a:rPr lang="ru-RU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#</a:t>
            </a:r>
            <a:r>
              <a:rPr lang="ru-RU" dirty="0">
                <a:solidFill>
                  <a:srgbClr val="FF0000"/>
                </a:solidFill>
              </a:rPr>
              <a:t>импорт шрифтов</a:t>
            </a:r>
          </a:p>
          <a:p>
            <a:pPr marL="0" indent="0">
              <a:buNone/>
            </a:pPr>
            <a:r>
              <a:rPr lang="en-US" dirty="0"/>
              <a:t>screen = </a:t>
            </a:r>
            <a:r>
              <a:rPr lang="en-US" dirty="0" err="1"/>
              <a:t>pygame.display.set_mode</a:t>
            </a:r>
            <a:r>
              <a:rPr lang="en-US" dirty="0"/>
              <a:t>([640,480])</a:t>
            </a:r>
          </a:p>
          <a:p>
            <a:pPr marL="0" indent="0">
              <a:buNone/>
            </a:pPr>
            <a:r>
              <a:rPr lang="en-US" dirty="0" err="1"/>
              <a:t>screen.fill</a:t>
            </a:r>
            <a:r>
              <a:rPr lang="en-US" dirty="0"/>
              <a:t>([0,0,255])</a:t>
            </a:r>
          </a:p>
          <a:p>
            <a:pPr marL="0" indent="0">
              <a:buNone/>
            </a:pPr>
            <a:r>
              <a:rPr lang="en-US" dirty="0" err="1"/>
              <a:t>pygame.draw.rect</a:t>
            </a:r>
            <a:r>
              <a:rPr lang="en-US" dirty="0"/>
              <a:t>(screen, [255,255,255], [640//3, 480//3, 640//3, 480//3], 0)</a:t>
            </a:r>
          </a:p>
          <a:p>
            <a:pPr marL="0" indent="0">
              <a:buNone/>
            </a:pPr>
            <a:r>
              <a:rPr lang="en-US" dirty="0" err="1"/>
              <a:t>pygame.draw.circle</a:t>
            </a:r>
            <a:r>
              <a:rPr lang="en-US" dirty="0"/>
              <a:t>(screen, THECOLORS[</a:t>
            </a:r>
            <a:r>
              <a:rPr lang="en-US" dirty="0">
                <a:solidFill>
                  <a:srgbClr val="00B050"/>
                </a:solidFill>
              </a:rPr>
              <a:t>"red"</a:t>
            </a:r>
            <a:r>
              <a:rPr lang="en-US" dirty="0"/>
              <a:t>],[320,240], 40, 0)</a:t>
            </a:r>
          </a:p>
          <a:p>
            <a:pPr marL="0" indent="0">
              <a:buNone/>
            </a:pPr>
            <a:r>
              <a:rPr lang="en-US" dirty="0"/>
              <a:t>font = </a:t>
            </a:r>
            <a:r>
              <a:rPr lang="en-US" dirty="0" err="1"/>
              <a:t>pygame.font.Font</a:t>
            </a:r>
            <a:r>
              <a:rPr lang="en-US" dirty="0"/>
              <a:t>(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None</a:t>
            </a:r>
            <a:r>
              <a:rPr lang="en-US" dirty="0"/>
              <a:t>, 45)#</a:t>
            </a:r>
            <a:r>
              <a:rPr lang="ru-RU" dirty="0"/>
              <a:t>задаем шрифт</a:t>
            </a:r>
          </a:p>
          <a:p>
            <a:pPr marL="0" indent="0">
              <a:buNone/>
            </a:pPr>
            <a:r>
              <a:rPr lang="ru-RU" dirty="0">
                <a:solidFill>
                  <a:srgbClr val="FF0000"/>
                </a:solidFill>
              </a:rPr>
              <a:t>#</a:t>
            </a:r>
            <a:r>
              <a:rPr lang="en-US" dirty="0">
                <a:solidFill>
                  <a:srgbClr val="FF0000"/>
                </a:solidFill>
              </a:rPr>
              <a:t>None - </a:t>
            </a:r>
            <a:r>
              <a:rPr lang="ru-RU" dirty="0">
                <a:solidFill>
                  <a:srgbClr val="FF0000"/>
                </a:solidFill>
              </a:rPr>
              <a:t>шрифт по умолчанию</a:t>
            </a:r>
          </a:p>
          <a:p>
            <a:pPr marL="0" indent="0">
              <a:buNone/>
            </a:pPr>
            <a:r>
              <a:rPr lang="ru-RU" dirty="0">
                <a:solidFill>
                  <a:srgbClr val="FF0000"/>
                </a:solidFill>
              </a:rPr>
              <a:t>#45 - размер символа</a:t>
            </a:r>
            <a:r>
              <a:rPr lang="ru-RU" dirty="0">
                <a:solidFill>
                  <a:srgbClr val="FF0000"/>
                </a:solidFill>
              </a:rPr>
              <a:t> 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59934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FF0000"/>
                </a:solidFill>
              </a:rPr>
              <a:t>Японский флаг (код)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text = </a:t>
            </a:r>
            <a:r>
              <a:rPr lang="en-US" dirty="0" err="1"/>
              <a:t>font.render</a:t>
            </a:r>
            <a:r>
              <a:rPr lang="en-US" dirty="0"/>
              <a:t>("Japan",1, THECOLORS ["red"])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#</a:t>
            </a:r>
            <a:r>
              <a:rPr lang="ru-RU" dirty="0">
                <a:solidFill>
                  <a:srgbClr val="FF0000"/>
                </a:solidFill>
              </a:rPr>
              <a:t>создаем поверхность </a:t>
            </a:r>
            <a:r>
              <a:rPr lang="en-US" dirty="0">
                <a:solidFill>
                  <a:srgbClr val="FF0000"/>
                </a:solidFill>
              </a:rPr>
              <a:t>text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#"Japan" - </a:t>
            </a:r>
            <a:r>
              <a:rPr lang="ru-RU" dirty="0">
                <a:solidFill>
                  <a:srgbClr val="FF0000"/>
                </a:solidFill>
              </a:rPr>
              <a:t>надпись</a:t>
            </a:r>
          </a:p>
          <a:p>
            <a:pPr marL="0" indent="0">
              <a:buNone/>
            </a:pPr>
            <a:r>
              <a:rPr lang="ru-RU" dirty="0">
                <a:solidFill>
                  <a:srgbClr val="FF0000"/>
                </a:solidFill>
              </a:rPr>
              <a:t>#1- сглаживание 1 -есть, 0 -нет</a:t>
            </a:r>
          </a:p>
          <a:p>
            <a:pPr marL="0" indent="0">
              <a:buNone/>
            </a:pPr>
            <a:r>
              <a:rPr lang="ru-RU" dirty="0">
                <a:solidFill>
                  <a:srgbClr val="FF0000"/>
                </a:solidFill>
              </a:rPr>
              <a:t>#</a:t>
            </a:r>
            <a:r>
              <a:rPr lang="en-US" dirty="0">
                <a:solidFill>
                  <a:srgbClr val="FF0000"/>
                </a:solidFill>
              </a:rPr>
              <a:t>THECOLORS ["red"] - </a:t>
            </a:r>
            <a:r>
              <a:rPr lang="ru-RU" dirty="0">
                <a:solidFill>
                  <a:srgbClr val="FF0000"/>
                </a:solidFill>
              </a:rPr>
              <a:t>цвет надписи</a:t>
            </a:r>
          </a:p>
          <a:p>
            <a:pPr marL="0" indent="0">
              <a:buNone/>
            </a:pPr>
            <a:r>
              <a:rPr lang="en-US" dirty="0" err="1"/>
              <a:t>screen.blit</a:t>
            </a:r>
            <a:r>
              <a:rPr lang="en-US" dirty="0"/>
              <a:t>(text, [270, 350])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#</a:t>
            </a:r>
            <a:r>
              <a:rPr lang="ru-RU" dirty="0">
                <a:solidFill>
                  <a:srgbClr val="FF0000"/>
                </a:solidFill>
              </a:rPr>
              <a:t>копирование с поверхности </a:t>
            </a:r>
            <a:r>
              <a:rPr lang="en-US" dirty="0">
                <a:solidFill>
                  <a:srgbClr val="FF0000"/>
                </a:solidFill>
              </a:rPr>
              <a:t>text </a:t>
            </a:r>
            <a:r>
              <a:rPr lang="ru-RU" dirty="0">
                <a:solidFill>
                  <a:srgbClr val="FF0000"/>
                </a:solidFill>
              </a:rPr>
              <a:t>на поверхность </a:t>
            </a:r>
            <a:r>
              <a:rPr lang="en-US" dirty="0">
                <a:solidFill>
                  <a:srgbClr val="FF0000"/>
                </a:solidFill>
              </a:rPr>
              <a:t>screen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#text - </a:t>
            </a:r>
            <a:r>
              <a:rPr lang="ru-RU" dirty="0">
                <a:solidFill>
                  <a:srgbClr val="FF0000"/>
                </a:solidFill>
              </a:rPr>
              <a:t>копируемая поверхность</a:t>
            </a:r>
          </a:p>
          <a:p>
            <a:pPr marL="0" indent="0">
              <a:buNone/>
            </a:pPr>
            <a:r>
              <a:rPr lang="ru-RU" dirty="0">
                <a:solidFill>
                  <a:srgbClr val="FF0000"/>
                </a:solidFill>
              </a:rPr>
              <a:t>#[270, 350] - координаты левого верхнего угла надписи</a:t>
            </a:r>
          </a:p>
          <a:p>
            <a:pPr marL="0" indent="0">
              <a:buNone/>
            </a:pPr>
            <a:r>
              <a:rPr lang="en-US" dirty="0" err="1"/>
              <a:t>pygame.display.flip</a:t>
            </a:r>
            <a:r>
              <a:rPr lang="en-US" dirty="0" smtClean="0"/>
              <a:t>()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3207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FF0000"/>
                </a:solidFill>
              </a:rPr>
              <a:t>Японский флаг (код)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running  =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True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while</a:t>
            </a:r>
            <a:r>
              <a:rPr lang="en-US" dirty="0"/>
              <a:t> running: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for</a:t>
            </a:r>
            <a:r>
              <a:rPr lang="en-US" dirty="0"/>
              <a:t> event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in</a:t>
            </a:r>
            <a:r>
              <a:rPr lang="en-US" dirty="0"/>
              <a:t> </a:t>
            </a:r>
            <a:r>
              <a:rPr lang="en-US" dirty="0" err="1"/>
              <a:t>pygame.event.get</a:t>
            </a:r>
            <a:r>
              <a:rPr lang="en-US" dirty="0"/>
              <a:t>():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       if </a:t>
            </a:r>
            <a:r>
              <a:rPr lang="en-US" dirty="0" err="1"/>
              <a:t>event.type</a:t>
            </a:r>
            <a:r>
              <a:rPr lang="en-US" dirty="0"/>
              <a:t> == </a:t>
            </a:r>
            <a:r>
              <a:rPr lang="en-US" dirty="0" err="1"/>
              <a:t>pygame.QUIT</a:t>
            </a:r>
            <a:r>
              <a:rPr lang="en-US" dirty="0"/>
              <a:t>: </a:t>
            </a:r>
          </a:p>
          <a:p>
            <a:pPr marL="0" indent="0">
              <a:buNone/>
            </a:pPr>
            <a:r>
              <a:rPr lang="en-US" dirty="0"/>
              <a:t>            running =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False</a:t>
            </a:r>
          </a:p>
          <a:p>
            <a:pPr marL="0" indent="0">
              <a:buNone/>
            </a:pPr>
            <a:r>
              <a:rPr lang="en-US" dirty="0" err="1"/>
              <a:t>pygame.quit</a:t>
            </a:r>
            <a:r>
              <a:rPr lang="en-US" dirty="0"/>
              <a:t>()</a:t>
            </a:r>
            <a:endParaRPr lang="ru-RU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7951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Японский флаг (код)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Метод </a:t>
            </a:r>
            <a:r>
              <a:rPr lang="ru-RU" dirty="0" err="1">
                <a:solidFill>
                  <a:srgbClr val="FF0000"/>
                </a:solidFill>
              </a:rPr>
              <a:t>render</a:t>
            </a:r>
            <a:r>
              <a:rPr lang="ru-RU" dirty="0">
                <a:solidFill>
                  <a:srgbClr val="FF0000"/>
                </a:solidFill>
              </a:rPr>
              <a:t>() </a:t>
            </a:r>
            <a:r>
              <a:rPr lang="ru-RU" dirty="0"/>
              <a:t>экземпляра</a:t>
            </a:r>
            <a:r>
              <a:rPr lang="ru-RU" dirty="0">
                <a:solidFill>
                  <a:srgbClr val="FF0000"/>
                </a:solidFill>
              </a:rPr>
              <a:t> </a:t>
            </a:r>
            <a:r>
              <a:rPr lang="ru-RU" dirty="0" err="1">
                <a:solidFill>
                  <a:srgbClr val="FF0000"/>
                </a:solidFill>
              </a:rPr>
              <a:t>Font</a:t>
            </a:r>
            <a:r>
              <a:rPr lang="ru-RU" dirty="0">
                <a:solidFill>
                  <a:srgbClr val="FF0000"/>
                </a:solidFill>
              </a:rPr>
              <a:t> </a:t>
            </a:r>
            <a:r>
              <a:rPr lang="ru-RU" dirty="0"/>
              <a:t>создает поверхность (экземпляр </a:t>
            </a:r>
            <a:r>
              <a:rPr lang="ru-RU" dirty="0" err="1"/>
              <a:t>Surface</a:t>
            </a:r>
            <a:r>
              <a:rPr lang="ru-RU" dirty="0"/>
              <a:t>), на которой "написан" переданный в качестве аргумента текст, шрифтом, к которому применяется метод. </a:t>
            </a: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Вторым </a:t>
            </a:r>
            <a:r>
              <a:rPr lang="ru-RU" dirty="0"/>
              <a:t>аргументом указывается сглаживание (0 – нет, 1 – есть), третьим – цвет текста.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6272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FF0000"/>
                </a:solidFill>
              </a:rPr>
              <a:t>Японский флаг (код)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>
                <a:solidFill>
                  <a:srgbClr val="FF0000"/>
                </a:solidFill>
              </a:rPr>
              <a:t>Поверхности в модуле </a:t>
            </a:r>
            <a:r>
              <a:rPr lang="ru-RU" dirty="0" err="1" smtClean="0">
                <a:solidFill>
                  <a:srgbClr val="FF0000"/>
                </a:solidFill>
              </a:rPr>
              <a:t>Pygame</a:t>
            </a:r>
            <a:endParaRPr lang="ru-RU" dirty="0">
              <a:solidFill>
                <a:srgbClr val="FF0000"/>
              </a:solidFill>
            </a:endParaRPr>
          </a:p>
          <a:p>
            <a:r>
              <a:rPr lang="ru-RU" dirty="0"/>
              <a:t>Если в реальной жизни вас попросят нарисовать картину, первым делом вы спросите: «</a:t>
            </a:r>
            <a:r>
              <a:rPr lang="ru-RU" dirty="0" smtClean="0"/>
              <a:t>На чем </a:t>
            </a:r>
            <a:r>
              <a:rPr lang="ru-RU" dirty="0"/>
              <a:t>ее рисовать?» В модуле </a:t>
            </a:r>
            <a:r>
              <a:rPr lang="ru-RU" dirty="0" err="1"/>
              <a:t>Pygame</a:t>
            </a:r>
            <a:r>
              <a:rPr lang="ru-RU" dirty="0"/>
              <a:t> </a:t>
            </a:r>
            <a:r>
              <a:rPr lang="ru-RU" i="1" dirty="0"/>
              <a:t>поверхность </a:t>
            </a:r>
            <a:r>
              <a:rPr lang="ru-RU" dirty="0"/>
              <a:t>(</a:t>
            </a:r>
            <a:r>
              <a:rPr lang="ru-RU" dirty="0" err="1"/>
              <a:t>surface</a:t>
            </a:r>
            <a:r>
              <a:rPr lang="ru-RU" dirty="0"/>
              <a:t>) — это то, на чем вы рисуете.</a:t>
            </a:r>
          </a:p>
          <a:p>
            <a:r>
              <a:rPr lang="ru-RU" i="1" dirty="0"/>
              <a:t>Поверхность отображения </a:t>
            </a:r>
            <a:r>
              <a:rPr lang="ru-RU" dirty="0"/>
              <a:t>(</a:t>
            </a:r>
            <a:r>
              <a:rPr lang="ru-RU" dirty="0" err="1"/>
              <a:t>display</a:t>
            </a:r>
            <a:r>
              <a:rPr lang="ru-RU" dirty="0"/>
              <a:t> </a:t>
            </a:r>
            <a:r>
              <a:rPr lang="ru-RU" dirty="0" err="1"/>
              <a:t>surface</a:t>
            </a:r>
            <a:r>
              <a:rPr lang="ru-RU" dirty="0"/>
              <a:t>) — то, что вы видите на экране. Именно </a:t>
            </a:r>
            <a:r>
              <a:rPr lang="ru-RU" dirty="0" smtClean="0"/>
              <a:t>она у нас получила </a:t>
            </a:r>
            <a:r>
              <a:rPr lang="ru-RU" dirty="0"/>
              <a:t>имя </a:t>
            </a:r>
            <a:r>
              <a:rPr lang="ru-RU" dirty="0" err="1"/>
              <a:t>screen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Но </a:t>
            </a:r>
            <a:r>
              <a:rPr lang="ru-RU" dirty="0"/>
              <a:t>в </a:t>
            </a:r>
            <a:r>
              <a:rPr lang="ru-RU" dirty="0" err="1"/>
              <a:t>Pygame</a:t>
            </a:r>
            <a:r>
              <a:rPr lang="ru-RU" dirty="0"/>
              <a:t>-программе может быть </a:t>
            </a:r>
            <a:r>
              <a:rPr lang="ru-RU" dirty="0" smtClean="0"/>
              <a:t>множество поверхностей</a:t>
            </a:r>
            <a:r>
              <a:rPr lang="ru-RU" dirty="0"/>
              <a:t>, причем существует возможность копировать изображения с одной </a:t>
            </a:r>
            <a:r>
              <a:rPr lang="ru-RU" dirty="0" smtClean="0"/>
              <a:t>поверхности </a:t>
            </a:r>
            <a:r>
              <a:rPr lang="ru-RU" dirty="0"/>
              <a:t>на другую. </a:t>
            </a:r>
            <a:endParaRPr lang="ru-RU" dirty="0" smtClean="0"/>
          </a:p>
          <a:p>
            <a:r>
              <a:rPr lang="ru-RU" dirty="0" smtClean="0"/>
              <a:t>Более </a:t>
            </a:r>
            <a:r>
              <a:rPr lang="ru-RU" dirty="0"/>
              <a:t>того, сами поверхности можно поворачивать и </a:t>
            </a:r>
            <a:r>
              <a:rPr lang="ru-RU" dirty="0" smtClean="0"/>
              <a:t>масштабировать </a:t>
            </a:r>
            <a:r>
              <a:rPr lang="ru-RU" dirty="0"/>
              <a:t>(делать больше или меньше).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9019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FF0000"/>
                </a:solidFill>
              </a:rPr>
              <a:t>Японский флаг (код)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В графических программах часто приходится копировать </a:t>
            </a:r>
            <a:r>
              <a:rPr lang="ru-RU" dirty="0" smtClean="0"/>
              <a:t>пикселы </a:t>
            </a:r>
            <a:r>
              <a:rPr lang="ru-RU" dirty="0"/>
              <a:t>с места на место (например копировать из </a:t>
            </a:r>
            <a:r>
              <a:rPr lang="ru-RU" dirty="0" smtClean="0"/>
              <a:t>переменной на </a:t>
            </a:r>
            <a:r>
              <a:rPr lang="ru-RU" dirty="0"/>
              <a:t>поверхность или с одной поверхности на другую</a:t>
            </a:r>
            <a:r>
              <a:rPr lang="ru-RU" dirty="0" smtClean="0"/>
              <a:t>).</a:t>
            </a:r>
          </a:p>
          <a:p>
            <a:r>
              <a:rPr lang="ru-RU" dirty="0" smtClean="0"/>
              <a:t> </a:t>
            </a:r>
            <a:r>
              <a:rPr lang="ru-RU" dirty="0"/>
              <a:t>В </a:t>
            </a:r>
            <a:r>
              <a:rPr lang="ru-RU" dirty="0" smtClean="0"/>
              <a:t>программировании </a:t>
            </a:r>
            <a:r>
              <a:rPr lang="ru-RU" dirty="0"/>
              <a:t>эта операция копирования битового массива</a:t>
            </a:r>
          </a:p>
          <a:p>
            <a:r>
              <a:rPr lang="ru-RU" dirty="0"/>
              <a:t>носит специальное название </a:t>
            </a:r>
            <a:r>
              <a:rPr lang="ru-RU" i="1" dirty="0" err="1"/>
              <a:t>блитирования</a:t>
            </a:r>
            <a:r>
              <a:rPr lang="ru-RU" i="1" dirty="0"/>
              <a:t> </a:t>
            </a:r>
            <a:r>
              <a:rPr lang="ru-RU" dirty="0"/>
              <a:t>(</a:t>
            </a:r>
            <a:r>
              <a:rPr lang="ru-RU" dirty="0" err="1"/>
              <a:t>blitting</a:t>
            </a:r>
            <a:r>
              <a:rPr lang="ru-RU" dirty="0" smtClean="0"/>
              <a:t>).</a:t>
            </a:r>
          </a:p>
          <a:p>
            <a:r>
              <a:rPr lang="ru-RU" dirty="0" smtClean="0"/>
              <a:t> Мы </a:t>
            </a:r>
            <a:r>
              <a:rPr lang="ru-RU" i="1" dirty="0" err="1" smtClean="0"/>
              <a:t>блитируем</a:t>
            </a:r>
            <a:r>
              <a:rPr lang="ru-RU" i="1" dirty="0" smtClean="0"/>
              <a:t> </a:t>
            </a:r>
            <a:r>
              <a:rPr lang="ru-RU" dirty="0"/>
              <a:t>(</a:t>
            </a:r>
            <a:r>
              <a:rPr lang="ru-RU" dirty="0" err="1"/>
              <a:t>blit</a:t>
            </a:r>
            <a:r>
              <a:rPr lang="ru-RU" dirty="0"/>
              <a:t>) изображение (или часть изображения, или</a:t>
            </a:r>
          </a:p>
          <a:p>
            <a:r>
              <a:rPr lang="ru-RU" dirty="0"/>
              <a:t>просто группу пикселов) с одного места на другое. </a:t>
            </a:r>
            <a:endParaRPr lang="ru-RU" dirty="0" smtClean="0"/>
          </a:p>
          <a:p>
            <a:r>
              <a:rPr lang="ru-RU" dirty="0" smtClean="0"/>
              <a:t>Фактически </a:t>
            </a:r>
            <a:r>
              <a:rPr lang="ru-RU" dirty="0"/>
              <a:t>это всего лишь еще один из вариантов обозначения </a:t>
            </a:r>
            <a:r>
              <a:rPr lang="ru-RU" dirty="0" smtClean="0"/>
              <a:t>процедуры </a:t>
            </a:r>
            <a:r>
              <a:rPr lang="ru-RU" dirty="0"/>
              <a:t>копирования</a:t>
            </a:r>
            <a:r>
              <a:rPr lang="ru-RU" dirty="0" smtClean="0"/>
              <a:t>.</a:t>
            </a:r>
          </a:p>
          <a:p>
            <a:r>
              <a:rPr lang="ru-RU" dirty="0" smtClean="0"/>
              <a:t> </a:t>
            </a:r>
            <a:r>
              <a:rPr lang="ru-RU" dirty="0"/>
              <a:t>Просто слово «</a:t>
            </a:r>
            <a:r>
              <a:rPr lang="ru-RU" dirty="0" err="1"/>
              <a:t>блитировать</a:t>
            </a:r>
            <a:r>
              <a:rPr lang="ru-RU" dirty="0"/>
              <a:t>» сразу </a:t>
            </a:r>
            <a:r>
              <a:rPr lang="ru-RU" dirty="0" smtClean="0"/>
              <a:t>дает понять</a:t>
            </a:r>
            <a:r>
              <a:rPr lang="ru-RU" dirty="0"/>
              <a:t>, что копируем мы пикселы, а не что-либо другое.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4228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FF0000"/>
                </a:solidFill>
              </a:rPr>
              <a:t>Японский флаг (результат)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929" y="1949408"/>
            <a:ext cx="5187042" cy="4103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265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solidFill>
                  <a:srgbClr val="7030A0"/>
                </a:solidFill>
              </a:rPr>
              <a:t>Задания для самостоятельной работы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 </a:t>
            </a:r>
          </a:p>
          <a:p>
            <a:pPr lvl="0"/>
            <a:r>
              <a:rPr lang="ru-RU" dirty="0"/>
              <a:t>Нарисуйте российский флаг.</a:t>
            </a:r>
          </a:p>
          <a:p>
            <a:pPr lvl="0"/>
            <a:r>
              <a:rPr lang="ru-RU" dirty="0"/>
              <a:t>Нарисуйте флаг Франции.</a:t>
            </a:r>
          </a:p>
          <a:p>
            <a:pPr lvl="0"/>
            <a:r>
              <a:rPr lang="ru-RU" dirty="0"/>
              <a:t>Нарисуйте флаг Чехии.</a:t>
            </a:r>
          </a:p>
          <a:p>
            <a:pPr lvl="0"/>
            <a:r>
              <a:rPr lang="ru-RU" dirty="0"/>
              <a:t>Нарисуйте олимпийский флаг.</a:t>
            </a:r>
          </a:p>
          <a:p>
            <a:pPr lvl="0"/>
            <a:r>
              <a:rPr lang="ru-RU" dirty="0"/>
              <a:t>Нарисуйте зимний пейзаж (голубое небо, белый снег, домик, снеговика, елку из треугольников, солнце и все, что придет в голову на эту тему).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24231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557</TotalTime>
  <Words>1309</Words>
  <Application>Microsoft Office PowerPoint</Application>
  <PresentationFormat>Широкоэкранный</PresentationFormat>
  <Paragraphs>174</Paragraphs>
  <Slides>25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29" baseType="lpstr">
      <vt:lpstr>Arial</vt:lpstr>
      <vt:lpstr>Calibri</vt:lpstr>
      <vt:lpstr>Calibri Light</vt:lpstr>
      <vt:lpstr>Тема Office</vt:lpstr>
      <vt:lpstr>Вводный проект</vt:lpstr>
      <vt:lpstr>Вводный проект</vt:lpstr>
      <vt:lpstr>Вводный проект</vt:lpstr>
      <vt:lpstr>Вводный проект</vt:lpstr>
      <vt:lpstr>Графика в системе Python </vt:lpstr>
      <vt:lpstr>Графика в системе Python </vt:lpstr>
      <vt:lpstr>Графика в системе Python </vt:lpstr>
      <vt:lpstr>Прямоугольник </vt:lpstr>
      <vt:lpstr>Прямоугольник (код)</vt:lpstr>
      <vt:lpstr>Прямоугольник (код)</vt:lpstr>
      <vt:lpstr>Прямоугольник (код)</vt:lpstr>
      <vt:lpstr>Прямоугольник (результат)</vt:lpstr>
      <vt:lpstr>Круг(код)</vt:lpstr>
      <vt:lpstr>Круг(код)</vt:lpstr>
      <vt:lpstr>Круг(результат)</vt:lpstr>
      <vt:lpstr>Треугольник и линия (код)</vt:lpstr>
      <vt:lpstr>Треугольник и линия (код)</vt:lpstr>
      <vt:lpstr>Японский флаг (код)</vt:lpstr>
      <vt:lpstr>Японский флаг (код)</vt:lpstr>
      <vt:lpstr>Японский флаг (код)</vt:lpstr>
      <vt:lpstr>Японский флаг (код)</vt:lpstr>
      <vt:lpstr>Японский флаг (код)</vt:lpstr>
      <vt:lpstr>Японский флаг (код)</vt:lpstr>
      <vt:lpstr>Японский флаг (результат)</vt:lpstr>
      <vt:lpstr>Задания для самостоятельной работы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Вводный проект</dc:title>
  <dc:creator>Leonid</dc:creator>
  <cp:lastModifiedBy>Leonid</cp:lastModifiedBy>
  <cp:revision>18</cp:revision>
  <dcterms:created xsi:type="dcterms:W3CDTF">2019-08-24T07:29:28Z</dcterms:created>
  <dcterms:modified xsi:type="dcterms:W3CDTF">2019-08-25T11:18:43Z</dcterms:modified>
</cp:coreProperties>
</file>