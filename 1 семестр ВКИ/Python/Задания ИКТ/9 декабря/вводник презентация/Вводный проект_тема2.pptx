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4155-4D6C-4B27-B2B7-8A905D7D7A2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98F-74AC-4732-8E8A-EC66D9E29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033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4155-4D6C-4B27-B2B7-8A905D7D7A2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98F-74AC-4732-8E8A-EC66D9E29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25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4155-4D6C-4B27-B2B7-8A905D7D7A2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98F-74AC-4732-8E8A-EC66D9E29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891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4155-4D6C-4B27-B2B7-8A905D7D7A2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98F-74AC-4732-8E8A-EC66D9E29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1168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4155-4D6C-4B27-B2B7-8A905D7D7A2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98F-74AC-4732-8E8A-EC66D9E29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12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4155-4D6C-4B27-B2B7-8A905D7D7A2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98F-74AC-4732-8E8A-EC66D9E29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829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4155-4D6C-4B27-B2B7-8A905D7D7A2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98F-74AC-4732-8E8A-EC66D9E29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946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4155-4D6C-4B27-B2B7-8A905D7D7A2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98F-74AC-4732-8E8A-EC66D9E29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914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4155-4D6C-4B27-B2B7-8A905D7D7A2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98F-74AC-4732-8E8A-EC66D9E29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06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4155-4D6C-4B27-B2B7-8A905D7D7A2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98F-74AC-4732-8E8A-EC66D9E29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24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E4155-4D6C-4B27-B2B7-8A905D7D7A2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1F98F-74AC-4732-8E8A-EC66D9E29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02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4155-4D6C-4B27-B2B7-8A905D7D7A2B}" type="datetimeFigureOut">
              <a:rPr lang="ru-RU" smtClean="0"/>
              <a:t>30.08.2019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1F98F-74AC-4732-8E8A-EC66D9E295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24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Ветвящийся алгоритм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solidFill>
                  <a:schemeClr val="accent2">
                    <a:lumMod val="75000"/>
                  </a:schemeClr>
                </a:solidFill>
              </a:rPr>
              <a:t>Условный оператор </a:t>
            </a:r>
            <a:r>
              <a:rPr lang="en-US" sz="4000" dirty="0" smtClean="0">
                <a:solidFill>
                  <a:schemeClr val="accent2">
                    <a:lumMod val="75000"/>
                  </a:schemeClr>
                </a:solidFill>
              </a:rPr>
              <a:t>if</a:t>
            </a:r>
            <a:endParaRPr lang="ru-RU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28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оператор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</a:t>
            </a:r>
            <a:r>
              <a:rPr lang="ru-RU" dirty="0" smtClean="0"/>
              <a:t>онечной </a:t>
            </a:r>
            <a:r>
              <a:rPr lang="ru-RU" dirty="0"/>
              <a:t>нашей целью является создание компьютерной игры. Игра протекает по правилам. </a:t>
            </a:r>
            <a:endParaRPr lang="ru-RU" dirty="0" smtClean="0"/>
          </a:p>
          <a:p>
            <a:r>
              <a:rPr lang="ru-RU" dirty="0" smtClean="0"/>
              <a:t>А </a:t>
            </a:r>
            <a:r>
              <a:rPr lang="ru-RU" dirty="0"/>
              <a:t>правила – это свод различных условий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И в игре, и в жизни, и в программировании наши действия чаще всего зависят от входных данных. </a:t>
            </a:r>
            <a:endParaRPr lang="ru-RU" dirty="0" smtClean="0"/>
          </a:p>
          <a:p>
            <a:r>
              <a:rPr lang="ru-RU" dirty="0" smtClean="0"/>
              <a:t>Поясним </a:t>
            </a:r>
            <a:r>
              <a:rPr lang="ru-RU" dirty="0"/>
              <a:t>это на простом примере.</a:t>
            </a:r>
          </a:p>
        </p:txBody>
      </p:sp>
    </p:spTree>
    <p:extLst>
      <p:ext uri="{BB962C8B-B14F-4D97-AF65-F5344CB8AC3E}">
        <p14:creationId xmlns:p14="http://schemas.microsoft.com/office/powerpoint/2010/main" val="3784218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оператор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Предположим, вы проснулись утром и чувствуете, что у вас болят голова и горло. </a:t>
            </a:r>
            <a:endParaRPr lang="ru-RU" dirty="0" smtClean="0"/>
          </a:p>
          <a:p>
            <a:r>
              <a:rPr lang="ru-RU" dirty="0" smtClean="0"/>
              <a:t>Вы </a:t>
            </a:r>
            <a:r>
              <a:rPr lang="ru-RU" dirty="0"/>
              <a:t>измеряете свою температуру и в случае, если она выше 37</a:t>
            </a:r>
            <a:r>
              <a:rPr lang="ru-RU" dirty="0">
                <a:sym typeface="Symbol" panose="05050102010706020507" pitchFamily="18" charset="2"/>
              </a:rPr>
              <a:t></a:t>
            </a:r>
            <a:r>
              <a:rPr lang="ru-RU" dirty="0"/>
              <a:t>С, вызываете врача и ложитесь в постель, а если не выше – делать нечего, идете в </a:t>
            </a:r>
            <a:r>
              <a:rPr lang="ru-RU" dirty="0" smtClean="0"/>
              <a:t>колледж.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702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оператор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Такой, зависящий от начальных условий алгоритм называется ветвящимся алгоритмом. </a:t>
            </a:r>
            <a:endParaRPr lang="en-US" dirty="0" smtClean="0"/>
          </a:p>
          <a:p>
            <a:r>
              <a:rPr lang="ru-RU" dirty="0" smtClean="0"/>
              <a:t>Для </a:t>
            </a:r>
            <a:r>
              <a:rPr lang="ru-RU" dirty="0"/>
              <a:t>его реализации в языке </a:t>
            </a:r>
            <a:r>
              <a:rPr lang="en-US" dirty="0"/>
              <a:t>Python</a:t>
            </a:r>
            <a:r>
              <a:rPr lang="ru-RU" dirty="0"/>
              <a:t> предусмотрен условный оператор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ru-RU" dirty="0"/>
              <a:t> со следующим синтаксисом (правилами написания):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f</a:t>
            </a:r>
            <a:r>
              <a:rPr lang="ru-RU" i="1" dirty="0" smtClean="0"/>
              <a:t> </a:t>
            </a:r>
            <a:r>
              <a:rPr lang="ru-RU" i="1" dirty="0"/>
              <a:t>&lt;условие1&gt;:</a:t>
            </a:r>
            <a:endParaRPr lang="ru-RU" dirty="0"/>
          </a:p>
          <a:p>
            <a:r>
              <a:rPr lang="ru-RU" i="1" dirty="0"/>
              <a:t> 	&lt;оператор1&gt;</a:t>
            </a:r>
            <a:endParaRPr lang="ru-RU" dirty="0"/>
          </a:p>
          <a:p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i="1" dirty="0"/>
              <a:t> </a:t>
            </a:r>
            <a:r>
              <a:rPr lang="ru-RU" i="1" dirty="0"/>
              <a:t>&lt;условие2&gt;:</a:t>
            </a:r>
            <a:endParaRPr lang="ru-RU" dirty="0"/>
          </a:p>
          <a:p>
            <a:pPr lvl="1"/>
            <a:r>
              <a:rPr lang="en-US" i="1" dirty="0" smtClean="0"/>
              <a:t>   </a:t>
            </a:r>
            <a:r>
              <a:rPr lang="ru-RU" i="1" dirty="0" smtClean="0"/>
              <a:t>&lt;</a:t>
            </a:r>
            <a:r>
              <a:rPr lang="ru-RU" i="1" dirty="0"/>
              <a:t>оператор2&gt;</a:t>
            </a:r>
            <a:endParaRPr lang="ru-RU" dirty="0"/>
          </a:p>
          <a:p>
            <a:r>
              <a:rPr lang="ru-RU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else</a:t>
            </a:r>
            <a:r>
              <a:rPr lang="ru-RU" i="1" dirty="0"/>
              <a:t>: </a:t>
            </a:r>
            <a:endParaRPr lang="ru-RU" dirty="0"/>
          </a:p>
          <a:p>
            <a:r>
              <a:rPr lang="en-US" i="1" dirty="0" smtClean="0"/>
              <a:t>        </a:t>
            </a:r>
            <a:r>
              <a:rPr lang="ru-RU" i="1" dirty="0" smtClean="0"/>
              <a:t>&lt;</a:t>
            </a:r>
            <a:r>
              <a:rPr lang="ru-RU" i="1" dirty="0"/>
              <a:t>оператор3&gt;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0777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оператор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</a:t>
            </a:r>
            <a:r>
              <a:rPr lang="ru-RU" dirty="0"/>
              <a:t>действует следующим образом: он проверяет первое условие. </a:t>
            </a:r>
            <a:endParaRPr lang="en-US" dirty="0" smtClean="0"/>
          </a:p>
          <a:p>
            <a:r>
              <a:rPr lang="ru-RU" dirty="0" smtClean="0"/>
              <a:t>Если </a:t>
            </a:r>
            <a:r>
              <a:rPr lang="ru-RU" dirty="0"/>
              <a:t>оно выполнено, он выполняет действия, обозначенные как &lt;оператор1&gt;, и дальнейшие проверки не проводятся. </a:t>
            </a:r>
            <a:endParaRPr lang="en-US" dirty="0" smtClean="0"/>
          </a:p>
          <a:p>
            <a:r>
              <a:rPr lang="ru-RU" dirty="0" smtClean="0"/>
              <a:t>Обращаем </a:t>
            </a:r>
            <a:r>
              <a:rPr lang="ru-RU" dirty="0"/>
              <a:t>внимание на отступ перед оператором. </a:t>
            </a:r>
            <a:endParaRPr lang="en-US" dirty="0" smtClean="0"/>
          </a:p>
          <a:p>
            <a:r>
              <a:rPr lang="ru-RU" dirty="0" smtClean="0"/>
              <a:t>В </a:t>
            </a:r>
            <a:r>
              <a:rPr lang="en-US" dirty="0"/>
              <a:t>Python </a:t>
            </a:r>
            <a:r>
              <a:rPr lang="ru-RU" dirty="0"/>
              <a:t>он выполняет роль операторных скобок (в языке </a:t>
            </a:r>
            <a:r>
              <a:rPr lang="en-US" dirty="0"/>
              <a:t>Pascal </a:t>
            </a:r>
            <a:r>
              <a:rPr lang="ru-RU" dirty="0"/>
              <a:t>эту роль выполняют ключевые слова </a:t>
            </a:r>
            <a:r>
              <a:rPr lang="en-US" dirty="0"/>
              <a:t>begin end</a:t>
            </a:r>
            <a:r>
              <a:rPr lang="ru-RU" dirty="0"/>
              <a:t>, в языке С – фигурные скобки).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827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оператор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надо проверить еще какое-нибудь условие, эту проверку выполняет инструкция </a:t>
            </a:r>
            <a:r>
              <a:rPr lang="en-US" i="1" dirty="0" err="1"/>
              <a:t>elif</a:t>
            </a:r>
            <a:r>
              <a:rPr lang="ru-RU" dirty="0"/>
              <a:t>. </a:t>
            </a:r>
            <a:endParaRPr lang="en-US" dirty="0" smtClean="0"/>
          </a:p>
          <a:p>
            <a:r>
              <a:rPr lang="ru-RU" dirty="0" smtClean="0"/>
              <a:t>Если </a:t>
            </a:r>
            <a:r>
              <a:rPr lang="ru-RU" dirty="0"/>
              <a:t>условие 2 выполнено, выполняется &lt;оператор2&gt;. </a:t>
            </a:r>
            <a:endParaRPr lang="en-US" dirty="0" smtClean="0"/>
          </a:p>
          <a:p>
            <a:r>
              <a:rPr lang="ru-RU" dirty="0" smtClean="0"/>
              <a:t>Количество </a:t>
            </a:r>
            <a:r>
              <a:rPr lang="ru-RU" dirty="0"/>
              <a:t>инструкций </a:t>
            </a:r>
            <a:r>
              <a:rPr lang="en-US" i="1" dirty="0" err="1"/>
              <a:t>elif</a:t>
            </a:r>
            <a:r>
              <a:rPr lang="en-US" dirty="0"/>
              <a:t> </a:t>
            </a:r>
            <a:r>
              <a:rPr lang="ru-RU" dirty="0"/>
              <a:t>зависит от количества необходимых проверок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dirty="0" smtClean="0"/>
              <a:t> </a:t>
            </a:r>
            <a:r>
              <a:rPr lang="ru-RU" dirty="0"/>
              <a:t>Наконец, если ни одно из условий не выполнено, используется инструкция </a:t>
            </a:r>
            <a:r>
              <a:rPr lang="en-US" i="1" dirty="0"/>
              <a:t>else</a:t>
            </a:r>
            <a:r>
              <a:rPr lang="en-US" dirty="0"/>
              <a:t> </a:t>
            </a:r>
            <a:r>
              <a:rPr lang="ru-RU" dirty="0"/>
              <a:t>и выполняется &lt;оператор3&gt;. </a:t>
            </a:r>
            <a:endParaRPr lang="en-US" dirty="0" smtClean="0"/>
          </a:p>
          <a:p>
            <a:r>
              <a:rPr lang="ru-RU" dirty="0" smtClean="0"/>
              <a:t>Инструкции </a:t>
            </a:r>
            <a:r>
              <a:rPr lang="en-US" i="1" dirty="0" err="1"/>
              <a:t>elif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i="1" dirty="0"/>
              <a:t>else</a:t>
            </a:r>
            <a:r>
              <a:rPr lang="ru-RU" dirty="0"/>
              <a:t> не являются обязательными.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205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оператор</a:t>
            </a: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6959264"/>
              </p:ext>
            </p:extLst>
          </p:nvPr>
        </p:nvGraphicFramePr>
        <p:xfrm>
          <a:off x="1567544" y="1926769"/>
          <a:ext cx="8311244" cy="43270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7811"/>
                <a:gridCol w="2077811"/>
                <a:gridCol w="2077811"/>
                <a:gridCol w="2077811"/>
              </a:tblGrid>
              <a:tr h="618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Оператор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Значение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Пример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Истинность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18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==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Равно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5==5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True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18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!=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Не равно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8!=5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True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18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&gt;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Больше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3&gt;10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False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18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&lt;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Меньше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5&lt;8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True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18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&gt;=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Больше или равно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5&gt;=19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False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181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&lt;=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Меньше или равно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5&lt;=5 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err="1">
                          <a:effectLst/>
                        </a:rPr>
                        <a:t>True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692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оператор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Условия формулируют с помощью операторов сравнения. Они приведены в </a:t>
            </a:r>
            <a:r>
              <a:rPr lang="ru-RU" dirty="0" smtClean="0"/>
              <a:t>таблице</a:t>
            </a:r>
            <a:r>
              <a:rPr lang="en-US" dirty="0" smtClean="0"/>
              <a:t> </a:t>
            </a:r>
            <a:r>
              <a:rPr lang="ru-RU" dirty="0" smtClean="0"/>
              <a:t>на предыдущем слайде.</a:t>
            </a:r>
          </a:p>
          <a:p>
            <a:r>
              <a:rPr lang="ru-RU" dirty="0"/>
              <a:t>Логические выражения возвращают только два значения </a:t>
            </a:r>
            <a:r>
              <a:rPr lang="ru-RU" b="1" dirty="0" err="1"/>
              <a:t>True</a:t>
            </a:r>
            <a:r>
              <a:rPr lang="ru-RU" b="1" dirty="0"/>
              <a:t> </a:t>
            </a:r>
            <a:r>
              <a:rPr lang="ru-RU" dirty="0"/>
              <a:t>или </a:t>
            </a:r>
            <a:r>
              <a:rPr lang="ru-RU" b="1" dirty="0" err="1"/>
              <a:t>False</a:t>
            </a:r>
            <a:r>
              <a:rPr lang="ru-RU" dirty="0"/>
              <a:t>, которые ведут себя как целые числа 1 и 0 соответственно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Значение логического выражения в операторе условия может быть инвертировано с помощью оператора </a:t>
            </a:r>
            <a:r>
              <a:rPr lang="ru-RU" b="1" dirty="0" err="1"/>
              <a:t>not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Несколько </a:t>
            </a:r>
            <a:r>
              <a:rPr lang="ru-RU" dirty="0"/>
              <a:t>логических условий перехода можно объединить в одно с помощью операторов </a:t>
            </a:r>
            <a:r>
              <a:rPr lang="ru-RU" b="1" dirty="0" err="1"/>
              <a:t>and</a:t>
            </a:r>
            <a:r>
              <a:rPr lang="ru-RU" b="1" dirty="0"/>
              <a:t> </a:t>
            </a:r>
            <a:r>
              <a:rPr lang="ru-RU" dirty="0"/>
              <a:t>и </a:t>
            </a:r>
            <a:r>
              <a:rPr lang="ru-RU" b="1" dirty="0" err="1"/>
              <a:t>or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419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оператор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Поясним действия уловного оператора на примерах. Начнем с действий, которые последуют за измерениями температуры тела. Код этой программы будет выглядеть следующим образом: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# Действия студента после измерения температуры тела</a:t>
            </a:r>
          </a:p>
          <a:p>
            <a:r>
              <a:rPr lang="ru-RU" dirty="0" err="1" smtClean="0">
                <a:solidFill>
                  <a:srgbClr val="7030A0"/>
                </a:solidFill>
              </a:rPr>
              <a:t>print</a:t>
            </a:r>
            <a:r>
              <a:rPr lang="ru-RU" dirty="0" smtClean="0"/>
              <a:t>(</a:t>
            </a:r>
            <a:r>
              <a:rPr lang="ru-RU" dirty="0" smtClean="0">
                <a:solidFill>
                  <a:srgbClr val="00B050"/>
                </a:solidFill>
              </a:rPr>
              <a:t>'Измерьте и введите температуру тела'</a:t>
            </a:r>
            <a:r>
              <a:rPr lang="ru-RU" dirty="0" smtClean="0"/>
              <a:t>)</a:t>
            </a:r>
          </a:p>
          <a:p>
            <a:r>
              <a:rPr lang="ru-RU" dirty="0" smtClean="0"/>
              <a:t>t=</a:t>
            </a:r>
            <a:r>
              <a:rPr lang="ru-RU" dirty="0" err="1" smtClean="0">
                <a:solidFill>
                  <a:srgbClr val="7030A0"/>
                </a:solidFill>
              </a:rPr>
              <a:t>float</a:t>
            </a:r>
            <a:r>
              <a:rPr lang="ru-RU" dirty="0" smtClean="0"/>
              <a:t>(</a:t>
            </a:r>
            <a:r>
              <a:rPr lang="ru-RU" dirty="0" err="1" smtClean="0">
                <a:solidFill>
                  <a:srgbClr val="7030A0"/>
                </a:solidFill>
              </a:rPr>
              <a:t>input</a:t>
            </a:r>
            <a:r>
              <a:rPr lang="ru-RU" dirty="0" smtClean="0"/>
              <a:t>(</a:t>
            </a:r>
            <a:r>
              <a:rPr lang="ru-RU" dirty="0" smtClean="0">
                <a:solidFill>
                  <a:srgbClr val="00B050"/>
                </a:solidFill>
              </a:rPr>
              <a:t>'Введите температуру\n'</a:t>
            </a:r>
            <a:r>
              <a:rPr lang="ru-RU" dirty="0" smtClean="0"/>
              <a:t>))</a:t>
            </a:r>
          </a:p>
          <a:p>
            <a:r>
              <a:rPr lang="ru-RU" dirty="0" err="1" smtClean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ru-RU" dirty="0" smtClean="0"/>
              <a:t> (t&gt;=37):</a:t>
            </a:r>
          </a:p>
          <a:p>
            <a:r>
              <a:rPr lang="ru-RU" dirty="0" smtClean="0"/>
              <a:t>    </a:t>
            </a:r>
            <a:r>
              <a:rPr lang="ru-RU" dirty="0" err="1" smtClean="0"/>
              <a:t>print</a:t>
            </a:r>
            <a:r>
              <a:rPr lang="ru-RU" dirty="0" smtClean="0"/>
              <a:t>(</a:t>
            </a:r>
            <a:r>
              <a:rPr lang="ru-RU" dirty="0" smtClean="0">
                <a:solidFill>
                  <a:srgbClr val="00B050"/>
                </a:solidFill>
              </a:rPr>
              <a:t>'Вызывайте врача'</a:t>
            </a:r>
            <a:r>
              <a:rPr lang="ru-RU" dirty="0" smtClean="0"/>
              <a:t>)</a:t>
            </a:r>
          </a:p>
          <a:p>
            <a:r>
              <a:rPr lang="ru-RU" dirty="0" err="1" smtClean="0">
                <a:solidFill>
                  <a:schemeClr val="accent2">
                    <a:lumMod val="75000"/>
                  </a:schemeClr>
                </a:solidFill>
              </a:rPr>
              <a:t>else</a:t>
            </a:r>
            <a:r>
              <a:rPr lang="ru-RU" dirty="0" smtClean="0"/>
              <a:t>:</a:t>
            </a:r>
          </a:p>
          <a:p>
            <a:r>
              <a:rPr lang="ru-RU" dirty="0" smtClean="0"/>
              <a:t>    </a:t>
            </a:r>
            <a:r>
              <a:rPr lang="ru-RU" dirty="0" err="1" smtClean="0">
                <a:solidFill>
                  <a:srgbClr val="7030A0"/>
                </a:solidFill>
              </a:rPr>
              <a:t>print</a:t>
            </a:r>
            <a:r>
              <a:rPr lang="ru-RU" dirty="0" smtClean="0"/>
              <a:t>(</a:t>
            </a:r>
            <a:r>
              <a:rPr lang="ru-RU" dirty="0" smtClean="0">
                <a:solidFill>
                  <a:srgbClr val="00B050"/>
                </a:solidFill>
              </a:rPr>
              <a:t>'Идите в колледж'</a:t>
            </a:r>
            <a:r>
              <a:rPr lang="ru-RU" dirty="0" smtClean="0"/>
              <a:t>)</a:t>
            </a:r>
          </a:p>
          <a:p>
            <a:r>
              <a:rPr lang="ru-RU" dirty="0" err="1" smtClean="0">
                <a:solidFill>
                  <a:srgbClr val="7030A0"/>
                </a:solidFill>
              </a:rPr>
              <a:t>input</a:t>
            </a:r>
            <a:r>
              <a:rPr lang="ru-RU" dirty="0" smtClean="0"/>
              <a:t>()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919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оператор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Результат работы программы: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70C0"/>
                </a:solidFill>
              </a:rPr>
              <a:t>Измерьте и введите температуру тела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70C0"/>
                </a:solidFill>
              </a:rPr>
              <a:t>Введите температуру</a:t>
            </a:r>
          </a:p>
          <a:p>
            <a:pPr marL="0" indent="0">
              <a:buNone/>
            </a:pPr>
            <a:r>
              <a:rPr lang="ru-RU" dirty="0" smtClean="0"/>
              <a:t>37.2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0070C0"/>
                </a:solidFill>
              </a:rPr>
              <a:t>Вызывайте врача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45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Попадает ли точка в первую и третью четверти координатных осей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312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#Попадает ли точка в первую или третью четверть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, sys, random</a:t>
            </a:r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 </a:t>
            </a:r>
            <a:r>
              <a:rPr lang="en-US" dirty="0" err="1"/>
              <a:t>pygame.color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THECOLORS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font</a:t>
            </a:r>
          </a:p>
          <a:p>
            <a:pPr marL="0" indent="0">
              <a:buNone/>
            </a:pP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([640,480])</a:t>
            </a:r>
          </a:p>
          <a:p>
            <a:pPr marL="0" indent="0">
              <a:buNone/>
            </a:pPr>
            <a:r>
              <a:rPr lang="en-US" dirty="0"/>
              <a:t>font = </a:t>
            </a:r>
            <a:r>
              <a:rPr lang="en-US" dirty="0" err="1"/>
              <a:t>pygame.font.Font</a:t>
            </a:r>
            <a:r>
              <a:rPr lang="en-US" dirty="0"/>
              <a:t>(None, 45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 smtClean="0"/>
              <a:t>screen.fill</a:t>
            </a:r>
            <a:r>
              <a:rPr lang="en-US" sz="2400" dirty="0" smtClean="0"/>
              <a:t>(THECOLORS</a:t>
            </a:r>
            <a:r>
              <a:rPr lang="en-US" sz="2400" dirty="0"/>
              <a:t>['white</a:t>
            </a:r>
            <a:r>
              <a:rPr lang="en-US" sz="2400" dirty="0" smtClean="0"/>
              <a:t>'])</a:t>
            </a:r>
            <a:endParaRPr lang="ru-RU" sz="2400" dirty="0" smtClean="0"/>
          </a:p>
          <a:p>
            <a:pPr marL="0" indent="0">
              <a:buNone/>
            </a:pPr>
            <a:r>
              <a:rPr lang="en-US" sz="2400" dirty="0" err="1" smtClean="0"/>
              <a:t>pygame.draw.lines</a:t>
            </a:r>
            <a:r>
              <a:rPr lang="en-US" sz="2400" dirty="0" smtClean="0"/>
              <a:t>(</a:t>
            </a:r>
            <a:r>
              <a:rPr lang="en-US" sz="2400" dirty="0" err="1" smtClean="0"/>
              <a:t>screen,THECOLORS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B050"/>
                </a:solidFill>
              </a:rPr>
              <a:t>'blue'</a:t>
            </a:r>
            <a:r>
              <a:rPr lang="en-US" sz="2400" dirty="0"/>
              <a:t>],False,[[320,0],[320,480]],</a:t>
            </a:r>
            <a:r>
              <a:rPr lang="en-US" sz="2400" dirty="0" smtClean="0"/>
              <a:t>2)</a:t>
            </a:r>
            <a:endParaRPr lang="ru-RU" sz="2400" dirty="0" smtClean="0"/>
          </a:p>
          <a:p>
            <a:pPr marL="0" indent="0">
              <a:buNone/>
            </a:pPr>
            <a:r>
              <a:rPr lang="en-US" sz="2400" dirty="0" err="1" smtClean="0"/>
              <a:t>pygame.draw.lines</a:t>
            </a:r>
            <a:r>
              <a:rPr lang="en-US" sz="2400" dirty="0" smtClean="0"/>
              <a:t>(screen</a:t>
            </a:r>
            <a:r>
              <a:rPr lang="en-US" sz="2400" dirty="0"/>
              <a:t>, THECOLORS['blue'],False,[[0,240],[640,240]],2)</a:t>
            </a:r>
          </a:p>
          <a:p>
            <a:pPr marL="0" indent="0">
              <a:buNone/>
            </a:pPr>
            <a:r>
              <a:rPr lang="en-US" sz="2400" dirty="0" smtClean="0"/>
              <a:t>x=</a:t>
            </a:r>
            <a:r>
              <a:rPr lang="en-US" sz="2400" dirty="0" err="1" smtClean="0"/>
              <a:t>random.randint</a:t>
            </a:r>
            <a:r>
              <a:rPr lang="en-US" sz="2400" dirty="0" smtClean="0"/>
              <a:t>(0,640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 smtClean="0"/>
              <a:t>y=</a:t>
            </a:r>
            <a:r>
              <a:rPr lang="en-US" sz="2400" dirty="0" err="1" smtClean="0"/>
              <a:t>random.randint</a:t>
            </a:r>
            <a:r>
              <a:rPr lang="en-US" sz="2400" dirty="0" smtClean="0"/>
              <a:t>(0</a:t>
            </a:r>
            <a:r>
              <a:rPr lang="en-US" sz="2400" dirty="0"/>
              <a:t>, 480)</a:t>
            </a:r>
          </a:p>
          <a:p>
            <a:pPr marL="0" indent="0">
              <a:buNone/>
            </a:pPr>
            <a:r>
              <a:rPr lang="en-US" sz="2400" dirty="0" err="1" smtClean="0"/>
              <a:t>pygame.draw.circle</a:t>
            </a:r>
            <a:r>
              <a:rPr lang="en-US" sz="2400" dirty="0" smtClean="0"/>
              <a:t>(screen</a:t>
            </a:r>
            <a:r>
              <a:rPr lang="en-US" sz="2400" dirty="0"/>
              <a:t>, THECOLORS[</a:t>
            </a:r>
            <a:r>
              <a:rPr lang="en-US" sz="2400" dirty="0">
                <a:solidFill>
                  <a:srgbClr val="00B050"/>
                </a:solidFill>
              </a:rPr>
              <a:t>'red</a:t>
            </a:r>
            <a:r>
              <a:rPr lang="en-US" sz="2400" dirty="0"/>
              <a:t>'],[</a:t>
            </a:r>
            <a:r>
              <a:rPr lang="en-US" sz="2400" dirty="0" err="1"/>
              <a:t>x,y</a:t>
            </a:r>
            <a:r>
              <a:rPr lang="en-US" sz="2400" dirty="0"/>
              <a:t>], 2, 0)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22482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sz="2400" dirty="0"/>
              <a:t> ((y&lt;240) and (x&gt;320)) or ((y&gt;240) and (x&lt;320)):</a:t>
            </a:r>
          </a:p>
          <a:p>
            <a:pPr marL="0" indent="0">
              <a:buNone/>
            </a:pPr>
            <a:r>
              <a:rPr lang="en-US" sz="2400" dirty="0"/>
              <a:t>        text = </a:t>
            </a:r>
            <a:r>
              <a:rPr lang="en-US" sz="2400" dirty="0" err="1"/>
              <a:t>font.render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"</a:t>
            </a:r>
            <a:r>
              <a:rPr lang="ru-RU" sz="2400" dirty="0">
                <a:solidFill>
                  <a:srgbClr val="00B050"/>
                </a:solidFill>
              </a:rPr>
              <a:t>Попадает",</a:t>
            </a:r>
            <a:r>
              <a:rPr lang="ru-RU" sz="2400" dirty="0"/>
              <a:t>1, </a:t>
            </a:r>
            <a:r>
              <a:rPr lang="en-US" sz="2400" dirty="0"/>
              <a:t>THECOLORS [</a:t>
            </a:r>
            <a:r>
              <a:rPr lang="en-US" sz="2400" dirty="0">
                <a:solidFill>
                  <a:srgbClr val="00B050"/>
                </a:solidFill>
              </a:rPr>
              <a:t>"blue</a:t>
            </a:r>
            <a:r>
              <a:rPr lang="en-US" sz="2400" dirty="0" smtClean="0">
                <a:solidFill>
                  <a:srgbClr val="00B050"/>
                </a:solidFill>
              </a:rPr>
              <a:t>"</a:t>
            </a:r>
            <a:r>
              <a:rPr lang="en-US" sz="2400" dirty="0" smtClean="0"/>
              <a:t>])</a:t>
            </a:r>
            <a:endParaRPr lang="ru-RU" sz="2400" dirty="0"/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else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text = </a:t>
            </a:r>
            <a:r>
              <a:rPr lang="en-US" sz="2400" dirty="0" err="1"/>
              <a:t>font.render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"</a:t>
            </a:r>
            <a:r>
              <a:rPr lang="ru-RU" sz="2400" dirty="0">
                <a:solidFill>
                  <a:srgbClr val="00B050"/>
                </a:solidFill>
              </a:rPr>
              <a:t>Не попадает"</a:t>
            </a:r>
            <a:r>
              <a:rPr lang="ru-RU" sz="2400" dirty="0"/>
              <a:t>,1, </a:t>
            </a:r>
            <a:r>
              <a:rPr lang="en-US" sz="2400" dirty="0"/>
              <a:t>THECOLORS [</a:t>
            </a:r>
            <a:r>
              <a:rPr lang="en-US" sz="2400" dirty="0">
                <a:solidFill>
                  <a:srgbClr val="00B050"/>
                </a:solidFill>
              </a:rPr>
              <a:t>"magenta</a:t>
            </a:r>
            <a:r>
              <a:rPr lang="en-US" sz="2400" dirty="0" smtClean="0">
                <a:solidFill>
                  <a:srgbClr val="00B050"/>
                </a:solidFill>
              </a:rPr>
              <a:t>"</a:t>
            </a:r>
            <a:r>
              <a:rPr lang="en-US" sz="2400" dirty="0" smtClean="0"/>
              <a:t>])</a:t>
            </a:r>
            <a:endParaRPr lang="ru-RU" sz="2400" dirty="0" smtClean="0"/>
          </a:p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dirty="0" err="1"/>
              <a:t>screen.blit</a:t>
            </a:r>
            <a:r>
              <a:rPr lang="en-US" sz="2400" dirty="0"/>
              <a:t>(text, [370, 400</a:t>
            </a:r>
            <a:r>
              <a:rPr lang="en-US" sz="2400" dirty="0" smtClean="0"/>
              <a:t>])</a:t>
            </a:r>
            <a:endParaRPr lang="ru-RU" sz="2400" dirty="0" smtClean="0"/>
          </a:p>
          <a:p>
            <a:pPr marL="0" indent="0">
              <a:buNone/>
            </a:pPr>
            <a:r>
              <a:rPr lang="en-US" sz="2400" dirty="0" err="1"/>
              <a:t>pygame.display.flip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 smtClean="0"/>
              <a:t>running </a:t>
            </a:r>
            <a:r>
              <a:rPr lang="en-US" sz="2400" dirty="0"/>
              <a:t>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400" dirty="0" smtClean="0"/>
              <a:t> </a:t>
            </a:r>
            <a:r>
              <a:rPr lang="en-US" sz="2400" dirty="0"/>
              <a:t>running:</a:t>
            </a:r>
          </a:p>
          <a:p>
            <a:pPr marL="0" indent="0">
              <a:buNone/>
            </a:pPr>
            <a:r>
              <a:rPr lang="en-US" sz="2400" dirty="0" smtClean="0"/>
              <a:t>   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for</a:t>
            </a:r>
            <a:r>
              <a:rPr lang="en-US" sz="2400" dirty="0"/>
              <a:t> event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in</a:t>
            </a:r>
            <a:r>
              <a:rPr lang="en-US" sz="2400" dirty="0"/>
              <a:t>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  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2400" dirty="0" err="1" smtClean="0"/>
              <a:t>pygame.quit</a:t>
            </a:r>
            <a:r>
              <a:rPr lang="en-US" sz="2400" dirty="0"/>
              <a:t>()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9415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021" y="1825625"/>
            <a:ext cx="54999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8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Попадает ли точка в круг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925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#Попадает ли точка в круг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pygame</a:t>
            </a:r>
            <a:r>
              <a:rPr lang="en-US" dirty="0"/>
              <a:t>, sys, random</a:t>
            </a:r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pygame.color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import </a:t>
            </a:r>
            <a:r>
              <a:rPr lang="en-US" dirty="0"/>
              <a:t>THECOLORS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font</a:t>
            </a:r>
          </a:p>
          <a:p>
            <a:pPr marL="0" indent="0">
              <a:buNone/>
            </a:pP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([640,480])</a:t>
            </a:r>
          </a:p>
          <a:p>
            <a:pPr marL="0" indent="0">
              <a:buNone/>
            </a:pPr>
            <a:r>
              <a:rPr lang="en-US" dirty="0"/>
              <a:t>font = </a:t>
            </a:r>
            <a:r>
              <a:rPr lang="en-US" dirty="0" err="1"/>
              <a:t>pygame.font.Font</a:t>
            </a:r>
            <a:r>
              <a:rPr lang="en-US" dirty="0"/>
              <a:t>(None, 45)</a:t>
            </a:r>
          </a:p>
          <a:p>
            <a:pPr marL="0" indent="0">
              <a:buNone/>
            </a:pPr>
            <a:r>
              <a:rPr lang="en-US" dirty="0" smtClean="0"/>
              <a:t>r=200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702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 smtClean="0"/>
              <a:t>screen.fill</a:t>
            </a:r>
            <a:r>
              <a:rPr lang="en-US" sz="2400" dirty="0" smtClean="0"/>
              <a:t>(THECOLORS</a:t>
            </a:r>
            <a:r>
              <a:rPr lang="en-US" sz="2400" dirty="0"/>
              <a:t>['white'])</a:t>
            </a:r>
          </a:p>
          <a:p>
            <a:pPr marL="0" indent="0">
              <a:buNone/>
            </a:pPr>
            <a:r>
              <a:rPr lang="en-US" sz="2400" dirty="0" err="1" smtClean="0"/>
              <a:t>pygame.draw.lines</a:t>
            </a:r>
            <a:r>
              <a:rPr lang="en-US" sz="2400" dirty="0" smtClean="0"/>
              <a:t>(screen</a:t>
            </a:r>
            <a:r>
              <a:rPr lang="en-US" sz="2400" dirty="0"/>
              <a:t>, THECOLORS[</a:t>
            </a:r>
            <a:r>
              <a:rPr lang="en-US" sz="2400" dirty="0">
                <a:solidFill>
                  <a:srgbClr val="00B050"/>
                </a:solidFill>
              </a:rPr>
              <a:t>'blue'</a:t>
            </a:r>
            <a:r>
              <a:rPr lang="en-US" sz="2400" dirty="0"/>
              <a:t>],False,[[320,0],[320,480]],2)</a:t>
            </a:r>
          </a:p>
          <a:p>
            <a:pPr marL="0" indent="0">
              <a:buNone/>
            </a:pPr>
            <a:r>
              <a:rPr lang="en-US" sz="2400" dirty="0" err="1" smtClean="0"/>
              <a:t>pygame.draw.lines</a:t>
            </a:r>
            <a:r>
              <a:rPr lang="en-US" sz="2400" dirty="0" smtClean="0"/>
              <a:t>(screen</a:t>
            </a:r>
            <a:r>
              <a:rPr lang="en-US" sz="2400" dirty="0"/>
              <a:t>, THECOLORS[</a:t>
            </a:r>
            <a:r>
              <a:rPr lang="en-US" sz="2400" dirty="0">
                <a:solidFill>
                  <a:srgbClr val="00B050"/>
                </a:solidFill>
              </a:rPr>
              <a:t>'blue'</a:t>
            </a:r>
            <a:r>
              <a:rPr lang="en-US" sz="2400" dirty="0"/>
              <a:t>],False,[[0,240],[640,240]],2</a:t>
            </a:r>
            <a:r>
              <a:rPr lang="en-US" sz="2400" dirty="0" smtClean="0"/>
              <a:t>)</a:t>
            </a:r>
            <a:endParaRPr lang="ru-RU" sz="2400" dirty="0" smtClean="0"/>
          </a:p>
          <a:p>
            <a:pPr marL="0" indent="0">
              <a:buNone/>
            </a:pPr>
            <a:r>
              <a:rPr lang="en-US" sz="2400" dirty="0" err="1" smtClean="0"/>
              <a:t>pygame.draw.circle</a:t>
            </a:r>
            <a:r>
              <a:rPr lang="en-US" sz="2400" dirty="0" smtClean="0"/>
              <a:t>(screen</a:t>
            </a:r>
            <a:r>
              <a:rPr lang="en-US" sz="2400" dirty="0"/>
              <a:t>, THECOLORS[</a:t>
            </a:r>
            <a:r>
              <a:rPr lang="en-US" sz="2400" dirty="0">
                <a:solidFill>
                  <a:srgbClr val="00B050"/>
                </a:solidFill>
              </a:rPr>
              <a:t>'blue'</a:t>
            </a:r>
            <a:r>
              <a:rPr lang="en-US" sz="2400" dirty="0"/>
              <a:t>],[320,240], r, 2)</a:t>
            </a:r>
          </a:p>
          <a:p>
            <a:pPr marL="0" indent="0">
              <a:buNone/>
            </a:pPr>
            <a:r>
              <a:rPr lang="en-US" sz="2400" dirty="0" smtClean="0"/>
              <a:t>x=</a:t>
            </a:r>
            <a:r>
              <a:rPr lang="en-US" sz="2400" dirty="0" err="1" smtClean="0"/>
              <a:t>random.randint</a:t>
            </a:r>
            <a:r>
              <a:rPr lang="en-US" sz="2400" dirty="0" smtClean="0"/>
              <a:t>(0,640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 smtClean="0"/>
              <a:t>y=</a:t>
            </a:r>
            <a:r>
              <a:rPr lang="en-US" sz="2400" dirty="0" err="1" smtClean="0"/>
              <a:t>random.randint</a:t>
            </a:r>
            <a:r>
              <a:rPr lang="en-US" sz="2400" dirty="0" smtClean="0"/>
              <a:t>(0</a:t>
            </a:r>
            <a:r>
              <a:rPr lang="en-US" sz="2400" dirty="0"/>
              <a:t>, 480)</a:t>
            </a:r>
          </a:p>
          <a:p>
            <a:pPr marL="0" indent="0">
              <a:buNone/>
            </a:pPr>
            <a:r>
              <a:rPr lang="en-US" sz="2400" dirty="0" err="1" smtClean="0"/>
              <a:t>pygame.draw.circle</a:t>
            </a:r>
            <a:r>
              <a:rPr lang="en-US" sz="2400" dirty="0" smtClean="0"/>
              <a:t>(screen</a:t>
            </a:r>
            <a:r>
              <a:rPr lang="en-US" sz="2400" dirty="0"/>
              <a:t>, THECOLORS[</a:t>
            </a:r>
            <a:r>
              <a:rPr lang="en-US" sz="2400" dirty="0">
                <a:solidFill>
                  <a:srgbClr val="00B050"/>
                </a:solidFill>
              </a:rPr>
              <a:t>'red'</a:t>
            </a:r>
            <a:r>
              <a:rPr lang="en-US" sz="2400" dirty="0"/>
              <a:t>],[</a:t>
            </a:r>
            <a:r>
              <a:rPr lang="en-US" sz="2400" dirty="0" err="1"/>
              <a:t>x,y</a:t>
            </a:r>
            <a:r>
              <a:rPr lang="en-US" sz="2400" dirty="0"/>
              <a:t>], 2, 0)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9782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900" dirty="0" smtClean="0">
                <a:solidFill>
                  <a:schemeClr val="accent2">
                    <a:lumMod val="75000"/>
                  </a:schemeClr>
                </a:solidFill>
              </a:rPr>
              <a:t>if </a:t>
            </a:r>
            <a:r>
              <a:rPr lang="en-US" sz="1900" dirty="0"/>
              <a:t>((r*r)&gt;((x-320)*(x-320)+(y-240)*(y-240))) and (((y&lt;240) and (x&gt;320)) or ((y&gt;240) and (x&lt;320))):</a:t>
            </a:r>
          </a:p>
          <a:p>
            <a:pPr marL="0" indent="0">
              <a:buNone/>
            </a:pPr>
            <a:r>
              <a:rPr lang="en-US" sz="1900" dirty="0"/>
              <a:t>        </a:t>
            </a:r>
            <a:r>
              <a:rPr lang="en-US" sz="1900" dirty="0" smtClean="0"/>
              <a:t>text </a:t>
            </a:r>
            <a:r>
              <a:rPr lang="en-US" sz="1900" dirty="0"/>
              <a:t>= </a:t>
            </a:r>
            <a:r>
              <a:rPr lang="en-US" sz="1900" dirty="0" err="1"/>
              <a:t>font.render</a:t>
            </a:r>
            <a:r>
              <a:rPr lang="en-US" sz="1900" dirty="0"/>
              <a:t>(</a:t>
            </a:r>
            <a:r>
              <a:rPr lang="en-US" sz="1900" dirty="0">
                <a:solidFill>
                  <a:srgbClr val="00B050"/>
                </a:solidFill>
              </a:rPr>
              <a:t>"</a:t>
            </a:r>
            <a:r>
              <a:rPr lang="ru-RU" sz="1900" dirty="0">
                <a:solidFill>
                  <a:srgbClr val="00B050"/>
                </a:solidFill>
              </a:rPr>
              <a:t>Попадает"</a:t>
            </a:r>
            <a:r>
              <a:rPr lang="ru-RU" sz="1900" dirty="0"/>
              <a:t>,1, </a:t>
            </a:r>
            <a:r>
              <a:rPr lang="en-US" sz="1900" dirty="0"/>
              <a:t>THECOLORS ["blue</a:t>
            </a:r>
            <a:r>
              <a:rPr lang="en-US" sz="1900" dirty="0" smtClean="0"/>
              <a:t>"])</a:t>
            </a:r>
            <a:endParaRPr lang="ru-RU" sz="1900" dirty="0" smtClean="0"/>
          </a:p>
          <a:p>
            <a:pPr marL="0" indent="0">
              <a:buNone/>
            </a:pPr>
            <a:r>
              <a:rPr lang="ru-RU" sz="1900" dirty="0" smtClean="0"/>
              <a:t> </a:t>
            </a:r>
            <a:r>
              <a:rPr lang="en-US" sz="1900" dirty="0" smtClean="0">
                <a:solidFill>
                  <a:schemeClr val="accent2">
                    <a:lumMod val="75000"/>
                  </a:schemeClr>
                </a:solidFill>
              </a:rPr>
              <a:t>else</a:t>
            </a:r>
            <a:r>
              <a:rPr lang="en-US" sz="1900" dirty="0" smtClean="0"/>
              <a:t>:</a:t>
            </a:r>
          </a:p>
          <a:p>
            <a:pPr marL="0" indent="0">
              <a:buNone/>
            </a:pPr>
            <a:r>
              <a:rPr lang="en-US" sz="1900" dirty="0" smtClean="0"/>
              <a:t>    </a:t>
            </a:r>
            <a:r>
              <a:rPr lang="ru-RU" sz="1900" dirty="0" smtClean="0"/>
              <a:t>    </a:t>
            </a:r>
            <a:r>
              <a:rPr lang="en-US" sz="1900" dirty="0" smtClean="0"/>
              <a:t> </a:t>
            </a:r>
            <a:r>
              <a:rPr lang="en-US" sz="1900" dirty="0" smtClean="0"/>
              <a:t>text </a:t>
            </a:r>
            <a:r>
              <a:rPr lang="en-US" sz="1900" dirty="0"/>
              <a:t>= </a:t>
            </a:r>
            <a:r>
              <a:rPr lang="en-US" sz="1900" dirty="0" err="1"/>
              <a:t>font.render</a:t>
            </a:r>
            <a:r>
              <a:rPr lang="en-US" sz="1900" dirty="0"/>
              <a:t>(</a:t>
            </a:r>
            <a:r>
              <a:rPr lang="en-US" sz="1900" dirty="0">
                <a:solidFill>
                  <a:srgbClr val="00B050"/>
                </a:solidFill>
              </a:rPr>
              <a:t>"</a:t>
            </a:r>
            <a:r>
              <a:rPr lang="ru-RU" sz="1900" dirty="0">
                <a:solidFill>
                  <a:srgbClr val="00B050"/>
                </a:solidFill>
              </a:rPr>
              <a:t>Не попадает"</a:t>
            </a:r>
            <a:r>
              <a:rPr lang="ru-RU" sz="1900" dirty="0"/>
              <a:t>,1, </a:t>
            </a:r>
            <a:r>
              <a:rPr lang="en-US" sz="1900" dirty="0"/>
              <a:t>THECOLORS ["magenta</a:t>
            </a:r>
            <a:r>
              <a:rPr lang="en-US" sz="1900" dirty="0" smtClean="0"/>
              <a:t>"])</a:t>
            </a:r>
            <a:endParaRPr lang="ru-RU" sz="1900" dirty="0" smtClean="0"/>
          </a:p>
          <a:p>
            <a:pPr marL="0" indent="0">
              <a:buNone/>
            </a:pPr>
            <a:r>
              <a:rPr lang="en-US" sz="1900" dirty="0" err="1" smtClean="0"/>
              <a:t>screen.blit</a:t>
            </a:r>
            <a:r>
              <a:rPr lang="en-US" sz="1900" dirty="0" smtClean="0"/>
              <a:t>(text</a:t>
            </a:r>
            <a:r>
              <a:rPr lang="en-US" sz="1900" dirty="0"/>
              <a:t>, [370, 400</a:t>
            </a:r>
            <a:r>
              <a:rPr lang="en-US" sz="1900" dirty="0" smtClean="0"/>
              <a:t>])</a:t>
            </a:r>
            <a:endParaRPr lang="ru-RU" sz="1900" dirty="0" smtClean="0"/>
          </a:p>
          <a:p>
            <a:pPr marL="0" indent="0">
              <a:buNone/>
            </a:pPr>
            <a:r>
              <a:rPr lang="en-US" sz="1900" dirty="0" err="1"/>
              <a:t>pygame.display.flip</a:t>
            </a:r>
            <a:r>
              <a:rPr lang="en-US" sz="1900" dirty="0"/>
              <a:t>()</a:t>
            </a:r>
          </a:p>
          <a:p>
            <a:pPr marL="0" indent="0">
              <a:buNone/>
            </a:pPr>
            <a:r>
              <a:rPr lang="en-US" sz="1900" dirty="0" smtClean="0"/>
              <a:t>running </a:t>
            </a:r>
            <a:r>
              <a:rPr lang="en-US" sz="1900" dirty="0"/>
              <a:t>= </a:t>
            </a:r>
            <a:r>
              <a:rPr lang="en-US" sz="19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000" dirty="0" smtClean="0"/>
              <a:t> </a:t>
            </a:r>
            <a:r>
              <a:rPr lang="en-US" sz="2000" dirty="0"/>
              <a:t>running:</a:t>
            </a:r>
          </a:p>
          <a:p>
            <a:pPr marL="0" indent="0">
              <a:buNone/>
            </a:pPr>
            <a:r>
              <a:rPr lang="en-US" sz="1900" dirty="0" smtClean="0"/>
              <a:t>   </a:t>
            </a:r>
            <a:r>
              <a:rPr lang="ru-RU" sz="1900" dirty="0" smtClean="0"/>
              <a:t>     </a:t>
            </a:r>
            <a:r>
              <a:rPr lang="en-US" sz="19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900" dirty="0">
                <a:solidFill>
                  <a:schemeClr val="accent2">
                    <a:lumMod val="75000"/>
                  </a:schemeClr>
                </a:solidFill>
              </a:rPr>
              <a:t>for </a:t>
            </a:r>
            <a:r>
              <a:rPr lang="en-US" sz="1900" dirty="0"/>
              <a:t>event</a:t>
            </a:r>
            <a:r>
              <a:rPr lang="en-US" sz="1900" dirty="0">
                <a:solidFill>
                  <a:schemeClr val="accent2">
                    <a:lumMod val="75000"/>
                  </a:schemeClr>
                </a:solidFill>
              </a:rPr>
              <a:t> in </a:t>
            </a:r>
            <a:r>
              <a:rPr lang="en-US" sz="1900" dirty="0" err="1"/>
              <a:t>pygame.event.get</a:t>
            </a:r>
            <a:r>
              <a:rPr lang="en-US" sz="1900" dirty="0"/>
              <a:t>():</a:t>
            </a:r>
          </a:p>
          <a:p>
            <a:pPr marL="0" indent="0">
              <a:buNone/>
            </a:pPr>
            <a:r>
              <a:rPr lang="en-US" sz="1900" dirty="0"/>
              <a:t>       </a:t>
            </a:r>
            <a:r>
              <a:rPr lang="ru-RU" sz="1900" dirty="0" smtClean="0"/>
              <a:t>	</a:t>
            </a:r>
            <a:r>
              <a:rPr lang="en-US" sz="19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900" dirty="0">
                <a:solidFill>
                  <a:schemeClr val="accent2">
                    <a:lumMod val="75000"/>
                  </a:schemeClr>
                </a:solidFill>
              </a:rPr>
              <a:t>if </a:t>
            </a:r>
            <a:r>
              <a:rPr lang="en-US" sz="1900" dirty="0" err="1"/>
              <a:t>event.type</a:t>
            </a:r>
            <a:r>
              <a:rPr lang="en-US" sz="1900" dirty="0"/>
              <a:t> == </a:t>
            </a:r>
            <a:r>
              <a:rPr lang="en-US" sz="1900" dirty="0" err="1"/>
              <a:t>pygame.QUIT</a:t>
            </a:r>
            <a:r>
              <a:rPr lang="en-US" sz="1900" dirty="0"/>
              <a:t>: </a:t>
            </a:r>
          </a:p>
          <a:p>
            <a:pPr marL="0" indent="0">
              <a:buNone/>
            </a:pPr>
            <a:r>
              <a:rPr lang="en-US" sz="1900" dirty="0"/>
              <a:t>        </a:t>
            </a:r>
            <a:r>
              <a:rPr lang="en-US" sz="1900" dirty="0" smtClean="0"/>
              <a:t> </a:t>
            </a:r>
            <a:r>
              <a:rPr lang="en-US" sz="1900" dirty="0"/>
              <a:t>running = </a:t>
            </a:r>
            <a:r>
              <a:rPr lang="en-US" sz="19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1900" dirty="0" err="1" smtClean="0"/>
              <a:t>pygame.quit</a:t>
            </a:r>
            <a:r>
              <a:rPr lang="en-US" sz="1900" dirty="0"/>
              <a:t>()</a:t>
            </a:r>
            <a:endParaRPr lang="ru-RU" sz="1900" dirty="0"/>
          </a:p>
        </p:txBody>
      </p:sp>
    </p:spTree>
    <p:extLst>
      <p:ext uri="{BB962C8B-B14F-4D97-AF65-F5344CB8AC3E}">
        <p14:creationId xmlns:p14="http://schemas.microsoft.com/office/powerpoint/2010/main" val="247919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021" y="1825625"/>
            <a:ext cx="54999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8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Попадает ли круг вверх, вниз и на границу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865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#Попадает круг вверх, вниз и на границу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, sys, random</a:t>
            </a:r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pygame.color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THECOLORS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font</a:t>
            </a:r>
          </a:p>
          <a:p>
            <a:pPr marL="0" indent="0">
              <a:buNone/>
            </a:pP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([640,480])</a:t>
            </a:r>
          </a:p>
          <a:p>
            <a:pPr marL="0" indent="0">
              <a:buNone/>
            </a:pPr>
            <a:r>
              <a:rPr lang="en-US" dirty="0"/>
              <a:t>font = </a:t>
            </a:r>
            <a:r>
              <a:rPr lang="en-US" dirty="0" err="1"/>
              <a:t>pygame.font.Font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(None</a:t>
            </a:r>
            <a:r>
              <a:rPr lang="en-US" dirty="0"/>
              <a:t>, 45)</a:t>
            </a:r>
          </a:p>
          <a:p>
            <a:pPr marL="0" indent="0">
              <a:buNone/>
            </a:pPr>
            <a:r>
              <a:rPr lang="en-US" dirty="0" smtClean="0"/>
              <a:t>r=50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796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 smtClean="0"/>
              <a:t>screen.fill</a:t>
            </a:r>
            <a:r>
              <a:rPr lang="en-US" sz="2400" dirty="0" smtClean="0"/>
              <a:t>(THECOLORS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B050"/>
                </a:solidFill>
              </a:rPr>
              <a:t>'white</a:t>
            </a:r>
            <a:r>
              <a:rPr lang="en-US" sz="2400" dirty="0" smtClean="0">
                <a:solidFill>
                  <a:srgbClr val="00B050"/>
                </a:solidFill>
              </a:rPr>
              <a:t>']</a:t>
            </a:r>
            <a:r>
              <a:rPr lang="en-US" sz="2400" dirty="0" smtClean="0"/>
              <a:t>)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 smtClean="0"/>
              <a:t>pygame.draw.lines</a:t>
            </a:r>
            <a:r>
              <a:rPr lang="en-US" sz="2400" dirty="0" smtClean="0"/>
              <a:t>(screen</a:t>
            </a:r>
            <a:r>
              <a:rPr lang="en-US" sz="2400" dirty="0"/>
              <a:t>, THECOLORS['blue'],False,[[0,240],[640,240]],2)</a:t>
            </a:r>
          </a:p>
          <a:p>
            <a:pPr marL="0" indent="0">
              <a:buNone/>
            </a:pPr>
            <a:r>
              <a:rPr lang="en-US" sz="2400" dirty="0" smtClean="0"/>
              <a:t>x=</a:t>
            </a:r>
            <a:r>
              <a:rPr lang="en-US" sz="2400" dirty="0" err="1" smtClean="0"/>
              <a:t>random.randint</a:t>
            </a:r>
            <a:r>
              <a:rPr lang="en-US" sz="2400" dirty="0" smtClean="0"/>
              <a:t>(50,590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 smtClean="0"/>
              <a:t>y=</a:t>
            </a:r>
            <a:r>
              <a:rPr lang="en-US" sz="2400" dirty="0" err="1" smtClean="0"/>
              <a:t>random.randint</a:t>
            </a:r>
            <a:r>
              <a:rPr lang="en-US" sz="2400" dirty="0" smtClean="0"/>
              <a:t>(50</a:t>
            </a:r>
            <a:r>
              <a:rPr lang="en-US" sz="2400" dirty="0"/>
              <a:t>, 430)</a:t>
            </a:r>
          </a:p>
          <a:p>
            <a:pPr marL="0" indent="0">
              <a:buNone/>
            </a:pPr>
            <a:r>
              <a:rPr lang="en-US" sz="2400" dirty="0" err="1" smtClean="0"/>
              <a:t>pygame.draw.circle</a:t>
            </a:r>
            <a:r>
              <a:rPr lang="en-US" sz="2400" dirty="0" smtClean="0"/>
              <a:t>(screen</a:t>
            </a:r>
            <a:r>
              <a:rPr lang="en-US" sz="2400" dirty="0"/>
              <a:t>, THECOLORS[</a:t>
            </a:r>
            <a:r>
              <a:rPr lang="en-US" sz="2400" dirty="0">
                <a:solidFill>
                  <a:srgbClr val="00B050"/>
                </a:solidFill>
              </a:rPr>
              <a:t>'red'</a:t>
            </a:r>
            <a:r>
              <a:rPr lang="en-US" sz="2400" dirty="0"/>
              <a:t>],[</a:t>
            </a:r>
            <a:r>
              <a:rPr lang="en-US" sz="2400" dirty="0" err="1"/>
              <a:t>x,y</a:t>
            </a:r>
            <a:r>
              <a:rPr lang="en-US" sz="2400" dirty="0"/>
              <a:t>], r, 2)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885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if </a:t>
            </a:r>
            <a:r>
              <a:rPr lang="en-US" sz="2400" dirty="0"/>
              <a:t>(y-r)&lt;140: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 smtClean="0"/>
              <a:t>text </a:t>
            </a:r>
            <a:r>
              <a:rPr lang="en-US" sz="2400" dirty="0"/>
              <a:t>= </a:t>
            </a:r>
            <a:r>
              <a:rPr lang="en-US" sz="2400" dirty="0" err="1"/>
              <a:t>font.render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"</a:t>
            </a:r>
            <a:r>
              <a:rPr lang="ru-RU" sz="2400" dirty="0">
                <a:solidFill>
                  <a:srgbClr val="00B050"/>
                </a:solidFill>
              </a:rPr>
              <a:t>Верх"</a:t>
            </a:r>
            <a:r>
              <a:rPr lang="ru-RU" sz="2400" dirty="0"/>
              <a:t>,1, </a:t>
            </a:r>
            <a:r>
              <a:rPr lang="en-US" sz="2400" dirty="0"/>
              <a:t>THECOLORS [</a:t>
            </a:r>
            <a:r>
              <a:rPr lang="en-US" sz="2400" dirty="0">
                <a:solidFill>
                  <a:srgbClr val="00B050"/>
                </a:solidFill>
              </a:rPr>
              <a:t>"blue</a:t>
            </a:r>
            <a:r>
              <a:rPr lang="en-US" sz="2400" dirty="0" smtClean="0">
                <a:solidFill>
                  <a:srgbClr val="00B050"/>
                </a:solidFill>
              </a:rPr>
              <a:t>"</a:t>
            </a:r>
            <a:r>
              <a:rPr lang="en-US" sz="2400" dirty="0" smtClean="0"/>
              <a:t>])</a:t>
            </a:r>
            <a:endParaRPr lang="ru-RU" sz="2400" dirty="0" smtClean="0"/>
          </a:p>
          <a:p>
            <a:pPr marL="0" indent="0">
              <a:buNone/>
            </a:pP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/>
              <a:t>(</a:t>
            </a:r>
            <a:r>
              <a:rPr lang="en-US" sz="2400" dirty="0" err="1"/>
              <a:t>y+r</a:t>
            </a:r>
            <a:r>
              <a:rPr lang="en-US" sz="2400" dirty="0"/>
              <a:t>)&gt;340:</a:t>
            </a:r>
          </a:p>
          <a:p>
            <a:pPr marL="0" indent="0">
              <a:buNone/>
            </a:pPr>
            <a:r>
              <a:rPr lang="en-US" sz="2400" dirty="0"/>
              <a:t>        text = </a:t>
            </a:r>
            <a:r>
              <a:rPr lang="en-US" sz="2400" dirty="0" err="1"/>
              <a:t>font.render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"</a:t>
            </a:r>
            <a:r>
              <a:rPr lang="ru-RU" sz="2400" dirty="0">
                <a:solidFill>
                  <a:srgbClr val="00B050"/>
                </a:solidFill>
              </a:rPr>
              <a:t>Низ"</a:t>
            </a:r>
            <a:r>
              <a:rPr lang="ru-RU" sz="2400" dirty="0"/>
              <a:t>,1, </a:t>
            </a:r>
            <a:r>
              <a:rPr lang="en-US" sz="2400" dirty="0"/>
              <a:t>THECOLORS [</a:t>
            </a:r>
            <a:r>
              <a:rPr lang="en-US" sz="2400" dirty="0">
                <a:solidFill>
                  <a:srgbClr val="00B050"/>
                </a:solidFill>
              </a:rPr>
              <a:t>"blue"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else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text = </a:t>
            </a:r>
            <a:r>
              <a:rPr lang="en-US" sz="2400" dirty="0" err="1"/>
              <a:t>font.render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"</a:t>
            </a:r>
            <a:r>
              <a:rPr lang="ru-RU" sz="2400" dirty="0">
                <a:solidFill>
                  <a:srgbClr val="00B050"/>
                </a:solidFill>
              </a:rPr>
              <a:t>Граница"</a:t>
            </a:r>
            <a:r>
              <a:rPr lang="ru-RU" sz="2400" dirty="0"/>
              <a:t>,1, </a:t>
            </a:r>
            <a:r>
              <a:rPr lang="en-US" sz="2400" dirty="0"/>
              <a:t>THECOLORS [</a:t>
            </a:r>
            <a:r>
              <a:rPr lang="en-US" sz="2400" dirty="0">
                <a:solidFill>
                  <a:srgbClr val="00B050"/>
                </a:solidFill>
              </a:rPr>
              <a:t>"magenta</a:t>
            </a:r>
            <a:r>
              <a:rPr lang="en-US" sz="2400" dirty="0" smtClean="0">
                <a:solidFill>
                  <a:srgbClr val="00B050"/>
                </a:solidFill>
              </a:rPr>
              <a:t>"</a:t>
            </a:r>
            <a:r>
              <a:rPr lang="en-US" sz="2400" dirty="0" smtClean="0"/>
              <a:t>])</a:t>
            </a:r>
            <a:endParaRPr lang="ru-RU" sz="2400" dirty="0" smtClean="0"/>
          </a:p>
          <a:p>
            <a:pPr marL="0" indent="0">
              <a:buNone/>
            </a:pPr>
            <a:r>
              <a:rPr lang="en-US" sz="2400" dirty="0" smtClean="0"/>
              <a:t> </a:t>
            </a:r>
            <a:r>
              <a:rPr lang="en-US" sz="2400" dirty="0" err="1"/>
              <a:t>screen.blit</a:t>
            </a:r>
            <a:r>
              <a:rPr lang="en-US" sz="2400" dirty="0"/>
              <a:t>(text, [370, 400])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9412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pygame.display.flip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 smtClean="0"/>
              <a:t>running </a:t>
            </a:r>
            <a:r>
              <a:rPr lang="en-US" sz="2400" dirty="0"/>
              <a:t>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400" dirty="0" smtClean="0"/>
              <a:t> </a:t>
            </a:r>
            <a:r>
              <a:rPr lang="en-US" sz="2400" dirty="0"/>
              <a:t>running: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for </a:t>
            </a:r>
            <a:r>
              <a:rPr lang="en-US" sz="2400" dirty="0"/>
              <a:t>event in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sz="2400" dirty="0"/>
              <a:t>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  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2400" dirty="0" err="1" smtClean="0"/>
              <a:t>pygame.quit</a:t>
            </a:r>
            <a:r>
              <a:rPr lang="en-US" sz="2400" dirty="0"/>
              <a:t>()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01587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021" y="1825625"/>
            <a:ext cx="54999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78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Два круга: попадает ли подвижный в неподвижный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167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#Два круга, попадает ли подвижный в неподвижный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, sys, random</a:t>
            </a:r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pygame.color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THECOLORS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font</a:t>
            </a:r>
          </a:p>
          <a:p>
            <a:pPr marL="0" indent="0">
              <a:buNone/>
            </a:pP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([640,480])</a:t>
            </a:r>
          </a:p>
          <a:p>
            <a:pPr marL="0" indent="0">
              <a:buNone/>
            </a:pPr>
            <a:r>
              <a:rPr lang="en-US" dirty="0"/>
              <a:t>font = </a:t>
            </a:r>
            <a:r>
              <a:rPr lang="en-US" dirty="0" err="1"/>
              <a:t>pygame.font.Font</a:t>
            </a:r>
            <a:r>
              <a:rPr lang="en-US" dirty="0"/>
              <a:t>(None, 45)</a:t>
            </a:r>
          </a:p>
          <a:p>
            <a:pPr marL="0" indent="0">
              <a:buNone/>
            </a:pPr>
            <a:r>
              <a:rPr lang="en-US" dirty="0" smtClean="0"/>
              <a:t>r1=150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r2=30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172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screen.fill</a:t>
            </a:r>
            <a:r>
              <a:rPr lang="en-US" dirty="0" smtClean="0"/>
              <a:t>(THECOLORS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'white'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 err="1" smtClean="0"/>
              <a:t>pygame.draw.lines</a:t>
            </a:r>
            <a:r>
              <a:rPr lang="en-US" dirty="0" smtClean="0"/>
              <a:t>(screen</a:t>
            </a:r>
            <a:r>
              <a:rPr lang="en-US" dirty="0"/>
              <a:t>, THECOLORS[</a:t>
            </a:r>
            <a:r>
              <a:rPr lang="en-US" dirty="0">
                <a:solidFill>
                  <a:srgbClr val="00B050"/>
                </a:solidFill>
              </a:rPr>
              <a:t>'blue'</a:t>
            </a:r>
            <a:r>
              <a:rPr lang="en-US" dirty="0"/>
              <a:t>],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r>
              <a:rPr lang="en-US" dirty="0"/>
              <a:t>,[[320,0],[320,480]],2)</a:t>
            </a:r>
          </a:p>
          <a:p>
            <a:pPr marL="0" indent="0">
              <a:buNone/>
            </a:pPr>
            <a:r>
              <a:rPr lang="en-US" dirty="0" err="1" smtClean="0"/>
              <a:t>pygame.draw.lines</a:t>
            </a:r>
            <a:r>
              <a:rPr lang="en-US" dirty="0" smtClean="0"/>
              <a:t>(screen</a:t>
            </a:r>
            <a:r>
              <a:rPr lang="en-US" dirty="0"/>
              <a:t>, THECOLORS[</a:t>
            </a:r>
            <a:r>
              <a:rPr lang="en-US" dirty="0">
                <a:solidFill>
                  <a:srgbClr val="00B050"/>
                </a:solidFill>
              </a:rPr>
              <a:t>'blue'</a:t>
            </a:r>
            <a:r>
              <a:rPr lang="en-US" dirty="0"/>
              <a:t>],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r>
              <a:rPr lang="en-US" dirty="0"/>
              <a:t>,[[0,240],[640,240]],2)</a:t>
            </a:r>
          </a:p>
          <a:p>
            <a:pPr marL="0" indent="0">
              <a:buNone/>
            </a:pPr>
            <a:r>
              <a:rPr lang="en-US" dirty="0" err="1" smtClean="0"/>
              <a:t>pygame.draw.circle</a:t>
            </a:r>
            <a:r>
              <a:rPr lang="en-US" dirty="0" smtClean="0"/>
              <a:t>(screen</a:t>
            </a:r>
            <a:r>
              <a:rPr lang="en-US" dirty="0"/>
              <a:t>, THECOLORS[</a:t>
            </a:r>
            <a:r>
              <a:rPr lang="en-US" dirty="0">
                <a:solidFill>
                  <a:srgbClr val="00B050"/>
                </a:solidFill>
              </a:rPr>
              <a:t>'blue'</a:t>
            </a:r>
            <a:r>
              <a:rPr lang="en-US" dirty="0"/>
              <a:t>],[320,240], r1, 2)</a:t>
            </a:r>
          </a:p>
          <a:p>
            <a:pPr marL="0" indent="0">
              <a:buNone/>
            </a:pPr>
            <a:r>
              <a:rPr lang="en-US" dirty="0" smtClean="0"/>
              <a:t>x=</a:t>
            </a:r>
            <a:r>
              <a:rPr lang="en-US" dirty="0" err="1" smtClean="0"/>
              <a:t>random.randint</a:t>
            </a:r>
            <a:r>
              <a:rPr lang="en-US" dirty="0" smtClean="0"/>
              <a:t>(50,590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smtClean="0"/>
              <a:t>y=</a:t>
            </a:r>
            <a:r>
              <a:rPr lang="en-US" dirty="0" err="1" smtClean="0"/>
              <a:t>random.randint</a:t>
            </a:r>
            <a:r>
              <a:rPr lang="en-US" dirty="0" smtClean="0"/>
              <a:t>(50</a:t>
            </a:r>
            <a:r>
              <a:rPr lang="en-US" dirty="0"/>
              <a:t>, 430</a:t>
            </a:r>
            <a:r>
              <a:rPr lang="en-US" dirty="0" smtClean="0"/>
              <a:t>)</a:t>
            </a:r>
            <a:endParaRPr lang="ru-RU" dirty="0" smtClean="0"/>
          </a:p>
          <a:p>
            <a:pPr marL="0" indent="0">
              <a:buNone/>
            </a:pPr>
            <a:r>
              <a:rPr lang="en-US" dirty="0" err="1" smtClean="0"/>
              <a:t>pygame.draw.circle</a:t>
            </a:r>
            <a:r>
              <a:rPr lang="en-US" dirty="0" smtClean="0"/>
              <a:t>(screen</a:t>
            </a:r>
            <a:r>
              <a:rPr lang="en-US" dirty="0"/>
              <a:t>, THECOLORS[</a:t>
            </a:r>
            <a:r>
              <a:rPr lang="en-US" dirty="0">
                <a:solidFill>
                  <a:srgbClr val="00B050"/>
                </a:solidFill>
              </a:rPr>
              <a:t>'red'</a:t>
            </a:r>
            <a:r>
              <a:rPr lang="en-US" dirty="0"/>
              <a:t>],[</a:t>
            </a:r>
            <a:r>
              <a:rPr lang="en-US" dirty="0" err="1"/>
              <a:t>x,y</a:t>
            </a:r>
            <a:r>
              <a:rPr lang="en-US" dirty="0"/>
              <a:t>], r2, 2)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779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pygame.draw.circle</a:t>
            </a:r>
            <a:r>
              <a:rPr lang="en-US" dirty="0" smtClean="0"/>
              <a:t>(screen</a:t>
            </a:r>
            <a:r>
              <a:rPr lang="en-US" dirty="0"/>
              <a:t>, THECOLORS[</a:t>
            </a:r>
            <a:r>
              <a:rPr lang="en-US" dirty="0">
                <a:solidFill>
                  <a:srgbClr val="00B050"/>
                </a:solidFill>
              </a:rPr>
              <a:t>'red'</a:t>
            </a:r>
            <a:r>
              <a:rPr lang="en-US" dirty="0"/>
              <a:t>],[</a:t>
            </a:r>
            <a:r>
              <a:rPr lang="en-US" dirty="0" err="1"/>
              <a:t>x,y</a:t>
            </a:r>
            <a:r>
              <a:rPr lang="en-US" dirty="0"/>
              <a:t>], r2, 2)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 smtClean="0"/>
              <a:t> </a:t>
            </a:r>
            <a:r>
              <a:rPr lang="en-US" dirty="0"/>
              <a:t>((x-320)*(x-320)+(y-240)*(y-240))&gt;((r1+r2)*(r1+r2)):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smtClean="0"/>
              <a:t>text </a:t>
            </a:r>
            <a:r>
              <a:rPr lang="en-US" dirty="0"/>
              <a:t>= </a:t>
            </a:r>
            <a:r>
              <a:rPr lang="en-US" dirty="0" err="1"/>
              <a:t>font.render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ru-RU" dirty="0">
                <a:solidFill>
                  <a:srgbClr val="00B050"/>
                </a:solidFill>
              </a:rPr>
              <a:t>Мимо"</a:t>
            </a:r>
            <a:r>
              <a:rPr lang="ru-RU" dirty="0"/>
              <a:t>,1, </a:t>
            </a:r>
            <a:r>
              <a:rPr lang="en-US" dirty="0"/>
              <a:t>THECOLORS [</a:t>
            </a:r>
            <a:r>
              <a:rPr lang="en-US" dirty="0">
                <a:solidFill>
                  <a:srgbClr val="00B050"/>
                </a:solidFill>
              </a:rPr>
              <a:t>"blue"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dirty="0" smtClean="0"/>
              <a:t> </a:t>
            </a:r>
            <a:r>
              <a:rPr lang="en-US" dirty="0"/>
              <a:t>((x-320)*(x-320)+(y-240)*(y-240))&lt;((r1-r2)*(r1-r2)):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smtClean="0"/>
              <a:t>text </a:t>
            </a:r>
            <a:r>
              <a:rPr lang="en-US" dirty="0"/>
              <a:t>= </a:t>
            </a:r>
            <a:r>
              <a:rPr lang="en-US" dirty="0" err="1"/>
              <a:t>font.render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ru-RU" dirty="0">
                <a:solidFill>
                  <a:srgbClr val="00B050"/>
                </a:solidFill>
              </a:rPr>
              <a:t>Попал"</a:t>
            </a:r>
            <a:r>
              <a:rPr lang="ru-RU" dirty="0"/>
              <a:t>,1, </a:t>
            </a:r>
            <a:r>
              <a:rPr lang="en-US" dirty="0"/>
              <a:t>THECOLORS [</a:t>
            </a:r>
            <a:r>
              <a:rPr lang="en-US" dirty="0">
                <a:solidFill>
                  <a:srgbClr val="00B050"/>
                </a:solidFill>
              </a:rPr>
              <a:t>"blue"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else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smtClean="0"/>
              <a:t>text </a:t>
            </a:r>
            <a:r>
              <a:rPr lang="en-US" dirty="0"/>
              <a:t>= </a:t>
            </a:r>
            <a:r>
              <a:rPr lang="en-US" dirty="0" err="1"/>
              <a:t>font.render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ru-RU" dirty="0">
                <a:solidFill>
                  <a:srgbClr val="00B050"/>
                </a:solidFill>
              </a:rPr>
              <a:t>Граница"</a:t>
            </a:r>
            <a:r>
              <a:rPr lang="ru-RU" dirty="0"/>
              <a:t>,1, </a:t>
            </a:r>
            <a:r>
              <a:rPr lang="en-US" dirty="0"/>
              <a:t>THECOLORS [</a:t>
            </a:r>
            <a:r>
              <a:rPr lang="en-US" dirty="0">
                <a:solidFill>
                  <a:srgbClr val="00B050"/>
                </a:solidFill>
              </a:rPr>
              <a:t>"magenta"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 err="1" smtClean="0"/>
              <a:t>screen.blit</a:t>
            </a:r>
            <a:r>
              <a:rPr lang="en-US" dirty="0" smtClean="0"/>
              <a:t>(text</a:t>
            </a:r>
            <a:r>
              <a:rPr lang="en-US" dirty="0"/>
              <a:t>, [370, 400])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561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en-US" dirty="0" err="1" smtClean="0"/>
              <a:t>pygame.display.flip</a:t>
            </a:r>
            <a:r>
              <a:rPr lang="en-US" dirty="0" smtClean="0"/>
              <a:t>()</a:t>
            </a:r>
            <a:endParaRPr lang="ru-RU" dirty="0" smtClean="0"/>
          </a:p>
          <a:p>
            <a:pPr marL="0" indent="0">
              <a:buNone/>
            </a:pPr>
            <a:r>
              <a:rPr lang="en-US" dirty="0"/>
              <a:t>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dirty="0" smtClean="0"/>
              <a:t> </a:t>
            </a:r>
            <a:r>
              <a:rPr lang="en-US" dirty="0"/>
              <a:t>running: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for </a:t>
            </a:r>
            <a:r>
              <a:rPr lang="en-US" dirty="0"/>
              <a:t>event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dirty="0" err="1"/>
              <a:t>pygame.event.get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    if </a:t>
            </a:r>
            <a:r>
              <a:rPr lang="en-US" dirty="0" err="1"/>
              <a:t>event.type</a:t>
            </a:r>
            <a:r>
              <a:rPr lang="en-US" dirty="0"/>
              <a:t> == </a:t>
            </a:r>
            <a:r>
              <a:rPr lang="en-US" dirty="0" err="1"/>
              <a:t>pygame.QUIT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            running =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dirty="0" err="1" smtClean="0"/>
              <a:t>pygame.quit</a:t>
            </a:r>
            <a:r>
              <a:rPr lang="en-US" dirty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388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Два прямоугольника: попадает ли подвижный в неподвижный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908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, sys, random</a:t>
            </a:r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pygame.color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THECOLORS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import </a:t>
            </a:r>
            <a:r>
              <a:rPr lang="en-US" dirty="0"/>
              <a:t>font</a:t>
            </a:r>
          </a:p>
          <a:p>
            <a:pPr marL="0" indent="0">
              <a:buNone/>
            </a:pP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([640,480])</a:t>
            </a:r>
          </a:p>
          <a:p>
            <a:pPr marL="0" indent="0">
              <a:buNone/>
            </a:pPr>
            <a:r>
              <a:rPr lang="en-US" dirty="0"/>
              <a:t>font = </a:t>
            </a:r>
            <a:r>
              <a:rPr lang="en-US" dirty="0" err="1"/>
              <a:t>pygame.font.Font</a:t>
            </a:r>
            <a:r>
              <a:rPr lang="en-US" dirty="0"/>
              <a:t>(None, 45)</a:t>
            </a:r>
          </a:p>
          <a:p>
            <a:pPr marL="0" indent="0">
              <a:buNone/>
            </a:pPr>
            <a:r>
              <a:rPr lang="en-US" dirty="0" smtClean="0"/>
              <a:t>x1=150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y1=100</a:t>
            </a:r>
          </a:p>
          <a:p>
            <a:pPr marL="0" indent="0">
              <a:buNone/>
            </a:pPr>
            <a:r>
              <a:rPr lang="en-US" dirty="0"/>
              <a:t>width1=340</a:t>
            </a:r>
          </a:p>
          <a:p>
            <a:pPr marL="0" indent="0">
              <a:buNone/>
            </a:pPr>
            <a:r>
              <a:rPr lang="en-US" dirty="0"/>
              <a:t>heigth1=280</a:t>
            </a:r>
          </a:p>
          <a:p>
            <a:pPr marL="0" indent="0">
              <a:buNone/>
            </a:pPr>
            <a:r>
              <a:rPr lang="en-US" dirty="0"/>
              <a:t>zentrx1=x1+width1//2</a:t>
            </a:r>
          </a:p>
          <a:p>
            <a:pPr marL="0" indent="0">
              <a:buNone/>
            </a:pPr>
            <a:r>
              <a:rPr lang="en-US" dirty="0"/>
              <a:t>zentry1=y1+heigth1//2</a:t>
            </a:r>
          </a:p>
          <a:p>
            <a:pPr marL="0" indent="0">
              <a:buNone/>
            </a:pPr>
            <a:r>
              <a:rPr lang="en-US" dirty="0"/>
              <a:t>width=20</a:t>
            </a:r>
          </a:p>
          <a:p>
            <a:pPr marL="0" indent="0">
              <a:buNone/>
            </a:pPr>
            <a:r>
              <a:rPr lang="en-US" dirty="0" err="1"/>
              <a:t>heigth</a:t>
            </a:r>
            <a:r>
              <a:rPr lang="en-US" dirty="0"/>
              <a:t>=30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671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 smtClean="0"/>
              <a:t>screen.fill</a:t>
            </a:r>
            <a:r>
              <a:rPr lang="en-US" dirty="0" smtClean="0"/>
              <a:t>(THECOLORS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'white</a:t>
            </a:r>
            <a:r>
              <a:rPr lang="en-US" dirty="0" smtClean="0">
                <a:solidFill>
                  <a:srgbClr val="00B050"/>
                </a:solidFill>
              </a:rPr>
              <a:t>'</a:t>
            </a:r>
            <a:r>
              <a:rPr lang="en-US" dirty="0" smtClean="0"/>
              <a:t>])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/>
              <a:t>pygame.draw.lines</a:t>
            </a:r>
            <a:r>
              <a:rPr lang="en-US" dirty="0"/>
              <a:t>(screen, THECOLORS[</a:t>
            </a:r>
            <a:r>
              <a:rPr lang="en-US" dirty="0">
                <a:solidFill>
                  <a:srgbClr val="00B050"/>
                </a:solidFill>
              </a:rPr>
              <a:t>'blue'</a:t>
            </a:r>
            <a:r>
              <a:rPr lang="en-US" dirty="0"/>
              <a:t>],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r>
              <a:rPr lang="en-US" dirty="0"/>
              <a:t>,[[320,0],[320,480]],2)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 smtClean="0"/>
              <a:t>pygame.draw.lines</a:t>
            </a:r>
            <a:r>
              <a:rPr lang="en-US" dirty="0" smtClean="0"/>
              <a:t>(screen</a:t>
            </a:r>
            <a:r>
              <a:rPr lang="en-US" dirty="0"/>
              <a:t>, THECOLORS[</a:t>
            </a:r>
            <a:r>
              <a:rPr lang="en-US" dirty="0">
                <a:solidFill>
                  <a:srgbClr val="00B050"/>
                </a:solidFill>
              </a:rPr>
              <a:t>'blue'</a:t>
            </a:r>
            <a:r>
              <a:rPr lang="en-US" dirty="0"/>
              <a:t>],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r>
              <a:rPr lang="en-US" dirty="0"/>
              <a:t>,[[0,240],[640,240]],2)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 smtClean="0"/>
              <a:t>pygame.draw.rect</a:t>
            </a:r>
            <a:r>
              <a:rPr lang="en-US" dirty="0" smtClean="0"/>
              <a:t>(</a:t>
            </a:r>
            <a:r>
              <a:rPr lang="en-US" dirty="0" err="1" smtClean="0"/>
              <a:t>screen,THECOLORS</a:t>
            </a:r>
            <a:r>
              <a:rPr lang="en-US" dirty="0"/>
              <a:t>[</a:t>
            </a:r>
            <a:r>
              <a:rPr lang="en-US" dirty="0">
                <a:solidFill>
                  <a:srgbClr val="00B050"/>
                </a:solidFill>
              </a:rPr>
              <a:t>'blue'</a:t>
            </a:r>
            <a:r>
              <a:rPr lang="en-US" dirty="0"/>
              <a:t>] , [x1, y1, width1, heigth1], 2)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x=</a:t>
            </a:r>
            <a:r>
              <a:rPr lang="en-US" dirty="0" err="1" smtClean="0"/>
              <a:t>random.randint</a:t>
            </a:r>
            <a:r>
              <a:rPr lang="en-US" dirty="0" smtClean="0"/>
              <a:t>(50,590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y=</a:t>
            </a:r>
            <a:r>
              <a:rPr lang="en-US" dirty="0" err="1" smtClean="0"/>
              <a:t>random.randint</a:t>
            </a:r>
            <a:r>
              <a:rPr lang="en-US" dirty="0" smtClean="0"/>
              <a:t>(50</a:t>
            </a:r>
            <a:r>
              <a:rPr lang="en-US" dirty="0"/>
              <a:t>, 430)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 smtClean="0"/>
              <a:t>zentrx</a:t>
            </a:r>
            <a:r>
              <a:rPr lang="en-US" dirty="0" smtClean="0"/>
              <a:t>=</a:t>
            </a:r>
            <a:r>
              <a:rPr lang="en-US" dirty="0" err="1" smtClean="0"/>
              <a:t>x+width</a:t>
            </a:r>
            <a:r>
              <a:rPr lang="en-US" dirty="0"/>
              <a:t>//2</a:t>
            </a:r>
          </a:p>
          <a:p>
            <a:pPr marL="0" indent="0">
              <a:buNone/>
            </a:pPr>
            <a:r>
              <a:rPr lang="en-US"/>
              <a:t> </a:t>
            </a:r>
            <a:r>
              <a:rPr lang="en-US" smtClean="0"/>
              <a:t>zentry</a:t>
            </a:r>
            <a:r>
              <a:rPr lang="en-US" dirty="0" smtClean="0"/>
              <a:t>=</a:t>
            </a:r>
            <a:r>
              <a:rPr lang="en-US" dirty="0" err="1" smtClean="0"/>
              <a:t>y+heigth</a:t>
            </a:r>
            <a:r>
              <a:rPr lang="en-US" dirty="0"/>
              <a:t>//2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45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err="1"/>
              <a:t>pygame.draw.rect</a:t>
            </a:r>
            <a:r>
              <a:rPr lang="en-US" sz="2000" dirty="0"/>
              <a:t>(</a:t>
            </a:r>
            <a:r>
              <a:rPr lang="en-US" sz="2000" dirty="0" err="1"/>
              <a:t>screen,THECOLORS</a:t>
            </a:r>
            <a:r>
              <a:rPr lang="en-US" sz="2000" dirty="0"/>
              <a:t>[</a:t>
            </a:r>
            <a:r>
              <a:rPr lang="en-US" sz="2000" dirty="0">
                <a:solidFill>
                  <a:srgbClr val="00B050"/>
                </a:solidFill>
              </a:rPr>
              <a:t>'red'</a:t>
            </a:r>
            <a:r>
              <a:rPr lang="en-US" sz="2000" dirty="0"/>
              <a:t>] , [x, y, width, </a:t>
            </a:r>
            <a:r>
              <a:rPr lang="en-US" sz="2000" dirty="0" err="1"/>
              <a:t>heigth</a:t>
            </a:r>
            <a:r>
              <a:rPr lang="en-US" sz="2000" dirty="0"/>
              <a:t>], 2)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sz="2000" dirty="0" smtClean="0"/>
              <a:t> </a:t>
            </a:r>
            <a:r>
              <a:rPr lang="en-US" sz="2000" dirty="0"/>
              <a:t>(abs(zentrx1- </a:t>
            </a:r>
            <a:r>
              <a:rPr lang="en-US" sz="2000" dirty="0" err="1"/>
              <a:t>zentrx</a:t>
            </a:r>
            <a:r>
              <a:rPr lang="en-US" sz="2000" dirty="0"/>
              <a:t>)&gt;((width1+width)/2))or(abs(zentry1- </a:t>
            </a:r>
            <a:r>
              <a:rPr lang="en-US" sz="2000" dirty="0" err="1"/>
              <a:t>zentry</a:t>
            </a:r>
            <a:r>
              <a:rPr lang="en-US" sz="2000" dirty="0"/>
              <a:t>)&gt;((heigth1+heigth)/2)):</a:t>
            </a:r>
          </a:p>
          <a:p>
            <a:pPr marL="0" indent="0">
              <a:buNone/>
            </a:pPr>
            <a:r>
              <a:rPr lang="en-US" sz="2000" dirty="0"/>
              <a:t>        text = </a:t>
            </a:r>
            <a:r>
              <a:rPr lang="en-US" sz="2000" dirty="0" err="1"/>
              <a:t>font.render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B050"/>
                </a:solidFill>
              </a:rPr>
              <a:t>"</a:t>
            </a:r>
            <a:r>
              <a:rPr lang="ru-RU" sz="2000" dirty="0">
                <a:solidFill>
                  <a:srgbClr val="00B050"/>
                </a:solidFill>
              </a:rPr>
              <a:t>Мимо"</a:t>
            </a:r>
            <a:r>
              <a:rPr lang="ru-RU" sz="2000" dirty="0"/>
              <a:t>,1, </a:t>
            </a:r>
            <a:r>
              <a:rPr lang="en-US" sz="2000" dirty="0"/>
              <a:t>THECOLORS [</a:t>
            </a:r>
            <a:r>
              <a:rPr lang="en-US" sz="2000" dirty="0">
                <a:solidFill>
                  <a:srgbClr val="00B050"/>
                </a:solidFill>
              </a:rPr>
              <a:t>"blue</a:t>
            </a:r>
            <a:r>
              <a:rPr lang="en-US" sz="2000" dirty="0" smtClean="0">
                <a:solidFill>
                  <a:srgbClr val="00B050"/>
                </a:solidFill>
              </a:rPr>
              <a:t>"</a:t>
            </a:r>
            <a:r>
              <a:rPr lang="en-US" sz="2000" dirty="0" smtClean="0"/>
              <a:t>])</a:t>
            </a:r>
            <a:endParaRPr lang="ru-RU" sz="2000" dirty="0" smtClean="0"/>
          </a:p>
          <a:p>
            <a:pPr marL="0" indent="0">
              <a:buNone/>
            </a:pPr>
            <a:r>
              <a:rPr lang="en-US" sz="2000" dirty="0" smtClean="0"/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000" dirty="0"/>
              <a:t> (abs(zentrx1- </a:t>
            </a:r>
            <a:r>
              <a:rPr lang="en-US" sz="2000" dirty="0" err="1"/>
              <a:t>zentrx</a:t>
            </a:r>
            <a:r>
              <a:rPr lang="en-US" sz="2000" dirty="0"/>
              <a:t>)&lt;((width1-width)/2))and(abs(zentry1- </a:t>
            </a:r>
            <a:r>
              <a:rPr lang="en-US" sz="2000" dirty="0" err="1"/>
              <a:t>zentry</a:t>
            </a:r>
            <a:r>
              <a:rPr lang="en-US" sz="2000" dirty="0"/>
              <a:t>)&lt;((heigth1-heigth)/2)):</a:t>
            </a:r>
          </a:p>
          <a:p>
            <a:pPr marL="0" indent="0">
              <a:buNone/>
            </a:pPr>
            <a:r>
              <a:rPr lang="en-US" sz="2000" dirty="0"/>
              <a:t>        text = </a:t>
            </a:r>
            <a:r>
              <a:rPr lang="en-US" sz="2000" dirty="0" err="1"/>
              <a:t>font.render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B050"/>
                </a:solidFill>
              </a:rPr>
              <a:t>"</a:t>
            </a:r>
            <a:r>
              <a:rPr lang="ru-RU" sz="2000" dirty="0">
                <a:solidFill>
                  <a:srgbClr val="00B050"/>
                </a:solidFill>
              </a:rPr>
              <a:t>Попал"</a:t>
            </a:r>
            <a:r>
              <a:rPr lang="ru-RU" sz="2000" dirty="0"/>
              <a:t>,1, </a:t>
            </a:r>
            <a:r>
              <a:rPr lang="en-US" sz="2000" dirty="0"/>
              <a:t>THECOLORS [</a:t>
            </a:r>
            <a:r>
              <a:rPr lang="en-US" sz="2000" dirty="0">
                <a:solidFill>
                  <a:srgbClr val="00B050"/>
                </a:solidFill>
              </a:rPr>
              <a:t>"blue</a:t>
            </a:r>
            <a:r>
              <a:rPr lang="en-US" sz="2000" dirty="0" smtClean="0">
                <a:solidFill>
                  <a:srgbClr val="00B050"/>
                </a:solidFill>
              </a:rPr>
              <a:t>"</a:t>
            </a:r>
            <a:r>
              <a:rPr lang="en-US" sz="2000" dirty="0" smtClean="0"/>
              <a:t>])</a:t>
            </a:r>
            <a:endParaRPr lang="ru-RU" sz="2000" dirty="0" smtClean="0"/>
          </a:p>
          <a:p>
            <a:pPr marL="0" indent="0">
              <a:buNone/>
            </a:pPr>
            <a:r>
              <a:rPr lang="en-US" sz="2000" dirty="0" smtClean="0"/>
              <a:t>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else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        text = </a:t>
            </a:r>
            <a:r>
              <a:rPr lang="en-US" sz="2000" dirty="0" err="1"/>
              <a:t>font.render</a:t>
            </a:r>
            <a:r>
              <a:rPr lang="en-US" sz="2000" dirty="0"/>
              <a:t>(</a:t>
            </a:r>
            <a:r>
              <a:rPr lang="en-US" sz="2000" dirty="0">
                <a:solidFill>
                  <a:srgbClr val="00B050"/>
                </a:solidFill>
              </a:rPr>
              <a:t>"</a:t>
            </a:r>
            <a:r>
              <a:rPr lang="ru-RU" sz="2000" dirty="0">
                <a:solidFill>
                  <a:srgbClr val="00B050"/>
                </a:solidFill>
              </a:rPr>
              <a:t>Граница"</a:t>
            </a:r>
            <a:r>
              <a:rPr lang="ru-RU" sz="2000" dirty="0"/>
              <a:t>,1, </a:t>
            </a:r>
            <a:r>
              <a:rPr lang="en-US" sz="2000" dirty="0"/>
              <a:t>THECOLORS [</a:t>
            </a:r>
            <a:r>
              <a:rPr lang="en-US" sz="2000" dirty="0">
                <a:solidFill>
                  <a:srgbClr val="00B050"/>
                </a:solidFill>
              </a:rPr>
              <a:t>"magenta"</a:t>
            </a:r>
            <a:r>
              <a:rPr lang="en-US" sz="2000" dirty="0"/>
              <a:t>])</a:t>
            </a:r>
          </a:p>
          <a:p>
            <a:pPr marL="0" indent="0">
              <a:buNone/>
            </a:pPr>
            <a:r>
              <a:rPr lang="en-US" sz="2000" dirty="0" smtClean="0"/>
              <a:t> </a:t>
            </a:r>
            <a:r>
              <a:rPr lang="en-US" sz="2000" dirty="0" err="1"/>
              <a:t>screen.blit</a:t>
            </a:r>
            <a:r>
              <a:rPr lang="en-US" sz="2000" dirty="0"/>
              <a:t>(text, [370, 400])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1340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pygame.display.flip</a:t>
            </a:r>
            <a:r>
              <a:rPr lang="en-US" sz="2000" dirty="0" smtClean="0"/>
              <a:t>()</a:t>
            </a:r>
            <a:endParaRPr lang="ru-RU" sz="2000" dirty="0" smtClean="0"/>
          </a:p>
          <a:p>
            <a:pPr marL="0" indent="0">
              <a:buNone/>
            </a:pPr>
            <a:r>
              <a:rPr lang="en-US" sz="2000" dirty="0"/>
              <a:t>running =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000" dirty="0" smtClean="0"/>
              <a:t> </a:t>
            </a:r>
            <a:r>
              <a:rPr lang="en-US" sz="2000" dirty="0"/>
              <a:t>running:</a:t>
            </a:r>
          </a:p>
          <a:p>
            <a:pPr marL="0" indent="0">
              <a:buNone/>
            </a:pPr>
            <a:r>
              <a:rPr lang="ru-RU" sz="2000" dirty="0" smtClean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for </a:t>
            </a:r>
            <a:r>
              <a:rPr lang="en-US" sz="2000" dirty="0"/>
              <a:t>event in </a:t>
            </a:r>
            <a:r>
              <a:rPr lang="en-US" sz="2000" dirty="0" err="1"/>
              <a:t>pygame.event.get</a:t>
            </a:r>
            <a:r>
              <a:rPr lang="en-US" sz="2000" dirty="0"/>
              <a:t>():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000" dirty="0" err="1"/>
              <a:t>event.type</a:t>
            </a:r>
            <a:r>
              <a:rPr lang="en-US" sz="2000" dirty="0"/>
              <a:t> == </a:t>
            </a:r>
            <a:r>
              <a:rPr lang="en-US" sz="2000" dirty="0" err="1"/>
              <a:t>pygame.QUIT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r>
              <a:rPr lang="en-US" sz="2000" dirty="0"/>
              <a:t>            running =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2000" dirty="0" err="1" smtClean="0"/>
              <a:t>pygame.quit</a:t>
            </a:r>
            <a:r>
              <a:rPr lang="en-US" sz="2000" dirty="0"/>
              <a:t>()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0867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Условный </a:t>
            </a:r>
            <a:r>
              <a:rPr lang="ru-RU" dirty="0" smtClean="0">
                <a:solidFill>
                  <a:srgbClr val="FF0000"/>
                </a:solidFill>
              </a:rPr>
              <a:t>оператор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ru-RU" dirty="0" smtClean="0">
                <a:solidFill>
                  <a:srgbClr val="FF0000"/>
                </a:solidFill>
              </a:rPr>
              <a:t>графика)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4425101" y="-485289"/>
            <a:ext cx="19309761" cy="165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021" y="1825625"/>
            <a:ext cx="54999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35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1591</Words>
  <Application>Microsoft Office PowerPoint</Application>
  <PresentationFormat>Широкоэкранный</PresentationFormat>
  <Paragraphs>260</Paragraphs>
  <Slides>37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Symbol</vt:lpstr>
      <vt:lpstr>Times New Roman</vt:lpstr>
      <vt:lpstr>Тема Office</vt:lpstr>
      <vt:lpstr>Ветвящийся алгоритм</vt:lpstr>
      <vt:lpstr>Условный оператор</vt:lpstr>
      <vt:lpstr>Условный оператор</vt:lpstr>
      <vt:lpstr>Условный оператор</vt:lpstr>
      <vt:lpstr>Условный оператор</vt:lpstr>
      <vt:lpstr>Условный оператор</vt:lpstr>
      <vt:lpstr>Условный оператор</vt:lpstr>
      <vt:lpstr>Условный оператор</vt:lpstr>
      <vt:lpstr>Условный оператор</vt:lpstr>
      <vt:lpstr>Условный оператор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  <vt:lpstr>Условный оператор (графика)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Ветвящийся алгоритм</dc:title>
  <dc:creator>Leonid</dc:creator>
  <cp:lastModifiedBy>Leonid</cp:lastModifiedBy>
  <cp:revision>16</cp:revision>
  <dcterms:created xsi:type="dcterms:W3CDTF">2019-08-27T13:23:42Z</dcterms:created>
  <dcterms:modified xsi:type="dcterms:W3CDTF">2019-08-30T10:56:12Z</dcterms:modified>
</cp:coreProperties>
</file>