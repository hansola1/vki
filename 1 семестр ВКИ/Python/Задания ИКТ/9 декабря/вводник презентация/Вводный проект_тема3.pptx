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309" r:id="rId30"/>
    <p:sldId id="310" r:id="rId31"/>
    <p:sldId id="311" r:id="rId32"/>
    <p:sldId id="312" r:id="rId33"/>
    <p:sldId id="285" r:id="rId34"/>
    <p:sldId id="286" r:id="rId35"/>
    <p:sldId id="287" r:id="rId36"/>
    <p:sldId id="288" r:id="rId37"/>
    <p:sldId id="289" r:id="rId38"/>
    <p:sldId id="290" r:id="rId39"/>
    <p:sldId id="291" r:id="rId40"/>
    <p:sldId id="292" r:id="rId41"/>
    <p:sldId id="293" r:id="rId42"/>
    <p:sldId id="294" r:id="rId43"/>
    <p:sldId id="295" r:id="rId44"/>
    <p:sldId id="296" r:id="rId45"/>
    <p:sldId id="297" r:id="rId46"/>
    <p:sldId id="298" r:id="rId47"/>
    <p:sldId id="299" r:id="rId48"/>
    <p:sldId id="300" r:id="rId49"/>
    <p:sldId id="301" r:id="rId50"/>
    <p:sldId id="313" r:id="rId51"/>
    <p:sldId id="314" r:id="rId52"/>
    <p:sldId id="315" r:id="rId53"/>
    <p:sldId id="316" r:id="rId54"/>
    <p:sldId id="317" r:id="rId55"/>
    <p:sldId id="302" r:id="rId56"/>
    <p:sldId id="303" r:id="rId57"/>
    <p:sldId id="304" r:id="rId58"/>
    <p:sldId id="305" r:id="rId59"/>
    <p:sldId id="306" r:id="rId60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959" autoAdjust="0"/>
    <p:restoredTop sz="94660"/>
  </p:normalViewPr>
  <p:slideViewPr>
    <p:cSldViewPr snapToGrid="0">
      <p:cViewPr varScale="1">
        <p:scale>
          <a:sx n="113" d="100"/>
          <a:sy n="113" d="100"/>
        </p:scale>
        <p:origin x="20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61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tableStyles" Target="tableStyle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 smtClean="0"/>
              <a:t>Образец подзаголовка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FB73ED-081B-4B3D-9FB3-28F81A0F9677}" type="datetimeFigureOut">
              <a:rPr lang="ru-RU" smtClean="0"/>
              <a:t>14.09.2019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52FA8A-6B1B-4130-86A3-FC041F8F9F5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443514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FB73ED-081B-4B3D-9FB3-28F81A0F9677}" type="datetimeFigureOut">
              <a:rPr lang="ru-RU" smtClean="0"/>
              <a:t>14.09.2019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52FA8A-6B1B-4130-86A3-FC041F8F9F5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1456362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FB73ED-081B-4B3D-9FB3-28F81A0F9677}" type="datetimeFigureOut">
              <a:rPr lang="ru-RU" smtClean="0"/>
              <a:t>14.09.2019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52FA8A-6B1B-4130-86A3-FC041F8F9F5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7051444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FB73ED-081B-4B3D-9FB3-28F81A0F9677}" type="datetimeFigureOut">
              <a:rPr lang="ru-RU" smtClean="0"/>
              <a:t>14.09.2019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52FA8A-6B1B-4130-86A3-FC041F8F9F5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8813865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FB73ED-081B-4B3D-9FB3-28F81A0F9677}" type="datetimeFigureOut">
              <a:rPr lang="ru-RU" smtClean="0"/>
              <a:t>14.09.2019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52FA8A-6B1B-4130-86A3-FC041F8F9F5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9755668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FB73ED-081B-4B3D-9FB3-28F81A0F9677}" type="datetimeFigureOut">
              <a:rPr lang="ru-RU" smtClean="0"/>
              <a:t>14.09.2019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52FA8A-6B1B-4130-86A3-FC041F8F9F5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7486152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FB73ED-081B-4B3D-9FB3-28F81A0F9677}" type="datetimeFigureOut">
              <a:rPr lang="ru-RU" smtClean="0"/>
              <a:t>14.09.2019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52FA8A-6B1B-4130-86A3-FC041F8F9F5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371018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FB73ED-081B-4B3D-9FB3-28F81A0F9677}" type="datetimeFigureOut">
              <a:rPr lang="ru-RU" smtClean="0"/>
              <a:t>14.09.2019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52FA8A-6B1B-4130-86A3-FC041F8F9F5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4816004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FB73ED-081B-4B3D-9FB3-28F81A0F9677}" type="datetimeFigureOut">
              <a:rPr lang="ru-RU" smtClean="0"/>
              <a:t>14.09.2019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52FA8A-6B1B-4130-86A3-FC041F8F9F5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191480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FB73ED-081B-4B3D-9FB3-28F81A0F9677}" type="datetimeFigureOut">
              <a:rPr lang="ru-RU" smtClean="0"/>
              <a:t>14.09.2019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52FA8A-6B1B-4130-86A3-FC041F8F9F5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6747826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FB73ED-081B-4B3D-9FB3-28F81A0F9677}" type="datetimeFigureOut">
              <a:rPr lang="ru-RU" smtClean="0"/>
              <a:t>14.09.2019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52FA8A-6B1B-4130-86A3-FC041F8F9F5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372187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6FB73ED-081B-4B3D-9FB3-28F81A0F9677}" type="datetimeFigureOut">
              <a:rPr lang="ru-RU" smtClean="0"/>
              <a:t>14.09.2019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52FA8A-6B1B-4130-86A3-FC041F8F9F5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29572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ru-RU" dirty="0" smtClean="0">
                <a:solidFill>
                  <a:srgbClr val="FF0000"/>
                </a:solidFill>
              </a:rPr>
              <a:t>Циклический алгоритм</a:t>
            </a:r>
            <a:endParaRPr lang="ru-RU" dirty="0">
              <a:solidFill>
                <a:srgbClr val="FF0000"/>
              </a:solidFill>
            </a:endParaRP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ru-RU" sz="4000" dirty="0" smtClean="0">
                <a:solidFill>
                  <a:srgbClr val="0070C0"/>
                </a:solidFill>
              </a:rPr>
              <a:t>На графических примерах</a:t>
            </a:r>
            <a:endParaRPr lang="ru-RU" sz="4000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546739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>
                <a:solidFill>
                  <a:srgbClr val="FF0000"/>
                </a:solidFill>
              </a:rPr>
              <a:t>Циклический алгоритм</a:t>
            </a:r>
            <a:br>
              <a:rPr lang="ru-RU" dirty="0">
                <a:solidFill>
                  <a:srgbClr val="FF0000"/>
                </a:solidFill>
              </a:rPr>
            </a:br>
            <a:endParaRPr lang="ru-RU" dirty="0">
              <a:solidFill>
                <a:srgbClr val="FF0000"/>
              </a:solidFill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В жизни нам часто приходится совершать повторяющиеся действия. В компьютерных играх это тоже необходимый элемент. Любое движение в такой игре – это повторяющееся перемещение на определенное расстояние. </a:t>
            </a:r>
            <a:endParaRPr lang="ru-RU" dirty="0" smtClean="0"/>
          </a:p>
          <a:p>
            <a:r>
              <a:rPr lang="ru-RU" dirty="0" smtClean="0"/>
              <a:t>Ходьба </a:t>
            </a:r>
            <a:r>
              <a:rPr lang="ru-RU" dirty="0"/>
              <a:t>с точки зрения программирования – это циклическая перестановка ног</a:t>
            </a:r>
            <a:r>
              <a:rPr lang="ru-RU" dirty="0" smtClean="0"/>
              <a:t>.</a:t>
            </a:r>
          </a:p>
          <a:p>
            <a:r>
              <a:rPr lang="ru-RU" dirty="0" smtClean="0"/>
              <a:t> </a:t>
            </a:r>
            <a:r>
              <a:rPr lang="ru-RU" dirty="0"/>
              <a:t>Естественно, что среди алгоритмов программирования есть циклические алгоритмы. </a:t>
            </a:r>
            <a:endParaRPr lang="ru-RU" dirty="0" smtClean="0"/>
          </a:p>
          <a:p>
            <a:r>
              <a:rPr lang="ru-RU" dirty="0" smtClean="0"/>
              <a:t>Циклический </a:t>
            </a:r>
            <a:r>
              <a:rPr lang="ru-RU" dirty="0"/>
              <a:t>алгоритм или цикл – это последовательность действий, которая повторяется более одного раза. 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7535127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>
                <a:solidFill>
                  <a:srgbClr val="FF0000"/>
                </a:solidFill>
              </a:rPr>
              <a:t>Циклический алгоритм</a:t>
            </a:r>
            <a:br>
              <a:rPr lang="ru-RU" dirty="0">
                <a:solidFill>
                  <a:srgbClr val="FF0000"/>
                </a:solidFill>
              </a:rPr>
            </a:br>
            <a:endParaRPr lang="ru-RU" dirty="0">
              <a:solidFill>
                <a:srgbClr val="FF0000"/>
              </a:solidFill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Циклы бывают двух видов. </a:t>
            </a:r>
            <a:endParaRPr lang="ru-RU" dirty="0" smtClean="0"/>
          </a:p>
          <a:p>
            <a:r>
              <a:rPr lang="ru-RU" dirty="0" smtClean="0"/>
              <a:t>Иногда </a:t>
            </a:r>
            <a:r>
              <a:rPr lang="ru-RU" dirty="0"/>
              <a:t>мы заранее знаем, сколько раз нам нужно совершить то или иное действие. Например, пройти сто шагов и остановиться. Такой цикл называют </a:t>
            </a:r>
            <a:r>
              <a:rPr lang="ru-RU" dirty="0">
                <a:solidFill>
                  <a:srgbClr val="0070C0"/>
                </a:solidFill>
              </a:rPr>
              <a:t>циклом со счетчиком</a:t>
            </a:r>
            <a:r>
              <a:rPr lang="ru-RU" dirty="0" smtClean="0"/>
              <a:t>.</a:t>
            </a:r>
          </a:p>
          <a:p>
            <a:r>
              <a:rPr lang="ru-RU" dirty="0" smtClean="0"/>
              <a:t> </a:t>
            </a:r>
            <a:r>
              <a:rPr lang="ru-RU" dirty="0"/>
              <a:t>А иногда нам нужно прекратить действие или, как говорят программисты, выйти из цикла при выполнении некоторого условия. Например, дойти до автобусной остановки. </a:t>
            </a:r>
            <a:endParaRPr lang="ru-RU" dirty="0" smtClean="0"/>
          </a:p>
          <a:p>
            <a:r>
              <a:rPr lang="ru-RU" dirty="0" smtClean="0"/>
              <a:t>Условием </a:t>
            </a:r>
            <a:r>
              <a:rPr lang="ru-RU" dirty="0"/>
              <a:t>прекращения ходьбы является совпадение координат остановки с вашими координатами. Такой цикл называют </a:t>
            </a:r>
            <a:r>
              <a:rPr lang="ru-RU" dirty="0">
                <a:solidFill>
                  <a:srgbClr val="0070C0"/>
                </a:solidFill>
              </a:rPr>
              <a:t>циклом с условием</a:t>
            </a:r>
            <a:r>
              <a:rPr lang="ru-RU" dirty="0"/>
              <a:t>.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9520971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 smtClean="0">
                <a:solidFill>
                  <a:schemeClr val="accent2">
                    <a:lumMod val="75000"/>
                  </a:schemeClr>
                </a:solidFill>
              </a:rPr>
              <a:t>Цикл со счетчиком</a:t>
            </a:r>
            <a:endParaRPr lang="ru-RU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Для реализации данных алгоритмов в языке </a:t>
            </a:r>
            <a:r>
              <a:rPr lang="en-US" dirty="0"/>
              <a:t>Python</a:t>
            </a:r>
            <a:r>
              <a:rPr lang="ru-RU" dirty="0"/>
              <a:t> предусмотрены необходимые операторы. </a:t>
            </a:r>
            <a:endParaRPr lang="ru-RU" dirty="0" smtClean="0"/>
          </a:p>
          <a:p>
            <a:r>
              <a:rPr lang="ru-RU" dirty="0" smtClean="0"/>
              <a:t>Начнем </a:t>
            </a:r>
            <a:r>
              <a:rPr lang="ru-RU" dirty="0"/>
              <a:t>с оператора цикла со счетчиком</a:t>
            </a:r>
            <a:r>
              <a:rPr lang="ru-RU" dirty="0" smtClean="0"/>
              <a:t>.</a:t>
            </a:r>
          </a:p>
          <a:p>
            <a:r>
              <a:rPr lang="ru-RU" dirty="0" smtClean="0"/>
              <a:t> Такие </a:t>
            </a:r>
            <a:r>
              <a:rPr lang="ru-RU" dirty="0"/>
              <a:t>циклы называют также циклами </a:t>
            </a:r>
            <a:r>
              <a:rPr lang="ru-RU" dirty="0" err="1">
                <a:solidFill>
                  <a:schemeClr val="accent2">
                    <a:lumMod val="75000"/>
                  </a:schemeClr>
                </a:solidFill>
              </a:rPr>
              <a:t>for</a:t>
            </a:r>
            <a:r>
              <a:rPr lang="ru-RU" dirty="0"/>
              <a:t>, так как во многих языках, в том числе в </a:t>
            </a:r>
            <a:r>
              <a:rPr lang="ru-RU" dirty="0" err="1">
                <a:solidFill>
                  <a:srgbClr val="FF0000"/>
                </a:solidFill>
              </a:rPr>
              <a:t>Python</a:t>
            </a:r>
            <a:r>
              <a:rPr lang="ru-RU" dirty="0"/>
              <a:t>, для создания таких циклов применяется ключевое слово </a:t>
            </a:r>
            <a:r>
              <a:rPr lang="ru-RU" dirty="0" err="1">
                <a:solidFill>
                  <a:schemeClr val="accent2">
                    <a:lumMod val="75000"/>
                  </a:schemeClr>
                </a:solidFill>
              </a:rPr>
              <a:t>for</a:t>
            </a:r>
            <a:r>
              <a:rPr lang="ru-RU" dirty="0"/>
              <a:t>.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9224430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 smtClean="0">
                <a:solidFill>
                  <a:schemeClr val="accent2">
                    <a:lumMod val="75000"/>
                  </a:schemeClr>
                </a:solidFill>
              </a:rPr>
              <a:t>Цикл со счетчиком</a:t>
            </a:r>
            <a:endParaRPr lang="ru-RU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ru-RU" dirty="0"/>
              <a:t>Попробуем применить такой цикл на практике. Рассмотрим следующий пример:</a:t>
            </a:r>
          </a:p>
          <a:p>
            <a:r>
              <a:rPr lang="ru-RU" dirty="0"/>
              <a:t> </a:t>
            </a:r>
          </a:p>
          <a:p>
            <a:r>
              <a:rPr lang="en-US" dirty="0"/>
              <a:t>#</a:t>
            </a:r>
            <a:r>
              <a:rPr lang="ru-RU" dirty="0"/>
              <a:t>Простейший цикл </a:t>
            </a:r>
            <a:r>
              <a:rPr lang="en-US" dirty="0"/>
              <a:t>for</a:t>
            </a:r>
            <a:endParaRPr lang="ru-RU" dirty="0"/>
          </a:p>
          <a:p>
            <a:r>
              <a:rPr lang="en-US" dirty="0">
                <a:solidFill>
                  <a:schemeClr val="accent2">
                    <a:lumMod val="75000"/>
                  </a:schemeClr>
                </a:solidFill>
              </a:rPr>
              <a:t>for</a:t>
            </a:r>
            <a:r>
              <a:rPr lang="en-US" dirty="0"/>
              <a:t> </a:t>
            </a:r>
            <a:r>
              <a:rPr lang="en-US" dirty="0" err="1"/>
              <a:t>i</a:t>
            </a:r>
            <a:r>
              <a:rPr lang="en-US" dirty="0"/>
              <a:t> </a:t>
            </a:r>
            <a:r>
              <a:rPr lang="en-US" dirty="0">
                <a:solidFill>
                  <a:schemeClr val="accent2">
                    <a:lumMod val="75000"/>
                  </a:schemeClr>
                </a:solidFill>
              </a:rPr>
              <a:t>in</a:t>
            </a:r>
            <a:r>
              <a:rPr lang="en-US" dirty="0"/>
              <a:t> [1, 2, 3, 4, 5]:</a:t>
            </a:r>
            <a:endParaRPr lang="ru-RU" dirty="0"/>
          </a:p>
          <a:p>
            <a:r>
              <a:rPr lang="en-US" dirty="0"/>
              <a:t>    </a:t>
            </a:r>
            <a:r>
              <a:rPr lang="en-US" dirty="0">
                <a:solidFill>
                  <a:srgbClr val="7030A0"/>
                </a:solidFill>
              </a:rPr>
              <a:t>print</a:t>
            </a:r>
            <a:r>
              <a:rPr lang="ru-RU" dirty="0"/>
              <a:t> ("</a:t>
            </a:r>
            <a:r>
              <a:rPr lang="en-US" dirty="0"/>
              <a:t>hello</a:t>
            </a:r>
            <a:r>
              <a:rPr lang="ru-RU" dirty="0"/>
              <a:t>")</a:t>
            </a:r>
          </a:p>
          <a:p>
            <a:r>
              <a:rPr lang="ru-RU" dirty="0"/>
              <a:t> </a:t>
            </a:r>
          </a:p>
          <a:p>
            <a:r>
              <a:rPr lang="ru-RU" dirty="0"/>
              <a:t>Результатом работы этой программы будет следующая распечатка:</a:t>
            </a:r>
          </a:p>
          <a:p>
            <a:r>
              <a:rPr lang="en-US" dirty="0" smtClean="0">
                <a:solidFill>
                  <a:srgbClr val="002060"/>
                </a:solidFill>
              </a:rPr>
              <a:t>hello</a:t>
            </a:r>
            <a:endParaRPr lang="ru-RU" dirty="0">
              <a:solidFill>
                <a:srgbClr val="002060"/>
              </a:solidFill>
            </a:endParaRPr>
          </a:p>
          <a:p>
            <a:r>
              <a:rPr lang="en-US" dirty="0">
                <a:solidFill>
                  <a:srgbClr val="002060"/>
                </a:solidFill>
              </a:rPr>
              <a:t>hello</a:t>
            </a:r>
            <a:endParaRPr lang="ru-RU" dirty="0">
              <a:solidFill>
                <a:srgbClr val="002060"/>
              </a:solidFill>
            </a:endParaRPr>
          </a:p>
          <a:p>
            <a:r>
              <a:rPr lang="en-US" dirty="0">
                <a:solidFill>
                  <a:srgbClr val="002060"/>
                </a:solidFill>
              </a:rPr>
              <a:t>hello</a:t>
            </a:r>
            <a:endParaRPr lang="ru-RU" dirty="0">
              <a:solidFill>
                <a:srgbClr val="002060"/>
              </a:solidFill>
            </a:endParaRPr>
          </a:p>
          <a:p>
            <a:r>
              <a:rPr lang="en-US" dirty="0">
                <a:solidFill>
                  <a:srgbClr val="002060"/>
                </a:solidFill>
              </a:rPr>
              <a:t>hello</a:t>
            </a:r>
            <a:endParaRPr lang="ru-RU" dirty="0">
              <a:solidFill>
                <a:srgbClr val="002060"/>
              </a:solidFill>
            </a:endParaRPr>
          </a:p>
          <a:p>
            <a:r>
              <a:rPr lang="en-US" dirty="0">
                <a:solidFill>
                  <a:srgbClr val="002060"/>
                </a:solidFill>
              </a:rPr>
              <a:t>hello</a:t>
            </a:r>
            <a:endParaRPr lang="ru-RU" dirty="0">
              <a:solidFill>
                <a:srgbClr val="002060"/>
              </a:solidFill>
            </a:endParaRP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8174632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 smtClean="0">
                <a:solidFill>
                  <a:schemeClr val="accent2">
                    <a:lumMod val="75000"/>
                  </a:schemeClr>
                </a:solidFill>
              </a:rPr>
              <a:t>Цикл со счетчиком</a:t>
            </a:r>
            <a:endParaRPr lang="ru-RU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ru-RU" dirty="0"/>
              <a:t>Программа вывела слово «</a:t>
            </a:r>
            <a:r>
              <a:rPr lang="ru-RU" dirty="0" err="1"/>
              <a:t>hello</a:t>
            </a:r>
            <a:r>
              <a:rPr lang="ru-RU" dirty="0"/>
              <a:t>» пять раз, хотя инструкция </a:t>
            </a:r>
            <a:r>
              <a:rPr lang="ru-RU" dirty="0" err="1"/>
              <a:t>print</a:t>
            </a:r>
            <a:r>
              <a:rPr lang="ru-RU" dirty="0"/>
              <a:t> у нас всего одна. Почему же так получилось? </a:t>
            </a:r>
            <a:endParaRPr lang="ru-RU" dirty="0" smtClean="0"/>
          </a:p>
          <a:p>
            <a:r>
              <a:rPr lang="ru-RU" dirty="0" smtClean="0"/>
              <a:t>Первая </a:t>
            </a:r>
            <a:r>
              <a:rPr lang="ru-RU" dirty="0"/>
              <a:t>строка (</a:t>
            </a:r>
            <a:r>
              <a:rPr lang="ru-RU" dirty="0" err="1">
                <a:solidFill>
                  <a:schemeClr val="accent2">
                    <a:lumMod val="75000"/>
                  </a:schemeClr>
                </a:solidFill>
              </a:rPr>
              <a:t>for</a:t>
            </a:r>
            <a:r>
              <a:rPr lang="ru-RU" dirty="0"/>
              <a:t> </a:t>
            </a:r>
            <a:r>
              <a:rPr lang="en-US" dirty="0" err="1"/>
              <a:t>i</a:t>
            </a:r>
            <a:r>
              <a:rPr lang="ru-RU" dirty="0"/>
              <a:t> </a:t>
            </a:r>
            <a:r>
              <a:rPr lang="ru-RU" dirty="0" err="1">
                <a:solidFill>
                  <a:schemeClr val="accent2">
                    <a:lumMod val="75000"/>
                  </a:schemeClr>
                </a:solidFill>
              </a:rPr>
              <a:t>in</a:t>
            </a:r>
            <a:r>
              <a:rPr lang="ru-RU" dirty="0"/>
              <a:t> [1,2, 3, 4, 5]:) в переводе означает следующее:</a:t>
            </a:r>
          </a:p>
          <a:p>
            <a:r>
              <a:rPr lang="ru-RU" dirty="0"/>
              <a:t>1) переменная </a:t>
            </a:r>
            <a:r>
              <a:rPr lang="en-US" dirty="0" err="1"/>
              <a:t>i</a:t>
            </a:r>
            <a:r>
              <a:rPr lang="ru-RU" dirty="0"/>
              <a:t> сначала имеет значение 1 (то есть </a:t>
            </a:r>
            <a:r>
              <a:rPr lang="en-US" dirty="0" err="1"/>
              <a:t>i</a:t>
            </a:r>
            <a:r>
              <a:rPr lang="ru-RU" dirty="0"/>
              <a:t> = 1);</a:t>
            </a:r>
          </a:p>
          <a:p>
            <a:r>
              <a:rPr lang="ru-RU" dirty="0"/>
              <a:t>2) цикл выполняет расположенный ниже блок команд один раз для каждого значения из списка (Списком в данном случае являются цифры в квадратных скобках.);</a:t>
            </a:r>
          </a:p>
          <a:p>
            <a:r>
              <a:rPr lang="ru-RU" dirty="0"/>
              <a:t>3) на каждом следующем шаге цикла переменной </a:t>
            </a:r>
            <a:r>
              <a:rPr lang="en-US" dirty="0" err="1"/>
              <a:t>i</a:t>
            </a:r>
            <a:r>
              <a:rPr lang="ru-RU" dirty="0"/>
              <a:t> присваивается следующее значение из списка.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7043627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 smtClean="0">
                <a:solidFill>
                  <a:schemeClr val="accent2">
                    <a:lumMod val="75000"/>
                  </a:schemeClr>
                </a:solidFill>
              </a:rPr>
              <a:t>Цикл со счетчиком</a:t>
            </a:r>
            <a:endParaRPr lang="ru-RU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-RU" dirty="0"/>
              <a:t>Вторая строка (</a:t>
            </a:r>
            <a:r>
              <a:rPr lang="ru-RU" dirty="0" err="1"/>
              <a:t>print</a:t>
            </a:r>
            <a:r>
              <a:rPr lang="ru-RU" dirty="0"/>
              <a:t> ("</a:t>
            </a:r>
            <a:r>
              <a:rPr lang="ru-RU" dirty="0" err="1"/>
              <a:t>hello</a:t>
            </a:r>
            <a:r>
              <a:rPr lang="ru-RU" dirty="0"/>
              <a:t>")) представляет собой блок, который интерпретатор </a:t>
            </a:r>
            <a:r>
              <a:rPr lang="ru-RU" dirty="0" err="1"/>
              <a:t>Python</a:t>
            </a:r>
            <a:r>
              <a:rPr lang="ru-RU" dirty="0"/>
              <a:t> выполняет </a:t>
            </a:r>
            <a:r>
              <a:rPr lang="ru-RU" dirty="0" smtClean="0"/>
              <a:t>на каждом </a:t>
            </a:r>
            <a:r>
              <a:rPr lang="ru-RU" dirty="0"/>
              <a:t>проходе цикла. </a:t>
            </a:r>
            <a:endParaRPr lang="ru-RU" dirty="0" smtClean="0"/>
          </a:p>
          <a:p>
            <a:r>
              <a:rPr lang="ru-RU" dirty="0" smtClean="0"/>
              <a:t>Циклу </a:t>
            </a:r>
            <a:r>
              <a:rPr lang="ru-RU" dirty="0" err="1">
                <a:solidFill>
                  <a:schemeClr val="accent2">
                    <a:lumMod val="75000"/>
                  </a:schemeClr>
                </a:solidFill>
              </a:rPr>
              <a:t>for</a:t>
            </a:r>
            <a:r>
              <a:rPr lang="ru-RU" dirty="0"/>
              <a:t> блок кода необходим, чтобы программа знала, какие действия ей нужно выполнять на каждом проходе. </a:t>
            </a:r>
            <a:endParaRPr lang="ru-RU" dirty="0" smtClean="0"/>
          </a:p>
          <a:p>
            <a:r>
              <a:rPr lang="ru-RU" dirty="0" smtClean="0"/>
              <a:t>Этот </a:t>
            </a:r>
            <a:r>
              <a:rPr lang="ru-RU" dirty="0"/>
              <a:t>блок (часть кода с отступом) называется </a:t>
            </a:r>
            <a:r>
              <a:rPr lang="ru-RU" i="1" dirty="0"/>
              <a:t>телом цикла</a:t>
            </a:r>
            <a:r>
              <a:rPr lang="ru-RU" dirty="0"/>
              <a:t>.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352887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 smtClean="0">
                <a:solidFill>
                  <a:schemeClr val="accent2">
                    <a:lumMod val="75000"/>
                  </a:schemeClr>
                </a:solidFill>
              </a:rPr>
              <a:t>Цикл со счетчиком</a:t>
            </a:r>
            <a:endParaRPr lang="ru-RU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ru-RU" dirty="0"/>
              <a:t>Следующий пример: выведем на экран таблицу умножения. Для этого внесем в нашу программу небольшие изменения:</a:t>
            </a:r>
          </a:p>
          <a:p>
            <a:r>
              <a:rPr lang="en-US" dirty="0" smtClean="0">
                <a:solidFill>
                  <a:schemeClr val="accent2">
                    <a:lumMod val="75000"/>
                  </a:schemeClr>
                </a:solidFill>
              </a:rPr>
              <a:t>for</a:t>
            </a:r>
            <a:r>
              <a:rPr lang="en-US" dirty="0" smtClean="0"/>
              <a:t> </a:t>
            </a:r>
            <a:r>
              <a:rPr lang="en-US" dirty="0" err="1"/>
              <a:t>i</a:t>
            </a:r>
            <a:r>
              <a:rPr lang="en-US" dirty="0">
                <a:solidFill>
                  <a:schemeClr val="accent2">
                    <a:lumMod val="75000"/>
                  </a:schemeClr>
                </a:solidFill>
              </a:rPr>
              <a:t> in </a:t>
            </a:r>
            <a:r>
              <a:rPr lang="en-US" dirty="0"/>
              <a:t>[1, 2, 3, 4, 5]:</a:t>
            </a:r>
            <a:endParaRPr lang="ru-RU" dirty="0"/>
          </a:p>
          <a:p>
            <a:r>
              <a:rPr lang="en-US" dirty="0"/>
              <a:t>    </a:t>
            </a:r>
            <a:r>
              <a:rPr lang="en-US" dirty="0">
                <a:solidFill>
                  <a:srgbClr val="7030A0"/>
                </a:solidFill>
              </a:rPr>
              <a:t>print</a:t>
            </a:r>
            <a:r>
              <a:rPr lang="en-US" dirty="0"/>
              <a:t> (</a:t>
            </a:r>
            <a:r>
              <a:rPr lang="en-US" dirty="0" err="1"/>
              <a:t>i</a:t>
            </a:r>
            <a:r>
              <a:rPr lang="en-US" dirty="0">
                <a:solidFill>
                  <a:srgbClr val="00B050"/>
                </a:solidFill>
              </a:rPr>
              <a:t>,"*8=",</a:t>
            </a:r>
            <a:r>
              <a:rPr lang="en-US" dirty="0" err="1"/>
              <a:t>i</a:t>
            </a:r>
            <a:r>
              <a:rPr lang="en-US" dirty="0"/>
              <a:t>*8)</a:t>
            </a:r>
            <a:endParaRPr lang="ru-RU" dirty="0"/>
          </a:p>
          <a:p>
            <a:r>
              <a:rPr lang="ru-RU" dirty="0" smtClean="0"/>
              <a:t>Получим </a:t>
            </a:r>
            <a:r>
              <a:rPr lang="ru-RU" dirty="0"/>
              <a:t>следующий результат:</a:t>
            </a:r>
          </a:p>
          <a:p>
            <a:r>
              <a:rPr lang="ru-RU" dirty="0"/>
              <a:t> </a:t>
            </a:r>
          </a:p>
          <a:p>
            <a:r>
              <a:rPr lang="ru-RU" i="1" dirty="0">
                <a:solidFill>
                  <a:srgbClr val="002060"/>
                </a:solidFill>
              </a:rPr>
              <a:t>1 *8= 8</a:t>
            </a:r>
            <a:endParaRPr lang="ru-RU" dirty="0">
              <a:solidFill>
                <a:srgbClr val="002060"/>
              </a:solidFill>
            </a:endParaRPr>
          </a:p>
          <a:p>
            <a:r>
              <a:rPr lang="ru-RU" i="1" dirty="0">
                <a:solidFill>
                  <a:srgbClr val="002060"/>
                </a:solidFill>
              </a:rPr>
              <a:t>2 *8= 16</a:t>
            </a:r>
            <a:endParaRPr lang="ru-RU" dirty="0">
              <a:solidFill>
                <a:srgbClr val="002060"/>
              </a:solidFill>
            </a:endParaRPr>
          </a:p>
          <a:p>
            <a:r>
              <a:rPr lang="ru-RU" i="1" dirty="0">
                <a:solidFill>
                  <a:srgbClr val="002060"/>
                </a:solidFill>
              </a:rPr>
              <a:t>3 *8= 24</a:t>
            </a:r>
            <a:endParaRPr lang="ru-RU" dirty="0">
              <a:solidFill>
                <a:srgbClr val="002060"/>
              </a:solidFill>
            </a:endParaRPr>
          </a:p>
          <a:p>
            <a:r>
              <a:rPr lang="ru-RU" i="1" dirty="0">
                <a:solidFill>
                  <a:srgbClr val="002060"/>
                </a:solidFill>
              </a:rPr>
              <a:t>4 *8= 32</a:t>
            </a:r>
            <a:endParaRPr lang="ru-RU" dirty="0">
              <a:solidFill>
                <a:srgbClr val="002060"/>
              </a:solidFill>
            </a:endParaRPr>
          </a:p>
          <a:p>
            <a:r>
              <a:rPr lang="ru-RU" i="1" dirty="0">
                <a:solidFill>
                  <a:srgbClr val="002060"/>
                </a:solidFill>
              </a:rPr>
              <a:t>5 *8= 40</a:t>
            </a:r>
            <a:endParaRPr lang="ru-RU" dirty="0">
              <a:solidFill>
                <a:srgbClr val="002060"/>
              </a:solidFill>
            </a:endParaRP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8157703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 smtClean="0">
                <a:solidFill>
                  <a:schemeClr val="accent2">
                    <a:lumMod val="75000"/>
                  </a:schemeClr>
                </a:solidFill>
              </a:rPr>
              <a:t>Цикл со счетчиком</a:t>
            </a:r>
            <a:endParaRPr lang="ru-RU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-RU" dirty="0"/>
              <a:t>В предыдущем примере цикл повторялся всего 5 раз. А что делать, если цикл нужно запустить 100 или 1000 раз? </a:t>
            </a:r>
            <a:endParaRPr lang="ru-RU" dirty="0" smtClean="0"/>
          </a:p>
          <a:p>
            <a:r>
              <a:rPr lang="ru-RU" dirty="0" smtClean="0"/>
              <a:t>Для </a:t>
            </a:r>
            <a:r>
              <a:rPr lang="ru-RU" dirty="0"/>
              <a:t>этих целей используют функцию </a:t>
            </a:r>
            <a:r>
              <a:rPr lang="en-US" dirty="0"/>
              <a:t>range</a:t>
            </a:r>
            <a:r>
              <a:rPr lang="ru-RU" dirty="0"/>
              <a:t>(). </a:t>
            </a:r>
            <a:endParaRPr lang="ru-RU" dirty="0" smtClean="0"/>
          </a:p>
          <a:p>
            <a:r>
              <a:rPr lang="ru-RU" dirty="0" smtClean="0"/>
              <a:t>Она </a:t>
            </a:r>
            <a:r>
              <a:rPr lang="ru-RU" dirty="0"/>
              <a:t>позволяет указывать только начальное и конечное значения, создавая за вас все остальные значения диапазона. </a:t>
            </a:r>
            <a:endParaRPr lang="ru-RU" dirty="0" smtClean="0"/>
          </a:p>
          <a:p>
            <a:r>
              <a:rPr lang="ru-RU" dirty="0" smtClean="0"/>
              <a:t>Выведем </a:t>
            </a:r>
            <a:r>
              <a:rPr lang="ru-RU" dirty="0"/>
              <a:t>таблицу умножения при помощи функции </a:t>
            </a:r>
            <a:r>
              <a:rPr lang="ru-RU" dirty="0" err="1"/>
              <a:t>range</a:t>
            </a:r>
            <a:r>
              <a:rPr lang="ru-RU" dirty="0"/>
              <a:t>().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3904473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 smtClean="0">
                <a:solidFill>
                  <a:schemeClr val="accent2">
                    <a:lumMod val="75000"/>
                  </a:schemeClr>
                </a:solidFill>
              </a:rPr>
              <a:t>Цикл со счетчиком</a:t>
            </a:r>
            <a:endParaRPr lang="ru-RU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nn-NO" dirty="0">
                <a:solidFill>
                  <a:schemeClr val="accent2">
                    <a:lumMod val="75000"/>
                  </a:schemeClr>
                </a:solidFill>
              </a:rPr>
              <a:t>for</a:t>
            </a:r>
            <a:r>
              <a:rPr lang="nn-NO" dirty="0"/>
              <a:t> i </a:t>
            </a:r>
            <a:r>
              <a:rPr lang="nn-NO" dirty="0">
                <a:solidFill>
                  <a:schemeClr val="accent2">
                    <a:lumMod val="75000"/>
                  </a:schemeClr>
                </a:solidFill>
              </a:rPr>
              <a:t>in</a:t>
            </a:r>
            <a:r>
              <a:rPr lang="nn-NO" dirty="0"/>
              <a:t> </a:t>
            </a:r>
            <a:r>
              <a:rPr lang="nn-NO" dirty="0">
                <a:solidFill>
                  <a:srgbClr val="7030A0"/>
                </a:solidFill>
              </a:rPr>
              <a:t>range</a:t>
            </a:r>
            <a:r>
              <a:rPr lang="nn-NO" dirty="0"/>
              <a:t>(1,5):</a:t>
            </a:r>
          </a:p>
          <a:p>
            <a:pPr marL="0" indent="0">
              <a:buNone/>
            </a:pPr>
            <a:r>
              <a:rPr lang="nn-NO" dirty="0"/>
              <a:t>	    </a:t>
            </a:r>
            <a:r>
              <a:rPr lang="nn-NO" dirty="0">
                <a:solidFill>
                  <a:srgbClr val="7030A0"/>
                </a:solidFill>
              </a:rPr>
              <a:t>print</a:t>
            </a:r>
            <a:r>
              <a:rPr lang="nn-NO" dirty="0"/>
              <a:t> (i,</a:t>
            </a:r>
            <a:r>
              <a:rPr lang="nn-NO" dirty="0">
                <a:solidFill>
                  <a:srgbClr val="00B050"/>
                </a:solidFill>
              </a:rPr>
              <a:t>"*8="</a:t>
            </a:r>
            <a:r>
              <a:rPr lang="nn-NO" dirty="0"/>
              <a:t>,i*8)</a:t>
            </a:r>
          </a:p>
          <a:p>
            <a:endParaRPr lang="nn-NO" dirty="0"/>
          </a:p>
          <a:p>
            <a:pPr marL="0" indent="0">
              <a:buNone/>
            </a:pPr>
            <a:r>
              <a:rPr lang="nn-NO" dirty="0"/>
              <a:t>	    </a:t>
            </a:r>
          </a:p>
          <a:p>
            <a:pPr marL="0" indent="0">
              <a:buNone/>
            </a:pPr>
            <a:r>
              <a:rPr lang="nn-NO" dirty="0">
                <a:solidFill>
                  <a:srgbClr val="0070C0"/>
                </a:solidFill>
              </a:rPr>
              <a:t>1 *8= 8</a:t>
            </a:r>
          </a:p>
          <a:p>
            <a:pPr marL="0" indent="0">
              <a:buNone/>
            </a:pPr>
            <a:r>
              <a:rPr lang="nn-NO" dirty="0">
                <a:solidFill>
                  <a:srgbClr val="0070C0"/>
                </a:solidFill>
              </a:rPr>
              <a:t>2 *8= 16</a:t>
            </a:r>
          </a:p>
          <a:p>
            <a:pPr marL="0" indent="0">
              <a:buNone/>
            </a:pPr>
            <a:r>
              <a:rPr lang="nn-NO" dirty="0">
                <a:solidFill>
                  <a:srgbClr val="0070C0"/>
                </a:solidFill>
              </a:rPr>
              <a:t>3 *8= 24</a:t>
            </a:r>
          </a:p>
          <a:p>
            <a:pPr marL="0" indent="0">
              <a:buNone/>
            </a:pPr>
            <a:r>
              <a:rPr lang="nn-NO" dirty="0">
                <a:solidFill>
                  <a:srgbClr val="0070C0"/>
                </a:solidFill>
              </a:rPr>
              <a:t>4 *8= 32</a:t>
            </a:r>
            <a:endParaRPr lang="ru-RU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371095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 smtClean="0">
                <a:solidFill>
                  <a:schemeClr val="accent2">
                    <a:lumMod val="75000"/>
                  </a:schemeClr>
                </a:solidFill>
              </a:rPr>
              <a:t>Цикл со счетчиком</a:t>
            </a:r>
            <a:endParaRPr lang="ru-RU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ru-RU" dirty="0"/>
              <a:t>Результат работы программы будет прежним, за исключением последней строки. Она отсутствует. </a:t>
            </a:r>
            <a:endParaRPr lang="ru-RU" dirty="0" smtClean="0"/>
          </a:p>
          <a:p>
            <a:pPr marL="0" indent="0">
              <a:buNone/>
            </a:pPr>
            <a:r>
              <a:rPr lang="ru-RU" dirty="0" smtClean="0"/>
              <a:t>Дело </a:t>
            </a:r>
            <a:r>
              <a:rPr lang="ru-RU" dirty="0"/>
              <a:t>в том, что функция </a:t>
            </a:r>
            <a:r>
              <a:rPr lang="ru-RU" dirty="0" err="1"/>
              <a:t>range</a:t>
            </a:r>
            <a:r>
              <a:rPr lang="ru-RU" i="1" dirty="0"/>
              <a:t> (1, 5)</a:t>
            </a:r>
            <a:r>
              <a:rPr lang="ru-RU" dirty="0"/>
              <a:t> дает нам список [1, 2, 3, 4]. </a:t>
            </a:r>
            <a:endParaRPr lang="ru-RU" dirty="0" smtClean="0"/>
          </a:p>
          <a:p>
            <a:pPr marL="0" indent="0">
              <a:buNone/>
            </a:pPr>
            <a:r>
              <a:rPr lang="ru-RU" dirty="0" smtClean="0"/>
              <a:t>Это </a:t>
            </a:r>
            <a:r>
              <a:rPr lang="ru-RU" dirty="0"/>
              <a:t>нужно иметь в виду при практическом программировании.</a:t>
            </a:r>
          </a:p>
          <a:p>
            <a:pPr marL="0" indent="0">
              <a:buNone/>
            </a:pPr>
            <a:endParaRPr lang="ru-RU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392785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 smtClean="0">
                <a:solidFill>
                  <a:schemeClr val="accent2">
                    <a:lumMod val="75000"/>
                  </a:schemeClr>
                </a:solidFill>
              </a:rPr>
              <a:t>Цикл со счетчиком</a:t>
            </a:r>
            <a:endParaRPr lang="ru-RU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ru-RU" dirty="0"/>
              <a:t>В функции </a:t>
            </a:r>
            <a:r>
              <a:rPr lang="ru-RU" dirty="0" err="1"/>
              <a:t>range</a:t>
            </a:r>
            <a:r>
              <a:rPr lang="ru-RU" dirty="0"/>
              <a:t>() вовсе не обязательно указывать два числа, как мы это делали в предыдущих примерах</a:t>
            </a:r>
            <a:r>
              <a:rPr lang="ru-RU" dirty="0" smtClean="0"/>
              <a:t>.</a:t>
            </a:r>
          </a:p>
          <a:p>
            <a:pPr marL="0" indent="0">
              <a:buNone/>
            </a:pPr>
            <a:r>
              <a:rPr lang="ru-RU" dirty="0" smtClean="0"/>
              <a:t> </a:t>
            </a:r>
            <a:r>
              <a:rPr lang="ru-RU" dirty="0"/>
              <a:t>Можно обойтись одним: </a:t>
            </a:r>
            <a:r>
              <a:rPr lang="ru-RU" b="1" i="1" dirty="0" err="1"/>
              <a:t>for</a:t>
            </a:r>
            <a:r>
              <a:rPr lang="ru-RU" b="1" i="1" dirty="0"/>
              <a:t> </a:t>
            </a:r>
            <a:r>
              <a:rPr lang="ru-RU" i="1" dirty="0"/>
              <a:t>i </a:t>
            </a:r>
            <a:r>
              <a:rPr lang="ru-RU" i="1" dirty="0" err="1"/>
              <a:t>in</a:t>
            </a:r>
            <a:r>
              <a:rPr lang="ru-RU" i="1" dirty="0"/>
              <a:t> </a:t>
            </a:r>
            <a:r>
              <a:rPr lang="ru-RU" i="1" dirty="0" err="1"/>
              <a:t>range</a:t>
            </a:r>
            <a:r>
              <a:rPr lang="ru-RU" i="1" dirty="0"/>
              <a:t>(5)</a:t>
            </a:r>
            <a:r>
              <a:rPr lang="ru-RU" dirty="0"/>
              <a:t>:.Это аналогично записи: </a:t>
            </a:r>
            <a:r>
              <a:rPr lang="ru-RU" b="1" i="1" dirty="0" err="1"/>
              <a:t>for</a:t>
            </a:r>
            <a:r>
              <a:rPr lang="ru-RU" b="1" i="1" dirty="0"/>
              <a:t> </a:t>
            </a:r>
            <a:r>
              <a:rPr lang="ru-RU" i="1" dirty="0"/>
              <a:t>i </a:t>
            </a:r>
            <a:r>
              <a:rPr lang="ru-RU" i="1" dirty="0" err="1"/>
              <a:t>in</a:t>
            </a:r>
            <a:r>
              <a:rPr lang="ru-RU" i="1" dirty="0"/>
              <a:t> </a:t>
            </a:r>
            <a:r>
              <a:rPr lang="ru-RU" i="1" dirty="0" err="1"/>
              <a:t>range</a:t>
            </a:r>
            <a:r>
              <a:rPr lang="ru-RU" i="1" dirty="0"/>
              <a:t>(0, 5</a:t>
            </a:r>
            <a:r>
              <a:rPr lang="ru-RU" i="1" dirty="0" smtClean="0"/>
              <a:t>).</a:t>
            </a:r>
          </a:p>
          <a:p>
            <a:pPr marL="0" indent="0">
              <a:buNone/>
            </a:pPr>
            <a:r>
              <a:rPr lang="ru-RU" dirty="0" smtClean="0"/>
              <a:t>В </a:t>
            </a:r>
            <a:r>
              <a:rPr lang="ru-RU" dirty="0"/>
              <a:t>обоих случаях получается список цифр: [0, 1, 2, 3, 4].На самом деле многие программисты начинают циклы с 0, а не с 1. </a:t>
            </a:r>
            <a:endParaRPr lang="ru-RU" dirty="0" smtClean="0"/>
          </a:p>
          <a:p>
            <a:pPr marL="0" indent="0">
              <a:buNone/>
            </a:pPr>
            <a:r>
              <a:rPr lang="ru-RU" dirty="0" smtClean="0"/>
              <a:t>Написав </a:t>
            </a:r>
            <a:r>
              <a:rPr lang="ru-RU" dirty="0" err="1"/>
              <a:t>range</a:t>
            </a:r>
            <a:r>
              <a:rPr lang="ru-RU" dirty="0"/>
              <a:t>(5),вы получите 5 итераций цикла, что очень легко запомнить. </a:t>
            </a:r>
            <a:endParaRPr lang="ru-RU" dirty="0" smtClean="0"/>
          </a:p>
          <a:p>
            <a:pPr marL="0" indent="0">
              <a:buNone/>
            </a:pPr>
            <a:r>
              <a:rPr lang="ru-RU" dirty="0" smtClean="0"/>
              <a:t>Просто </a:t>
            </a:r>
            <a:r>
              <a:rPr lang="ru-RU" dirty="0"/>
              <a:t>следует знать, что первое значение i равно 0, а не 1, а последнее 4, а не 5.</a:t>
            </a:r>
          </a:p>
          <a:p>
            <a:pPr marL="0" indent="0">
              <a:buNone/>
            </a:pPr>
            <a:endParaRPr lang="ru-RU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68124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 smtClean="0">
                <a:solidFill>
                  <a:schemeClr val="accent2">
                    <a:lumMod val="75000"/>
                  </a:schemeClr>
                </a:solidFill>
              </a:rPr>
              <a:t>Цикл со счетчиком</a:t>
            </a:r>
            <a:endParaRPr lang="ru-RU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ru-RU" dirty="0"/>
              <a:t>До этого момента на каждой итерации мы прибавляли к переменной цикла единицу</a:t>
            </a:r>
            <a:r>
              <a:rPr lang="ru-RU" dirty="0" smtClean="0"/>
              <a:t>.</a:t>
            </a:r>
          </a:p>
          <a:p>
            <a:pPr marL="0" indent="0">
              <a:buNone/>
            </a:pPr>
            <a:r>
              <a:rPr lang="ru-RU" dirty="0" smtClean="0"/>
              <a:t> </a:t>
            </a:r>
            <a:r>
              <a:rPr lang="ru-RU" dirty="0"/>
              <a:t>А что делать, если мы хотим прибавлять на каждом шаге 2? Или 5, или даже 10? А как насчет обратного отсчета? </a:t>
            </a:r>
            <a:endParaRPr lang="ru-RU" dirty="0" smtClean="0"/>
          </a:p>
          <a:p>
            <a:pPr marL="0" indent="0">
              <a:buNone/>
            </a:pPr>
            <a:r>
              <a:rPr lang="ru-RU" dirty="0" smtClean="0"/>
              <a:t>В </a:t>
            </a:r>
            <a:r>
              <a:rPr lang="ru-RU" dirty="0"/>
              <a:t>функцию </a:t>
            </a:r>
            <a:r>
              <a:rPr lang="ru-RU" i="1" dirty="0" err="1"/>
              <a:t>range</a:t>
            </a:r>
            <a:r>
              <a:rPr lang="ru-RU" i="1" dirty="0"/>
              <a:t>()</a:t>
            </a:r>
            <a:r>
              <a:rPr lang="ru-RU" dirty="0"/>
              <a:t> можно добавить еще один </a:t>
            </a:r>
            <a:r>
              <a:rPr lang="ru-RU" i="1" dirty="0"/>
              <a:t>аргумент</a:t>
            </a:r>
            <a:r>
              <a:rPr lang="ru-RU" dirty="0"/>
              <a:t>, позволяющий менять величину шага, который по умолчанию равен 1.</a:t>
            </a:r>
          </a:p>
          <a:p>
            <a:pPr marL="0" indent="0">
              <a:buNone/>
            </a:pPr>
            <a:endParaRPr lang="ru-RU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234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 smtClean="0">
                <a:solidFill>
                  <a:schemeClr val="accent2">
                    <a:lumMod val="75000"/>
                  </a:schemeClr>
                </a:solidFill>
              </a:rPr>
              <a:t>Цикл со счетчиком</a:t>
            </a:r>
            <a:endParaRPr lang="ru-RU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>
                <a:solidFill>
                  <a:schemeClr val="accent4">
                    <a:lumMod val="75000"/>
                  </a:schemeClr>
                </a:solidFill>
              </a:rPr>
              <a:t>for</a:t>
            </a:r>
            <a:r>
              <a:rPr lang="en-US" b="1" dirty="0"/>
              <a:t> </a:t>
            </a:r>
            <a:r>
              <a:rPr lang="en-US" dirty="0" err="1"/>
              <a:t>i</a:t>
            </a:r>
            <a:r>
              <a:rPr lang="en-US" dirty="0"/>
              <a:t> </a:t>
            </a:r>
            <a:r>
              <a:rPr lang="en-US" dirty="0">
                <a:solidFill>
                  <a:schemeClr val="accent4">
                    <a:lumMod val="75000"/>
                  </a:schemeClr>
                </a:solidFill>
              </a:rPr>
              <a:t>in</a:t>
            </a:r>
            <a:r>
              <a:rPr lang="en-US" dirty="0"/>
              <a:t> </a:t>
            </a:r>
            <a:r>
              <a:rPr lang="en-US" dirty="0">
                <a:solidFill>
                  <a:srgbClr val="7030A0"/>
                </a:solidFill>
              </a:rPr>
              <a:t>range</a:t>
            </a:r>
            <a:r>
              <a:rPr lang="en-US" dirty="0"/>
              <a:t>(1, 10, 2):</a:t>
            </a:r>
            <a:endParaRPr lang="ru-RU" dirty="0"/>
          </a:p>
          <a:p>
            <a:pPr marL="457200" lvl="1" indent="0">
              <a:buNone/>
            </a:pPr>
            <a:r>
              <a:rPr lang="en-US" dirty="0">
                <a:solidFill>
                  <a:srgbClr val="7030A0"/>
                </a:solidFill>
              </a:rPr>
              <a:t>print</a:t>
            </a:r>
            <a:r>
              <a:rPr lang="en-US" b="1" dirty="0"/>
              <a:t> </a:t>
            </a:r>
            <a:r>
              <a:rPr lang="ru-RU" b="1" dirty="0"/>
              <a:t>(</a:t>
            </a:r>
            <a:r>
              <a:rPr lang="en-US" dirty="0" err="1"/>
              <a:t>i</a:t>
            </a:r>
            <a:r>
              <a:rPr lang="ru-RU" dirty="0"/>
              <a:t>)</a:t>
            </a:r>
          </a:p>
          <a:p>
            <a:pPr marL="0" indent="0">
              <a:buNone/>
            </a:pPr>
            <a:r>
              <a:rPr lang="en-US" i="1" dirty="0"/>
              <a:t> </a:t>
            </a:r>
            <a:endParaRPr lang="ru-RU" dirty="0"/>
          </a:p>
          <a:p>
            <a:pPr marL="0" indent="0">
              <a:buNone/>
            </a:pPr>
            <a:r>
              <a:rPr lang="ru-RU" i="1" dirty="0" smtClean="0">
                <a:solidFill>
                  <a:srgbClr val="0070C0"/>
                </a:solidFill>
              </a:rPr>
              <a:t>1</a:t>
            </a:r>
            <a:endParaRPr lang="ru-RU" dirty="0">
              <a:solidFill>
                <a:srgbClr val="0070C0"/>
              </a:solidFill>
            </a:endParaRPr>
          </a:p>
          <a:p>
            <a:pPr marL="0" indent="0">
              <a:buNone/>
            </a:pPr>
            <a:r>
              <a:rPr lang="ru-RU" i="1" dirty="0">
                <a:solidFill>
                  <a:srgbClr val="0070C0"/>
                </a:solidFill>
              </a:rPr>
              <a:t>3</a:t>
            </a:r>
            <a:endParaRPr lang="ru-RU" dirty="0">
              <a:solidFill>
                <a:srgbClr val="0070C0"/>
              </a:solidFill>
            </a:endParaRPr>
          </a:p>
          <a:p>
            <a:pPr marL="0" indent="0">
              <a:buNone/>
            </a:pPr>
            <a:r>
              <a:rPr lang="ru-RU" i="1" dirty="0">
                <a:solidFill>
                  <a:srgbClr val="0070C0"/>
                </a:solidFill>
              </a:rPr>
              <a:t>5</a:t>
            </a:r>
            <a:endParaRPr lang="ru-RU" dirty="0">
              <a:solidFill>
                <a:srgbClr val="0070C0"/>
              </a:solidFill>
            </a:endParaRPr>
          </a:p>
          <a:p>
            <a:pPr marL="0" indent="0">
              <a:buNone/>
            </a:pPr>
            <a:r>
              <a:rPr lang="ru-RU" i="1" dirty="0">
                <a:solidFill>
                  <a:srgbClr val="0070C0"/>
                </a:solidFill>
              </a:rPr>
              <a:t>7</a:t>
            </a:r>
            <a:endParaRPr lang="ru-RU" dirty="0">
              <a:solidFill>
                <a:srgbClr val="0070C0"/>
              </a:solidFill>
            </a:endParaRPr>
          </a:p>
          <a:p>
            <a:pPr marL="0" indent="0">
              <a:buNone/>
            </a:pPr>
            <a:r>
              <a:rPr lang="ru-RU" i="1" dirty="0">
                <a:solidFill>
                  <a:srgbClr val="0070C0"/>
                </a:solidFill>
              </a:rPr>
              <a:t>9</a:t>
            </a:r>
            <a:endParaRPr lang="ru-RU" dirty="0">
              <a:solidFill>
                <a:srgbClr val="0070C0"/>
              </a:solidFill>
            </a:endParaRPr>
          </a:p>
          <a:p>
            <a:pPr marL="0" indent="0">
              <a:buNone/>
            </a:pPr>
            <a:endParaRPr lang="ru-RU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709484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 smtClean="0">
                <a:solidFill>
                  <a:schemeClr val="accent2">
                    <a:lumMod val="75000"/>
                  </a:schemeClr>
                </a:solidFill>
              </a:rPr>
              <a:t>Цикл со счетчиком</a:t>
            </a:r>
            <a:endParaRPr lang="ru-RU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ru-RU" dirty="0"/>
              <a:t>Если третий аргумент сделать отрицательным, мы можем реализовать обратный отсчет или, как иногда говорят, нисходящий цикл.</a:t>
            </a:r>
          </a:p>
          <a:p>
            <a:pPr marL="0" indent="0">
              <a:buNone/>
            </a:pPr>
            <a:endParaRPr lang="ru-RU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320451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 smtClean="0">
                <a:solidFill>
                  <a:schemeClr val="accent2">
                    <a:lumMod val="75000"/>
                  </a:schemeClr>
                </a:solidFill>
              </a:rPr>
              <a:t>Цикл со счетчиком</a:t>
            </a:r>
            <a:endParaRPr lang="ru-RU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US" dirty="0">
                <a:solidFill>
                  <a:schemeClr val="accent2">
                    <a:lumMod val="75000"/>
                  </a:schemeClr>
                </a:solidFill>
              </a:rPr>
              <a:t>for</a:t>
            </a:r>
            <a:r>
              <a:rPr lang="en-US" dirty="0"/>
              <a:t> </a:t>
            </a:r>
            <a:r>
              <a:rPr lang="en-US" dirty="0" err="1"/>
              <a:t>i</a:t>
            </a:r>
            <a:r>
              <a:rPr lang="en-US" dirty="0"/>
              <a:t> </a:t>
            </a:r>
            <a:r>
              <a:rPr lang="en-US" dirty="0">
                <a:solidFill>
                  <a:schemeClr val="accent2">
                    <a:lumMod val="75000"/>
                  </a:schemeClr>
                </a:solidFill>
              </a:rPr>
              <a:t>in</a:t>
            </a:r>
            <a:r>
              <a:rPr lang="en-US" dirty="0"/>
              <a:t> </a:t>
            </a:r>
            <a:r>
              <a:rPr lang="en-US" dirty="0">
                <a:solidFill>
                  <a:srgbClr val="7030A0"/>
                </a:solidFill>
              </a:rPr>
              <a:t>range</a:t>
            </a:r>
            <a:r>
              <a:rPr lang="en-US" dirty="0"/>
              <a:t>(10, 1, -1):</a:t>
            </a:r>
          </a:p>
          <a:p>
            <a:pPr marL="0" indent="0">
              <a:buNone/>
            </a:pPr>
            <a:r>
              <a:rPr lang="en-US" dirty="0"/>
              <a:t>	</a:t>
            </a:r>
            <a:r>
              <a:rPr lang="en-US" dirty="0">
                <a:solidFill>
                  <a:srgbClr val="7030A0"/>
                </a:solidFill>
              </a:rPr>
              <a:t>print</a:t>
            </a:r>
            <a:r>
              <a:rPr lang="en-US" dirty="0"/>
              <a:t>(</a:t>
            </a:r>
            <a:r>
              <a:rPr lang="en-US" dirty="0" err="1"/>
              <a:t>i</a:t>
            </a:r>
            <a:r>
              <a:rPr lang="en-US" dirty="0"/>
              <a:t>)</a:t>
            </a:r>
          </a:p>
          <a:p>
            <a:pPr marL="0" indent="0">
              <a:buNone/>
            </a:pPr>
            <a:r>
              <a:rPr lang="en-US" dirty="0">
                <a:solidFill>
                  <a:srgbClr val="0070C0"/>
                </a:solidFill>
              </a:rPr>
              <a:t>	</a:t>
            </a:r>
          </a:p>
          <a:p>
            <a:pPr marL="0" indent="0">
              <a:buNone/>
            </a:pPr>
            <a:r>
              <a:rPr lang="en-US" dirty="0">
                <a:solidFill>
                  <a:srgbClr val="0070C0"/>
                </a:solidFill>
              </a:rPr>
              <a:t>10</a:t>
            </a:r>
          </a:p>
          <a:p>
            <a:pPr marL="0" indent="0">
              <a:buNone/>
            </a:pPr>
            <a:r>
              <a:rPr lang="en-US" dirty="0">
                <a:solidFill>
                  <a:srgbClr val="0070C0"/>
                </a:solidFill>
              </a:rPr>
              <a:t>9</a:t>
            </a:r>
          </a:p>
          <a:p>
            <a:pPr marL="0" indent="0">
              <a:buNone/>
            </a:pPr>
            <a:r>
              <a:rPr lang="en-US" dirty="0">
                <a:solidFill>
                  <a:srgbClr val="0070C0"/>
                </a:solidFill>
              </a:rPr>
              <a:t>8</a:t>
            </a:r>
          </a:p>
          <a:p>
            <a:pPr marL="0" indent="0">
              <a:buNone/>
            </a:pPr>
            <a:r>
              <a:rPr lang="en-US" dirty="0">
                <a:solidFill>
                  <a:srgbClr val="0070C0"/>
                </a:solidFill>
              </a:rPr>
              <a:t>7</a:t>
            </a:r>
          </a:p>
          <a:p>
            <a:pPr marL="0" indent="0">
              <a:buNone/>
            </a:pPr>
            <a:r>
              <a:rPr lang="en-US" dirty="0">
                <a:solidFill>
                  <a:srgbClr val="0070C0"/>
                </a:solidFill>
              </a:rPr>
              <a:t>6</a:t>
            </a:r>
          </a:p>
          <a:p>
            <a:pPr marL="0" indent="0">
              <a:buNone/>
            </a:pPr>
            <a:r>
              <a:rPr lang="en-US" dirty="0">
                <a:solidFill>
                  <a:srgbClr val="0070C0"/>
                </a:solidFill>
              </a:rPr>
              <a:t>5</a:t>
            </a:r>
          </a:p>
          <a:p>
            <a:pPr marL="0" indent="0">
              <a:buNone/>
            </a:pPr>
            <a:r>
              <a:rPr lang="en-US" dirty="0">
                <a:solidFill>
                  <a:srgbClr val="0070C0"/>
                </a:solidFill>
              </a:rPr>
              <a:t>4</a:t>
            </a:r>
          </a:p>
          <a:p>
            <a:pPr marL="0" indent="0">
              <a:buNone/>
            </a:pPr>
            <a:r>
              <a:rPr lang="en-US" dirty="0">
                <a:solidFill>
                  <a:srgbClr val="0070C0"/>
                </a:solidFill>
              </a:rPr>
              <a:t>3</a:t>
            </a:r>
          </a:p>
          <a:p>
            <a:pPr marL="0" indent="0">
              <a:buNone/>
            </a:pPr>
            <a:r>
              <a:rPr lang="en-US" dirty="0">
                <a:solidFill>
                  <a:srgbClr val="0070C0"/>
                </a:solidFill>
              </a:rPr>
              <a:t>2</a:t>
            </a:r>
            <a:endParaRPr lang="ru-RU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316619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 smtClean="0">
                <a:solidFill>
                  <a:schemeClr val="accent2">
                    <a:lumMod val="75000"/>
                  </a:schemeClr>
                </a:solidFill>
              </a:rPr>
              <a:t>Цикл со счетчиком</a:t>
            </a:r>
            <a:endParaRPr lang="ru-RU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-RU" dirty="0"/>
              <a:t>Во всех предыдущих примерах в качестве переменной цикла фигурировало число. В терминах программирования цикл </a:t>
            </a:r>
            <a:r>
              <a:rPr lang="ru-RU" i="1" dirty="0"/>
              <a:t>осуществлял перебор </a:t>
            </a:r>
            <a:r>
              <a:rPr lang="ru-RU" dirty="0"/>
              <a:t>списка чисел. </a:t>
            </a:r>
            <a:endParaRPr lang="ru-RU" dirty="0" smtClean="0"/>
          </a:p>
          <a:p>
            <a:r>
              <a:rPr lang="ru-RU" dirty="0" smtClean="0"/>
              <a:t>Но </a:t>
            </a:r>
            <a:r>
              <a:rPr lang="ru-RU" dirty="0"/>
              <a:t>список может состоять из чего угодно. </a:t>
            </a:r>
            <a:endParaRPr lang="ru-RU" dirty="0" smtClean="0"/>
          </a:p>
          <a:p>
            <a:r>
              <a:rPr lang="ru-RU" dirty="0" smtClean="0"/>
              <a:t>Можно </a:t>
            </a:r>
            <a:r>
              <a:rPr lang="ru-RU" dirty="0"/>
              <a:t>взять список символов (строку). А можно воспользоваться списком строк или еще чем-нибудь.</a:t>
            </a:r>
          </a:p>
          <a:p>
            <a:r>
              <a:rPr lang="ru-RU" dirty="0"/>
              <a:t>Как это работает, лучше всего посмотреть на примере.</a:t>
            </a:r>
          </a:p>
          <a:p>
            <a:pPr marL="0" indent="0">
              <a:buNone/>
            </a:pPr>
            <a:endParaRPr lang="ru-RU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184773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 smtClean="0">
                <a:solidFill>
                  <a:schemeClr val="accent2">
                    <a:lumMod val="75000"/>
                  </a:schemeClr>
                </a:solidFill>
              </a:rPr>
              <a:t>Цикл со счетчиком</a:t>
            </a:r>
            <a:endParaRPr lang="ru-RU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>
                <a:solidFill>
                  <a:schemeClr val="accent2">
                    <a:lumMod val="75000"/>
                  </a:schemeClr>
                </a:solidFill>
              </a:rPr>
              <a:t>for</a:t>
            </a:r>
            <a:r>
              <a:rPr lang="en-US" dirty="0"/>
              <a:t> </a:t>
            </a:r>
            <a:r>
              <a:rPr lang="en-US" dirty="0" err="1"/>
              <a:t>i</a:t>
            </a:r>
            <a:r>
              <a:rPr lang="en-US" dirty="0"/>
              <a:t> </a:t>
            </a:r>
            <a:r>
              <a:rPr lang="en-US" dirty="0">
                <a:solidFill>
                  <a:schemeClr val="accent2">
                    <a:lumMod val="75000"/>
                  </a:schemeClr>
                </a:solidFill>
              </a:rPr>
              <a:t>in</a:t>
            </a:r>
            <a:r>
              <a:rPr lang="en-US" dirty="0"/>
              <a:t> </a:t>
            </a:r>
            <a:r>
              <a:rPr lang="en-US" dirty="0">
                <a:solidFill>
                  <a:srgbClr val="00B050"/>
                </a:solidFill>
              </a:rPr>
              <a:t>'</a:t>
            </a:r>
            <a:r>
              <a:rPr lang="ru-RU" dirty="0">
                <a:solidFill>
                  <a:srgbClr val="00B050"/>
                </a:solidFill>
              </a:rPr>
              <a:t>мама'</a:t>
            </a:r>
            <a:r>
              <a:rPr lang="ru-RU" dirty="0"/>
              <a:t>:</a:t>
            </a:r>
          </a:p>
          <a:p>
            <a:pPr marL="0" indent="0">
              <a:buNone/>
            </a:pPr>
            <a:r>
              <a:rPr lang="ru-RU" dirty="0"/>
              <a:t>	    </a:t>
            </a:r>
            <a:r>
              <a:rPr lang="en-US" dirty="0">
                <a:solidFill>
                  <a:srgbClr val="7030A0"/>
                </a:solidFill>
              </a:rPr>
              <a:t>print</a:t>
            </a:r>
            <a:r>
              <a:rPr lang="en-US" dirty="0"/>
              <a:t> (</a:t>
            </a:r>
            <a:r>
              <a:rPr lang="en-US" dirty="0" err="1"/>
              <a:t>i</a:t>
            </a:r>
            <a:r>
              <a:rPr lang="en-US" dirty="0"/>
              <a:t>)</a:t>
            </a:r>
          </a:p>
          <a:p>
            <a:pPr marL="0" indent="0">
              <a:buNone/>
            </a:pPr>
            <a:r>
              <a:rPr lang="en-US" dirty="0" smtClean="0">
                <a:solidFill>
                  <a:srgbClr val="0070C0"/>
                </a:solidFill>
              </a:rPr>
              <a:t>    </a:t>
            </a:r>
            <a:endParaRPr lang="en-US" dirty="0">
              <a:solidFill>
                <a:srgbClr val="0070C0"/>
              </a:solidFill>
            </a:endParaRPr>
          </a:p>
          <a:p>
            <a:pPr marL="0" indent="0">
              <a:buNone/>
            </a:pPr>
            <a:r>
              <a:rPr lang="ru-RU" dirty="0">
                <a:solidFill>
                  <a:srgbClr val="0070C0"/>
                </a:solidFill>
              </a:rPr>
              <a:t>м</a:t>
            </a:r>
          </a:p>
          <a:p>
            <a:pPr marL="0" indent="0">
              <a:buNone/>
            </a:pPr>
            <a:r>
              <a:rPr lang="ru-RU" dirty="0">
                <a:solidFill>
                  <a:srgbClr val="0070C0"/>
                </a:solidFill>
              </a:rPr>
              <a:t>а</a:t>
            </a:r>
          </a:p>
          <a:p>
            <a:pPr marL="0" indent="0">
              <a:buNone/>
            </a:pPr>
            <a:r>
              <a:rPr lang="ru-RU" dirty="0">
                <a:solidFill>
                  <a:srgbClr val="0070C0"/>
                </a:solidFill>
              </a:rPr>
              <a:t>м</a:t>
            </a:r>
          </a:p>
          <a:p>
            <a:pPr marL="0" indent="0">
              <a:buNone/>
            </a:pPr>
            <a:r>
              <a:rPr lang="ru-RU" dirty="0">
                <a:solidFill>
                  <a:srgbClr val="0070C0"/>
                </a:solidFill>
              </a:rPr>
              <a:t>а</a:t>
            </a:r>
          </a:p>
        </p:txBody>
      </p:sp>
    </p:spTree>
    <p:extLst>
      <p:ext uri="{BB962C8B-B14F-4D97-AF65-F5344CB8AC3E}">
        <p14:creationId xmlns:p14="http://schemas.microsoft.com/office/powerpoint/2010/main" val="18149991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 smtClean="0">
                <a:solidFill>
                  <a:schemeClr val="accent2">
                    <a:lumMod val="75000"/>
                  </a:schemeClr>
                </a:solidFill>
              </a:rPr>
              <a:t>Цикл со счетчиком (графические примеры)</a:t>
            </a:r>
            <a:endParaRPr lang="ru-RU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ru-RU" dirty="0" smtClean="0"/>
              <a:t>Мы </a:t>
            </a:r>
            <a:r>
              <a:rPr lang="ru-RU" dirty="0"/>
              <a:t>нарисуем с помощью цикла </a:t>
            </a:r>
            <a:r>
              <a:rPr lang="en-US" i="1" dirty="0"/>
              <a:t>for</a:t>
            </a:r>
            <a:r>
              <a:rPr lang="en-US" dirty="0"/>
              <a:t> </a:t>
            </a:r>
            <a:r>
              <a:rPr lang="ru-RU" dirty="0"/>
              <a:t>пять концентрических окружностей</a:t>
            </a:r>
            <a:r>
              <a:rPr lang="ru-RU" dirty="0" smtClean="0"/>
              <a:t>.</a:t>
            </a:r>
          </a:p>
          <a:p>
            <a:pPr marL="0" indent="0">
              <a:buNone/>
            </a:pPr>
            <a:r>
              <a:rPr lang="ru-RU" dirty="0" smtClean="0"/>
              <a:t>На следующих двух слайдах код программы, на третьем слайде результат </a:t>
            </a:r>
          </a:p>
          <a:p>
            <a:pPr marL="0" indent="0">
              <a:buNone/>
            </a:pPr>
            <a:endParaRPr lang="ru-RU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182670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 smtClean="0">
                <a:solidFill>
                  <a:schemeClr val="accent2">
                    <a:lumMod val="75000"/>
                  </a:schemeClr>
                </a:solidFill>
              </a:rPr>
              <a:t>Цикл со счетчиком (графические примеры)</a:t>
            </a:r>
            <a:endParaRPr lang="ru-RU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pPr marL="0" indent="0">
              <a:buNone/>
            </a:pPr>
            <a:r>
              <a:rPr lang="en-US" dirty="0">
                <a:solidFill>
                  <a:schemeClr val="accent2">
                    <a:lumMod val="75000"/>
                  </a:schemeClr>
                </a:solidFill>
              </a:rPr>
              <a:t>import</a:t>
            </a:r>
            <a:r>
              <a:rPr lang="en-US" dirty="0"/>
              <a:t> </a:t>
            </a:r>
            <a:r>
              <a:rPr lang="en-US" dirty="0" err="1"/>
              <a:t>pygame</a:t>
            </a:r>
            <a:endParaRPr lang="en-US" dirty="0"/>
          </a:p>
          <a:p>
            <a:pPr marL="0" indent="0">
              <a:buNone/>
            </a:pPr>
            <a:r>
              <a:rPr lang="en-US" dirty="0" err="1"/>
              <a:t>pygame.init</a:t>
            </a:r>
            <a:r>
              <a:rPr lang="en-US" dirty="0"/>
              <a:t>()</a:t>
            </a:r>
          </a:p>
          <a:p>
            <a:pPr marL="0" indent="0">
              <a:buNone/>
            </a:pPr>
            <a:r>
              <a:rPr lang="en-US" dirty="0">
                <a:solidFill>
                  <a:schemeClr val="accent2">
                    <a:lumMod val="75000"/>
                  </a:schemeClr>
                </a:solidFill>
              </a:rPr>
              <a:t>from</a:t>
            </a:r>
            <a:r>
              <a:rPr lang="en-US" dirty="0"/>
              <a:t> </a:t>
            </a:r>
            <a:r>
              <a:rPr lang="en-US" dirty="0" err="1"/>
              <a:t>pygame.color</a:t>
            </a:r>
            <a:r>
              <a:rPr lang="en-US" dirty="0"/>
              <a:t> </a:t>
            </a:r>
            <a:r>
              <a:rPr lang="en-US" dirty="0">
                <a:solidFill>
                  <a:schemeClr val="accent2">
                    <a:lumMod val="75000"/>
                  </a:schemeClr>
                </a:solidFill>
              </a:rPr>
              <a:t>import</a:t>
            </a:r>
            <a:r>
              <a:rPr lang="en-US" dirty="0"/>
              <a:t> THECOLORS </a:t>
            </a:r>
            <a:r>
              <a:rPr lang="en-US" dirty="0" smtClean="0">
                <a:solidFill>
                  <a:srgbClr val="00B050"/>
                </a:solidFill>
              </a:rPr>
              <a:t>colors</a:t>
            </a:r>
            <a:r>
              <a:rPr lang="en-US" dirty="0">
                <a:solidFill>
                  <a:srgbClr val="00B050"/>
                </a:solidFill>
              </a:rPr>
              <a:t>=["</a:t>
            </a:r>
            <a:r>
              <a:rPr lang="en-US" dirty="0" err="1">
                <a:solidFill>
                  <a:srgbClr val="00B050"/>
                </a:solidFill>
              </a:rPr>
              <a:t>red","blue","green","yellow","magenta</a:t>
            </a:r>
            <a:r>
              <a:rPr lang="en-US" dirty="0">
                <a:solidFill>
                  <a:srgbClr val="00B050"/>
                </a:solidFill>
              </a:rPr>
              <a:t>"]</a:t>
            </a:r>
          </a:p>
          <a:p>
            <a:pPr marL="0" indent="0">
              <a:buNone/>
            </a:pPr>
            <a:r>
              <a:rPr lang="en-US" dirty="0"/>
              <a:t>screen = </a:t>
            </a:r>
            <a:r>
              <a:rPr lang="en-US" dirty="0" err="1"/>
              <a:t>pygame.display.set_mode</a:t>
            </a:r>
            <a:r>
              <a:rPr lang="en-US" dirty="0"/>
              <a:t>([640,480])</a:t>
            </a:r>
          </a:p>
          <a:p>
            <a:pPr marL="0" indent="0">
              <a:buNone/>
            </a:pPr>
            <a:r>
              <a:rPr lang="en-US" dirty="0" err="1"/>
              <a:t>screen.fill</a:t>
            </a:r>
            <a:r>
              <a:rPr lang="en-US" dirty="0"/>
              <a:t>([255,255,255]) # </a:t>
            </a:r>
            <a:r>
              <a:rPr lang="ru-RU" dirty="0"/>
              <a:t>Белый экран</a:t>
            </a:r>
          </a:p>
          <a:p>
            <a:pPr marL="0" indent="0">
              <a:buNone/>
            </a:pPr>
            <a:r>
              <a:rPr lang="en-US" dirty="0">
                <a:solidFill>
                  <a:schemeClr val="accent2">
                    <a:lumMod val="75000"/>
                  </a:schemeClr>
                </a:solidFill>
              </a:rPr>
              <a:t>for</a:t>
            </a:r>
            <a:r>
              <a:rPr lang="en-US" dirty="0"/>
              <a:t> </a:t>
            </a:r>
            <a:r>
              <a:rPr lang="en-US" dirty="0" err="1"/>
              <a:t>i</a:t>
            </a:r>
            <a:r>
              <a:rPr lang="en-US" dirty="0"/>
              <a:t> </a:t>
            </a:r>
            <a:r>
              <a:rPr lang="en-US" dirty="0">
                <a:solidFill>
                  <a:schemeClr val="accent2">
                    <a:lumMod val="75000"/>
                  </a:schemeClr>
                </a:solidFill>
              </a:rPr>
              <a:t>in</a:t>
            </a:r>
            <a:r>
              <a:rPr lang="en-US" dirty="0"/>
              <a:t> range (1,6):</a:t>
            </a:r>
          </a:p>
          <a:p>
            <a:pPr marL="0" indent="0">
              <a:buNone/>
            </a:pPr>
            <a:r>
              <a:rPr lang="en-US" dirty="0"/>
              <a:t>    </a:t>
            </a:r>
            <a:r>
              <a:rPr lang="en-US" dirty="0" err="1"/>
              <a:t>pygame.draw.circle</a:t>
            </a:r>
            <a:r>
              <a:rPr lang="en-US" dirty="0"/>
              <a:t>(screen, THECOLORS[colors[i-1]],[320,240], </a:t>
            </a:r>
            <a:r>
              <a:rPr lang="en-US" dirty="0" err="1"/>
              <a:t>i</a:t>
            </a:r>
            <a:r>
              <a:rPr lang="en-US" dirty="0"/>
              <a:t>*20, 2)</a:t>
            </a:r>
          </a:p>
          <a:p>
            <a:pPr marL="0" indent="0">
              <a:buNone/>
            </a:pPr>
            <a:r>
              <a:rPr lang="en-US" dirty="0"/>
              <a:t>#</a:t>
            </a:r>
            <a:r>
              <a:rPr lang="ru-RU" dirty="0"/>
              <a:t>Тело цикла</a:t>
            </a:r>
          </a:p>
        </p:txBody>
      </p:sp>
    </p:spTree>
    <p:extLst>
      <p:ext uri="{BB962C8B-B14F-4D97-AF65-F5344CB8AC3E}">
        <p14:creationId xmlns:p14="http://schemas.microsoft.com/office/powerpoint/2010/main" val="9324737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 smtClean="0">
                <a:solidFill>
                  <a:schemeClr val="accent2">
                    <a:lumMod val="75000"/>
                  </a:schemeClr>
                </a:solidFill>
              </a:rPr>
              <a:t>Цикл со счетчиком (графические примеры)</a:t>
            </a:r>
            <a:endParaRPr lang="ru-RU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 err="1"/>
              <a:t>pygame.display.flip</a:t>
            </a:r>
            <a:r>
              <a:rPr lang="en-US" dirty="0" smtClean="0"/>
              <a:t>()</a:t>
            </a:r>
            <a:endParaRPr lang="ru-RU" dirty="0"/>
          </a:p>
          <a:p>
            <a:pPr marL="0" indent="0">
              <a:buNone/>
            </a:pPr>
            <a:r>
              <a:rPr lang="en-US" dirty="0"/>
              <a:t>running  = </a:t>
            </a:r>
            <a:r>
              <a:rPr lang="en-US" dirty="0">
                <a:solidFill>
                  <a:schemeClr val="accent2">
                    <a:lumMod val="75000"/>
                  </a:schemeClr>
                </a:solidFill>
              </a:rPr>
              <a:t>True</a:t>
            </a:r>
          </a:p>
          <a:p>
            <a:pPr marL="0" indent="0">
              <a:buNone/>
            </a:pPr>
            <a:r>
              <a:rPr lang="en-US" dirty="0">
                <a:solidFill>
                  <a:schemeClr val="accent2">
                    <a:lumMod val="75000"/>
                  </a:schemeClr>
                </a:solidFill>
              </a:rPr>
              <a:t>while</a:t>
            </a:r>
            <a:r>
              <a:rPr lang="en-US" dirty="0"/>
              <a:t> running:</a:t>
            </a:r>
          </a:p>
          <a:p>
            <a:pPr marL="0" indent="0">
              <a:buNone/>
            </a:pPr>
            <a:r>
              <a:rPr lang="en-US" dirty="0"/>
              <a:t>   </a:t>
            </a:r>
            <a:r>
              <a:rPr lang="en-US" dirty="0">
                <a:solidFill>
                  <a:schemeClr val="accent2">
                    <a:lumMod val="75000"/>
                  </a:schemeClr>
                </a:solidFill>
              </a:rPr>
              <a:t> for </a:t>
            </a:r>
            <a:r>
              <a:rPr lang="en-US" dirty="0"/>
              <a:t>event </a:t>
            </a:r>
            <a:r>
              <a:rPr lang="en-US" dirty="0">
                <a:solidFill>
                  <a:schemeClr val="accent2">
                    <a:lumMod val="75000"/>
                  </a:schemeClr>
                </a:solidFill>
              </a:rPr>
              <a:t>in</a:t>
            </a:r>
            <a:r>
              <a:rPr lang="en-US" dirty="0"/>
              <a:t> </a:t>
            </a:r>
            <a:r>
              <a:rPr lang="en-US" dirty="0" err="1"/>
              <a:t>pygame.event.get</a:t>
            </a:r>
            <a:r>
              <a:rPr lang="en-US" dirty="0"/>
              <a:t>():</a:t>
            </a:r>
          </a:p>
          <a:p>
            <a:pPr marL="0" indent="0">
              <a:buNone/>
            </a:pPr>
            <a:r>
              <a:rPr lang="en-US" dirty="0">
                <a:solidFill>
                  <a:schemeClr val="accent2">
                    <a:lumMod val="75000"/>
                  </a:schemeClr>
                </a:solidFill>
              </a:rPr>
              <a:t>        if </a:t>
            </a:r>
            <a:r>
              <a:rPr lang="en-US" dirty="0" err="1"/>
              <a:t>event.type</a:t>
            </a:r>
            <a:r>
              <a:rPr lang="en-US" dirty="0"/>
              <a:t> == </a:t>
            </a:r>
            <a:r>
              <a:rPr lang="en-US" dirty="0" err="1"/>
              <a:t>pygame.QUIT</a:t>
            </a:r>
            <a:r>
              <a:rPr lang="en-US" dirty="0"/>
              <a:t>: </a:t>
            </a:r>
          </a:p>
          <a:p>
            <a:pPr marL="0" indent="0">
              <a:buNone/>
            </a:pPr>
            <a:r>
              <a:rPr lang="en-US" dirty="0"/>
              <a:t>            running = </a:t>
            </a:r>
            <a:r>
              <a:rPr lang="en-US" dirty="0">
                <a:solidFill>
                  <a:schemeClr val="accent2">
                    <a:lumMod val="75000"/>
                  </a:schemeClr>
                </a:solidFill>
              </a:rPr>
              <a:t>False</a:t>
            </a:r>
          </a:p>
          <a:p>
            <a:pPr marL="0" indent="0">
              <a:buNone/>
            </a:pPr>
            <a:r>
              <a:rPr lang="en-US" dirty="0" err="1"/>
              <a:t>pygame.quit</a:t>
            </a:r>
            <a:r>
              <a:rPr lang="en-US" dirty="0"/>
              <a:t>()</a:t>
            </a:r>
          </a:p>
          <a:p>
            <a:pPr marL="0" indent="0">
              <a:buNone/>
            </a:pP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0229509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 smtClean="0">
                <a:solidFill>
                  <a:schemeClr val="accent2">
                    <a:lumMod val="75000"/>
                  </a:schemeClr>
                </a:solidFill>
              </a:rPr>
              <a:t>Цикл со счетчиком (графические примеры)</a:t>
            </a:r>
            <a:endParaRPr lang="ru-RU" dirty="0">
              <a:solidFill>
                <a:schemeClr val="accent2">
                  <a:lumMod val="75000"/>
                </a:schemeClr>
              </a:solidFill>
            </a:endParaRPr>
          </a:p>
        </p:txBody>
      </p:sp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346021" y="1825625"/>
            <a:ext cx="5499957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32525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 smtClean="0">
                <a:solidFill>
                  <a:schemeClr val="accent2">
                    <a:lumMod val="75000"/>
                  </a:schemeClr>
                </a:solidFill>
              </a:rPr>
              <a:t>Цикл со счетчиком (графические примеры)</a:t>
            </a:r>
            <a:endParaRPr lang="ru-RU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 smtClean="0"/>
              <a:t>Самостоятельно: нарисовать концентрические окружности со смещенным центром.</a:t>
            </a:r>
          </a:p>
          <a:p>
            <a:r>
              <a:rPr lang="ru-RU" dirty="0" smtClean="0"/>
              <a:t>Вот что должно получиться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2980676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 smtClean="0">
                <a:solidFill>
                  <a:schemeClr val="accent2">
                    <a:lumMod val="75000"/>
                  </a:schemeClr>
                </a:solidFill>
              </a:rPr>
              <a:t>Цикл со счетчиком (графические примеры)</a:t>
            </a:r>
            <a:endParaRPr lang="ru-RU" dirty="0">
              <a:solidFill>
                <a:schemeClr val="accent2">
                  <a:lumMod val="75000"/>
                </a:schemeClr>
              </a:solidFill>
            </a:endParaRPr>
          </a:p>
        </p:txBody>
      </p:sp>
      <p:pic>
        <p:nvPicPr>
          <p:cNvPr id="7" name="Объект 6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346021" y="1825625"/>
            <a:ext cx="5499957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80829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 smtClean="0">
                <a:solidFill>
                  <a:schemeClr val="accent2">
                    <a:lumMod val="75000"/>
                  </a:schemeClr>
                </a:solidFill>
              </a:rPr>
              <a:t>Цикл со счетчиком (графические примеры)</a:t>
            </a:r>
            <a:endParaRPr lang="ru-RU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С помощью нисходящего цикла мы нарисуем концентрические закрашенные круги.</a:t>
            </a:r>
          </a:p>
          <a:p>
            <a:r>
              <a:rPr lang="ru-RU" dirty="0" smtClean="0"/>
              <a:t>Смысл этой задачи в том, что сначала рисуется самый большой закрашенный круг, внутри его круг с меньшим радиусом и так далее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9089951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 smtClean="0">
                <a:solidFill>
                  <a:schemeClr val="accent2">
                    <a:lumMod val="75000"/>
                  </a:schemeClr>
                </a:solidFill>
              </a:rPr>
              <a:t>Цикл со счетчиком (графические примеры)</a:t>
            </a:r>
            <a:endParaRPr lang="ru-RU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>
                <a:solidFill>
                  <a:schemeClr val="accent2">
                    <a:lumMod val="75000"/>
                  </a:schemeClr>
                </a:solidFill>
              </a:rPr>
              <a:t>import</a:t>
            </a:r>
            <a:r>
              <a:rPr lang="en-US" dirty="0"/>
              <a:t> </a:t>
            </a:r>
            <a:r>
              <a:rPr lang="en-US" dirty="0" err="1"/>
              <a:t>pygame</a:t>
            </a:r>
            <a:endParaRPr lang="en-US" dirty="0"/>
          </a:p>
          <a:p>
            <a:pPr marL="0" indent="0">
              <a:buNone/>
            </a:pPr>
            <a:r>
              <a:rPr lang="en-US" dirty="0" err="1"/>
              <a:t>pygame.init</a:t>
            </a:r>
            <a:r>
              <a:rPr lang="en-US" dirty="0"/>
              <a:t>()</a:t>
            </a:r>
          </a:p>
          <a:p>
            <a:pPr marL="0" indent="0">
              <a:buNone/>
            </a:pPr>
            <a:r>
              <a:rPr lang="en-US" dirty="0">
                <a:solidFill>
                  <a:schemeClr val="accent2">
                    <a:lumMod val="75000"/>
                  </a:schemeClr>
                </a:solidFill>
              </a:rPr>
              <a:t>from</a:t>
            </a:r>
            <a:r>
              <a:rPr lang="en-US" dirty="0"/>
              <a:t> </a:t>
            </a:r>
            <a:r>
              <a:rPr lang="en-US" dirty="0" err="1"/>
              <a:t>pygame.color</a:t>
            </a:r>
            <a:r>
              <a:rPr lang="en-US" dirty="0"/>
              <a:t> </a:t>
            </a:r>
            <a:r>
              <a:rPr lang="en-US" dirty="0">
                <a:solidFill>
                  <a:schemeClr val="accent2">
                    <a:lumMod val="75000"/>
                  </a:schemeClr>
                </a:solidFill>
              </a:rPr>
              <a:t>import</a:t>
            </a:r>
            <a:r>
              <a:rPr lang="en-US" dirty="0"/>
              <a:t> THECOLORS</a:t>
            </a:r>
          </a:p>
          <a:p>
            <a:pPr marL="0" indent="0">
              <a:buNone/>
            </a:pPr>
            <a:r>
              <a:rPr lang="en-US" dirty="0"/>
              <a:t>colors=[</a:t>
            </a:r>
            <a:r>
              <a:rPr lang="en-US" dirty="0">
                <a:solidFill>
                  <a:srgbClr val="00B050"/>
                </a:solidFill>
              </a:rPr>
              <a:t>"</a:t>
            </a:r>
            <a:r>
              <a:rPr lang="en-US" dirty="0" err="1">
                <a:solidFill>
                  <a:srgbClr val="00B050"/>
                </a:solidFill>
              </a:rPr>
              <a:t>red","blue","green","yellow","magenta</a:t>
            </a:r>
            <a:r>
              <a:rPr lang="en-US" dirty="0">
                <a:solidFill>
                  <a:srgbClr val="00B050"/>
                </a:solidFill>
              </a:rPr>
              <a:t>"]</a:t>
            </a:r>
          </a:p>
          <a:p>
            <a:pPr marL="0" indent="0">
              <a:buNone/>
            </a:pPr>
            <a:r>
              <a:rPr lang="en-US" dirty="0"/>
              <a:t>screen = </a:t>
            </a:r>
            <a:r>
              <a:rPr lang="en-US" dirty="0" err="1"/>
              <a:t>pygame.display.set_mode</a:t>
            </a:r>
            <a:r>
              <a:rPr lang="en-US" dirty="0"/>
              <a:t>([640,480])</a:t>
            </a:r>
          </a:p>
          <a:p>
            <a:pPr marL="0" indent="0">
              <a:buNone/>
            </a:pPr>
            <a:r>
              <a:rPr lang="en-US" dirty="0" err="1"/>
              <a:t>screen.fill</a:t>
            </a:r>
            <a:r>
              <a:rPr lang="en-US" dirty="0"/>
              <a:t>([255,255,255]) # fill screen with white</a:t>
            </a:r>
          </a:p>
          <a:p>
            <a:pPr marL="0" indent="0">
              <a:buNone/>
            </a:pPr>
            <a:r>
              <a:rPr lang="en-US" dirty="0">
                <a:solidFill>
                  <a:schemeClr val="accent2">
                    <a:lumMod val="75000"/>
                  </a:schemeClr>
                </a:solidFill>
              </a:rPr>
              <a:t>for</a:t>
            </a:r>
            <a:r>
              <a:rPr lang="en-US" dirty="0"/>
              <a:t> </a:t>
            </a:r>
            <a:r>
              <a:rPr lang="en-US" dirty="0" err="1"/>
              <a:t>i</a:t>
            </a:r>
            <a:r>
              <a:rPr lang="en-US" dirty="0"/>
              <a:t> </a:t>
            </a:r>
            <a:r>
              <a:rPr lang="en-US" dirty="0">
                <a:solidFill>
                  <a:schemeClr val="accent2">
                    <a:lumMod val="75000"/>
                  </a:schemeClr>
                </a:solidFill>
              </a:rPr>
              <a:t>in</a:t>
            </a:r>
            <a:r>
              <a:rPr lang="en-US" dirty="0"/>
              <a:t> range (5,0,-1):</a:t>
            </a:r>
          </a:p>
          <a:p>
            <a:pPr marL="0" indent="0">
              <a:buNone/>
            </a:pPr>
            <a:r>
              <a:rPr lang="en-US" dirty="0" err="1" smtClean="0"/>
              <a:t>pygame.draw.circle</a:t>
            </a:r>
            <a:r>
              <a:rPr lang="en-US" dirty="0" smtClean="0"/>
              <a:t>(screen</a:t>
            </a:r>
            <a:r>
              <a:rPr lang="en-US" dirty="0"/>
              <a:t>, THECOLORS[colors[i-1]],[320,240], </a:t>
            </a:r>
            <a:r>
              <a:rPr lang="en-US" dirty="0" err="1"/>
              <a:t>i</a:t>
            </a:r>
            <a:r>
              <a:rPr lang="en-US" dirty="0"/>
              <a:t>*20, 0) 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2704631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 smtClean="0">
                <a:solidFill>
                  <a:schemeClr val="accent2">
                    <a:lumMod val="75000"/>
                  </a:schemeClr>
                </a:solidFill>
              </a:rPr>
              <a:t>Цикл со счетчиком (графические примеры)</a:t>
            </a:r>
            <a:endParaRPr lang="ru-RU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 err="1"/>
              <a:t>pygame.display.flip</a:t>
            </a:r>
            <a:r>
              <a:rPr lang="en-US" dirty="0"/>
              <a:t>()</a:t>
            </a:r>
          </a:p>
          <a:p>
            <a:pPr marL="0" indent="0">
              <a:buNone/>
            </a:pPr>
            <a:r>
              <a:rPr lang="en-US" dirty="0"/>
              <a:t>running  = </a:t>
            </a:r>
            <a:r>
              <a:rPr lang="en-US" dirty="0">
                <a:solidFill>
                  <a:schemeClr val="accent2">
                    <a:lumMod val="75000"/>
                  </a:schemeClr>
                </a:solidFill>
              </a:rPr>
              <a:t>True</a:t>
            </a:r>
          </a:p>
          <a:p>
            <a:pPr marL="0" indent="0">
              <a:buNone/>
            </a:pPr>
            <a:r>
              <a:rPr lang="en-US" dirty="0">
                <a:solidFill>
                  <a:schemeClr val="accent2">
                    <a:lumMod val="75000"/>
                  </a:schemeClr>
                </a:solidFill>
              </a:rPr>
              <a:t>while</a:t>
            </a:r>
            <a:r>
              <a:rPr lang="en-US" dirty="0"/>
              <a:t> running:</a:t>
            </a:r>
          </a:p>
          <a:p>
            <a:pPr marL="0" indent="0">
              <a:buNone/>
            </a:pPr>
            <a:r>
              <a:rPr lang="en-US" dirty="0"/>
              <a:t>    </a:t>
            </a:r>
            <a:r>
              <a:rPr lang="en-US" dirty="0">
                <a:solidFill>
                  <a:schemeClr val="accent2">
                    <a:lumMod val="75000"/>
                  </a:schemeClr>
                </a:solidFill>
              </a:rPr>
              <a:t>for</a:t>
            </a:r>
            <a:r>
              <a:rPr lang="en-US" dirty="0"/>
              <a:t> event </a:t>
            </a:r>
            <a:r>
              <a:rPr lang="en-US" dirty="0">
                <a:solidFill>
                  <a:schemeClr val="accent2">
                    <a:lumMod val="75000"/>
                  </a:schemeClr>
                </a:solidFill>
              </a:rPr>
              <a:t>in</a:t>
            </a:r>
            <a:r>
              <a:rPr lang="en-US" dirty="0"/>
              <a:t> </a:t>
            </a:r>
            <a:r>
              <a:rPr lang="en-US" dirty="0" err="1"/>
              <a:t>pygame.event.get</a:t>
            </a:r>
            <a:r>
              <a:rPr lang="en-US" dirty="0"/>
              <a:t>():</a:t>
            </a:r>
          </a:p>
          <a:p>
            <a:pPr marL="0" indent="0">
              <a:buNone/>
            </a:pPr>
            <a:r>
              <a:rPr lang="en-US" dirty="0"/>
              <a:t>       </a:t>
            </a:r>
            <a:r>
              <a:rPr lang="en-US" dirty="0">
                <a:solidFill>
                  <a:schemeClr val="accent2">
                    <a:lumMod val="75000"/>
                  </a:schemeClr>
                </a:solidFill>
              </a:rPr>
              <a:t> if </a:t>
            </a:r>
            <a:r>
              <a:rPr lang="en-US" dirty="0" err="1"/>
              <a:t>event.type</a:t>
            </a:r>
            <a:r>
              <a:rPr lang="en-US" dirty="0"/>
              <a:t> == </a:t>
            </a:r>
            <a:r>
              <a:rPr lang="en-US" dirty="0" err="1"/>
              <a:t>pygame.QUIT</a:t>
            </a:r>
            <a:r>
              <a:rPr lang="en-US" dirty="0"/>
              <a:t>: </a:t>
            </a:r>
          </a:p>
          <a:p>
            <a:pPr marL="0" indent="0">
              <a:buNone/>
            </a:pPr>
            <a:r>
              <a:rPr lang="en-US" dirty="0"/>
              <a:t>            running = </a:t>
            </a:r>
            <a:r>
              <a:rPr lang="en-US" dirty="0">
                <a:solidFill>
                  <a:schemeClr val="accent2">
                    <a:lumMod val="75000"/>
                  </a:schemeClr>
                </a:solidFill>
              </a:rPr>
              <a:t>False</a:t>
            </a:r>
          </a:p>
          <a:p>
            <a:pPr marL="0" indent="0">
              <a:buNone/>
            </a:pPr>
            <a:r>
              <a:rPr lang="en-US" dirty="0" err="1"/>
              <a:t>pygame.quit</a:t>
            </a:r>
            <a:r>
              <a:rPr lang="en-US" dirty="0"/>
              <a:t>()</a:t>
            </a:r>
          </a:p>
          <a:p>
            <a:pPr marL="0" indent="0">
              <a:buNone/>
            </a:pP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1936838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 smtClean="0">
                <a:solidFill>
                  <a:schemeClr val="accent2">
                    <a:lumMod val="75000"/>
                  </a:schemeClr>
                </a:solidFill>
              </a:rPr>
              <a:t>Цикл со счетчиком (графические примеры)</a:t>
            </a:r>
            <a:endParaRPr lang="ru-RU" dirty="0">
              <a:solidFill>
                <a:schemeClr val="accent2">
                  <a:lumMod val="75000"/>
                </a:schemeClr>
              </a:solidFill>
            </a:endParaRPr>
          </a:p>
        </p:txBody>
      </p:sp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346021" y="1825625"/>
            <a:ext cx="5499957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95683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 smtClean="0">
                <a:solidFill>
                  <a:schemeClr val="accent2">
                    <a:lumMod val="75000"/>
                  </a:schemeClr>
                </a:solidFill>
              </a:rPr>
              <a:t>Цикл </a:t>
            </a:r>
            <a:r>
              <a:rPr lang="ru-RU" dirty="0" smtClean="0">
                <a:solidFill>
                  <a:schemeClr val="accent2">
                    <a:lumMod val="75000"/>
                  </a:schemeClr>
                </a:solidFill>
              </a:rPr>
              <a:t>со счетчиком</a:t>
            </a:r>
            <a:r>
              <a:rPr lang="ru-RU" dirty="0"/>
              <a:t/>
            </a:r>
            <a:br>
              <a:rPr lang="ru-RU" dirty="0"/>
            </a:b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ru-RU" sz="2400" dirty="0" smtClean="0"/>
              <a:t>Построение правильного многоугольника</a:t>
            </a:r>
          </a:p>
          <a:p>
            <a:pPr marL="0" indent="0">
              <a:buNone/>
            </a:pPr>
            <a:r>
              <a:rPr lang="ru-RU" sz="2400" dirty="0">
                <a:solidFill>
                  <a:srgbClr val="FF0000"/>
                </a:solidFill>
              </a:rPr>
              <a:t>#Построение правильного многоугольника</a:t>
            </a:r>
          </a:p>
          <a:p>
            <a:pPr marL="0" indent="0">
              <a:buNone/>
            </a:pPr>
            <a:r>
              <a:rPr lang="en-US" sz="2400" dirty="0">
                <a:solidFill>
                  <a:schemeClr val="accent2">
                    <a:lumMod val="75000"/>
                  </a:schemeClr>
                </a:solidFill>
              </a:rPr>
              <a:t>import</a:t>
            </a:r>
            <a:r>
              <a:rPr lang="en-US" sz="2400" dirty="0"/>
              <a:t> </a:t>
            </a:r>
            <a:r>
              <a:rPr lang="en-US" sz="2400" dirty="0" err="1"/>
              <a:t>pygame</a:t>
            </a:r>
            <a:endParaRPr lang="en-US" sz="2400" dirty="0"/>
          </a:p>
          <a:p>
            <a:pPr marL="0" indent="0">
              <a:buNone/>
            </a:pPr>
            <a:r>
              <a:rPr lang="en-US" sz="2400" dirty="0">
                <a:solidFill>
                  <a:schemeClr val="accent2">
                    <a:lumMod val="75000"/>
                  </a:schemeClr>
                </a:solidFill>
              </a:rPr>
              <a:t>from</a:t>
            </a:r>
            <a:r>
              <a:rPr lang="en-US" sz="2400" dirty="0"/>
              <a:t> math </a:t>
            </a:r>
            <a:r>
              <a:rPr lang="en-US" sz="2400" dirty="0">
                <a:solidFill>
                  <a:schemeClr val="accent2">
                    <a:lumMod val="75000"/>
                  </a:schemeClr>
                </a:solidFill>
              </a:rPr>
              <a:t>import</a:t>
            </a:r>
            <a:r>
              <a:rPr lang="en-US" sz="2400" dirty="0"/>
              <a:t>*</a:t>
            </a:r>
          </a:p>
          <a:p>
            <a:pPr marL="0" indent="0">
              <a:buNone/>
            </a:pPr>
            <a:r>
              <a:rPr lang="en-US" sz="2400" dirty="0"/>
              <a:t>n=</a:t>
            </a:r>
            <a:r>
              <a:rPr lang="en-US" sz="2400" dirty="0" err="1">
                <a:solidFill>
                  <a:srgbClr val="7030A0"/>
                </a:solidFill>
              </a:rPr>
              <a:t>int</a:t>
            </a:r>
            <a:r>
              <a:rPr lang="en-US" sz="2400" dirty="0"/>
              <a:t>(</a:t>
            </a:r>
            <a:r>
              <a:rPr lang="en-US" sz="2400" dirty="0">
                <a:solidFill>
                  <a:srgbClr val="7030A0"/>
                </a:solidFill>
              </a:rPr>
              <a:t>input</a:t>
            </a:r>
            <a:r>
              <a:rPr lang="en-US" sz="2400" dirty="0"/>
              <a:t>(</a:t>
            </a:r>
            <a:r>
              <a:rPr lang="en-US" sz="2400" dirty="0">
                <a:solidFill>
                  <a:srgbClr val="00B050"/>
                </a:solidFill>
              </a:rPr>
              <a:t>'</a:t>
            </a:r>
            <a:r>
              <a:rPr lang="ru-RU" sz="2400" dirty="0">
                <a:solidFill>
                  <a:srgbClr val="00B050"/>
                </a:solidFill>
              </a:rPr>
              <a:t>Введите количество сторон многоугольника\</a:t>
            </a:r>
            <a:r>
              <a:rPr lang="en-US" sz="2400" dirty="0">
                <a:solidFill>
                  <a:srgbClr val="00B050"/>
                </a:solidFill>
              </a:rPr>
              <a:t>n'</a:t>
            </a:r>
            <a:r>
              <a:rPr lang="en-US" sz="2400" dirty="0"/>
              <a:t>))</a:t>
            </a:r>
          </a:p>
          <a:p>
            <a:pPr marL="0" indent="0">
              <a:buNone/>
            </a:pPr>
            <a:r>
              <a:rPr lang="en-US" sz="2400" dirty="0" err="1"/>
              <a:t>pygame.init</a:t>
            </a:r>
            <a:r>
              <a:rPr lang="en-US" sz="2400" dirty="0"/>
              <a:t>()</a:t>
            </a:r>
          </a:p>
          <a:p>
            <a:pPr marL="0" indent="0">
              <a:buNone/>
            </a:pPr>
            <a:r>
              <a:rPr lang="en-US" sz="2400" dirty="0">
                <a:solidFill>
                  <a:schemeClr val="accent2">
                    <a:lumMod val="75000"/>
                  </a:schemeClr>
                </a:solidFill>
              </a:rPr>
              <a:t>from</a:t>
            </a:r>
            <a:r>
              <a:rPr lang="en-US" sz="2400" dirty="0"/>
              <a:t> </a:t>
            </a:r>
            <a:r>
              <a:rPr lang="en-US" sz="2400" dirty="0" err="1"/>
              <a:t>pygame.color</a:t>
            </a:r>
            <a:r>
              <a:rPr lang="en-US" sz="2400" dirty="0"/>
              <a:t> </a:t>
            </a:r>
            <a:r>
              <a:rPr lang="en-US" sz="2400" dirty="0">
                <a:solidFill>
                  <a:schemeClr val="accent2">
                    <a:lumMod val="75000"/>
                  </a:schemeClr>
                </a:solidFill>
              </a:rPr>
              <a:t>import </a:t>
            </a:r>
            <a:r>
              <a:rPr lang="en-US" sz="2400" dirty="0"/>
              <a:t>THECOLORS</a:t>
            </a:r>
          </a:p>
          <a:p>
            <a:pPr marL="0" indent="0">
              <a:buNone/>
            </a:pPr>
            <a:r>
              <a:rPr lang="en-US" sz="2400" dirty="0"/>
              <a:t>screen = </a:t>
            </a:r>
            <a:r>
              <a:rPr lang="en-US" sz="2400" dirty="0" err="1"/>
              <a:t>pygame.display.set_mode</a:t>
            </a:r>
            <a:r>
              <a:rPr lang="en-US" sz="2400" dirty="0"/>
              <a:t>([640,480])</a:t>
            </a:r>
          </a:p>
          <a:p>
            <a:pPr marL="0" indent="0">
              <a:buNone/>
            </a:pPr>
            <a:r>
              <a:rPr lang="en-US" sz="2400" dirty="0" err="1"/>
              <a:t>screen.fill</a:t>
            </a:r>
            <a:r>
              <a:rPr lang="en-US" sz="2400" dirty="0"/>
              <a:t>([255,255,255</a:t>
            </a:r>
            <a:r>
              <a:rPr lang="en-US" sz="2400" dirty="0" smtClean="0"/>
              <a:t>])</a:t>
            </a:r>
            <a:endParaRPr lang="en-US" sz="2400" dirty="0"/>
          </a:p>
          <a:p>
            <a:pPr marL="0" indent="0">
              <a:buNone/>
            </a:pPr>
            <a:r>
              <a:rPr lang="en-US" sz="2400" dirty="0" smtClean="0"/>
              <a:t>r=200</a:t>
            </a:r>
            <a:r>
              <a:rPr lang="ru-RU" sz="2400" dirty="0" smtClean="0"/>
              <a:t> </a:t>
            </a:r>
            <a:r>
              <a:rPr lang="en-US" sz="2400" dirty="0" smtClean="0">
                <a:solidFill>
                  <a:srgbClr val="FF0000"/>
                </a:solidFill>
              </a:rPr>
              <a:t>#</a:t>
            </a:r>
            <a:r>
              <a:rPr lang="ru-RU" sz="2400" dirty="0" smtClean="0">
                <a:solidFill>
                  <a:srgbClr val="FF0000"/>
                </a:solidFill>
              </a:rPr>
              <a:t>Радиус описанной окружности</a:t>
            </a:r>
            <a:endParaRPr lang="en-US" sz="2400" dirty="0">
              <a:solidFill>
                <a:srgbClr val="FF0000"/>
              </a:solidFill>
            </a:endParaRPr>
          </a:p>
          <a:p>
            <a:pPr marL="0" indent="0">
              <a:buNone/>
            </a:pPr>
            <a:r>
              <a:rPr lang="en-US" sz="2400" dirty="0"/>
              <a:t>x0=320</a:t>
            </a:r>
          </a:p>
          <a:p>
            <a:pPr marL="0" indent="0">
              <a:buNone/>
            </a:pPr>
            <a:r>
              <a:rPr lang="en-US" sz="2400" dirty="0"/>
              <a:t>y0=240</a:t>
            </a:r>
            <a:endParaRPr lang="ru-RU" sz="2400" dirty="0"/>
          </a:p>
        </p:txBody>
      </p:sp>
    </p:spTree>
    <p:extLst>
      <p:ext uri="{BB962C8B-B14F-4D97-AF65-F5344CB8AC3E}">
        <p14:creationId xmlns:p14="http://schemas.microsoft.com/office/powerpoint/2010/main" val="4280049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>
                <a:solidFill>
                  <a:schemeClr val="accent2">
                    <a:lumMod val="75000"/>
                  </a:schemeClr>
                </a:solidFill>
              </a:rPr>
              <a:t>Цикл со счетчиком</a:t>
            </a:r>
            <a:r>
              <a:rPr lang="ru-RU" dirty="0"/>
              <a:t/>
            </a:r>
            <a:br>
              <a:rPr lang="ru-RU" dirty="0"/>
            </a:b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for</a:t>
            </a:r>
            <a:r>
              <a:rPr lang="en-US" sz="2400" dirty="0"/>
              <a:t> </a:t>
            </a:r>
            <a:r>
              <a:rPr lang="en-US" sz="2400" dirty="0" err="1"/>
              <a:t>i</a:t>
            </a:r>
            <a:r>
              <a:rPr lang="en-US" sz="2400" dirty="0"/>
              <a:t> </a:t>
            </a:r>
            <a:r>
              <a:rPr lang="en-US" sz="2400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in</a:t>
            </a:r>
            <a:r>
              <a:rPr lang="en-US" sz="2400" dirty="0">
                <a:solidFill>
                  <a:srgbClr val="7030A0"/>
                </a:solidFill>
              </a:rPr>
              <a:t> range </a:t>
            </a:r>
            <a:r>
              <a:rPr lang="en-US" sz="2400" dirty="0"/>
              <a:t>(n):</a:t>
            </a:r>
          </a:p>
          <a:p>
            <a:pPr marL="0" indent="0">
              <a:buNone/>
            </a:pPr>
            <a:r>
              <a:rPr lang="en-US" sz="2400" dirty="0"/>
              <a:t>    x=x0+trunc(r*cos(</a:t>
            </a:r>
            <a:r>
              <a:rPr lang="en-US" sz="2400" dirty="0" err="1"/>
              <a:t>i</a:t>
            </a:r>
            <a:r>
              <a:rPr lang="en-US" sz="2400" dirty="0"/>
              <a:t>*2*pi/n))</a:t>
            </a:r>
          </a:p>
          <a:p>
            <a:pPr marL="0" indent="0">
              <a:buNone/>
            </a:pPr>
            <a:r>
              <a:rPr lang="en-US" sz="2400" dirty="0"/>
              <a:t>    x1=x0+trunc(r*cos((i+1)*2*pi/n))</a:t>
            </a:r>
          </a:p>
          <a:p>
            <a:pPr marL="0" indent="0">
              <a:buNone/>
            </a:pPr>
            <a:r>
              <a:rPr lang="en-US" sz="2400" dirty="0"/>
              <a:t>    y=y0+trunc(r*sin(</a:t>
            </a:r>
            <a:r>
              <a:rPr lang="en-US" sz="2400" dirty="0" err="1"/>
              <a:t>i</a:t>
            </a:r>
            <a:r>
              <a:rPr lang="en-US" sz="2400" dirty="0"/>
              <a:t>*2*pi/n))</a:t>
            </a:r>
          </a:p>
          <a:p>
            <a:pPr marL="0" indent="0">
              <a:buNone/>
            </a:pPr>
            <a:r>
              <a:rPr lang="en-US" sz="2400" dirty="0"/>
              <a:t>    y1=y0+trunc(r*sin((i+1)*2*pi/n))</a:t>
            </a:r>
          </a:p>
          <a:p>
            <a:pPr marL="0" indent="0">
              <a:buNone/>
            </a:pPr>
            <a:r>
              <a:rPr lang="en-US" sz="2400" dirty="0"/>
              <a:t>    </a:t>
            </a:r>
            <a:r>
              <a:rPr lang="en-US" sz="2400" dirty="0" err="1"/>
              <a:t>pygame.draw.lines</a:t>
            </a:r>
            <a:r>
              <a:rPr lang="en-US" sz="2400" dirty="0"/>
              <a:t>(screen, THECOLORS[</a:t>
            </a:r>
            <a:r>
              <a:rPr lang="en-US" sz="2400" dirty="0">
                <a:solidFill>
                  <a:srgbClr val="00B050"/>
                </a:solidFill>
              </a:rPr>
              <a:t>'blue'</a:t>
            </a:r>
            <a:r>
              <a:rPr lang="en-US" sz="2400" dirty="0"/>
              <a:t>]</a:t>
            </a:r>
            <a:r>
              <a:rPr lang="en-US" sz="2400" dirty="0">
                <a:solidFill>
                  <a:schemeClr val="accent2">
                    <a:lumMod val="75000"/>
                  </a:schemeClr>
                </a:solidFill>
              </a:rPr>
              <a:t>,False</a:t>
            </a:r>
            <a:r>
              <a:rPr lang="en-US" sz="2400" dirty="0"/>
              <a:t>,[[</a:t>
            </a:r>
            <a:r>
              <a:rPr lang="en-US" sz="2400" dirty="0" err="1"/>
              <a:t>x,y</a:t>
            </a:r>
            <a:r>
              <a:rPr lang="en-US" sz="2400" dirty="0"/>
              <a:t>],[x1,y1]],2)</a:t>
            </a:r>
          </a:p>
          <a:p>
            <a:pPr marL="0" indent="0">
              <a:buNone/>
            </a:pPr>
            <a:r>
              <a:rPr lang="en-US" sz="2400" dirty="0" err="1"/>
              <a:t>pygame.display.flip</a:t>
            </a:r>
            <a:r>
              <a:rPr lang="en-US" sz="2400" dirty="0"/>
              <a:t>() </a:t>
            </a:r>
            <a:endParaRPr lang="ru-RU" sz="2400" dirty="0"/>
          </a:p>
        </p:txBody>
      </p:sp>
    </p:spTree>
    <p:extLst>
      <p:ext uri="{BB962C8B-B14F-4D97-AF65-F5344CB8AC3E}">
        <p14:creationId xmlns:p14="http://schemas.microsoft.com/office/powerpoint/2010/main" val="22185130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>
                <a:solidFill>
                  <a:schemeClr val="accent2">
                    <a:lumMod val="75000"/>
                  </a:schemeClr>
                </a:solidFill>
              </a:rPr>
              <a:t>Цикл со счетчиком</a:t>
            </a:r>
            <a:r>
              <a:rPr lang="ru-RU" dirty="0"/>
              <a:t/>
            </a:r>
            <a:br>
              <a:rPr lang="ru-RU" dirty="0"/>
            </a:b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dirty="0"/>
              <a:t>running  = </a:t>
            </a:r>
            <a:r>
              <a:rPr lang="en-US" sz="2400" dirty="0">
                <a:solidFill>
                  <a:schemeClr val="accent2">
                    <a:lumMod val="75000"/>
                  </a:schemeClr>
                </a:solidFill>
              </a:rPr>
              <a:t>True</a:t>
            </a:r>
          </a:p>
          <a:p>
            <a:pPr marL="0" indent="0">
              <a:buNone/>
            </a:pPr>
            <a:r>
              <a:rPr lang="en-US" sz="2400" dirty="0">
                <a:solidFill>
                  <a:schemeClr val="accent2">
                    <a:lumMod val="75000"/>
                  </a:schemeClr>
                </a:solidFill>
              </a:rPr>
              <a:t>while</a:t>
            </a:r>
            <a:r>
              <a:rPr lang="en-US" sz="2400" dirty="0"/>
              <a:t> running:</a:t>
            </a:r>
          </a:p>
          <a:p>
            <a:pPr marL="0" indent="0">
              <a:buNone/>
            </a:pPr>
            <a:r>
              <a:rPr lang="en-US" sz="2400" dirty="0">
                <a:solidFill>
                  <a:schemeClr val="accent2">
                    <a:lumMod val="75000"/>
                  </a:schemeClr>
                </a:solidFill>
              </a:rPr>
              <a:t>    for </a:t>
            </a:r>
            <a:r>
              <a:rPr lang="en-US" sz="2400" dirty="0"/>
              <a:t>event </a:t>
            </a:r>
            <a:r>
              <a:rPr lang="en-US" sz="2400" dirty="0">
                <a:solidFill>
                  <a:schemeClr val="accent2">
                    <a:lumMod val="75000"/>
                  </a:schemeClr>
                </a:solidFill>
              </a:rPr>
              <a:t>in</a:t>
            </a:r>
            <a:r>
              <a:rPr lang="en-US" sz="2400" dirty="0"/>
              <a:t> </a:t>
            </a:r>
            <a:r>
              <a:rPr lang="en-US" sz="2400" dirty="0" err="1"/>
              <a:t>pygame.event.get</a:t>
            </a:r>
            <a:r>
              <a:rPr lang="en-US" sz="2400" dirty="0"/>
              <a:t>():</a:t>
            </a:r>
          </a:p>
          <a:p>
            <a:pPr marL="0" indent="0">
              <a:buNone/>
            </a:pPr>
            <a:r>
              <a:rPr lang="en-US" sz="2400" dirty="0"/>
              <a:t>       </a:t>
            </a:r>
            <a:r>
              <a:rPr lang="en-US" sz="2400" dirty="0">
                <a:solidFill>
                  <a:schemeClr val="accent2">
                    <a:lumMod val="75000"/>
                  </a:schemeClr>
                </a:solidFill>
              </a:rPr>
              <a:t> if </a:t>
            </a:r>
            <a:r>
              <a:rPr lang="en-US" sz="2400" dirty="0" err="1"/>
              <a:t>event.type</a:t>
            </a:r>
            <a:r>
              <a:rPr lang="en-US" sz="2400" dirty="0"/>
              <a:t> == </a:t>
            </a:r>
            <a:r>
              <a:rPr lang="en-US" sz="2400" dirty="0" err="1"/>
              <a:t>pygame.QUIT</a:t>
            </a:r>
            <a:r>
              <a:rPr lang="en-US" sz="2400" dirty="0"/>
              <a:t>: </a:t>
            </a:r>
          </a:p>
          <a:p>
            <a:pPr marL="0" indent="0">
              <a:buNone/>
            </a:pPr>
            <a:r>
              <a:rPr lang="en-US" sz="2400" dirty="0"/>
              <a:t>            running = </a:t>
            </a:r>
            <a:r>
              <a:rPr lang="en-US" sz="2400" dirty="0">
                <a:solidFill>
                  <a:schemeClr val="accent2">
                    <a:lumMod val="75000"/>
                  </a:schemeClr>
                </a:solidFill>
              </a:rPr>
              <a:t>False</a:t>
            </a:r>
          </a:p>
          <a:p>
            <a:pPr marL="0" indent="0">
              <a:buNone/>
            </a:pPr>
            <a:r>
              <a:rPr lang="en-US" sz="2400" dirty="0" err="1"/>
              <a:t>pygame.quit</a:t>
            </a:r>
            <a:r>
              <a:rPr lang="en-US" sz="2400" dirty="0"/>
              <a:t>()</a:t>
            </a:r>
            <a:endParaRPr lang="ru-RU" sz="2400" dirty="0"/>
          </a:p>
        </p:txBody>
      </p:sp>
    </p:spTree>
    <p:extLst>
      <p:ext uri="{BB962C8B-B14F-4D97-AF65-F5344CB8AC3E}">
        <p14:creationId xmlns:p14="http://schemas.microsoft.com/office/powerpoint/2010/main" val="1771005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 smtClean="0">
                <a:solidFill>
                  <a:schemeClr val="accent2">
                    <a:lumMod val="75000"/>
                  </a:schemeClr>
                </a:solidFill>
              </a:rPr>
              <a:t>Цикл со счетчиком (графические примеры)</a:t>
            </a:r>
            <a:endParaRPr lang="ru-RU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 smtClean="0"/>
              <a:t>Задание для самостоятельной работы</a:t>
            </a:r>
          </a:p>
          <a:p>
            <a:r>
              <a:rPr lang="ru-RU" dirty="0" smtClean="0"/>
              <a:t>Нарисовать с помощью цикла </a:t>
            </a:r>
            <a:r>
              <a:rPr lang="en-US" dirty="0" smtClean="0"/>
              <a:t>for</a:t>
            </a:r>
          </a:p>
          <a:p>
            <a:r>
              <a:rPr lang="en-US" dirty="0" smtClean="0"/>
              <a:t>1. </a:t>
            </a:r>
            <a:r>
              <a:rPr lang="ru-RU" dirty="0" smtClean="0"/>
              <a:t>Радугу</a:t>
            </a:r>
          </a:p>
          <a:p>
            <a:r>
              <a:rPr lang="ru-RU" dirty="0" smtClean="0"/>
              <a:t>2. </a:t>
            </a:r>
            <a:r>
              <a:rPr lang="ru-RU" dirty="0"/>
              <a:t>Р</a:t>
            </a:r>
            <a:r>
              <a:rPr lang="ru-RU" dirty="0" smtClean="0"/>
              <a:t>оссийский флаг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8512048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 smtClean="0">
                <a:solidFill>
                  <a:srgbClr val="0070C0"/>
                </a:solidFill>
              </a:rPr>
              <a:t>Цикл </a:t>
            </a:r>
            <a:r>
              <a:rPr lang="ru-RU" dirty="0">
                <a:solidFill>
                  <a:srgbClr val="0070C0"/>
                </a:solidFill>
              </a:rPr>
              <a:t>с условием</a:t>
            </a:r>
            <a:r>
              <a:rPr lang="ru-RU" dirty="0"/>
              <a:t/>
            </a:r>
            <a:br>
              <a:rPr lang="ru-RU" dirty="0"/>
            </a:b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ru-RU" dirty="0"/>
              <a:t>Цикл </a:t>
            </a:r>
            <a:r>
              <a:rPr lang="ru-RU" dirty="0" err="1"/>
              <a:t>for</a:t>
            </a:r>
            <a:r>
              <a:rPr lang="ru-RU" dirty="0"/>
              <a:t> замечательно работает, если вы заранее знаете, сколько итераций вам требуется сделать</a:t>
            </a:r>
            <a:r>
              <a:rPr lang="ru-RU" dirty="0" smtClean="0"/>
              <a:t>.</a:t>
            </a:r>
            <a:endParaRPr lang="en-US" dirty="0" smtClean="0"/>
          </a:p>
          <a:p>
            <a:r>
              <a:rPr lang="ru-RU" dirty="0" smtClean="0"/>
              <a:t> </a:t>
            </a:r>
            <a:r>
              <a:rPr lang="ru-RU" dirty="0"/>
              <a:t>Но иногда нужно, чтобы цикл выполнялся до наступления некоего события, и количество итераций в этом случае заранее оценить просто нереально. </a:t>
            </a:r>
            <a:endParaRPr lang="en-US" dirty="0" smtClean="0"/>
          </a:p>
          <a:p>
            <a:r>
              <a:rPr lang="ru-RU" dirty="0" smtClean="0"/>
              <a:t>И </a:t>
            </a:r>
            <a:r>
              <a:rPr lang="ru-RU" dirty="0"/>
              <a:t>здесь вам на помощь приходит цикл </a:t>
            </a:r>
            <a:r>
              <a:rPr lang="ru-RU" dirty="0" err="1"/>
              <a:t>while</a:t>
            </a:r>
            <a:r>
              <a:rPr lang="ru-RU" dirty="0" smtClean="0"/>
              <a:t>.</a:t>
            </a:r>
            <a:endParaRPr lang="en-US" dirty="0" smtClean="0"/>
          </a:p>
          <a:p>
            <a:r>
              <a:rPr lang="ru-RU" dirty="0"/>
              <a:t>Условный цикл в </a:t>
            </a:r>
            <a:r>
              <a:rPr lang="ru-RU" dirty="0" err="1"/>
              <a:t>Python</a:t>
            </a:r>
            <a:r>
              <a:rPr lang="ru-RU" dirty="0"/>
              <a:t> реализуется при помощи ключевого слова </a:t>
            </a:r>
            <a:r>
              <a:rPr lang="ru-RU" dirty="0" err="1"/>
              <a:t>while</a:t>
            </a:r>
            <a:r>
              <a:rPr lang="ru-RU" dirty="0"/>
              <a:t>. </a:t>
            </a:r>
            <a:endParaRPr lang="en-US" dirty="0" smtClean="0"/>
          </a:p>
          <a:p>
            <a:r>
              <a:rPr lang="ru-RU" dirty="0" smtClean="0"/>
              <a:t>Пример </a:t>
            </a:r>
            <a:r>
              <a:rPr lang="ru-RU" dirty="0"/>
              <a:t>программы с таким циклом приведен ниже. Запустите эту программу, чтобы посмотреть, как она работает.</a:t>
            </a:r>
          </a:p>
          <a:p>
            <a:endParaRPr lang="ru-RU" dirty="0"/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8979242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 smtClean="0">
                <a:solidFill>
                  <a:srgbClr val="0070C0"/>
                </a:solidFill>
              </a:rPr>
              <a:t>Цикл </a:t>
            </a:r>
            <a:r>
              <a:rPr lang="ru-RU" dirty="0">
                <a:solidFill>
                  <a:srgbClr val="0070C0"/>
                </a:solidFill>
              </a:rPr>
              <a:t>с условием</a:t>
            </a:r>
            <a:r>
              <a:rPr lang="ru-RU" dirty="0"/>
              <a:t/>
            </a:r>
            <a:br>
              <a:rPr lang="ru-RU" dirty="0"/>
            </a:b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ru-RU" i="1" dirty="0"/>
              <a:t># Пример – выводим числа от 1 до 100 </a:t>
            </a:r>
            <a:endParaRPr lang="ru-RU" dirty="0"/>
          </a:p>
          <a:p>
            <a:pPr marL="0" indent="0">
              <a:buNone/>
            </a:pPr>
            <a:r>
              <a:rPr lang="ru-RU" i="1" dirty="0"/>
              <a:t>i = 1 # &lt;Начальное значение&gt; </a:t>
            </a:r>
            <a:endParaRPr lang="ru-RU" dirty="0"/>
          </a:p>
          <a:p>
            <a:pPr marL="0" indent="0">
              <a:buNone/>
            </a:pPr>
            <a:r>
              <a:rPr lang="ru-RU" i="1" dirty="0" err="1">
                <a:solidFill>
                  <a:schemeClr val="accent2">
                    <a:lumMod val="75000"/>
                  </a:schemeClr>
                </a:solidFill>
              </a:rPr>
              <a:t>while</a:t>
            </a:r>
            <a:r>
              <a:rPr lang="ru-RU" i="1" dirty="0"/>
              <a:t> i &lt; 11: # &lt;Условие&gt; </a:t>
            </a:r>
            <a:endParaRPr lang="ru-RU" dirty="0"/>
          </a:p>
          <a:p>
            <a:pPr marL="457200" lvl="1" indent="0">
              <a:buNone/>
            </a:pPr>
            <a:r>
              <a:rPr lang="ru-RU" i="1" dirty="0" err="1">
                <a:solidFill>
                  <a:srgbClr val="7030A0"/>
                </a:solidFill>
              </a:rPr>
              <a:t>print</a:t>
            </a:r>
            <a:r>
              <a:rPr lang="ru-RU" i="1" dirty="0"/>
              <a:t>(i) # &lt;Инструкции&gt; </a:t>
            </a:r>
            <a:endParaRPr lang="ru-RU" dirty="0"/>
          </a:p>
          <a:p>
            <a:pPr marL="457200" lvl="1" indent="0">
              <a:buNone/>
            </a:pPr>
            <a:r>
              <a:rPr lang="ru-RU" i="1" dirty="0"/>
              <a:t>i =</a:t>
            </a:r>
            <a:r>
              <a:rPr lang="en-US" i="1" dirty="0" err="1"/>
              <a:t>i</a:t>
            </a:r>
            <a:r>
              <a:rPr lang="ru-RU" i="1" dirty="0"/>
              <a:t>+ 1 # &lt;Приращение&gt;</a:t>
            </a:r>
            <a:endParaRPr lang="ru-RU" dirty="0"/>
          </a:p>
          <a:p>
            <a:endParaRPr lang="ru-RU" dirty="0"/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7571115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 smtClean="0">
                <a:solidFill>
                  <a:srgbClr val="0070C0"/>
                </a:solidFill>
              </a:rPr>
              <a:t>Цикл </a:t>
            </a:r>
            <a:r>
              <a:rPr lang="ru-RU" dirty="0">
                <a:solidFill>
                  <a:srgbClr val="0070C0"/>
                </a:solidFill>
              </a:rPr>
              <a:t>с условием</a:t>
            </a:r>
            <a:r>
              <a:rPr lang="ru-RU" dirty="0"/>
              <a:t/>
            </a:r>
            <a:br>
              <a:rPr lang="ru-RU" dirty="0"/>
            </a:b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ru-RU" dirty="0" smtClean="0"/>
              <a:t>Результат</a:t>
            </a:r>
          </a:p>
          <a:p>
            <a:r>
              <a:rPr lang="ru-RU" dirty="0">
                <a:solidFill>
                  <a:srgbClr val="0070C0"/>
                </a:solidFill>
              </a:rPr>
              <a:t>1</a:t>
            </a:r>
          </a:p>
          <a:p>
            <a:r>
              <a:rPr lang="ru-RU" dirty="0">
                <a:solidFill>
                  <a:srgbClr val="0070C0"/>
                </a:solidFill>
              </a:rPr>
              <a:t>2</a:t>
            </a:r>
          </a:p>
          <a:p>
            <a:r>
              <a:rPr lang="ru-RU" dirty="0">
                <a:solidFill>
                  <a:srgbClr val="0070C0"/>
                </a:solidFill>
              </a:rPr>
              <a:t>3</a:t>
            </a:r>
          </a:p>
          <a:p>
            <a:r>
              <a:rPr lang="ru-RU" dirty="0">
                <a:solidFill>
                  <a:srgbClr val="0070C0"/>
                </a:solidFill>
              </a:rPr>
              <a:t>4</a:t>
            </a:r>
          </a:p>
          <a:p>
            <a:r>
              <a:rPr lang="ru-RU" dirty="0">
                <a:solidFill>
                  <a:srgbClr val="0070C0"/>
                </a:solidFill>
              </a:rPr>
              <a:t>5</a:t>
            </a:r>
          </a:p>
          <a:p>
            <a:r>
              <a:rPr lang="ru-RU" dirty="0">
                <a:solidFill>
                  <a:srgbClr val="0070C0"/>
                </a:solidFill>
              </a:rPr>
              <a:t>6</a:t>
            </a:r>
          </a:p>
          <a:p>
            <a:r>
              <a:rPr lang="ru-RU" dirty="0">
                <a:solidFill>
                  <a:srgbClr val="0070C0"/>
                </a:solidFill>
              </a:rPr>
              <a:t>7</a:t>
            </a:r>
          </a:p>
          <a:p>
            <a:r>
              <a:rPr lang="ru-RU" dirty="0">
                <a:solidFill>
                  <a:srgbClr val="0070C0"/>
                </a:solidFill>
              </a:rPr>
              <a:t>8</a:t>
            </a:r>
          </a:p>
          <a:p>
            <a:r>
              <a:rPr lang="ru-RU" dirty="0">
                <a:solidFill>
                  <a:srgbClr val="0070C0"/>
                </a:solidFill>
              </a:rPr>
              <a:t>9</a:t>
            </a:r>
          </a:p>
          <a:p>
            <a:r>
              <a:rPr lang="ru-RU" dirty="0">
                <a:solidFill>
                  <a:srgbClr val="0070C0"/>
                </a:solidFill>
              </a:rPr>
              <a:t>10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1321797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 smtClean="0">
                <a:solidFill>
                  <a:srgbClr val="0070C0"/>
                </a:solidFill>
              </a:rPr>
              <a:t>Цикл </a:t>
            </a:r>
            <a:r>
              <a:rPr lang="ru-RU" dirty="0">
                <a:solidFill>
                  <a:srgbClr val="0070C0"/>
                </a:solidFill>
              </a:rPr>
              <a:t>с условием</a:t>
            </a:r>
            <a:r>
              <a:rPr lang="ru-RU" dirty="0"/>
              <a:t/>
            </a:r>
            <a:br>
              <a:rPr lang="ru-RU" dirty="0"/>
            </a:b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ru-RU" dirty="0" smtClean="0"/>
              <a:t>Перейдем к графическим примерам.</a:t>
            </a:r>
          </a:p>
          <a:p>
            <a:pPr marL="0" indent="0">
              <a:buNone/>
            </a:pPr>
            <a:r>
              <a:rPr lang="ru-RU" dirty="0"/>
              <a:t>Следующая программа с помощью цикла </a:t>
            </a:r>
            <a:r>
              <a:rPr lang="en-US" dirty="0"/>
              <a:t>while </a:t>
            </a:r>
            <a:r>
              <a:rPr lang="ru-RU" dirty="0"/>
              <a:t>нарисует окружности, диаметр которых ограничен высотой экрана на синем фоне.</a:t>
            </a:r>
          </a:p>
          <a:p>
            <a:pPr marL="0" indent="0">
              <a:buNone/>
            </a:pP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9761710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 smtClean="0">
                <a:solidFill>
                  <a:srgbClr val="0070C0"/>
                </a:solidFill>
              </a:rPr>
              <a:t>Цикл </a:t>
            </a:r>
            <a:r>
              <a:rPr lang="ru-RU" dirty="0">
                <a:solidFill>
                  <a:srgbClr val="0070C0"/>
                </a:solidFill>
              </a:rPr>
              <a:t>с условием</a:t>
            </a:r>
            <a:r>
              <a:rPr lang="ru-RU" dirty="0"/>
              <a:t/>
            </a:r>
            <a:br>
              <a:rPr lang="ru-RU" dirty="0"/>
            </a:b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>
                <a:solidFill>
                  <a:schemeClr val="accent2">
                    <a:lumMod val="75000"/>
                  </a:schemeClr>
                </a:solidFill>
              </a:rPr>
              <a:t>import</a:t>
            </a:r>
            <a:r>
              <a:rPr lang="en-US" dirty="0"/>
              <a:t> </a:t>
            </a:r>
            <a:r>
              <a:rPr lang="en-US" dirty="0" err="1"/>
              <a:t>pygame</a:t>
            </a:r>
            <a:r>
              <a:rPr lang="en-US" dirty="0"/>
              <a:t>, sys</a:t>
            </a:r>
          </a:p>
          <a:p>
            <a:pPr marL="0" indent="0">
              <a:buNone/>
            </a:pPr>
            <a:r>
              <a:rPr lang="en-US" dirty="0" err="1"/>
              <a:t>pygame.init</a:t>
            </a:r>
            <a:r>
              <a:rPr lang="en-US" dirty="0"/>
              <a:t>()</a:t>
            </a:r>
          </a:p>
          <a:p>
            <a:pPr marL="0" indent="0">
              <a:buNone/>
            </a:pPr>
            <a:r>
              <a:rPr lang="en-US" dirty="0">
                <a:solidFill>
                  <a:schemeClr val="accent2">
                    <a:lumMod val="75000"/>
                  </a:schemeClr>
                </a:solidFill>
              </a:rPr>
              <a:t>from</a:t>
            </a:r>
            <a:r>
              <a:rPr lang="en-US" dirty="0"/>
              <a:t> </a:t>
            </a:r>
            <a:r>
              <a:rPr lang="en-US" dirty="0" err="1"/>
              <a:t>pygame.color</a:t>
            </a:r>
            <a:r>
              <a:rPr lang="en-US" dirty="0"/>
              <a:t> </a:t>
            </a:r>
            <a:r>
              <a:rPr lang="en-US" dirty="0">
                <a:solidFill>
                  <a:schemeClr val="accent2">
                    <a:lumMod val="75000"/>
                  </a:schemeClr>
                </a:solidFill>
              </a:rPr>
              <a:t>import</a:t>
            </a:r>
            <a:r>
              <a:rPr lang="en-US" dirty="0"/>
              <a:t> THECOLORS</a:t>
            </a:r>
          </a:p>
          <a:p>
            <a:pPr marL="0" indent="0">
              <a:buNone/>
            </a:pPr>
            <a:r>
              <a:rPr lang="en-US" dirty="0"/>
              <a:t>colors=[</a:t>
            </a:r>
            <a:r>
              <a:rPr lang="en-US" dirty="0">
                <a:solidFill>
                  <a:srgbClr val="00B050"/>
                </a:solidFill>
              </a:rPr>
              <a:t>"</a:t>
            </a:r>
            <a:r>
              <a:rPr lang="en-US" dirty="0" err="1">
                <a:solidFill>
                  <a:srgbClr val="00B050"/>
                </a:solidFill>
              </a:rPr>
              <a:t>red","white","green","yellow","magenta</a:t>
            </a:r>
            <a:r>
              <a:rPr lang="en-US" dirty="0">
                <a:solidFill>
                  <a:srgbClr val="00B050"/>
                </a:solidFill>
              </a:rPr>
              <a:t>"</a:t>
            </a:r>
            <a:r>
              <a:rPr lang="en-US" dirty="0"/>
              <a:t>]</a:t>
            </a:r>
          </a:p>
          <a:p>
            <a:pPr marL="0" indent="0">
              <a:buNone/>
            </a:pPr>
            <a:r>
              <a:rPr lang="en-US" dirty="0"/>
              <a:t>screen = </a:t>
            </a:r>
            <a:r>
              <a:rPr lang="en-US" dirty="0" err="1"/>
              <a:t>pygame.display.set_mode</a:t>
            </a:r>
            <a:r>
              <a:rPr lang="en-US" dirty="0"/>
              <a:t>([640,480])</a:t>
            </a:r>
          </a:p>
          <a:p>
            <a:pPr marL="0" indent="0">
              <a:buNone/>
            </a:pPr>
            <a:r>
              <a:rPr lang="en-US" dirty="0" err="1"/>
              <a:t>screen.fill</a:t>
            </a:r>
            <a:r>
              <a:rPr lang="en-US" dirty="0"/>
              <a:t>([0,0,255]) </a:t>
            </a:r>
            <a:r>
              <a:rPr lang="en-US" dirty="0">
                <a:solidFill>
                  <a:srgbClr val="FF0000"/>
                </a:solidFill>
              </a:rPr>
              <a:t># fill screen with white</a:t>
            </a:r>
          </a:p>
          <a:p>
            <a:pPr marL="0" indent="0">
              <a:buNone/>
            </a:pPr>
            <a:r>
              <a:rPr lang="en-US" dirty="0"/>
              <a:t>r=10</a:t>
            </a:r>
          </a:p>
          <a:p>
            <a:pPr marL="0" indent="0">
              <a:buNone/>
            </a:pPr>
            <a:r>
              <a:rPr lang="en-US" dirty="0"/>
              <a:t>col=0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2561494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 smtClean="0">
                <a:solidFill>
                  <a:srgbClr val="0070C0"/>
                </a:solidFill>
              </a:rPr>
              <a:t>Цикл </a:t>
            </a:r>
            <a:r>
              <a:rPr lang="ru-RU" dirty="0">
                <a:solidFill>
                  <a:srgbClr val="0070C0"/>
                </a:solidFill>
              </a:rPr>
              <a:t>с условием</a:t>
            </a:r>
            <a:r>
              <a:rPr lang="ru-RU" dirty="0"/>
              <a:t/>
            </a:r>
            <a:br>
              <a:rPr lang="ru-RU" dirty="0"/>
            </a:b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>
                <a:solidFill>
                  <a:schemeClr val="accent2">
                    <a:lumMod val="75000"/>
                  </a:schemeClr>
                </a:solidFill>
              </a:rPr>
              <a:t>while</a:t>
            </a:r>
            <a:r>
              <a:rPr lang="en-US" dirty="0"/>
              <a:t> r&lt;240:</a:t>
            </a:r>
          </a:p>
          <a:p>
            <a:pPr marL="0" indent="0">
              <a:buNone/>
            </a:pPr>
            <a:r>
              <a:rPr lang="en-US" dirty="0"/>
              <a:t>    </a:t>
            </a:r>
            <a:r>
              <a:rPr lang="en-US" dirty="0" err="1"/>
              <a:t>pygame.draw.circle</a:t>
            </a:r>
            <a:r>
              <a:rPr lang="en-US" dirty="0"/>
              <a:t>(screen, THECOLORS[colors[col]],[320,240], r, 2)</a:t>
            </a:r>
          </a:p>
          <a:p>
            <a:pPr marL="0" indent="0">
              <a:buNone/>
            </a:pPr>
            <a:r>
              <a:rPr lang="en-US" dirty="0"/>
              <a:t>    r=r+10</a:t>
            </a:r>
          </a:p>
          <a:p>
            <a:pPr marL="0" indent="0">
              <a:buNone/>
            </a:pPr>
            <a:r>
              <a:rPr lang="en-US" dirty="0"/>
              <a:t>    col=col+1</a:t>
            </a:r>
          </a:p>
          <a:p>
            <a:pPr marL="0" indent="0">
              <a:buNone/>
            </a:pPr>
            <a:r>
              <a:rPr lang="en-US" dirty="0"/>
              <a:t>    </a:t>
            </a:r>
            <a:r>
              <a:rPr lang="en-US" dirty="0">
                <a:solidFill>
                  <a:schemeClr val="accent2">
                    <a:lumMod val="75000"/>
                  </a:schemeClr>
                </a:solidFill>
              </a:rPr>
              <a:t>if</a:t>
            </a:r>
            <a:r>
              <a:rPr lang="en-US" dirty="0"/>
              <a:t> col==5:</a:t>
            </a:r>
          </a:p>
          <a:p>
            <a:pPr marL="0" indent="0">
              <a:buNone/>
            </a:pPr>
            <a:r>
              <a:rPr lang="en-US" dirty="0"/>
              <a:t>        col=0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9258730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 smtClean="0">
                <a:solidFill>
                  <a:srgbClr val="0070C0"/>
                </a:solidFill>
              </a:rPr>
              <a:t>Цикл </a:t>
            </a:r>
            <a:r>
              <a:rPr lang="ru-RU" dirty="0">
                <a:solidFill>
                  <a:srgbClr val="0070C0"/>
                </a:solidFill>
              </a:rPr>
              <a:t>с условием</a:t>
            </a:r>
            <a:r>
              <a:rPr lang="ru-RU" dirty="0"/>
              <a:t/>
            </a:r>
            <a:br>
              <a:rPr lang="ru-RU" dirty="0"/>
            </a:b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 err="1"/>
              <a:t>pygame.display.flip</a:t>
            </a:r>
            <a:r>
              <a:rPr lang="en-US" dirty="0"/>
              <a:t>()</a:t>
            </a:r>
          </a:p>
          <a:p>
            <a:pPr marL="0" indent="0">
              <a:buNone/>
            </a:pPr>
            <a:r>
              <a:rPr lang="en-US" dirty="0"/>
              <a:t>running  = </a:t>
            </a:r>
            <a:r>
              <a:rPr lang="en-US" dirty="0">
                <a:solidFill>
                  <a:schemeClr val="accent2">
                    <a:lumMod val="75000"/>
                  </a:schemeClr>
                </a:solidFill>
              </a:rPr>
              <a:t>True</a:t>
            </a:r>
          </a:p>
          <a:p>
            <a:pPr marL="0" indent="0">
              <a:buNone/>
            </a:pPr>
            <a:r>
              <a:rPr lang="en-US" dirty="0">
                <a:solidFill>
                  <a:schemeClr val="accent2">
                    <a:lumMod val="75000"/>
                  </a:schemeClr>
                </a:solidFill>
              </a:rPr>
              <a:t>while</a:t>
            </a:r>
            <a:r>
              <a:rPr lang="en-US" dirty="0"/>
              <a:t> running:</a:t>
            </a:r>
          </a:p>
          <a:p>
            <a:pPr marL="0" indent="0">
              <a:buNone/>
            </a:pPr>
            <a:r>
              <a:rPr lang="en-US" dirty="0">
                <a:solidFill>
                  <a:schemeClr val="accent2">
                    <a:lumMod val="75000"/>
                  </a:schemeClr>
                </a:solidFill>
              </a:rPr>
              <a:t>    for </a:t>
            </a:r>
            <a:r>
              <a:rPr lang="en-US" dirty="0"/>
              <a:t>event </a:t>
            </a:r>
            <a:r>
              <a:rPr lang="en-US" dirty="0">
                <a:solidFill>
                  <a:schemeClr val="accent2">
                    <a:lumMod val="75000"/>
                  </a:schemeClr>
                </a:solidFill>
              </a:rPr>
              <a:t>in</a:t>
            </a:r>
            <a:r>
              <a:rPr lang="en-US" dirty="0"/>
              <a:t> </a:t>
            </a:r>
            <a:r>
              <a:rPr lang="en-US" dirty="0" err="1"/>
              <a:t>pygame.event.get</a:t>
            </a:r>
            <a:r>
              <a:rPr lang="en-US" dirty="0"/>
              <a:t>():</a:t>
            </a:r>
          </a:p>
          <a:p>
            <a:pPr marL="0" indent="0">
              <a:buNone/>
            </a:pPr>
            <a:r>
              <a:rPr lang="en-US" dirty="0"/>
              <a:t>        </a:t>
            </a:r>
            <a:r>
              <a:rPr lang="en-US" dirty="0">
                <a:solidFill>
                  <a:schemeClr val="accent2">
                    <a:lumMod val="75000"/>
                  </a:schemeClr>
                </a:solidFill>
              </a:rPr>
              <a:t>if</a:t>
            </a:r>
            <a:r>
              <a:rPr lang="en-US" dirty="0"/>
              <a:t> </a:t>
            </a:r>
            <a:r>
              <a:rPr lang="en-US" dirty="0" err="1"/>
              <a:t>event.type</a:t>
            </a:r>
            <a:r>
              <a:rPr lang="en-US" dirty="0"/>
              <a:t> == </a:t>
            </a:r>
            <a:r>
              <a:rPr lang="en-US" dirty="0" err="1"/>
              <a:t>pygame.QUIT</a:t>
            </a:r>
            <a:r>
              <a:rPr lang="en-US" dirty="0"/>
              <a:t>: </a:t>
            </a:r>
          </a:p>
          <a:p>
            <a:pPr marL="0" indent="0">
              <a:buNone/>
            </a:pPr>
            <a:r>
              <a:rPr lang="en-US" dirty="0"/>
              <a:t>            running = </a:t>
            </a:r>
            <a:r>
              <a:rPr lang="en-US" dirty="0">
                <a:solidFill>
                  <a:schemeClr val="accent2">
                    <a:lumMod val="75000"/>
                  </a:schemeClr>
                </a:solidFill>
              </a:rPr>
              <a:t>False</a:t>
            </a:r>
          </a:p>
          <a:p>
            <a:pPr marL="0" indent="0">
              <a:buNone/>
            </a:pPr>
            <a:r>
              <a:rPr lang="en-US" dirty="0" err="1"/>
              <a:t>pygame.quit</a:t>
            </a:r>
            <a:r>
              <a:rPr lang="en-US" dirty="0" smtClean="0"/>
              <a:t>()</a:t>
            </a:r>
            <a:endParaRPr lang="ru-RU" dirty="0" smtClean="0"/>
          </a:p>
          <a:p>
            <a:pPr marL="0" indent="0">
              <a:buNone/>
            </a:pPr>
            <a:r>
              <a:rPr lang="en-US" dirty="0" smtClean="0">
                <a:solidFill>
                  <a:srgbClr val="FF0000"/>
                </a:solidFill>
              </a:rPr>
              <a:t>#</a:t>
            </a:r>
            <a:r>
              <a:rPr lang="ru-RU" dirty="0" smtClean="0">
                <a:solidFill>
                  <a:srgbClr val="FF0000"/>
                </a:solidFill>
              </a:rPr>
              <a:t>Результат на следующем слайде</a:t>
            </a:r>
            <a:endParaRPr lang="ru-RU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732371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 smtClean="0">
                <a:solidFill>
                  <a:srgbClr val="0070C0"/>
                </a:solidFill>
              </a:rPr>
              <a:t>Цикл </a:t>
            </a:r>
            <a:r>
              <a:rPr lang="ru-RU" dirty="0">
                <a:solidFill>
                  <a:srgbClr val="0070C0"/>
                </a:solidFill>
              </a:rPr>
              <a:t>с условием</a:t>
            </a:r>
            <a:r>
              <a:rPr lang="ru-RU" dirty="0"/>
              <a:t/>
            </a:r>
            <a:br>
              <a:rPr lang="ru-RU" dirty="0"/>
            </a:br>
            <a:endParaRPr lang="ru-RU" dirty="0"/>
          </a:p>
        </p:txBody>
      </p:sp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346021" y="1825625"/>
            <a:ext cx="5499957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6931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 smtClean="0">
                <a:solidFill>
                  <a:srgbClr val="0070C0"/>
                </a:solidFill>
              </a:rPr>
              <a:t>Цикл </a:t>
            </a:r>
            <a:r>
              <a:rPr lang="ru-RU" dirty="0">
                <a:solidFill>
                  <a:srgbClr val="0070C0"/>
                </a:solidFill>
              </a:rPr>
              <a:t>с условием</a:t>
            </a:r>
            <a:r>
              <a:rPr lang="ru-RU" dirty="0"/>
              <a:t/>
            </a:r>
            <a:br>
              <a:rPr lang="ru-RU" dirty="0"/>
            </a:b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ru-RU" dirty="0" smtClean="0"/>
              <a:t>Задача о попадании точки в первую и третью четверть с помощью цикла </a:t>
            </a:r>
            <a:r>
              <a:rPr lang="en-US" dirty="0" smtClean="0">
                <a:solidFill>
                  <a:schemeClr val="accent2">
                    <a:lumMod val="75000"/>
                  </a:schemeClr>
                </a:solidFill>
              </a:rPr>
              <a:t>while</a:t>
            </a:r>
            <a:endParaRPr lang="ru-RU" dirty="0">
              <a:solidFill>
                <a:schemeClr val="accent2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158289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 smtClean="0">
                <a:solidFill>
                  <a:srgbClr val="0070C0"/>
                </a:solidFill>
              </a:rPr>
              <a:t>Цикл </a:t>
            </a:r>
            <a:r>
              <a:rPr lang="ru-RU" dirty="0">
                <a:solidFill>
                  <a:srgbClr val="0070C0"/>
                </a:solidFill>
              </a:rPr>
              <a:t>с условием</a:t>
            </a:r>
            <a:r>
              <a:rPr lang="ru-RU" dirty="0"/>
              <a:t/>
            </a:r>
            <a:br>
              <a:rPr lang="ru-RU" dirty="0"/>
            </a:b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ru-RU" dirty="0">
                <a:solidFill>
                  <a:srgbClr val="FF0000"/>
                </a:solidFill>
              </a:rPr>
              <a:t>#Попадает ли точка в первую или третью четверть</a:t>
            </a:r>
          </a:p>
          <a:p>
            <a:pPr marL="0" indent="0">
              <a:buNone/>
            </a:pPr>
            <a:r>
              <a:rPr lang="en-US" dirty="0">
                <a:solidFill>
                  <a:schemeClr val="accent2">
                    <a:lumMod val="75000"/>
                  </a:schemeClr>
                </a:solidFill>
              </a:rPr>
              <a:t>import</a:t>
            </a:r>
            <a:r>
              <a:rPr lang="en-US" dirty="0"/>
              <a:t> </a:t>
            </a:r>
            <a:r>
              <a:rPr lang="en-US" dirty="0" err="1"/>
              <a:t>pygame</a:t>
            </a:r>
            <a:r>
              <a:rPr lang="en-US" dirty="0"/>
              <a:t>, sys, random</a:t>
            </a:r>
          </a:p>
          <a:p>
            <a:pPr marL="0" indent="0">
              <a:buNone/>
            </a:pPr>
            <a:r>
              <a:rPr lang="en-US" dirty="0" err="1"/>
              <a:t>pygame.init</a:t>
            </a:r>
            <a:r>
              <a:rPr lang="en-US" dirty="0"/>
              <a:t>()</a:t>
            </a:r>
          </a:p>
          <a:p>
            <a:pPr marL="0" indent="0">
              <a:buNone/>
            </a:pPr>
            <a:r>
              <a:rPr lang="en-US" dirty="0">
                <a:solidFill>
                  <a:schemeClr val="accent2">
                    <a:lumMod val="75000"/>
                  </a:schemeClr>
                </a:solidFill>
              </a:rPr>
              <a:t>from</a:t>
            </a:r>
            <a:r>
              <a:rPr lang="en-US" dirty="0"/>
              <a:t> </a:t>
            </a:r>
            <a:r>
              <a:rPr lang="en-US" dirty="0" err="1"/>
              <a:t>pygame.color</a:t>
            </a:r>
            <a:r>
              <a:rPr lang="en-US" dirty="0">
                <a:solidFill>
                  <a:schemeClr val="accent2">
                    <a:lumMod val="75000"/>
                  </a:schemeClr>
                </a:solidFill>
              </a:rPr>
              <a:t> import </a:t>
            </a:r>
            <a:r>
              <a:rPr lang="en-US" dirty="0"/>
              <a:t>THECOLORS</a:t>
            </a:r>
          </a:p>
          <a:p>
            <a:pPr marL="0" indent="0">
              <a:buNone/>
            </a:pPr>
            <a:r>
              <a:rPr lang="en-US" dirty="0"/>
              <a:t>from </a:t>
            </a:r>
            <a:r>
              <a:rPr lang="en-US" dirty="0" err="1"/>
              <a:t>pygame</a:t>
            </a:r>
            <a:r>
              <a:rPr lang="en-US" dirty="0"/>
              <a:t> import font</a:t>
            </a:r>
          </a:p>
          <a:p>
            <a:pPr marL="0" indent="0">
              <a:buNone/>
            </a:pPr>
            <a:r>
              <a:rPr lang="en-US" dirty="0"/>
              <a:t>screen = </a:t>
            </a:r>
            <a:r>
              <a:rPr lang="en-US" dirty="0" err="1"/>
              <a:t>pygame.display.set_mode</a:t>
            </a:r>
            <a:r>
              <a:rPr lang="en-US" dirty="0"/>
              <a:t>([640,480])</a:t>
            </a:r>
          </a:p>
          <a:p>
            <a:pPr marL="0" indent="0">
              <a:buNone/>
            </a:pPr>
            <a:r>
              <a:rPr lang="en-US" dirty="0"/>
              <a:t>font = </a:t>
            </a:r>
            <a:r>
              <a:rPr lang="en-US" dirty="0" err="1"/>
              <a:t>pygame.font.Font</a:t>
            </a:r>
            <a:r>
              <a:rPr lang="en-US" dirty="0"/>
              <a:t>(None, 45)</a:t>
            </a:r>
          </a:p>
          <a:p>
            <a:pPr marL="0" indent="0">
              <a:buNone/>
            </a:pPr>
            <a:r>
              <a:rPr lang="en-US" dirty="0"/>
              <a:t>running = </a:t>
            </a:r>
            <a:r>
              <a:rPr lang="en-US" dirty="0">
                <a:solidFill>
                  <a:schemeClr val="accent2">
                    <a:lumMod val="75000"/>
                  </a:schemeClr>
                </a:solidFill>
              </a:rPr>
              <a:t>True</a:t>
            </a:r>
            <a:endParaRPr lang="ru-RU" dirty="0">
              <a:solidFill>
                <a:schemeClr val="accent2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870144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 smtClean="0">
                <a:solidFill>
                  <a:srgbClr val="0070C0"/>
                </a:solidFill>
              </a:rPr>
              <a:t>Цикл </a:t>
            </a:r>
            <a:r>
              <a:rPr lang="ru-RU" dirty="0">
                <a:solidFill>
                  <a:srgbClr val="0070C0"/>
                </a:solidFill>
              </a:rPr>
              <a:t>с условием</a:t>
            </a:r>
            <a:r>
              <a:rPr lang="ru-RU" dirty="0"/>
              <a:t/>
            </a:r>
            <a:br>
              <a:rPr lang="ru-RU" dirty="0"/>
            </a:b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dirty="0">
                <a:solidFill>
                  <a:schemeClr val="accent2">
                    <a:lumMod val="75000"/>
                  </a:schemeClr>
                </a:solidFill>
              </a:rPr>
              <a:t>while</a:t>
            </a:r>
            <a:r>
              <a:rPr lang="en-US" sz="2400" dirty="0"/>
              <a:t> running:</a:t>
            </a:r>
          </a:p>
          <a:p>
            <a:pPr marL="0" indent="0">
              <a:buNone/>
            </a:pPr>
            <a:r>
              <a:rPr lang="en-US" sz="2400" dirty="0"/>
              <a:t>    </a:t>
            </a:r>
            <a:r>
              <a:rPr lang="en-US" sz="2400" dirty="0" err="1"/>
              <a:t>screen.fill</a:t>
            </a:r>
            <a:r>
              <a:rPr lang="en-US" sz="2400" dirty="0"/>
              <a:t>(THECOLORS['white'])</a:t>
            </a:r>
          </a:p>
          <a:p>
            <a:pPr marL="0" indent="0">
              <a:buNone/>
            </a:pPr>
            <a:r>
              <a:rPr lang="en-US" sz="2400" dirty="0"/>
              <a:t>    </a:t>
            </a:r>
            <a:r>
              <a:rPr lang="en-US" sz="2400" dirty="0" err="1"/>
              <a:t>pygame.draw.lines</a:t>
            </a:r>
            <a:r>
              <a:rPr lang="en-US" sz="2400" dirty="0"/>
              <a:t>(screen, THECOLORS[</a:t>
            </a:r>
            <a:r>
              <a:rPr lang="en-US" sz="2400" dirty="0">
                <a:solidFill>
                  <a:srgbClr val="00B050"/>
                </a:solidFill>
              </a:rPr>
              <a:t>'blue'</a:t>
            </a:r>
            <a:r>
              <a:rPr lang="en-US" sz="2400" dirty="0"/>
              <a:t>]</a:t>
            </a:r>
            <a:r>
              <a:rPr lang="en-US" sz="2400" dirty="0">
                <a:solidFill>
                  <a:srgbClr val="00B050"/>
                </a:solidFill>
              </a:rPr>
              <a:t>,</a:t>
            </a:r>
            <a:r>
              <a:rPr lang="en-US" sz="2400" dirty="0"/>
              <a:t>False,[[320,0],[320,480]],2)</a:t>
            </a:r>
          </a:p>
          <a:p>
            <a:pPr marL="0" indent="0">
              <a:buNone/>
            </a:pPr>
            <a:r>
              <a:rPr lang="en-US" sz="2400" dirty="0"/>
              <a:t>    </a:t>
            </a:r>
            <a:r>
              <a:rPr lang="en-US" sz="2400" dirty="0" err="1"/>
              <a:t>pygame.draw.lines</a:t>
            </a:r>
            <a:r>
              <a:rPr lang="en-US" sz="2400" dirty="0"/>
              <a:t>(screen, THECOLORS[</a:t>
            </a:r>
            <a:r>
              <a:rPr lang="en-US" sz="2400" dirty="0">
                <a:solidFill>
                  <a:srgbClr val="00B050"/>
                </a:solidFill>
              </a:rPr>
              <a:t>'blue'</a:t>
            </a:r>
            <a:r>
              <a:rPr lang="en-US" sz="2400" dirty="0"/>
              <a:t>],False,[[0,240],[640,240]],2)</a:t>
            </a:r>
          </a:p>
          <a:p>
            <a:pPr marL="0" indent="0">
              <a:buNone/>
            </a:pPr>
            <a:r>
              <a:rPr lang="en-US" sz="2400" dirty="0"/>
              <a:t>    x=</a:t>
            </a:r>
            <a:r>
              <a:rPr lang="en-US" sz="2400" dirty="0" err="1"/>
              <a:t>random.randint</a:t>
            </a:r>
            <a:r>
              <a:rPr lang="en-US" sz="2400" dirty="0"/>
              <a:t>(0,640)</a:t>
            </a:r>
          </a:p>
          <a:p>
            <a:pPr marL="0" indent="0">
              <a:buNone/>
            </a:pPr>
            <a:r>
              <a:rPr lang="en-US" sz="2400" dirty="0"/>
              <a:t>    y=</a:t>
            </a:r>
            <a:r>
              <a:rPr lang="en-US" sz="2400" dirty="0" err="1"/>
              <a:t>random.randint</a:t>
            </a:r>
            <a:r>
              <a:rPr lang="en-US" sz="2400" dirty="0"/>
              <a:t>(0, 480)</a:t>
            </a:r>
          </a:p>
          <a:p>
            <a:pPr marL="0" indent="0">
              <a:buNone/>
            </a:pPr>
            <a:r>
              <a:rPr lang="en-US" sz="2400" dirty="0"/>
              <a:t>    </a:t>
            </a:r>
            <a:r>
              <a:rPr lang="en-US" sz="2400" dirty="0" err="1"/>
              <a:t>pygame.draw.circle</a:t>
            </a:r>
            <a:r>
              <a:rPr lang="en-US" sz="2400" dirty="0"/>
              <a:t>(screen, THECOLORS[</a:t>
            </a:r>
            <a:r>
              <a:rPr lang="en-US" sz="2400" dirty="0">
                <a:solidFill>
                  <a:srgbClr val="00B050"/>
                </a:solidFill>
              </a:rPr>
              <a:t>'red'</a:t>
            </a:r>
            <a:r>
              <a:rPr lang="en-US" sz="2400" dirty="0"/>
              <a:t>],[</a:t>
            </a:r>
            <a:r>
              <a:rPr lang="en-US" sz="2400" dirty="0" err="1"/>
              <a:t>x,y</a:t>
            </a:r>
            <a:r>
              <a:rPr lang="en-US" sz="2400" dirty="0"/>
              <a:t>], 2, 0)</a:t>
            </a:r>
            <a:endParaRPr lang="ru-RU" sz="2400" dirty="0"/>
          </a:p>
        </p:txBody>
      </p:sp>
    </p:spTree>
    <p:extLst>
      <p:ext uri="{BB962C8B-B14F-4D97-AF65-F5344CB8AC3E}">
        <p14:creationId xmlns:p14="http://schemas.microsoft.com/office/powerpoint/2010/main" val="37226025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 smtClean="0">
                <a:solidFill>
                  <a:srgbClr val="0070C0"/>
                </a:solidFill>
              </a:rPr>
              <a:t>Цикл </a:t>
            </a:r>
            <a:r>
              <a:rPr lang="ru-RU" dirty="0">
                <a:solidFill>
                  <a:srgbClr val="0070C0"/>
                </a:solidFill>
              </a:rPr>
              <a:t>с условием</a:t>
            </a:r>
            <a:r>
              <a:rPr lang="ru-RU" dirty="0"/>
              <a:t/>
            </a:r>
            <a:br>
              <a:rPr lang="ru-RU" dirty="0"/>
            </a:b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sz="2400" dirty="0"/>
              <a:t> </a:t>
            </a:r>
            <a:r>
              <a:rPr lang="en-US" sz="2400" dirty="0">
                <a:solidFill>
                  <a:schemeClr val="accent2">
                    <a:lumMod val="75000"/>
                  </a:schemeClr>
                </a:solidFill>
              </a:rPr>
              <a:t>if</a:t>
            </a:r>
            <a:r>
              <a:rPr lang="en-US" sz="2400" dirty="0"/>
              <a:t> ((y&lt;240) and (x&gt;320)) or ((y&gt;240) and (x&lt;320)):</a:t>
            </a:r>
          </a:p>
          <a:p>
            <a:pPr marL="0" indent="0">
              <a:buNone/>
            </a:pPr>
            <a:r>
              <a:rPr lang="en-US" sz="2400" dirty="0"/>
              <a:t>        text = </a:t>
            </a:r>
            <a:r>
              <a:rPr lang="en-US" sz="2400" dirty="0" err="1"/>
              <a:t>font.render</a:t>
            </a:r>
            <a:r>
              <a:rPr lang="en-US" sz="2400" dirty="0"/>
              <a:t>("</a:t>
            </a:r>
            <a:r>
              <a:rPr lang="ru-RU" sz="2400" dirty="0"/>
              <a:t>Попадает",1, </a:t>
            </a:r>
            <a:r>
              <a:rPr lang="en-US" sz="2400" dirty="0"/>
              <a:t>THECOLORS [</a:t>
            </a:r>
            <a:r>
              <a:rPr lang="en-US" sz="2400" dirty="0">
                <a:solidFill>
                  <a:srgbClr val="00B050"/>
                </a:solidFill>
              </a:rPr>
              <a:t>"blue"</a:t>
            </a:r>
            <a:r>
              <a:rPr lang="en-US" sz="2400" dirty="0"/>
              <a:t>])</a:t>
            </a:r>
          </a:p>
          <a:p>
            <a:pPr marL="0" indent="0">
              <a:buNone/>
            </a:pPr>
            <a:r>
              <a:rPr lang="en-US" sz="2400" dirty="0"/>
              <a:t>    </a:t>
            </a:r>
            <a:r>
              <a:rPr lang="en-US" sz="2400" dirty="0">
                <a:solidFill>
                  <a:schemeClr val="accent2">
                    <a:lumMod val="75000"/>
                  </a:schemeClr>
                </a:solidFill>
              </a:rPr>
              <a:t>else</a:t>
            </a:r>
            <a:r>
              <a:rPr lang="en-US" sz="2400" dirty="0"/>
              <a:t>:</a:t>
            </a:r>
          </a:p>
          <a:p>
            <a:pPr marL="0" indent="0">
              <a:buNone/>
            </a:pPr>
            <a:r>
              <a:rPr lang="en-US" sz="2400" dirty="0"/>
              <a:t>        text = </a:t>
            </a:r>
            <a:r>
              <a:rPr lang="en-US" sz="2400" dirty="0" err="1"/>
              <a:t>font.render</a:t>
            </a:r>
            <a:r>
              <a:rPr lang="en-US" sz="2400" dirty="0"/>
              <a:t>("</a:t>
            </a:r>
            <a:r>
              <a:rPr lang="ru-RU" sz="2400" dirty="0"/>
              <a:t>Не попадает",1, </a:t>
            </a:r>
            <a:r>
              <a:rPr lang="en-US" sz="2400" dirty="0"/>
              <a:t>THECOLORS [</a:t>
            </a:r>
            <a:r>
              <a:rPr lang="en-US" sz="2400" dirty="0">
                <a:solidFill>
                  <a:srgbClr val="00B050"/>
                </a:solidFill>
              </a:rPr>
              <a:t>"magenta"</a:t>
            </a:r>
            <a:r>
              <a:rPr lang="en-US" sz="2400" dirty="0"/>
              <a:t>])</a:t>
            </a:r>
          </a:p>
          <a:p>
            <a:pPr marL="0" indent="0">
              <a:buNone/>
            </a:pPr>
            <a:r>
              <a:rPr lang="en-US" sz="2400" dirty="0"/>
              <a:t>    </a:t>
            </a:r>
            <a:r>
              <a:rPr lang="en-US" sz="2400" dirty="0" err="1"/>
              <a:t>screen.blit</a:t>
            </a:r>
            <a:r>
              <a:rPr lang="en-US" sz="2400" dirty="0"/>
              <a:t>(text, [370, 400])</a:t>
            </a:r>
          </a:p>
          <a:p>
            <a:pPr marL="0" indent="0">
              <a:buNone/>
            </a:pPr>
            <a:r>
              <a:rPr lang="en-US" sz="2400" dirty="0" smtClean="0"/>
              <a:t>    </a:t>
            </a:r>
            <a:r>
              <a:rPr lang="en-US" sz="2400" dirty="0" err="1" smtClean="0"/>
              <a:t>pygame.time.delay</a:t>
            </a:r>
            <a:r>
              <a:rPr lang="en-US" sz="2400" dirty="0" smtClean="0"/>
              <a:t>(2000</a:t>
            </a:r>
            <a:r>
              <a:rPr lang="en-US" sz="2400" dirty="0"/>
              <a:t>)</a:t>
            </a:r>
          </a:p>
          <a:p>
            <a:pPr marL="0" indent="0">
              <a:buNone/>
            </a:pPr>
            <a:r>
              <a:rPr lang="en-US" sz="2400" dirty="0"/>
              <a:t>    for event in </a:t>
            </a:r>
            <a:r>
              <a:rPr lang="en-US" sz="2400" dirty="0" err="1"/>
              <a:t>pygame.event.get</a:t>
            </a:r>
            <a:r>
              <a:rPr lang="en-US" sz="2400" dirty="0"/>
              <a:t>():</a:t>
            </a:r>
          </a:p>
          <a:p>
            <a:pPr marL="0" indent="0">
              <a:buNone/>
            </a:pPr>
            <a:r>
              <a:rPr lang="en-US" sz="2400" dirty="0"/>
              <a:t>        if </a:t>
            </a:r>
            <a:r>
              <a:rPr lang="en-US" sz="2400" dirty="0" err="1"/>
              <a:t>event.type</a:t>
            </a:r>
            <a:r>
              <a:rPr lang="en-US" sz="2400" dirty="0"/>
              <a:t> == </a:t>
            </a:r>
            <a:r>
              <a:rPr lang="en-US" sz="2400" dirty="0" err="1"/>
              <a:t>pygame.QUIT</a:t>
            </a:r>
            <a:r>
              <a:rPr lang="en-US" sz="2400" dirty="0"/>
              <a:t>: </a:t>
            </a:r>
          </a:p>
          <a:p>
            <a:pPr marL="0" indent="0">
              <a:buNone/>
            </a:pPr>
            <a:r>
              <a:rPr lang="en-US" sz="2400" dirty="0"/>
              <a:t>            running = </a:t>
            </a:r>
            <a:r>
              <a:rPr lang="en-US" sz="2400" dirty="0">
                <a:solidFill>
                  <a:schemeClr val="accent2">
                    <a:lumMod val="75000"/>
                  </a:schemeClr>
                </a:solidFill>
              </a:rPr>
              <a:t>False</a:t>
            </a:r>
          </a:p>
          <a:p>
            <a:pPr marL="0" indent="0">
              <a:buNone/>
            </a:pPr>
            <a:r>
              <a:rPr lang="en-US" sz="2400" dirty="0"/>
              <a:t>    </a:t>
            </a:r>
            <a:r>
              <a:rPr lang="en-US" sz="2400" dirty="0" err="1"/>
              <a:t>pygame.display.flip</a:t>
            </a:r>
            <a:r>
              <a:rPr lang="en-US" sz="2400" dirty="0"/>
              <a:t>()</a:t>
            </a:r>
          </a:p>
          <a:p>
            <a:pPr marL="0" indent="0">
              <a:buNone/>
            </a:pPr>
            <a:r>
              <a:rPr lang="en-US" sz="2400" dirty="0" err="1"/>
              <a:t>pygame.quit</a:t>
            </a:r>
            <a:r>
              <a:rPr lang="en-US" sz="2400" dirty="0"/>
              <a:t>()</a:t>
            </a:r>
            <a:endParaRPr lang="ru-RU" sz="2400" dirty="0"/>
          </a:p>
        </p:txBody>
      </p:sp>
    </p:spTree>
    <p:extLst>
      <p:ext uri="{BB962C8B-B14F-4D97-AF65-F5344CB8AC3E}">
        <p14:creationId xmlns:p14="http://schemas.microsoft.com/office/powerpoint/2010/main" val="41564807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 smtClean="0">
                <a:solidFill>
                  <a:srgbClr val="0070C0"/>
                </a:solidFill>
              </a:rPr>
              <a:t>Цикл </a:t>
            </a:r>
            <a:r>
              <a:rPr lang="ru-RU" dirty="0">
                <a:solidFill>
                  <a:srgbClr val="0070C0"/>
                </a:solidFill>
              </a:rPr>
              <a:t>с условием</a:t>
            </a:r>
            <a:r>
              <a:rPr lang="ru-RU" dirty="0"/>
              <a:t/>
            </a:r>
            <a:br>
              <a:rPr lang="ru-RU" dirty="0"/>
            </a:b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dirty="0"/>
              <a:t> </a:t>
            </a:r>
            <a:r>
              <a:rPr lang="ru-RU" sz="2400" dirty="0" smtClean="0"/>
              <a:t>Задача о двух кругах с помощью цикла </a:t>
            </a:r>
            <a:r>
              <a:rPr lang="en-US" sz="2400" dirty="0" smtClean="0">
                <a:solidFill>
                  <a:schemeClr val="accent2">
                    <a:lumMod val="75000"/>
                  </a:schemeClr>
                </a:solidFill>
              </a:rPr>
              <a:t>while</a:t>
            </a:r>
            <a:endParaRPr lang="ru-RU" sz="2400" dirty="0">
              <a:solidFill>
                <a:schemeClr val="accent2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780384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 smtClean="0">
                <a:solidFill>
                  <a:srgbClr val="0070C0"/>
                </a:solidFill>
              </a:rPr>
              <a:t>Цикл </a:t>
            </a:r>
            <a:r>
              <a:rPr lang="ru-RU" dirty="0">
                <a:solidFill>
                  <a:srgbClr val="0070C0"/>
                </a:solidFill>
              </a:rPr>
              <a:t>с условием</a:t>
            </a:r>
            <a:r>
              <a:rPr lang="ru-RU" dirty="0"/>
              <a:t/>
            </a:r>
            <a:br>
              <a:rPr lang="ru-RU" dirty="0"/>
            </a:b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sz="2400" dirty="0">
                <a:solidFill>
                  <a:srgbClr val="FF0000"/>
                </a:solidFill>
              </a:rPr>
              <a:t> </a:t>
            </a:r>
            <a:r>
              <a:rPr lang="ru-RU" sz="2400" dirty="0">
                <a:solidFill>
                  <a:srgbClr val="FF0000"/>
                </a:solidFill>
              </a:rPr>
              <a:t>#Два круга, попадает ли подвижный в неподвижный</a:t>
            </a:r>
          </a:p>
          <a:p>
            <a:pPr marL="0" indent="0">
              <a:buNone/>
            </a:pPr>
            <a:r>
              <a:rPr lang="en-US" sz="2400" dirty="0">
                <a:solidFill>
                  <a:schemeClr val="accent2">
                    <a:lumMod val="75000"/>
                  </a:schemeClr>
                </a:solidFill>
              </a:rPr>
              <a:t>import</a:t>
            </a:r>
            <a:r>
              <a:rPr lang="en-US" sz="2400" dirty="0"/>
              <a:t> </a:t>
            </a:r>
            <a:r>
              <a:rPr lang="en-US" sz="2400" dirty="0" err="1"/>
              <a:t>pygame</a:t>
            </a:r>
            <a:r>
              <a:rPr lang="en-US" sz="2400" dirty="0"/>
              <a:t>, sys, random</a:t>
            </a:r>
          </a:p>
          <a:p>
            <a:pPr marL="0" indent="0">
              <a:buNone/>
            </a:pPr>
            <a:r>
              <a:rPr lang="en-US" sz="2400" dirty="0" err="1"/>
              <a:t>pygame.init</a:t>
            </a:r>
            <a:r>
              <a:rPr lang="en-US" sz="2400" dirty="0"/>
              <a:t>()</a:t>
            </a:r>
          </a:p>
          <a:p>
            <a:pPr marL="0" indent="0">
              <a:buNone/>
            </a:pPr>
            <a:r>
              <a:rPr lang="en-US" sz="2400" dirty="0">
                <a:solidFill>
                  <a:schemeClr val="accent2">
                    <a:lumMod val="75000"/>
                  </a:schemeClr>
                </a:solidFill>
              </a:rPr>
              <a:t>from</a:t>
            </a:r>
            <a:r>
              <a:rPr lang="en-US" sz="2400" dirty="0"/>
              <a:t> </a:t>
            </a:r>
            <a:r>
              <a:rPr lang="en-US" sz="2400" dirty="0" err="1"/>
              <a:t>pygame.color</a:t>
            </a:r>
            <a:r>
              <a:rPr lang="en-US" sz="2400" dirty="0"/>
              <a:t> </a:t>
            </a:r>
            <a:r>
              <a:rPr lang="en-US" sz="2400" dirty="0">
                <a:solidFill>
                  <a:schemeClr val="accent2">
                    <a:lumMod val="75000"/>
                  </a:schemeClr>
                </a:solidFill>
              </a:rPr>
              <a:t>import</a:t>
            </a:r>
            <a:r>
              <a:rPr lang="en-US" sz="2400" dirty="0"/>
              <a:t> THECOLORS</a:t>
            </a:r>
          </a:p>
          <a:p>
            <a:pPr marL="0" indent="0">
              <a:buNone/>
            </a:pPr>
            <a:r>
              <a:rPr lang="en-US" sz="2400" dirty="0">
                <a:solidFill>
                  <a:schemeClr val="accent2">
                    <a:lumMod val="75000"/>
                  </a:schemeClr>
                </a:solidFill>
              </a:rPr>
              <a:t>from</a:t>
            </a:r>
            <a:r>
              <a:rPr lang="en-US" sz="2400" dirty="0"/>
              <a:t> </a:t>
            </a:r>
            <a:r>
              <a:rPr lang="en-US" sz="2400" dirty="0" err="1"/>
              <a:t>pygame</a:t>
            </a:r>
            <a:r>
              <a:rPr lang="en-US" sz="2400" dirty="0"/>
              <a:t> </a:t>
            </a:r>
            <a:r>
              <a:rPr lang="en-US" sz="2400" dirty="0">
                <a:solidFill>
                  <a:schemeClr val="accent2">
                    <a:lumMod val="75000"/>
                  </a:schemeClr>
                </a:solidFill>
              </a:rPr>
              <a:t>import</a:t>
            </a:r>
            <a:r>
              <a:rPr lang="en-US" sz="2400" dirty="0"/>
              <a:t> font</a:t>
            </a:r>
          </a:p>
          <a:p>
            <a:pPr marL="0" indent="0">
              <a:buNone/>
            </a:pPr>
            <a:r>
              <a:rPr lang="en-US" sz="2400" dirty="0"/>
              <a:t>screen = </a:t>
            </a:r>
            <a:r>
              <a:rPr lang="en-US" sz="2400" dirty="0" err="1"/>
              <a:t>pygame.display.set_mode</a:t>
            </a:r>
            <a:r>
              <a:rPr lang="en-US" sz="2400" dirty="0"/>
              <a:t>([640,480])</a:t>
            </a:r>
          </a:p>
          <a:p>
            <a:pPr marL="0" indent="0">
              <a:buNone/>
            </a:pPr>
            <a:r>
              <a:rPr lang="en-US" sz="2400" dirty="0"/>
              <a:t>font = </a:t>
            </a:r>
            <a:r>
              <a:rPr lang="en-US" sz="2400" dirty="0" err="1"/>
              <a:t>pygame.font.Font</a:t>
            </a:r>
            <a:r>
              <a:rPr lang="en-US" sz="2400" dirty="0"/>
              <a:t>(None, 45)</a:t>
            </a:r>
          </a:p>
          <a:p>
            <a:pPr marL="0" indent="0">
              <a:buNone/>
            </a:pPr>
            <a:r>
              <a:rPr lang="en-US" sz="2400" dirty="0"/>
              <a:t>running = </a:t>
            </a:r>
            <a:r>
              <a:rPr lang="en-US" sz="2400" dirty="0">
                <a:solidFill>
                  <a:schemeClr val="accent2">
                    <a:lumMod val="75000"/>
                  </a:schemeClr>
                </a:solidFill>
              </a:rPr>
              <a:t>True</a:t>
            </a:r>
          </a:p>
          <a:p>
            <a:pPr marL="0" indent="0">
              <a:buNone/>
            </a:pPr>
            <a:r>
              <a:rPr lang="en-US" sz="2400" dirty="0"/>
              <a:t>r1=150</a:t>
            </a:r>
          </a:p>
          <a:p>
            <a:pPr marL="0" indent="0">
              <a:buNone/>
            </a:pPr>
            <a:r>
              <a:rPr lang="en-US" sz="2400" dirty="0"/>
              <a:t>r2=30</a:t>
            </a:r>
            <a:endParaRPr lang="ru-RU" sz="2400" dirty="0">
              <a:solidFill>
                <a:schemeClr val="accent2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613355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 smtClean="0">
                <a:solidFill>
                  <a:srgbClr val="0070C0"/>
                </a:solidFill>
              </a:rPr>
              <a:t>Цикл </a:t>
            </a:r>
            <a:r>
              <a:rPr lang="ru-RU" dirty="0">
                <a:solidFill>
                  <a:srgbClr val="0070C0"/>
                </a:solidFill>
              </a:rPr>
              <a:t>с условием</a:t>
            </a:r>
            <a:r>
              <a:rPr lang="ru-RU" dirty="0"/>
              <a:t/>
            </a:r>
            <a:br>
              <a:rPr lang="ru-RU" dirty="0"/>
            </a:b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dirty="0">
                <a:solidFill>
                  <a:schemeClr val="accent2">
                    <a:lumMod val="75000"/>
                  </a:schemeClr>
                </a:solidFill>
              </a:rPr>
              <a:t> while </a:t>
            </a:r>
            <a:r>
              <a:rPr lang="en-US" sz="2400" dirty="0"/>
              <a:t>running:</a:t>
            </a:r>
          </a:p>
          <a:p>
            <a:pPr marL="0" indent="0">
              <a:buNone/>
            </a:pPr>
            <a:r>
              <a:rPr lang="en-US" sz="2400" dirty="0"/>
              <a:t>    </a:t>
            </a:r>
            <a:r>
              <a:rPr lang="en-US" sz="2400" dirty="0" err="1"/>
              <a:t>screen.fill</a:t>
            </a:r>
            <a:r>
              <a:rPr lang="en-US" sz="2400" dirty="0"/>
              <a:t>(THECOLORS[</a:t>
            </a:r>
            <a:r>
              <a:rPr lang="en-US" sz="2400" dirty="0">
                <a:solidFill>
                  <a:srgbClr val="00B050"/>
                </a:solidFill>
              </a:rPr>
              <a:t>'white'</a:t>
            </a:r>
            <a:r>
              <a:rPr lang="en-US" sz="2400" dirty="0"/>
              <a:t>])</a:t>
            </a:r>
          </a:p>
          <a:p>
            <a:pPr marL="0" indent="0">
              <a:buNone/>
            </a:pPr>
            <a:r>
              <a:rPr lang="en-US" sz="2400" dirty="0"/>
              <a:t>    </a:t>
            </a:r>
            <a:r>
              <a:rPr lang="en-US" sz="2400" dirty="0" err="1"/>
              <a:t>pygame.draw.lines</a:t>
            </a:r>
            <a:r>
              <a:rPr lang="en-US" sz="2400" dirty="0"/>
              <a:t>(screen, THECOLORS[</a:t>
            </a:r>
            <a:r>
              <a:rPr lang="en-US" sz="2400" dirty="0">
                <a:solidFill>
                  <a:srgbClr val="00B050"/>
                </a:solidFill>
              </a:rPr>
              <a:t>'blue'</a:t>
            </a:r>
            <a:r>
              <a:rPr lang="en-US" sz="2400" dirty="0"/>
              <a:t>],False,[[320,0],[320,480]],2)</a:t>
            </a:r>
          </a:p>
          <a:p>
            <a:pPr marL="0" indent="0">
              <a:buNone/>
            </a:pPr>
            <a:r>
              <a:rPr lang="en-US" sz="2400" dirty="0"/>
              <a:t>    </a:t>
            </a:r>
            <a:r>
              <a:rPr lang="en-US" sz="2400" dirty="0" err="1"/>
              <a:t>pygame.draw.lines</a:t>
            </a:r>
            <a:r>
              <a:rPr lang="en-US" sz="2400" dirty="0"/>
              <a:t>(screen, THECOLORS[</a:t>
            </a:r>
            <a:r>
              <a:rPr lang="en-US" sz="2400" dirty="0">
                <a:solidFill>
                  <a:srgbClr val="00B050"/>
                </a:solidFill>
              </a:rPr>
              <a:t>'blue'</a:t>
            </a:r>
            <a:r>
              <a:rPr lang="en-US" sz="2400" dirty="0"/>
              <a:t>],False,[[0,240],[640,240]],2)</a:t>
            </a:r>
          </a:p>
          <a:p>
            <a:pPr marL="0" indent="0">
              <a:buNone/>
            </a:pPr>
            <a:r>
              <a:rPr lang="en-US" sz="2400" dirty="0"/>
              <a:t>    </a:t>
            </a:r>
            <a:r>
              <a:rPr lang="en-US" sz="2400" dirty="0" err="1"/>
              <a:t>pygame.draw.circle</a:t>
            </a:r>
            <a:r>
              <a:rPr lang="en-US" sz="2400" dirty="0"/>
              <a:t>(screen, THECOLORS[</a:t>
            </a:r>
            <a:r>
              <a:rPr lang="en-US" sz="2400" dirty="0">
                <a:solidFill>
                  <a:srgbClr val="00B050"/>
                </a:solidFill>
              </a:rPr>
              <a:t>'blue'</a:t>
            </a:r>
            <a:r>
              <a:rPr lang="en-US" sz="2400" dirty="0"/>
              <a:t>],[320,240], r1, 2)</a:t>
            </a:r>
          </a:p>
          <a:p>
            <a:pPr marL="0" indent="0">
              <a:buNone/>
            </a:pPr>
            <a:r>
              <a:rPr lang="en-US" sz="2400" dirty="0"/>
              <a:t>    x=</a:t>
            </a:r>
            <a:r>
              <a:rPr lang="en-US" sz="2400" dirty="0" err="1"/>
              <a:t>random.randint</a:t>
            </a:r>
            <a:r>
              <a:rPr lang="en-US" sz="2400" dirty="0"/>
              <a:t>(50,590)</a:t>
            </a:r>
          </a:p>
          <a:p>
            <a:pPr marL="0" indent="0">
              <a:buNone/>
            </a:pPr>
            <a:r>
              <a:rPr lang="en-US" sz="2400" dirty="0"/>
              <a:t>    y=</a:t>
            </a:r>
            <a:r>
              <a:rPr lang="en-US" sz="2400" dirty="0" err="1"/>
              <a:t>random.randint</a:t>
            </a:r>
            <a:r>
              <a:rPr lang="en-US" sz="2400" dirty="0"/>
              <a:t>(50, 430)</a:t>
            </a:r>
          </a:p>
          <a:p>
            <a:pPr marL="0" indent="0">
              <a:buNone/>
            </a:pPr>
            <a:r>
              <a:rPr lang="en-US" sz="2400" dirty="0"/>
              <a:t>    </a:t>
            </a:r>
            <a:r>
              <a:rPr lang="en-US" sz="2400" dirty="0" err="1"/>
              <a:t>pygame.draw.circle</a:t>
            </a:r>
            <a:r>
              <a:rPr lang="en-US" sz="2400" dirty="0"/>
              <a:t>(screen, THECOLORS[</a:t>
            </a:r>
            <a:r>
              <a:rPr lang="en-US" sz="2400" dirty="0">
                <a:solidFill>
                  <a:srgbClr val="00B050"/>
                </a:solidFill>
              </a:rPr>
              <a:t>'red'</a:t>
            </a:r>
            <a:r>
              <a:rPr lang="en-US" sz="2400" dirty="0"/>
              <a:t>],[</a:t>
            </a:r>
            <a:r>
              <a:rPr lang="en-US" sz="2400" dirty="0" err="1"/>
              <a:t>x,y</a:t>
            </a:r>
            <a:r>
              <a:rPr lang="en-US" sz="2400" dirty="0"/>
              <a:t>], r2, 2)</a:t>
            </a:r>
            <a:endParaRPr lang="ru-RU" sz="2400" dirty="0"/>
          </a:p>
        </p:txBody>
      </p:sp>
    </p:spTree>
    <p:extLst>
      <p:ext uri="{BB962C8B-B14F-4D97-AF65-F5344CB8AC3E}">
        <p14:creationId xmlns:p14="http://schemas.microsoft.com/office/powerpoint/2010/main" val="42763288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 smtClean="0">
                <a:solidFill>
                  <a:srgbClr val="0070C0"/>
                </a:solidFill>
              </a:rPr>
              <a:t>Цикл </a:t>
            </a:r>
            <a:r>
              <a:rPr lang="ru-RU" dirty="0">
                <a:solidFill>
                  <a:srgbClr val="0070C0"/>
                </a:solidFill>
              </a:rPr>
              <a:t>с условием</a:t>
            </a:r>
            <a:r>
              <a:rPr lang="ru-RU" dirty="0"/>
              <a:t/>
            </a:r>
            <a:br>
              <a:rPr lang="ru-RU" dirty="0"/>
            </a:b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dirty="0">
                <a:solidFill>
                  <a:schemeClr val="accent2">
                    <a:lumMod val="75000"/>
                  </a:schemeClr>
                </a:solidFill>
              </a:rPr>
              <a:t> if </a:t>
            </a:r>
            <a:r>
              <a:rPr lang="en-US" sz="2400" dirty="0"/>
              <a:t>((x-320)*(x-320)+(y-240)*(y-240))&gt;((r1+r2)*(r1+r2)):</a:t>
            </a:r>
          </a:p>
          <a:p>
            <a:pPr marL="0" indent="0">
              <a:buNone/>
            </a:pPr>
            <a:r>
              <a:rPr lang="en-US" sz="2400" dirty="0"/>
              <a:t>        text = </a:t>
            </a:r>
            <a:r>
              <a:rPr lang="en-US" sz="2400" dirty="0" err="1"/>
              <a:t>font.render</a:t>
            </a:r>
            <a:r>
              <a:rPr lang="en-US" sz="2400" dirty="0"/>
              <a:t>(</a:t>
            </a:r>
            <a:r>
              <a:rPr lang="en-US" sz="2400" dirty="0">
                <a:solidFill>
                  <a:srgbClr val="00B050"/>
                </a:solidFill>
              </a:rPr>
              <a:t>"</a:t>
            </a:r>
            <a:r>
              <a:rPr lang="ru-RU" sz="2400" dirty="0">
                <a:solidFill>
                  <a:srgbClr val="00B050"/>
                </a:solidFill>
              </a:rPr>
              <a:t>Мимо"</a:t>
            </a:r>
            <a:r>
              <a:rPr lang="ru-RU" sz="2400" dirty="0"/>
              <a:t>,1, </a:t>
            </a:r>
            <a:r>
              <a:rPr lang="en-US" sz="2400" dirty="0"/>
              <a:t>THECOLORS [</a:t>
            </a:r>
            <a:r>
              <a:rPr lang="en-US" sz="2400" dirty="0">
                <a:solidFill>
                  <a:srgbClr val="00B050"/>
                </a:solidFill>
              </a:rPr>
              <a:t>"blue"</a:t>
            </a:r>
            <a:r>
              <a:rPr lang="en-US" sz="2400" dirty="0"/>
              <a:t>])</a:t>
            </a:r>
          </a:p>
          <a:p>
            <a:pPr marL="0" indent="0">
              <a:buNone/>
            </a:pPr>
            <a:r>
              <a:rPr lang="en-US" sz="2400" dirty="0">
                <a:solidFill>
                  <a:schemeClr val="accent2">
                    <a:lumMod val="75000"/>
                  </a:schemeClr>
                </a:solidFill>
              </a:rPr>
              <a:t>    </a:t>
            </a:r>
            <a:r>
              <a:rPr lang="en-US" sz="2400" dirty="0" err="1">
                <a:solidFill>
                  <a:schemeClr val="accent2">
                    <a:lumMod val="75000"/>
                  </a:schemeClr>
                </a:solidFill>
              </a:rPr>
              <a:t>elif</a:t>
            </a:r>
            <a:r>
              <a:rPr lang="en-US" sz="2400" dirty="0">
                <a:solidFill>
                  <a:schemeClr val="accent2">
                    <a:lumMod val="75000"/>
                  </a:schemeClr>
                </a:solidFill>
              </a:rPr>
              <a:t> </a:t>
            </a:r>
            <a:r>
              <a:rPr lang="en-US" sz="2400" dirty="0"/>
              <a:t>((x-320)*(x-320)+(y-240)*(y-240))&lt;((r1-r2)*(r1-r2)):</a:t>
            </a:r>
          </a:p>
          <a:p>
            <a:pPr marL="0" indent="0">
              <a:buNone/>
            </a:pPr>
            <a:r>
              <a:rPr lang="en-US" sz="2400" dirty="0"/>
              <a:t>        text = </a:t>
            </a:r>
            <a:r>
              <a:rPr lang="en-US" sz="2400" dirty="0" err="1"/>
              <a:t>font.render</a:t>
            </a:r>
            <a:r>
              <a:rPr lang="en-US" sz="2400" dirty="0"/>
              <a:t>(</a:t>
            </a:r>
            <a:r>
              <a:rPr lang="en-US" sz="2400" dirty="0">
                <a:solidFill>
                  <a:srgbClr val="00B050"/>
                </a:solidFill>
              </a:rPr>
              <a:t>"</a:t>
            </a:r>
            <a:r>
              <a:rPr lang="ru-RU" sz="2400" dirty="0">
                <a:solidFill>
                  <a:srgbClr val="00B050"/>
                </a:solidFill>
              </a:rPr>
              <a:t>Попал"</a:t>
            </a:r>
            <a:r>
              <a:rPr lang="ru-RU" sz="2400" dirty="0"/>
              <a:t>,1, </a:t>
            </a:r>
            <a:r>
              <a:rPr lang="en-US" sz="2400" dirty="0"/>
              <a:t>THECOLORS [</a:t>
            </a:r>
            <a:r>
              <a:rPr lang="en-US" sz="2400" dirty="0">
                <a:solidFill>
                  <a:srgbClr val="00B050"/>
                </a:solidFill>
              </a:rPr>
              <a:t>"blue"</a:t>
            </a:r>
            <a:r>
              <a:rPr lang="en-US" sz="2400" dirty="0"/>
              <a:t>])</a:t>
            </a:r>
          </a:p>
          <a:p>
            <a:pPr marL="0" indent="0">
              <a:buNone/>
            </a:pPr>
            <a:r>
              <a:rPr lang="en-US" sz="2400" dirty="0"/>
              <a:t>    </a:t>
            </a:r>
            <a:r>
              <a:rPr lang="en-US" sz="2400" dirty="0">
                <a:solidFill>
                  <a:schemeClr val="accent2">
                    <a:lumMod val="75000"/>
                  </a:schemeClr>
                </a:solidFill>
              </a:rPr>
              <a:t>else</a:t>
            </a:r>
            <a:r>
              <a:rPr lang="en-US" sz="2400" dirty="0"/>
              <a:t>:</a:t>
            </a:r>
          </a:p>
          <a:p>
            <a:pPr marL="0" indent="0">
              <a:buNone/>
            </a:pPr>
            <a:r>
              <a:rPr lang="en-US" sz="2400" dirty="0"/>
              <a:t>        text = </a:t>
            </a:r>
            <a:r>
              <a:rPr lang="en-US" sz="2400" dirty="0" err="1"/>
              <a:t>font.render</a:t>
            </a:r>
            <a:r>
              <a:rPr lang="en-US" sz="2400" dirty="0"/>
              <a:t>("</a:t>
            </a:r>
            <a:r>
              <a:rPr lang="ru-RU" sz="2400" dirty="0"/>
              <a:t>Граница",1, </a:t>
            </a:r>
            <a:r>
              <a:rPr lang="en-US" sz="2400" dirty="0"/>
              <a:t>THECOLORS [</a:t>
            </a:r>
            <a:r>
              <a:rPr lang="en-US" sz="2400" dirty="0">
                <a:solidFill>
                  <a:srgbClr val="00B050"/>
                </a:solidFill>
              </a:rPr>
              <a:t>"magenta"</a:t>
            </a:r>
            <a:r>
              <a:rPr lang="en-US" sz="2400" dirty="0"/>
              <a:t>])</a:t>
            </a:r>
          </a:p>
          <a:p>
            <a:pPr marL="0" indent="0">
              <a:buNone/>
            </a:pPr>
            <a:r>
              <a:rPr lang="en-US" sz="2400" dirty="0"/>
              <a:t>    </a:t>
            </a:r>
            <a:r>
              <a:rPr lang="en-US" sz="2400" dirty="0" err="1"/>
              <a:t>screen.blit</a:t>
            </a:r>
            <a:r>
              <a:rPr lang="en-US" sz="2400" dirty="0"/>
              <a:t>(text, [370, 400])</a:t>
            </a:r>
            <a:endParaRPr lang="ru-RU" sz="2400" dirty="0"/>
          </a:p>
        </p:txBody>
      </p:sp>
    </p:spTree>
    <p:extLst>
      <p:ext uri="{BB962C8B-B14F-4D97-AF65-F5344CB8AC3E}">
        <p14:creationId xmlns:p14="http://schemas.microsoft.com/office/powerpoint/2010/main" val="32686447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 smtClean="0">
                <a:solidFill>
                  <a:srgbClr val="0070C0"/>
                </a:solidFill>
              </a:rPr>
              <a:t>Цикл </a:t>
            </a:r>
            <a:r>
              <a:rPr lang="ru-RU" dirty="0">
                <a:solidFill>
                  <a:srgbClr val="0070C0"/>
                </a:solidFill>
              </a:rPr>
              <a:t>с условием</a:t>
            </a:r>
            <a:r>
              <a:rPr lang="ru-RU" dirty="0"/>
              <a:t/>
            </a:r>
            <a:br>
              <a:rPr lang="ru-RU" dirty="0"/>
            </a:b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dirty="0"/>
              <a:t>  </a:t>
            </a:r>
            <a:r>
              <a:rPr lang="en-US" sz="2400" dirty="0" err="1"/>
              <a:t>pygame.time.delay</a:t>
            </a:r>
            <a:r>
              <a:rPr lang="en-US" sz="2400" dirty="0"/>
              <a:t>(2000)</a:t>
            </a:r>
          </a:p>
          <a:p>
            <a:pPr marL="0" indent="0">
              <a:buNone/>
            </a:pPr>
            <a:r>
              <a:rPr lang="en-US" sz="2400" dirty="0"/>
              <a:t>    for event in </a:t>
            </a:r>
            <a:r>
              <a:rPr lang="en-US" sz="2400" dirty="0" err="1"/>
              <a:t>pygame.event.get</a:t>
            </a:r>
            <a:r>
              <a:rPr lang="en-US" sz="2400" dirty="0"/>
              <a:t>():</a:t>
            </a:r>
          </a:p>
          <a:p>
            <a:pPr marL="0" indent="0">
              <a:buNone/>
            </a:pPr>
            <a:r>
              <a:rPr lang="en-US" sz="2400" dirty="0"/>
              <a:t>       </a:t>
            </a:r>
            <a:r>
              <a:rPr lang="en-US" sz="2400" dirty="0">
                <a:solidFill>
                  <a:schemeClr val="accent2">
                    <a:lumMod val="75000"/>
                  </a:schemeClr>
                </a:solidFill>
              </a:rPr>
              <a:t> if </a:t>
            </a:r>
            <a:r>
              <a:rPr lang="en-US" sz="2400" dirty="0" err="1"/>
              <a:t>event.type</a:t>
            </a:r>
            <a:r>
              <a:rPr lang="en-US" sz="2400" dirty="0"/>
              <a:t> == </a:t>
            </a:r>
            <a:r>
              <a:rPr lang="en-US" sz="2400" dirty="0" err="1"/>
              <a:t>pygame.QUIT</a:t>
            </a:r>
            <a:r>
              <a:rPr lang="en-US" sz="2400" dirty="0"/>
              <a:t>: </a:t>
            </a:r>
          </a:p>
          <a:p>
            <a:pPr marL="0" indent="0">
              <a:buNone/>
            </a:pPr>
            <a:r>
              <a:rPr lang="en-US" sz="2400" dirty="0"/>
              <a:t>            running = </a:t>
            </a:r>
            <a:r>
              <a:rPr lang="en-US" sz="2400" dirty="0">
                <a:solidFill>
                  <a:schemeClr val="accent2">
                    <a:lumMod val="75000"/>
                  </a:schemeClr>
                </a:solidFill>
              </a:rPr>
              <a:t>False</a:t>
            </a:r>
          </a:p>
          <a:p>
            <a:pPr marL="0" indent="0">
              <a:buNone/>
            </a:pPr>
            <a:r>
              <a:rPr lang="en-US" sz="2400" dirty="0"/>
              <a:t>    </a:t>
            </a:r>
            <a:r>
              <a:rPr lang="en-US" sz="2400" dirty="0" err="1"/>
              <a:t>pygame.display.flip</a:t>
            </a:r>
            <a:r>
              <a:rPr lang="en-US" sz="2400" dirty="0"/>
              <a:t>()</a:t>
            </a:r>
          </a:p>
          <a:p>
            <a:pPr marL="0" indent="0">
              <a:buNone/>
            </a:pPr>
            <a:r>
              <a:rPr lang="en-US" sz="2400" dirty="0" err="1"/>
              <a:t>pygame.quit</a:t>
            </a:r>
            <a:r>
              <a:rPr lang="en-US" sz="2400" dirty="0"/>
              <a:t>()</a:t>
            </a:r>
            <a:endParaRPr lang="ru-RU" sz="2400" dirty="0"/>
          </a:p>
        </p:txBody>
      </p:sp>
    </p:spTree>
    <p:extLst>
      <p:ext uri="{BB962C8B-B14F-4D97-AF65-F5344CB8AC3E}">
        <p14:creationId xmlns:p14="http://schemas.microsoft.com/office/powerpoint/2010/main" val="3461647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 smtClean="0">
                <a:solidFill>
                  <a:srgbClr val="0070C0"/>
                </a:solidFill>
              </a:rPr>
              <a:t>Цикл </a:t>
            </a:r>
            <a:r>
              <a:rPr lang="ru-RU" dirty="0">
                <a:solidFill>
                  <a:srgbClr val="0070C0"/>
                </a:solidFill>
              </a:rPr>
              <a:t>с условием</a:t>
            </a:r>
            <a:r>
              <a:rPr lang="ru-RU" dirty="0"/>
              <a:t/>
            </a:r>
            <a:br>
              <a:rPr lang="ru-RU" dirty="0"/>
            </a:b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dirty="0"/>
              <a:t>  </a:t>
            </a:r>
            <a:r>
              <a:rPr lang="ru-RU" sz="2400" dirty="0" smtClean="0"/>
              <a:t>Часы (секундомер):</a:t>
            </a:r>
          </a:p>
          <a:p>
            <a:pPr marL="0" indent="0">
              <a:buNone/>
            </a:pPr>
            <a:r>
              <a:rPr lang="ru-RU" sz="2400" dirty="0">
                <a:solidFill>
                  <a:srgbClr val="FF0000"/>
                </a:solidFill>
              </a:rPr>
              <a:t>#Нарисовать циферблат, секундную и минутную стрелки</a:t>
            </a:r>
          </a:p>
          <a:p>
            <a:pPr marL="0" indent="0">
              <a:buNone/>
            </a:pPr>
            <a:r>
              <a:rPr lang="en-US" sz="2400" dirty="0">
                <a:solidFill>
                  <a:schemeClr val="accent2">
                    <a:lumMod val="75000"/>
                  </a:schemeClr>
                </a:solidFill>
              </a:rPr>
              <a:t>import</a:t>
            </a:r>
            <a:r>
              <a:rPr lang="en-US" sz="2400" dirty="0"/>
              <a:t> </a:t>
            </a:r>
            <a:r>
              <a:rPr lang="en-US" sz="2400" dirty="0" err="1"/>
              <a:t>pygame,sys</a:t>
            </a:r>
            <a:endParaRPr lang="en-US" sz="2400" dirty="0"/>
          </a:p>
          <a:p>
            <a:pPr marL="0" indent="0">
              <a:buNone/>
            </a:pPr>
            <a:r>
              <a:rPr lang="en-US" sz="2400" dirty="0">
                <a:solidFill>
                  <a:schemeClr val="accent2">
                    <a:lumMod val="75000"/>
                  </a:schemeClr>
                </a:solidFill>
              </a:rPr>
              <a:t>from</a:t>
            </a:r>
            <a:r>
              <a:rPr lang="en-US" sz="2400" dirty="0"/>
              <a:t> math</a:t>
            </a:r>
            <a:r>
              <a:rPr lang="en-US" sz="2400" dirty="0">
                <a:solidFill>
                  <a:schemeClr val="accent2">
                    <a:lumMod val="75000"/>
                  </a:schemeClr>
                </a:solidFill>
              </a:rPr>
              <a:t> import</a:t>
            </a:r>
            <a:r>
              <a:rPr lang="en-US" sz="2400" dirty="0"/>
              <a:t>*</a:t>
            </a:r>
          </a:p>
          <a:p>
            <a:pPr marL="0" indent="0">
              <a:buNone/>
            </a:pPr>
            <a:r>
              <a:rPr lang="en-US" sz="2400" dirty="0" err="1"/>
              <a:t>pygame.init</a:t>
            </a:r>
            <a:r>
              <a:rPr lang="en-US" sz="2400" dirty="0"/>
              <a:t>()</a:t>
            </a:r>
          </a:p>
          <a:p>
            <a:pPr marL="0" indent="0">
              <a:buNone/>
            </a:pPr>
            <a:r>
              <a:rPr lang="en-US" sz="2400" dirty="0">
                <a:solidFill>
                  <a:schemeClr val="accent2">
                    <a:lumMod val="75000"/>
                  </a:schemeClr>
                </a:solidFill>
              </a:rPr>
              <a:t>from</a:t>
            </a:r>
            <a:r>
              <a:rPr lang="en-US" sz="2400" dirty="0"/>
              <a:t> </a:t>
            </a:r>
            <a:r>
              <a:rPr lang="en-US" sz="2400" dirty="0" err="1"/>
              <a:t>pygame.color</a:t>
            </a:r>
            <a:r>
              <a:rPr lang="en-US" sz="2400" dirty="0">
                <a:solidFill>
                  <a:schemeClr val="accent2">
                    <a:lumMod val="75000"/>
                  </a:schemeClr>
                </a:solidFill>
              </a:rPr>
              <a:t> import </a:t>
            </a:r>
            <a:r>
              <a:rPr lang="en-US" sz="2400" dirty="0"/>
              <a:t>THECOLORS</a:t>
            </a:r>
          </a:p>
          <a:p>
            <a:pPr marL="0" indent="0">
              <a:buNone/>
            </a:pPr>
            <a:r>
              <a:rPr lang="en-US" sz="2400" dirty="0"/>
              <a:t>font = </a:t>
            </a:r>
            <a:r>
              <a:rPr lang="en-US" sz="2400" dirty="0" err="1"/>
              <a:t>pygame.font.Font</a:t>
            </a:r>
            <a:r>
              <a:rPr lang="en-US" sz="2400" dirty="0"/>
              <a:t>(</a:t>
            </a:r>
            <a:r>
              <a:rPr lang="en-US" sz="2400" dirty="0">
                <a:solidFill>
                  <a:schemeClr val="accent2">
                    <a:lumMod val="75000"/>
                  </a:schemeClr>
                </a:solidFill>
              </a:rPr>
              <a:t>None</a:t>
            </a:r>
            <a:r>
              <a:rPr lang="en-US" sz="2400" dirty="0"/>
              <a:t>, 34)</a:t>
            </a:r>
          </a:p>
          <a:p>
            <a:pPr marL="0" indent="0">
              <a:buNone/>
            </a:pPr>
            <a:r>
              <a:rPr lang="en-US" sz="2400" dirty="0"/>
              <a:t>screen = </a:t>
            </a:r>
            <a:r>
              <a:rPr lang="en-US" sz="2400" dirty="0" err="1"/>
              <a:t>pygame.display.set_mode</a:t>
            </a:r>
            <a:r>
              <a:rPr lang="en-US" sz="2400" dirty="0"/>
              <a:t>([640,480])</a:t>
            </a:r>
            <a:endParaRPr lang="ru-RU" sz="2400" dirty="0"/>
          </a:p>
        </p:txBody>
      </p:sp>
    </p:spTree>
    <p:extLst>
      <p:ext uri="{BB962C8B-B14F-4D97-AF65-F5344CB8AC3E}">
        <p14:creationId xmlns:p14="http://schemas.microsoft.com/office/powerpoint/2010/main" val="8856379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 smtClean="0">
                <a:solidFill>
                  <a:srgbClr val="0070C0"/>
                </a:solidFill>
              </a:rPr>
              <a:t>Цикл </a:t>
            </a:r>
            <a:r>
              <a:rPr lang="ru-RU" dirty="0">
                <a:solidFill>
                  <a:srgbClr val="0070C0"/>
                </a:solidFill>
              </a:rPr>
              <a:t>с условием</a:t>
            </a:r>
            <a:r>
              <a:rPr lang="ru-RU" dirty="0"/>
              <a:t/>
            </a:r>
            <a:br>
              <a:rPr lang="ru-RU" dirty="0"/>
            </a:b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sz="2400" dirty="0" smtClean="0"/>
              <a:t>n=60</a:t>
            </a:r>
            <a:endParaRPr lang="en-US" sz="2400" dirty="0"/>
          </a:p>
          <a:p>
            <a:pPr marL="0" indent="0">
              <a:buNone/>
            </a:pPr>
            <a:r>
              <a:rPr lang="en-US" sz="2400" dirty="0" smtClean="0"/>
              <a:t>r1=200</a:t>
            </a:r>
            <a:r>
              <a:rPr lang="ru-RU" sz="2400" dirty="0" smtClean="0"/>
              <a:t> </a:t>
            </a:r>
            <a:r>
              <a:rPr lang="en-US" sz="2400" dirty="0" smtClean="0">
                <a:solidFill>
                  <a:srgbClr val="FF0000"/>
                </a:solidFill>
              </a:rPr>
              <a:t>#</a:t>
            </a:r>
            <a:r>
              <a:rPr lang="ru-RU" sz="2400" dirty="0">
                <a:solidFill>
                  <a:srgbClr val="FF0000"/>
                </a:solidFill>
              </a:rPr>
              <a:t>радиус циферблата</a:t>
            </a:r>
          </a:p>
          <a:p>
            <a:pPr marL="0" indent="0">
              <a:buNone/>
            </a:pPr>
            <a:r>
              <a:rPr lang="en-US" sz="2400" dirty="0"/>
              <a:t>r2=180 </a:t>
            </a:r>
            <a:r>
              <a:rPr lang="en-US" sz="2400" dirty="0">
                <a:solidFill>
                  <a:srgbClr val="FF0000"/>
                </a:solidFill>
              </a:rPr>
              <a:t>#</a:t>
            </a:r>
            <a:r>
              <a:rPr lang="ru-RU" sz="2400" dirty="0">
                <a:solidFill>
                  <a:srgbClr val="FF0000"/>
                </a:solidFill>
              </a:rPr>
              <a:t>радиус концов отсечек</a:t>
            </a:r>
          </a:p>
          <a:p>
            <a:pPr marL="0" indent="0">
              <a:buNone/>
            </a:pPr>
            <a:r>
              <a:rPr lang="en-US" sz="2400" dirty="0"/>
              <a:t>x0=320</a:t>
            </a:r>
          </a:p>
          <a:p>
            <a:pPr marL="0" indent="0">
              <a:buNone/>
            </a:pPr>
            <a:r>
              <a:rPr lang="en-US" sz="2400" dirty="0"/>
              <a:t>y0=240</a:t>
            </a:r>
          </a:p>
          <a:p>
            <a:pPr marL="0" indent="0">
              <a:buNone/>
            </a:pPr>
            <a:r>
              <a:rPr lang="en-US" sz="2400" dirty="0"/>
              <a:t>r=r1-35</a:t>
            </a:r>
          </a:p>
          <a:p>
            <a:pPr marL="0" indent="0">
              <a:buNone/>
            </a:pPr>
            <a:r>
              <a:rPr lang="en-US" sz="2400" dirty="0" err="1"/>
              <a:t>rs</a:t>
            </a:r>
            <a:r>
              <a:rPr lang="en-US" sz="2400" dirty="0"/>
              <a:t>=240-85 </a:t>
            </a:r>
            <a:r>
              <a:rPr lang="ru-RU" sz="2400" dirty="0" smtClean="0"/>
              <a:t> </a:t>
            </a:r>
            <a:r>
              <a:rPr lang="en-US" sz="2400" dirty="0" smtClean="0">
                <a:solidFill>
                  <a:srgbClr val="FF0000"/>
                </a:solidFill>
              </a:rPr>
              <a:t>#</a:t>
            </a:r>
            <a:r>
              <a:rPr lang="ru-RU" sz="2400" dirty="0">
                <a:solidFill>
                  <a:srgbClr val="FF0000"/>
                </a:solidFill>
              </a:rPr>
              <a:t>длина секундной стрелки</a:t>
            </a:r>
          </a:p>
          <a:p>
            <a:pPr marL="0" indent="0">
              <a:buNone/>
            </a:pPr>
            <a:r>
              <a:rPr lang="en-US" sz="2400" dirty="0" err="1" smtClean="0"/>
              <a:t>rm</a:t>
            </a:r>
            <a:r>
              <a:rPr lang="en-US" sz="2400" dirty="0" smtClean="0"/>
              <a:t>=240-105</a:t>
            </a:r>
            <a:r>
              <a:rPr lang="ru-RU" sz="2400" dirty="0" smtClean="0"/>
              <a:t> </a:t>
            </a:r>
            <a:r>
              <a:rPr lang="en-US" sz="2400" dirty="0" smtClean="0">
                <a:solidFill>
                  <a:srgbClr val="FF0000"/>
                </a:solidFill>
              </a:rPr>
              <a:t>#</a:t>
            </a:r>
            <a:r>
              <a:rPr lang="ru-RU" sz="2400" dirty="0">
                <a:solidFill>
                  <a:srgbClr val="FF0000"/>
                </a:solidFill>
              </a:rPr>
              <a:t>длина минутной стрелки</a:t>
            </a:r>
          </a:p>
          <a:p>
            <a:pPr marL="0" indent="0">
              <a:buNone/>
            </a:pPr>
            <a:r>
              <a:rPr lang="en-US" sz="2400" dirty="0"/>
              <a:t>j=0</a:t>
            </a:r>
          </a:p>
          <a:p>
            <a:pPr marL="0" indent="0">
              <a:buNone/>
            </a:pPr>
            <a:r>
              <a:rPr lang="en-US" sz="2400" dirty="0"/>
              <a:t>k=0</a:t>
            </a:r>
          </a:p>
          <a:p>
            <a:pPr marL="0" indent="0">
              <a:buNone/>
            </a:pPr>
            <a:r>
              <a:rPr lang="en-US" sz="2400" dirty="0"/>
              <a:t>running  = </a:t>
            </a:r>
            <a:r>
              <a:rPr lang="en-US" sz="2400" dirty="0">
                <a:solidFill>
                  <a:schemeClr val="accent2">
                    <a:lumMod val="75000"/>
                  </a:schemeClr>
                </a:solidFill>
              </a:rPr>
              <a:t>True</a:t>
            </a:r>
            <a:endParaRPr lang="ru-RU" sz="2400" dirty="0">
              <a:solidFill>
                <a:schemeClr val="accent2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77725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 smtClean="0">
                <a:solidFill>
                  <a:srgbClr val="0070C0"/>
                </a:solidFill>
              </a:rPr>
              <a:t>Цикл </a:t>
            </a:r>
            <a:r>
              <a:rPr lang="ru-RU" dirty="0">
                <a:solidFill>
                  <a:srgbClr val="0070C0"/>
                </a:solidFill>
              </a:rPr>
              <a:t>с условием</a:t>
            </a:r>
            <a:r>
              <a:rPr lang="ru-RU" dirty="0"/>
              <a:t/>
            </a:r>
            <a:br>
              <a:rPr lang="ru-RU" dirty="0"/>
            </a:b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sz="2400" dirty="0">
                <a:solidFill>
                  <a:schemeClr val="accent2">
                    <a:lumMod val="75000"/>
                  </a:schemeClr>
                </a:solidFill>
              </a:rPr>
              <a:t>while</a:t>
            </a:r>
            <a:r>
              <a:rPr lang="en-US" sz="2400" dirty="0"/>
              <a:t> running:</a:t>
            </a:r>
          </a:p>
          <a:p>
            <a:pPr marL="0" indent="0">
              <a:buNone/>
            </a:pPr>
            <a:r>
              <a:rPr lang="en-US" sz="2400" dirty="0"/>
              <a:t>    </a:t>
            </a:r>
            <a:r>
              <a:rPr lang="en-US" sz="2400" dirty="0" err="1"/>
              <a:t>screen.fill</a:t>
            </a:r>
            <a:r>
              <a:rPr lang="en-US" sz="2400" dirty="0"/>
              <a:t>([255,255,255])</a:t>
            </a:r>
          </a:p>
          <a:p>
            <a:pPr marL="0" indent="0">
              <a:buNone/>
            </a:pPr>
            <a:r>
              <a:rPr lang="en-US" sz="2400" dirty="0"/>
              <a:t>    text = </a:t>
            </a:r>
            <a:r>
              <a:rPr lang="en-US" sz="2400" dirty="0" err="1"/>
              <a:t>font.render</a:t>
            </a:r>
            <a:r>
              <a:rPr lang="en-US" sz="2400" dirty="0"/>
              <a:t>(</a:t>
            </a:r>
            <a:r>
              <a:rPr lang="en-US" sz="2400" dirty="0">
                <a:solidFill>
                  <a:srgbClr val="00B050"/>
                </a:solidFill>
              </a:rPr>
              <a:t>"12"</a:t>
            </a:r>
            <a:r>
              <a:rPr lang="en-US" sz="2400" dirty="0"/>
              <a:t>,True, THECOLORS [</a:t>
            </a:r>
            <a:r>
              <a:rPr lang="en-US" sz="2400" dirty="0">
                <a:solidFill>
                  <a:srgbClr val="00B050"/>
                </a:solidFill>
              </a:rPr>
              <a:t>"black"</a:t>
            </a:r>
            <a:r>
              <a:rPr lang="en-US" sz="2400" dirty="0"/>
              <a:t>])</a:t>
            </a:r>
          </a:p>
          <a:p>
            <a:pPr marL="0" indent="0">
              <a:buNone/>
            </a:pPr>
            <a:r>
              <a:rPr lang="en-US" sz="2400" dirty="0"/>
              <a:t>    </a:t>
            </a:r>
            <a:r>
              <a:rPr lang="en-US" sz="2400" dirty="0" err="1"/>
              <a:t>pygame.draw.circle</a:t>
            </a:r>
            <a:r>
              <a:rPr lang="en-US" sz="2400" dirty="0"/>
              <a:t>(screen, THECOLORS[</a:t>
            </a:r>
            <a:r>
              <a:rPr lang="en-US" sz="2400" dirty="0">
                <a:solidFill>
                  <a:srgbClr val="00B050"/>
                </a:solidFill>
              </a:rPr>
              <a:t>'blue'</a:t>
            </a:r>
            <a:r>
              <a:rPr lang="en-US" sz="2400" dirty="0"/>
              <a:t>],[320,240], r1, 2)</a:t>
            </a:r>
          </a:p>
          <a:p>
            <a:pPr marL="0" indent="0">
              <a:buNone/>
            </a:pPr>
            <a:r>
              <a:rPr lang="en-US" sz="2400" dirty="0"/>
              <a:t>    </a:t>
            </a:r>
            <a:r>
              <a:rPr lang="en-US" sz="2400" dirty="0" err="1"/>
              <a:t>pygame.draw.circle</a:t>
            </a:r>
            <a:r>
              <a:rPr lang="en-US" sz="2400" dirty="0"/>
              <a:t>(screen, THECOLORS[</a:t>
            </a:r>
            <a:r>
              <a:rPr lang="en-US" sz="2400" dirty="0">
                <a:solidFill>
                  <a:srgbClr val="00B050"/>
                </a:solidFill>
              </a:rPr>
              <a:t>'black'</a:t>
            </a:r>
            <a:r>
              <a:rPr lang="en-US" sz="2400" dirty="0"/>
              <a:t>],[320,240], 5, 0)</a:t>
            </a:r>
          </a:p>
          <a:p>
            <a:pPr marL="0" indent="0">
              <a:buNone/>
            </a:pPr>
            <a:r>
              <a:rPr lang="en-US" sz="2400" dirty="0"/>
              <a:t>    </a:t>
            </a:r>
            <a:r>
              <a:rPr lang="en-US" sz="2400" dirty="0" err="1"/>
              <a:t>xs</a:t>
            </a:r>
            <a:r>
              <a:rPr lang="en-US" sz="2400" dirty="0"/>
              <a:t>=x0+trunc(</a:t>
            </a:r>
            <a:r>
              <a:rPr lang="en-US" sz="2400" dirty="0" err="1"/>
              <a:t>rs</a:t>
            </a:r>
            <a:r>
              <a:rPr lang="en-US" sz="2400" dirty="0"/>
              <a:t>*sin(j*2*pi/n))-</a:t>
            </a:r>
            <a:r>
              <a:rPr lang="en-US" sz="2400" dirty="0" smtClean="0"/>
              <a:t>5</a:t>
            </a:r>
            <a:r>
              <a:rPr lang="ru-RU" sz="2400" dirty="0" smtClean="0"/>
              <a:t>  </a:t>
            </a:r>
            <a:r>
              <a:rPr lang="en-US" sz="2400" dirty="0" smtClean="0">
                <a:solidFill>
                  <a:srgbClr val="FF0000"/>
                </a:solidFill>
              </a:rPr>
              <a:t>#</a:t>
            </a:r>
            <a:r>
              <a:rPr lang="ru-RU" sz="2400" dirty="0" smtClean="0">
                <a:solidFill>
                  <a:srgbClr val="FF0000"/>
                </a:solidFill>
              </a:rPr>
              <a:t>координаты секундной стрелки</a:t>
            </a:r>
            <a:endParaRPr lang="en-US" sz="2400" dirty="0">
              <a:solidFill>
                <a:srgbClr val="FF0000"/>
              </a:solidFill>
            </a:endParaRPr>
          </a:p>
          <a:p>
            <a:pPr marL="0" indent="0">
              <a:buNone/>
            </a:pPr>
            <a:r>
              <a:rPr lang="en-US" sz="2400" dirty="0"/>
              <a:t>    </a:t>
            </a:r>
            <a:r>
              <a:rPr lang="en-US" sz="2400" dirty="0" err="1"/>
              <a:t>ys</a:t>
            </a:r>
            <a:r>
              <a:rPr lang="en-US" sz="2400" dirty="0"/>
              <a:t>=y0-trunc(</a:t>
            </a:r>
            <a:r>
              <a:rPr lang="en-US" sz="2400" dirty="0" err="1"/>
              <a:t>rs</a:t>
            </a:r>
            <a:r>
              <a:rPr lang="en-US" sz="2400" dirty="0"/>
              <a:t>*cos(j*2*pi/n))-</a:t>
            </a:r>
            <a:r>
              <a:rPr lang="en-US" sz="2400" dirty="0" smtClean="0"/>
              <a:t>10</a:t>
            </a:r>
            <a:r>
              <a:rPr lang="ru-RU" sz="2400" dirty="0" smtClean="0"/>
              <a:t> </a:t>
            </a:r>
            <a:endParaRPr lang="en-US" sz="2400" dirty="0"/>
          </a:p>
          <a:p>
            <a:pPr marL="0" indent="0">
              <a:buNone/>
            </a:pPr>
            <a:r>
              <a:rPr lang="en-US" sz="2400" dirty="0"/>
              <a:t>    </a:t>
            </a:r>
            <a:r>
              <a:rPr lang="en-US" sz="2400" dirty="0" err="1"/>
              <a:t>xm</a:t>
            </a:r>
            <a:r>
              <a:rPr lang="en-US" sz="2400" dirty="0"/>
              <a:t>=x0+trunc(</a:t>
            </a:r>
            <a:r>
              <a:rPr lang="en-US" sz="2400" dirty="0" err="1"/>
              <a:t>rm</a:t>
            </a:r>
            <a:r>
              <a:rPr lang="en-US" sz="2400" dirty="0"/>
              <a:t>*sin(k*2*pi/n</a:t>
            </a:r>
            <a:r>
              <a:rPr lang="en-US" sz="2400" dirty="0" smtClean="0"/>
              <a:t>))</a:t>
            </a:r>
            <a:r>
              <a:rPr lang="ru-RU" sz="2400" dirty="0" smtClean="0"/>
              <a:t> </a:t>
            </a:r>
            <a:r>
              <a:rPr lang="en-US" sz="2400" dirty="0" smtClean="0">
                <a:solidFill>
                  <a:srgbClr val="FF0000"/>
                </a:solidFill>
              </a:rPr>
              <a:t>#</a:t>
            </a:r>
            <a:r>
              <a:rPr lang="ru-RU" sz="2400" dirty="0" smtClean="0">
                <a:solidFill>
                  <a:srgbClr val="FF0000"/>
                </a:solidFill>
              </a:rPr>
              <a:t>координаты минутной стрелки</a:t>
            </a:r>
            <a:endParaRPr lang="en-US" sz="2400" dirty="0">
              <a:solidFill>
                <a:srgbClr val="FF0000"/>
              </a:solidFill>
            </a:endParaRPr>
          </a:p>
          <a:p>
            <a:pPr marL="0" indent="0">
              <a:buNone/>
            </a:pPr>
            <a:r>
              <a:rPr lang="en-US" sz="2400" dirty="0"/>
              <a:t>    </a:t>
            </a:r>
            <a:r>
              <a:rPr lang="en-US" sz="2400" dirty="0" err="1"/>
              <a:t>ym</a:t>
            </a:r>
            <a:r>
              <a:rPr lang="en-US" sz="2400" dirty="0"/>
              <a:t>=y0-trunc(</a:t>
            </a:r>
            <a:r>
              <a:rPr lang="en-US" sz="2400" dirty="0" err="1"/>
              <a:t>rm</a:t>
            </a:r>
            <a:r>
              <a:rPr lang="en-US" sz="2400" dirty="0"/>
              <a:t>*cos(k*2*pi/n))</a:t>
            </a:r>
          </a:p>
          <a:p>
            <a:pPr marL="0" indent="0">
              <a:buNone/>
            </a:pPr>
            <a:r>
              <a:rPr lang="en-US" sz="2400" dirty="0"/>
              <a:t>    j=j+1</a:t>
            </a:r>
            <a:endParaRPr lang="ru-RU" sz="2400" dirty="0"/>
          </a:p>
        </p:txBody>
      </p:sp>
    </p:spTree>
    <p:extLst>
      <p:ext uri="{BB962C8B-B14F-4D97-AF65-F5344CB8AC3E}">
        <p14:creationId xmlns:p14="http://schemas.microsoft.com/office/powerpoint/2010/main" val="28148476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 smtClean="0">
                <a:solidFill>
                  <a:srgbClr val="0070C0"/>
                </a:solidFill>
              </a:rPr>
              <a:t>Цикл </a:t>
            </a:r>
            <a:r>
              <a:rPr lang="ru-RU" dirty="0">
                <a:solidFill>
                  <a:srgbClr val="0070C0"/>
                </a:solidFill>
              </a:rPr>
              <a:t>с условием</a:t>
            </a:r>
            <a:r>
              <a:rPr lang="ru-RU" dirty="0"/>
              <a:t/>
            </a:r>
            <a:br>
              <a:rPr lang="ru-RU" dirty="0"/>
            </a:b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ru-RU" sz="2400" dirty="0"/>
              <a:t> </a:t>
            </a:r>
            <a:r>
              <a:rPr lang="ru-RU" sz="2400" dirty="0" smtClean="0"/>
              <a:t>   </a:t>
            </a:r>
            <a:r>
              <a:rPr lang="en-US" sz="2400" dirty="0" smtClean="0">
                <a:solidFill>
                  <a:schemeClr val="accent2">
                    <a:lumMod val="75000"/>
                  </a:schemeClr>
                </a:solidFill>
              </a:rPr>
              <a:t>if</a:t>
            </a:r>
            <a:r>
              <a:rPr lang="en-US" sz="2400" dirty="0" smtClean="0"/>
              <a:t> </a:t>
            </a:r>
            <a:r>
              <a:rPr lang="en-US" sz="2400" dirty="0"/>
              <a:t>(j==60):</a:t>
            </a:r>
          </a:p>
          <a:p>
            <a:pPr marL="0" indent="0">
              <a:buNone/>
            </a:pPr>
            <a:r>
              <a:rPr lang="en-US" sz="2400" dirty="0"/>
              <a:t>       </a:t>
            </a:r>
            <a:r>
              <a:rPr lang="ru-RU" sz="2400" dirty="0" smtClean="0"/>
              <a:t>    </a:t>
            </a:r>
            <a:r>
              <a:rPr lang="en-US" sz="2400" dirty="0" smtClean="0"/>
              <a:t> </a:t>
            </a:r>
            <a:r>
              <a:rPr lang="en-US" sz="2400" dirty="0"/>
              <a:t>j=0</a:t>
            </a:r>
          </a:p>
          <a:p>
            <a:pPr marL="0" indent="0">
              <a:buNone/>
            </a:pPr>
            <a:r>
              <a:rPr lang="en-US" sz="2400" dirty="0"/>
              <a:t>       </a:t>
            </a:r>
            <a:r>
              <a:rPr lang="ru-RU" sz="2400" dirty="0" smtClean="0"/>
              <a:t>    </a:t>
            </a:r>
            <a:r>
              <a:rPr lang="en-US" sz="2400" dirty="0" smtClean="0"/>
              <a:t> </a:t>
            </a:r>
            <a:r>
              <a:rPr lang="en-US" sz="2400" dirty="0"/>
              <a:t>k=k+1</a:t>
            </a:r>
          </a:p>
          <a:p>
            <a:pPr marL="0" indent="0">
              <a:buNone/>
            </a:pPr>
            <a:r>
              <a:rPr lang="en-US" sz="2400" dirty="0"/>
              <a:t>    </a:t>
            </a:r>
            <a:r>
              <a:rPr lang="en-US" sz="2400" dirty="0" err="1"/>
              <a:t>pygame.draw.lines</a:t>
            </a:r>
            <a:r>
              <a:rPr lang="en-US" sz="2400" dirty="0"/>
              <a:t>(screen, THECOLORS[</a:t>
            </a:r>
            <a:r>
              <a:rPr lang="en-US" sz="2400" dirty="0">
                <a:solidFill>
                  <a:srgbClr val="00B050"/>
                </a:solidFill>
              </a:rPr>
              <a:t>'black'</a:t>
            </a:r>
            <a:r>
              <a:rPr lang="en-US" sz="2400" dirty="0"/>
              <a:t>],</a:t>
            </a:r>
            <a:r>
              <a:rPr lang="en-US" sz="2400" dirty="0">
                <a:solidFill>
                  <a:schemeClr val="accent2">
                    <a:lumMod val="75000"/>
                  </a:schemeClr>
                </a:solidFill>
              </a:rPr>
              <a:t>False</a:t>
            </a:r>
            <a:r>
              <a:rPr lang="en-US" sz="2400" dirty="0"/>
              <a:t>,[[320,240],[</a:t>
            </a:r>
            <a:r>
              <a:rPr lang="en-US" sz="2400" dirty="0" err="1"/>
              <a:t>xm,ym</a:t>
            </a:r>
            <a:r>
              <a:rPr lang="en-US" sz="2400" dirty="0"/>
              <a:t>]],2)</a:t>
            </a:r>
          </a:p>
          <a:p>
            <a:pPr marL="0" indent="0">
              <a:buNone/>
            </a:pPr>
            <a:r>
              <a:rPr lang="en-US" sz="2400" dirty="0"/>
              <a:t>    </a:t>
            </a:r>
            <a:r>
              <a:rPr lang="en-US" sz="2400" dirty="0" err="1"/>
              <a:t>pygame.draw.lines</a:t>
            </a:r>
            <a:r>
              <a:rPr lang="en-US" sz="2400" dirty="0"/>
              <a:t>(screen, THECOLORS[</a:t>
            </a:r>
            <a:r>
              <a:rPr lang="en-US" sz="2400" dirty="0">
                <a:solidFill>
                  <a:srgbClr val="00B050"/>
                </a:solidFill>
              </a:rPr>
              <a:t>'black'</a:t>
            </a:r>
            <a:r>
              <a:rPr lang="en-US" sz="2400" dirty="0"/>
              <a:t>],</a:t>
            </a:r>
            <a:r>
              <a:rPr lang="en-US" sz="2400" dirty="0">
                <a:solidFill>
                  <a:schemeClr val="accent2">
                    <a:lumMod val="75000"/>
                  </a:schemeClr>
                </a:solidFill>
              </a:rPr>
              <a:t>False</a:t>
            </a:r>
            <a:r>
              <a:rPr lang="en-US" sz="2400" dirty="0"/>
              <a:t>,[[320,240],[</a:t>
            </a:r>
            <a:r>
              <a:rPr lang="en-US" sz="2400" dirty="0" err="1"/>
              <a:t>xs,ys</a:t>
            </a:r>
            <a:r>
              <a:rPr lang="en-US" sz="2400" dirty="0"/>
              <a:t>]],2)</a:t>
            </a:r>
          </a:p>
          <a:p>
            <a:pPr marL="0" indent="0">
              <a:buNone/>
            </a:pPr>
            <a:r>
              <a:rPr lang="en-US" sz="2400" dirty="0"/>
              <a:t>    </a:t>
            </a:r>
            <a:r>
              <a:rPr lang="en-US" sz="2400" dirty="0" err="1"/>
              <a:t>screen.blit</a:t>
            </a:r>
            <a:r>
              <a:rPr lang="en-US" sz="2400" dirty="0"/>
              <a:t>(text, [307, 60] )</a:t>
            </a:r>
          </a:p>
          <a:p>
            <a:pPr marL="0" indent="0">
              <a:buNone/>
            </a:pPr>
            <a:r>
              <a:rPr lang="en-US" sz="2400" dirty="0"/>
              <a:t>   </a:t>
            </a:r>
            <a:r>
              <a:rPr lang="en-US" sz="2400" dirty="0">
                <a:solidFill>
                  <a:schemeClr val="accent2">
                    <a:lumMod val="75000"/>
                  </a:schemeClr>
                </a:solidFill>
              </a:rPr>
              <a:t> for </a:t>
            </a:r>
            <a:r>
              <a:rPr lang="en-US" sz="2400" dirty="0" err="1"/>
              <a:t>i</a:t>
            </a:r>
            <a:r>
              <a:rPr lang="en-US" sz="2400" dirty="0"/>
              <a:t> </a:t>
            </a:r>
            <a:r>
              <a:rPr lang="en-US" sz="2400" dirty="0">
                <a:solidFill>
                  <a:schemeClr val="accent2">
                    <a:lumMod val="75000"/>
                  </a:schemeClr>
                </a:solidFill>
              </a:rPr>
              <a:t>in</a:t>
            </a:r>
            <a:r>
              <a:rPr lang="en-US" sz="2400" dirty="0"/>
              <a:t> range (n):</a:t>
            </a:r>
          </a:p>
          <a:p>
            <a:pPr marL="0" indent="0">
              <a:buNone/>
            </a:pPr>
            <a:r>
              <a:rPr lang="en-US" sz="2400" dirty="0"/>
              <a:t>        x1=x0+trunc(r1*cos(</a:t>
            </a:r>
            <a:r>
              <a:rPr lang="en-US" sz="2400" dirty="0" err="1"/>
              <a:t>i</a:t>
            </a:r>
            <a:r>
              <a:rPr lang="en-US" sz="2400" dirty="0"/>
              <a:t>*2*pi/n</a:t>
            </a:r>
            <a:r>
              <a:rPr lang="en-US" sz="2400" dirty="0" smtClean="0"/>
              <a:t>))</a:t>
            </a:r>
            <a:r>
              <a:rPr lang="ru-RU" sz="2400" dirty="0" smtClean="0"/>
              <a:t> </a:t>
            </a:r>
            <a:r>
              <a:rPr lang="en-US" sz="2400" dirty="0" smtClean="0">
                <a:solidFill>
                  <a:srgbClr val="FF0000"/>
                </a:solidFill>
              </a:rPr>
              <a:t>#</a:t>
            </a:r>
            <a:r>
              <a:rPr lang="ru-RU" sz="2400" dirty="0" smtClean="0">
                <a:solidFill>
                  <a:srgbClr val="FF0000"/>
                </a:solidFill>
              </a:rPr>
              <a:t>разметка циферблата</a:t>
            </a:r>
            <a:endParaRPr lang="en-US" sz="2400" dirty="0">
              <a:solidFill>
                <a:srgbClr val="FF0000"/>
              </a:solidFill>
            </a:endParaRPr>
          </a:p>
          <a:p>
            <a:pPr marL="0" indent="0">
              <a:buNone/>
            </a:pPr>
            <a:r>
              <a:rPr lang="en-US" sz="2400" dirty="0"/>
              <a:t>        x2=x0+trunc(r2*cos(</a:t>
            </a:r>
            <a:r>
              <a:rPr lang="en-US" sz="2400" dirty="0" err="1"/>
              <a:t>i</a:t>
            </a:r>
            <a:r>
              <a:rPr lang="en-US" sz="2400" dirty="0"/>
              <a:t>*2*pi/n))</a:t>
            </a:r>
          </a:p>
          <a:p>
            <a:pPr marL="0" indent="0">
              <a:buNone/>
            </a:pPr>
            <a:r>
              <a:rPr lang="en-US" sz="2400" dirty="0"/>
              <a:t>        y1=y0+trunc(r1*sin(</a:t>
            </a:r>
            <a:r>
              <a:rPr lang="en-US" sz="2400" dirty="0" err="1"/>
              <a:t>i</a:t>
            </a:r>
            <a:r>
              <a:rPr lang="en-US" sz="2400" dirty="0"/>
              <a:t>*2*pi/n))</a:t>
            </a:r>
          </a:p>
          <a:p>
            <a:pPr marL="0" indent="0">
              <a:buNone/>
            </a:pPr>
            <a:r>
              <a:rPr lang="en-US" sz="2400" dirty="0"/>
              <a:t>        y2=y0+trunc(r2*sin(</a:t>
            </a:r>
            <a:r>
              <a:rPr lang="en-US" sz="2400" dirty="0" err="1"/>
              <a:t>i</a:t>
            </a:r>
            <a:r>
              <a:rPr lang="en-US" sz="2400" dirty="0"/>
              <a:t>*2*pi/n))</a:t>
            </a:r>
          </a:p>
          <a:p>
            <a:pPr marL="0" indent="0">
              <a:buNone/>
            </a:pPr>
            <a:r>
              <a:rPr lang="en-US" sz="2400" dirty="0"/>
              <a:t>        </a:t>
            </a:r>
            <a:r>
              <a:rPr lang="en-US" sz="2400" dirty="0" err="1"/>
              <a:t>pygame.draw.lines</a:t>
            </a:r>
            <a:r>
              <a:rPr lang="en-US" sz="2400" dirty="0"/>
              <a:t>(screen, THECOLORS[</a:t>
            </a:r>
            <a:r>
              <a:rPr lang="en-US" sz="2400" dirty="0">
                <a:solidFill>
                  <a:srgbClr val="00B050"/>
                </a:solidFill>
              </a:rPr>
              <a:t>'red'</a:t>
            </a:r>
            <a:r>
              <a:rPr lang="en-US" sz="2400" dirty="0"/>
              <a:t>],</a:t>
            </a:r>
            <a:r>
              <a:rPr lang="en-US" sz="2400" dirty="0">
                <a:solidFill>
                  <a:schemeClr val="accent2">
                    <a:lumMod val="75000"/>
                  </a:schemeClr>
                </a:solidFill>
              </a:rPr>
              <a:t>False</a:t>
            </a:r>
            <a:r>
              <a:rPr lang="en-US" sz="2400" dirty="0"/>
              <a:t>,[[x1,y1],[x2,y2]],2)</a:t>
            </a:r>
          </a:p>
          <a:p>
            <a:pPr marL="0" indent="0">
              <a:buNone/>
            </a:pPr>
            <a:endParaRPr lang="ru-RU" sz="2400" dirty="0"/>
          </a:p>
        </p:txBody>
      </p:sp>
    </p:spTree>
    <p:extLst>
      <p:ext uri="{BB962C8B-B14F-4D97-AF65-F5344CB8AC3E}">
        <p14:creationId xmlns:p14="http://schemas.microsoft.com/office/powerpoint/2010/main" val="34440473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 smtClean="0">
                <a:solidFill>
                  <a:srgbClr val="0070C0"/>
                </a:solidFill>
              </a:rPr>
              <a:t>Цикл </a:t>
            </a:r>
            <a:r>
              <a:rPr lang="ru-RU" dirty="0">
                <a:solidFill>
                  <a:srgbClr val="0070C0"/>
                </a:solidFill>
              </a:rPr>
              <a:t>с условием</a:t>
            </a:r>
            <a:r>
              <a:rPr lang="ru-RU" dirty="0"/>
              <a:t/>
            </a:r>
            <a:br>
              <a:rPr lang="ru-RU" dirty="0"/>
            </a:b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sz="2400" dirty="0"/>
              <a:t> </a:t>
            </a:r>
            <a:r>
              <a:rPr lang="ru-RU" sz="2400" dirty="0" smtClean="0"/>
              <a:t>   </a:t>
            </a:r>
            <a:r>
              <a:rPr lang="en-US" sz="2400" dirty="0" smtClean="0">
                <a:solidFill>
                  <a:schemeClr val="accent2">
                    <a:lumMod val="75000"/>
                  </a:schemeClr>
                </a:solidFill>
              </a:rPr>
              <a:t>if</a:t>
            </a:r>
            <a:r>
              <a:rPr lang="en-US" sz="2400" dirty="0" smtClean="0"/>
              <a:t> </a:t>
            </a:r>
            <a:r>
              <a:rPr lang="en-US" sz="2400" dirty="0"/>
              <a:t>(</a:t>
            </a:r>
            <a:r>
              <a:rPr lang="en-US" sz="2400" dirty="0" err="1"/>
              <a:t>i</a:t>
            </a:r>
            <a:r>
              <a:rPr lang="en-US" sz="2400" dirty="0"/>
              <a:t>&gt;0) </a:t>
            </a:r>
            <a:r>
              <a:rPr lang="en-US" sz="2400" dirty="0">
                <a:solidFill>
                  <a:schemeClr val="accent2">
                    <a:lumMod val="75000"/>
                  </a:schemeClr>
                </a:solidFill>
              </a:rPr>
              <a:t>and</a:t>
            </a:r>
            <a:r>
              <a:rPr lang="en-US" sz="2400" dirty="0"/>
              <a:t> ((i%5)==0):</a:t>
            </a:r>
          </a:p>
          <a:p>
            <a:pPr marL="0" indent="0">
              <a:buNone/>
            </a:pPr>
            <a:r>
              <a:rPr lang="en-US" sz="2400" dirty="0"/>
              <a:t>            text = </a:t>
            </a:r>
            <a:r>
              <a:rPr lang="en-US" sz="2400" dirty="0" err="1"/>
              <a:t>font.render</a:t>
            </a:r>
            <a:r>
              <a:rPr lang="en-US" sz="2400" dirty="0"/>
              <a:t>(</a:t>
            </a:r>
            <a:r>
              <a:rPr lang="en-US" sz="2400" dirty="0" err="1"/>
              <a:t>str</a:t>
            </a:r>
            <a:r>
              <a:rPr lang="en-US" sz="2400" dirty="0"/>
              <a:t>(</a:t>
            </a:r>
            <a:r>
              <a:rPr lang="en-US" sz="2400" dirty="0" err="1"/>
              <a:t>i</a:t>
            </a:r>
            <a:r>
              <a:rPr lang="en-US" sz="2400" dirty="0"/>
              <a:t>//5),True, THECOLORS [</a:t>
            </a:r>
            <a:r>
              <a:rPr lang="en-US" sz="2400" dirty="0">
                <a:solidFill>
                  <a:srgbClr val="00B050"/>
                </a:solidFill>
              </a:rPr>
              <a:t>"black"</a:t>
            </a:r>
            <a:r>
              <a:rPr lang="en-US" sz="2400" dirty="0"/>
              <a:t>])</a:t>
            </a:r>
          </a:p>
          <a:p>
            <a:pPr marL="0" indent="0">
              <a:buNone/>
            </a:pPr>
            <a:r>
              <a:rPr lang="en-US" sz="2400" dirty="0"/>
              <a:t>            x=x0+trunc(r*sin(</a:t>
            </a:r>
            <a:r>
              <a:rPr lang="en-US" sz="2400" dirty="0" err="1"/>
              <a:t>i</a:t>
            </a:r>
            <a:r>
              <a:rPr lang="en-US" sz="2400" dirty="0"/>
              <a:t>*2*pi/n))-5</a:t>
            </a:r>
          </a:p>
          <a:p>
            <a:pPr marL="0" indent="0">
              <a:buNone/>
            </a:pPr>
            <a:r>
              <a:rPr lang="en-US" sz="2400" dirty="0"/>
              <a:t>            y=y0-trunc(r*cos(</a:t>
            </a:r>
            <a:r>
              <a:rPr lang="en-US" sz="2400" dirty="0" err="1"/>
              <a:t>i</a:t>
            </a:r>
            <a:r>
              <a:rPr lang="en-US" sz="2400" dirty="0"/>
              <a:t>*2*pi/n))-10</a:t>
            </a:r>
          </a:p>
          <a:p>
            <a:pPr marL="0" indent="0">
              <a:buNone/>
            </a:pPr>
            <a:r>
              <a:rPr lang="en-US" sz="2400" dirty="0"/>
              <a:t>            </a:t>
            </a:r>
            <a:r>
              <a:rPr lang="en-US" sz="2400" dirty="0" err="1"/>
              <a:t>screen.blit</a:t>
            </a:r>
            <a:r>
              <a:rPr lang="en-US" sz="2400" dirty="0"/>
              <a:t>(text, [x, y])</a:t>
            </a:r>
          </a:p>
          <a:p>
            <a:pPr marL="0" indent="0">
              <a:buNone/>
            </a:pPr>
            <a:r>
              <a:rPr lang="en-US" sz="2400" dirty="0">
                <a:solidFill>
                  <a:schemeClr val="accent2">
                    <a:lumMod val="75000"/>
                  </a:schemeClr>
                </a:solidFill>
              </a:rPr>
              <a:t>    for </a:t>
            </a:r>
            <a:r>
              <a:rPr lang="en-US" sz="2400" dirty="0"/>
              <a:t>event </a:t>
            </a:r>
            <a:r>
              <a:rPr lang="en-US" sz="2400" dirty="0">
                <a:solidFill>
                  <a:schemeClr val="accent2">
                    <a:lumMod val="75000"/>
                  </a:schemeClr>
                </a:solidFill>
              </a:rPr>
              <a:t>in </a:t>
            </a:r>
            <a:r>
              <a:rPr lang="en-US" sz="2400" dirty="0" err="1"/>
              <a:t>pygame.event.get</a:t>
            </a:r>
            <a:r>
              <a:rPr lang="en-US" sz="2400" dirty="0"/>
              <a:t>():</a:t>
            </a:r>
          </a:p>
          <a:p>
            <a:pPr marL="0" indent="0">
              <a:buNone/>
            </a:pPr>
            <a:r>
              <a:rPr lang="en-US" sz="2400" dirty="0"/>
              <a:t>       </a:t>
            </a:r>
            <a:r>
              <a:rPr lang="en-US" sz="2400" dirty="0">
                <a:solidFill>
                  <a:schemeClr val="accent2">
                    <a:lumMod val="75000"/>
                  </a:schemeClr>
                </a:solidFill>
              </a:rPr>
              <a:t> if </a:t>
            </a:r>
            <a:r>
              <a:rPr lang="en-US" sz="2400" dirty="0" err="1"/>
              <a:t>event.type</a:t>
            </a:r>
            <a:r>
              <a:rPr lang="en-US" sz="2400" dirty="0"/>
              <a:t> == </a:t>
            </a:r>
            <a:r>
              <a:rPr lang="en-US" sz="2400" dirty="0" err="1"/>
              <a:t>pygame.QUIT</a:t>
            </a:r>
            <a:r>
              <a:rPr lang="en-US" sz="2400" dirty="0"/>
              <a:t>: </a:t>
            </a:r>
          </a:p>
          <a:p>
            <a:pPr marL="0" indent="0">
              <a:buNone/>
            </a:pPr>
            <a:r>
              <a:rPr lang="en-US" sz="2400" dirty="0"/>
              <a:t>            running = </a:t>
            </a:r>
            <a:r>
              <a:rPr lang="en-US" sz="2400" dirty="0">
                <a:solidFill>
                  <a:schemeClr val="accent2">
                    <a:lumMod val="75000"/>
                  </a:schemeClr>
                </a:solidFill>
              </a:rPr>
              <a:t>False</a:t>
            </a:r>
          </a:p>
          <a:p>
            <a:pPr marL="0" indent="0">
              <a:buNone/>
            </a:pPr>
            <a:r>
              <a:rPr lang="en-US" sz="2400" dirty="0"/>
              <a:t>    </a:t>
            </a:r>
            <a:r>
              <a:rPr lang="en-US" sz="2400" dirty="0" err="1"/>
              <a:t>pygame.time.delay</a:t>
            </a:r>
            <a:r>
              <a:rPr lang="en-US" sz="2400" dirty="0"/>
              <a:t>(1000)</a:t>
            </a:r>
          </a:p>
          <a:p>
            <a:pPr marL="0" indent="0">
              <a:buNone/>
            </a:pPr>
            <a:r>
              <a:rPr lang="en-US" sz="2400" dirty="0"/>
              <a:t>    </a:t>
            </a:r>
            <a:r>
              <a:rPr lang="en-US" sz="2400" dirty="0" err="1"/>
              <a:t>pygame.display.flip</a:t>
            </a:r>
            <a:r>
              <a:rPr lang="en-US" sz="2400" dirty="0"/>
              <a:t>()</a:t>
            </a:r>
          </a:p>
          <a:p>
            <a:pPr marL="0" indent="0">
              <a:buNone/>
            </a:pPr>
            <a:r>
              <a:rPr lang="en-US" sz="2400" dirty="0" err="1"/>
              <a:t>pygame.quit</a:t>
            </a:r>
            <a:r>
              <a:rPr lang="en-US" sz="2400" dirty="0"/>
              <a:t>()</a:t>
            </a:r>
          </a:p>
          <a:p>
            <a:pPr marL="0" indent="0">
              <a:buNone/>
            </a:pPr>
            <a:endParaRPr lang="ru-RU" sz="2400" dirty="0"/>
          </a:p>
        </p:txBody>
      </p:sp>
    </p:spTree>
    <p:extLst>
      <p:ext uri="{BB962C8B-B14F-4D97-AF65-F5344CB8AC3E}">
        <p14:creationId xmlns:p14="http://schemas.microsoft.com/office/powerpoint/2010/main" val="25660631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 smtClean="0">
                <a:solidFill>
                  <a:srgbClr val="0070C0"/>
                </a:solidFill>
              </a:rPr>
              <a:t>Цикл </a:t>
            </a:r>
            <a:r>
              <a:rPr lang="ru-RU" dirty="0">
                <a:solidFill>
                  <a:srgbClr val="0070C0"/>
                </a:solidFill>
              </a:rPr>
              <a:t>с условием</a:t>
            </a:r>
            <a:r>
              <a:rPr lang="ru-RU" dirty="0"/>
              <a:t/>
            </a:r>
            <a:br>
              <a:rPr lang="ru-RU" dirty="0"/>
            </a:b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ru-RU" sz="2400" dirty="0" smtClean="0"/>
              <a:t>Неуправляемое движение круга</a:t>
            </a:r>
            <a:endParaRPr lang="ru-RU" sz="2400" dirty="0"/>
          </a:p>
        </p:txBody>
      </p:sp>
    </p:spTree>
    <p:extLst>
      <p:ext uri="{BB962C8B-B14F-4D97-AF65-F5344CB8AC3E}">
        <p14:creationId xmlns:p14="http://schemas.microsoft.com/office/powerpoint/2010/main" val="27263050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 smtClean="0">
                <a:solidFill>
                  <a:srgbClr val="0070C0"/>
                </a:solidFill>
              </a:rPr>
              <a:t>Цикл </a:t>
            </a:r>
            <a:r>
              <a:rPr lang="ru-RU" dirty="0">
                <a:solidFill>
                  <a:srgbClr val="0070C0"/>
                </a:solidFill>
              </a:rPr>
              <a:t>с условием</a:t>
            </a:r>
            <a:r>
              <a:rPr lang="ru-RU" dirty="0"/>
              <a:t/>
            </a:r>
            <a:br>
              <a:rPr lang="ru-RU" dirty="0"/>
            </a:b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ru-RU" sz="2400" dirty="0">
                <a:solidFill>
                  <a:srgbClr val="FF0000"/>
                </a:solidFill>
              </a:rPr>
              <a:t>#Неуправляемое движение</a:t>
            </a:r>
          </a:p>
          <a:p>
            <a:pPr marL="0" indent="0">
              <a:buNone/>
            </a:pPr>
            <a:r>
              <a:rPr lang="en-US" sz="2400" dirty="0">
                <a:solidFill>
                  <a:schemeClr val="accent2">
                    <a:lumMod val="75000"/>
                  </a:schemeClr>
                </a:solidFill>
              </a:rPr>
              <a:t>import</a:t>
            </a:r>
            <a:r>
              <a:rPr lang="en-US" sz="2400" dirty="0"/>
              <a:t> </a:t>
            </a:r>
            <a:r>
              <a:rPr lang="en-US" sz="2400" dirty="0" err="1"/>
              <a:t>pygame</a:t>
            </a:r>
            <a:endParaRPr lang="en-US" sz="2400" dirty="0"/>
          </a:p>
          <a:p>
            <a:pPr marL="0" indent="0">
              <a:buNone/>
            </a:pPr>
            <a:r>
              <a:rPr lang="en-US" sz="2400" dirty="0" err="1"/>
              <a:t>pygame.init</a:t>
            </a:r>
            <a:r>
              <a:rPr lang="en-US" sz="2400" dirty="0"/>
              <a:t>()</a:t>
            </a:r>
          </a:p>
          <a:p>
            <a:pPr marL="0" indent="0">
              <a:buNone/>
            </a:pPr>
            <a:r>
              <a:rPr lang="en-US" sz="2400" dirty="0">
                <a:solidFill>
                  <a:schemeClr val="accent2">
                    <a:lumMod val="75000"/>
                  </a:schemeClr>
                </a:solidFill>
              </a:rPr>
              <a:t>from</a:t>
            </a:r>
            <a:r>
              <a:rPr lang="en-US" sz="2400" dirty="0"/>
              <a:t> </a:t>
            </a:r>
            <a:r>
              <a:rPr lang="en-US" sz="2400" dirty="0" err="1"/>
              <a:t>pygame.color</a:t>
            </a:r>
            <a:r>
              <a:rPr lang="en-US" sz="2400" dirty="0"/>
              <a:t> </a:t>
            </a:r>
            <a:r>
              <a:rPr lang="en-US" sz="2400" dirty="0">
                <a:solidFill>
                  <a:schemeClr val="accent2">
                    <a:lumMod val="75000"/>
                  </a:schemeClr>
                </a:solidFill>
              </a:rPr>
              <a:t>import</a:t>
            </a:r>
            <a:r>
              <a:rPr lang="en-US" sz="2400" dirty="0"/>
              <a:t> THECOLORS</a:t>
            </a:r>
          </a:p>
          <a:p>
            <a:pPr marL="0" indent="0">
              <a:buNone/>
            </a:pPr>
            <a:r>
              <a:rPr lang="en-US" sz="2400" dirty="0" err="1"/>
              <a:t>screenX</a:t>
            </a:r>
            <a:r>
              <a:rPr lang="en-US" sz="2400" dirty="0"/>
              <a:t>=900</a:t>
            </a:r>
          </a:p>
          <a:p>
            <a:pPr marL="0" indent="0">
              <a:buNone/>
            </a:pPr>
            <a:r>
              <a:rPr lang="en-US" sz="2400" dirty="0" err="1"/>
              <a:t>screenY</a:t>
            </a:r>
            <a:r>
              <a:rPr lang="en-US" sz="2400" dirty="0"/>
              <a:t>=600</a:t>
            </a:r>
          </a:p>
          <a:p>
            <a:pPr marL="0" indent="0">
              <a:buNone/>
            </a:pPr>
            <a:r>
              <a:rPr lang="en-US" sz="2400" dirty="0"/>
              <a:t>screen = </a:t>
            </a:r>
            <a:r>
              <a:rPr lang="en-US" sz="2400" dirty="0" err="1"/>
              <a:t>pygame.display.set_mode</a:t>
            </a:r>
            <a:r>
              <a:rPr lang="en-US" sz="2400" dirty="0"/>
              <a:t>([</a:t>
            </a:r>
            <a:r>
              <a:rPr lang="en-US" sz="2400" dirty="0" err="1"/>
              <a:t>screenX,screenY</a:t>
            </a:r>
            <a:r>
              <a:rPr lang="en-US" sz="2400" dirty="0"/>
              <a:t>])</a:t>
            </a:r>
          </a:p>
          <a:p>
            <a:pPr marL="0" indent="0">
              <a:buNone/>
            </a:pPr>
            <a:r>
              <a:rPr lang="en-US" sz="2400" dirty="0"/>
              <a:t>x=640</a:t>
            </a:r>
          </a:p>
          <a:p>
            <a:pPr marL="0" indent="0">
              <a:buNone/>
            </a:pPr>
            <a:r>
              <a:rPr lang="en-US" sz="2400" dirty="0"/>
              <a:t>y=480</a:t>
            </a:r>
          </a:p>
          <a:p>
            <a:pPr marL="0" indent="0">
              <a:buNone/>
            </a:pPr>
            <a:r>
              <a:rPr lang="en-US" sz="2400" dirty="0"/>
              <a:t>dx=2</a:t>
            </a:r>
          </a:p>
          <a:p>
            <a:pPr marL="0" indent="0">
              <a:buNone/>
            </a:pPr>
            <a:r>
              <a:rPr lang="en-US" sz="2400" dirty="0" err="1"/>
              <a:t>dy</a:t>
            </a:r>
            <a:r>
              <a:rPr lang="en-US" sz="2400" dirty="0"/>
              <a:t>=2</a:t>
            </a:r>
          </a:p>
          <a:p>
            <a:pPr marL="0" indent="0">
              <a:buNone/>
            </a:pPr>
            <a:r>
              <a:rPr lang="en-US" sz="2400" dirty="0"/>
              <a:t>r=20</a:t>
            </a:r>
          </a:p>
          <a:p>
            <a:pPr marL="0" indent="0">
              <a:buNone/>
            </a:pPr>
            <a:r>
              <a:rPr lang="en-US" sz="2400" dirty="0" err="1"/>
              <a:t>pygame.draw.circle</a:t>
            </a:r>
            <a:r>
              <a:rPr lang="en-US" sz="2400" dirty="0"/>
              <a:t>(screen, THECOLORS[</a:t>
            </a:r>
            <a:r>
              <a:rPr lang="en-US" sz="2400" dirty="0">
                <a:solidFill>
                  <a:srgbClr val="00B050"/>
                </a:solidFill>
              </a:rPr>
              <a:t>'red'</a:t>
            </a:r>
            <a:r>
              <a:rPr lang="en-US" sz="2400" dirty="0"/>
              <a:t>],[</a:t>
            </a:r>
            <a:r>
              <a:rPr lang="en-US" sz="2400" dirty="0" err="1"/>
              <a:t>x,y</a:t>
            </a:r>
            <a:r>
              <a:rPr lang="en-US" sz="2400" dirty="0"/>
              <a:t>], r, 0)</a:t>
            </a:r>
            <a:endParaRPr lang="ru-RU" sz="2400" dirty="0"/>
          </a:p>
        </p:txBody>
      </p:sp>
    </p:spTree>
    <p:extLst>
      <p:ext uri="{BB962C8B-B14F-4D97-AF65-F5344CB8AC3E}">
        <p14:creationId xmlns:p14="http://schemas.microsoft.com/office/powerpoint/2010/main" val="20886645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 smtClean="0">
                <a:solidFill>
                  <a:srgbClr val="0070C0"/>
                </a:solidFill>
              </a:rPr>
              <a:t>Цикл </a:t>
            </a:r>
            <a:r>
              <a:rPr lang="ru-RU" dirty="0">
                <a:solidFill>
                  <a:srgbClr val="0070C0"/>
                </a:solidFill>
              </a:rPr>
              <a:t>с условием</a:t>
            </a:r>
            <a:r>
              <a:rPr lang="ru-RU" dirty="0"/>
              <a:t/>
            </a:r>
            <a:br>
              <a:rPr lang="ru-RU" dirty="0"/>
            </a:b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sz="2400" dirty="0"/>
              <a:t>running = </a:t>
            </a:r>
            <a:r>
              <a:rPr lang="en-US" sz="2400" dirty="0">
                <a:solidFill>
                  <a:schemeClr val="accent2">
                    <a:lumMod val="75000"/>
                  </a:schemeClr>
                </a:solidFill>
              </a:rPr>
              <a:t>True</a:t>
            </a:r>
          </a:p>
          <a:p>
            <a:pPr marL="0" indent="0">
              <a:buNone/>
            </a:pPr>
            <a:r>
              <a:rPr lang="en-US" sz="2400" dirty="0">
                <a:solidFill>
                  <a:schemeClr val="accent2">
                    <a:lumMod val="75000"/>
                  </a:schemeClr>
                </a:solidFill>
              </a:rPr>
              <a:t>while</a:t>
            </a:r>
            <a:r>
              <a:rPr lang="en-US" sz="2400" dirty="0"/>
              <a:t> running:</a:t>
            </a:r>
          </a:p>
          <a:p>
            <a:pPr marL="0" indent="0">
              <a:buNone/>
            </a:pPr>
            <a:r>
              <a:rPr lang="en-US" sz="2400" dirty="0"/>
              <a:t>    </a:t>
            </a:r>
            <a:r>
              <a:rPr lang="en-US" sz="2400" dirty="0" err="1"/>
              <a:t>screen.fill</a:t>
            </a:r>
            <a:r>
              <a:rPr lang="en-US" sz="2400" dirty="0"/>
              <a:t>(THECOLORS[</a:t>
            </a:r>
            <a:r>
              <a:rPr lang="en-US" sz="2400" dirty="0">
                <a:solidFill>
                  <a:srgbClr val="00B050"/>
                </a:solidFill>
              </a:rPr>
              <a:t>'white'</a:t>
            </a:r>
            <a:r>
              <a:rPr lang="en-US" sz="2400" dirty="0"/>
              <a:t>])</a:t>
            </a:r>
          </a:p>
          <a:p>
            <a:pPr marL="0" indent="0">
              <a:buNone/>
            </a:pPr>
            <a:r>
              <a:rPr lang="en-US" sz="2400" dirty="0"/>
              <a:t>    x=</a:t>
            </a:r>
            <a:r>
              <a:rPr lang="en-US" sz="2400" dirty="0" err="1"/>
              <a:t>x+dx</a:t>
            </a:r>
            <a:endParaRPr lang="en-US" sz="2400" dirty="0"/>
          </a:p>
          <a:p>
            <a:pPr marL="0" indent="0">
              <a:buNone/>
            </a:pPr>
            <a:r>
              <a:rPr lang="en-US" sz="2400" dirty="0"/>
              <a:t>    y=</a:t>
            </a:r>
            <a:r>
              <a:rPr lang="en-US" sz="2400" dirty="0" err="1"/>
              <a:t>y+dy</a:t>
            </a:r>
            <a:endParaRPr lang="en-US" sz="2400" dirty="0"/>
          </a:p>
          <a:p>
            <a:pPr marL="0" indent="0">
              <a:buNone/>
            </a:pPr>
            <a:r>
              <a:rPr lang="en-US" sz="2400" dirty="0"/>
              <a:t>    </a:t>
            </a:r>
            <a:r>
              <a:rPr lang="en-US" sz="2400" dirty="0" err="1"/>
              <a:t>pygame.draw.circle</a:t>
            </a:r>
            <a:r>
              <a:rPr lang="en-US" sz="2400" dirty="0"/>
              <a:t>(screen, THECOLORS[</a:t>
            </a:r>
            <a:r>
              <a:rPr lang="en-US" sz="2400" dirty="0">
                <a:solidFill>
                  <a:srgbClr val="00B050"/>
                </a:solidFill>
              </a:rPr>
              <a:t>'red'</a:t>
            </a:r>
            <a:r>
              <a:rPr lang="en-US" sz="2400" dirty="0"/>
              <a:t>],[</a:t>
            </a:r>
            <a:r>
              <a:rPr lang="en-US" sz="2400" dirty="0" err="1"/>
              <a:t>x,y</a:t>
            </a:r>
            <a:r>
              <a:rPr lang="en-US" sz="2400" dirty="0"/>
              <a:t>], r, 0)</a:t>
            </a:r>
          </a:p>
          <a:p>
            <a:pPr marL="0" indent="0">
              <a:buNone/>
            </a:pPr>
            <a:r>
              <a:rPr lang="en-US" sz="2400" dirty="0"/>
              <a:t>   </a:t>
            </a:r>
            <a:r>
              <a:rPr lang="en-US" sz="2400" dirty="0">
                <a:solidFill>
                  <a:schemeClr val="accent2">
                    <a:lumMod val="75000"/>
                  </a:schemeClr>
                </a:solidFill>
              </a:rPr>
              <a:t> if </a:t>
            </a:r>
            <a:r>
              <a:rPr lang="en-US" sz="2400" dirty="0"/>
              <a:t>(x&lt;=r) or (x&gt;=</a:t>
            </a:r>
            <a:r>
              <a:rPr lang="en-US" sz="2400" dirty="0" err="1"/>
              <a:t>screenX</a:t>
            </a:r>
            <a:r>
              <a:rPr lang="en-US" sz="2400" dirty="0"/>
              <a:t>-r):</a:t>
            </a:r>
          </a:p>
          <a:p>
            <a:pPr marL="0" indent="0">
              <a:buNone/>
            </a:pPr>
            <a:r>
              <a:rPr lang="en-US" sz="2400" dirty="0"/>
              <a:t>        dx=-dx</a:t>
            </a:r>
          </a:p>
          <a:p>
            <a:pPr marL="0" indent="0">
              <a:buNone/>
            </a:pPr>
            <a:r>
              <a:rPr lang="en-US" sz="2400" dirty="0"/>
              <a:t>   </a:t>
            </a:r>
            <a:r>
              <a:rPr lang="en-US" sz="2400" dirty="0">
                <a:solidFill>
                  <a:schemeClr val="accent2">
                    <a:lumMod val="75000"/>
                  </a:schemeClr>
                </a:solidFill>
              </a:rPr>
              <a:t> if </a:t>
            </a:r>
            <a:r>
              <a:rPr lang="en-US" sz="2400" dirty="0"/>
              <a:t>(y&lt;=r) or (y&gt;=</a:t>
            </a:r>
            <a:r>
              <a:rPr lang="en-US" sz="2400" dirty="0" err="1"/>
              <a:t>screenY</a:t>
            </a:r>
            <a:r>
              <a:rPr lang="en-US" sz="2400" dirty="0"/>
              <a:t>-r):</a:t>
            </a:r>
          </a:p>
          <a:p>
            <a:pPr marL="0" indent="0">
              <a:buNone/>
            </a:pPr>
            <a:r>
              <a:rPr lang="en-US" sz="2400" dirty="0"/>
              <a:t>        </a:t>
            </a:r>
            <a:r>
              <a:rPr lang="en-US" sz="2400" dirty="0" err="1"/>
              <a:t>dy</a:t>
            </a:r>
            <a:r>
              <a:rPr lang="en-US" sz="2400" dirty="0"/>
              <a:t>=-</a:t>
            </a:r>
            <a:r>
              <a:rPr lang="en-US" sz="2400" dirty="0" err="1"/>
              <a:t>dy</a:t>
            </a:r>
            <a:endParaRPr lang="en-US" sz="2400" dirty="0"/>
          </a:p>
          <a:p>
            <a:pPr marL="0" indent="0">
              <a:buNone/>
            </a:pPr>
            <a:r>
              <a:rPr lang="en-US" sz="2400" dirty="0"/>
              <a:t>    </a:t>
            </a:r>
            <a:r>
              <a:rPr lang="en-US" sz="2400" dirty="0" err="1"/>
              <a:t>pygame.time.delay</a:t>
            </a:r>
            <a:r>
              <a:rPr lang="en-US" sz="2400" dirty="0"/>
              <a:t>(10)</a:t>
            </a:r>
            <a:endParaRPr lang="ru-RU" sz="2400" dirty="0"/>
          </a:p>
        </p:txBody>
      </p:sp>
    </p:spTree>
    <p:extLst>
      <p:ext uri="{BB962C8B-B14F-4D97-AF65-F5344CB8AC3E}">
        <p14:creationId xmlns:p14="http://schemas.microsoft.com/office/powerpoint/2010/main" val="17368336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 smtClean="0">
                <a:solidFill>
                  <a:srgbClr val="0070C0"/>
                </a:solidFill>
              </a:rPr>
              <a:t>Цикл </a:t>
            </a:r>
            <a:r>
              <a:rPr lang="ru-RU" dirty="0">
                <a:solidFill>
                  <a:srgbClr val="0070C0"/>
                </a:solidFill>
              </a:rPr>
              <a:t>с условием</a:t>
            </a:r>
            <a:r>
              <a:rPr lang="ru-RU" dirty="0"/>
              <a:t/>
            </a:r>
            <a:br>
              <a:rPr lang="ru-RU" dirty="0"/>
            </a:b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dirty="0">
                <a:solidFill>
                  <a:schemeClr val="accent2">
                    <a:lumMod val="75000"/>
                  </a:schemeClr>
                </a:solidFill>
              </a:rPr>
              <a:t> for </a:t>
            </a:r>
            <a:r>
              <a:rPr lang="en-US" sz="2400" dirty="0"/>
              <a:t>event in </a:t>
            </a:r>
            <a:r>
              <a:rPr lang="en-US" sz="2400" dirty="0" err="1"/>
              <a:t>pygame.event.get</a:t>
            </a:r>
            <a:r>
              <a:rPr lang="en-US" sz="2400" dirty="0"/>
              <a:t>():</a:t>
            </a:r>
          </a:p>
          <a:p>
            <a:pPr marL="0" indent="0">
              <a:buNone/>
            </a:pPr>
            <a:r>
              <a:rPr lang="en-US" sz="2400" dirty="0"/>
              <a:t>        if </a:t>
            </a:r>
            <a:r>
              <a:rPr lang="en-US" sz="2400" dirty="0" err="1"/>
              <a:t>event.type</a:t>
            </a:r>
            <a:r>
              <a:rPr lang="en-US" sz="2400" dirty="0"/>
              <a:t> == </a:t>
            </a:r>
            <a:r>
              <a:rPr lang="en-US" sz="2400" dirty="0" err="1"/>
              <a:t>pygame.QUIT</a:t>
            </a:r>
            <a:r>
              <a:rPr lang="en-US" sz="2400" dirty="0"/>
              <a:t>: </a:t>
            </a:r>
          </a:p>
          <a:p>
            <a:pPr marL="0" indent="0">
              <a:buNone/>
            </a:pPr>
            <a:r>
              <a:rPr lang="en-US" sz="2400" dirty="0"/>
              <a:t>            running = </a:t>
            </a:r>
            <a:r>
              <a:rPr lang="en-US" sz="2400" dirty="0">
                <a:solidFill>
                  <a:schemeClr val="accent2">
                    <a:lumMod val="75000"/>
                  </a:schemeClr>
                </a:solidFill>
              </a:rPr>
              <a:t>False</a:t>
            </a:r>
          </a:p>
          <a:p>
            <a:pPr marL="0" indent="0">
              <a:buNone/>
            </a:pPr>
            <a:r>
              <a:rPr lang="en-US" sz="2400" dirty="0"/>
              <a:t>    </a:t>
            </a:r>
            <a:r>
              <a:rPr lang="en-US" sz="2400" dirty="0" err="1"/>
              <a:t>pygame.display.flip</a:t>
            </a:r>
            <a:r>
              <a:rPr lang="en-US" sz="2400" dirty="0"/>
              <a:t>()</a:t>
            </a:r>
          </a:p>
          <a:p>
            <a:pPr marL="0" indent="0">
              <a:buNone/>
            </a:pPr>
            <a:r>
              <a:rPr lang="en-US" sz="2400" dirty="0" err="1"/>
              <a:t>pygame.quit</a:t>
            </a:r>
            <a:r>
              <a:rPr lang="en-US" sz="2400" dirty="0"/>
              <a:t>()</a:t>
            </a:r>
            <a:endParaRPr lang="ru-RU" sz="2400" dirty="0"/>
          </a:p>
        </p:txBody>
      </p:sp>
    </p:spTree>
    <p:extLst>
      <p:ext uri="{BB962C8B-B14F-4D97-AF65-F5344CB8AC3E}">
        <p14:creationId xmlns:p14="http://schemas.microsoft.com/office/powerpoint/2010/main" val="38703123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 smtClean="0">
                <a:solidFill>
                  <a:srgbClr val="0070C0"/>
                </a:solidFill>
              </a:rPr>
              <a:t>Цикл </a:t>
            </a:r>
            <a:r>
              <a:rPr lang="ru-RU" dirty="0">
                <a:solidFill>
                  <a:srgbClr val="0070C0"/>
                </a:solidFill>
              </a:rPr>
              <a:t>с условием</a:t>
            </a:r>
            <a:r>
              <a:rPr lang="ru-RU" dirty="0"/>
              <a:t/>
            </a:r>
            <a:br>
              <a:rPr lang="ru-RU" dirty="0"/>
            </a:b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ru-RU" sz="2400" dirty="0" smtClean="0"/>
              <a:t>Самостоятельно:</a:t>
            </a:r>
          </a:p>
          <a:p>
            <a:pPr marL="457200" indent="-457200">
              <a:buAutoNum type="arabicPeriod"/>
            </a:pPr>
            <a:r>
              <a:rPr lang="ru-RU" sz="2400" dirty="0" smtClean="0"/>
              <a:t>Два шара: один двигается по горизонтали, другой по вертикали;</a:t>
            </a:r>
          </a:p>
          <a:p>
            <a:pPr marL="457200" indent="-457200">
              <a:buAutoNum type="arabicPeriod"/>
            </a:pPr>
            <a:r>
              <a:rPr lang="ru-RU" sz="2400" dirty="0" smtClean="0"/>
              <a:t>Два шара: оба двигаются по диагонали, но под разными углами</a:t>
            </a:r>
          </a:p>
          <a:p>
            <a:pPr marL="457200" indent="-457200">
              <a:buAutoNum type="arabicPeriod"/>
            </a:pPr>
            <a:r>
              <a:rPr lang="ru-RU" sz="2400" dirty="0" smtClean="0"/>
              <a:t>Нарисовать в углах лузы. Если шар попадает в лузу – </a:t>
            </a:r>
            <a:r>
              <a:rPr lang="en-US" sz="3600" dirty="0" smtClean="0">
                <a:solidFill>
                  <a:srgbClr val="FF0000"/>
                </a:solidFill>
              </a:rPr>
              <a:t>Game over</a:t>
            </a:r>
            <a:endParaRPr lang="ru-RU" sz="36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106984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491</TotalTime>
  <Words>2479</Words>
  <Application>Microsoft Office PowerPoint</Application>
  <PresentationFormat>Широкоэкранный</PresentationFormat>
  <Paragraphs>411</Paragraphs>
  <Slides>59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59</vt:i4>
      </vt:variant>
    </vt:vector>
  </HeadingPairs>
  <TitlesOfParts>
    <vt:vector size="63" baseType="lpstr">
      <vt:lpstr>Arial</vt:lpstr>
      <vt:lpstr>Calibri</vt:lpstr>
      <vt:lpstr>Calibri Light</vt:lpstr>
      <vt:lpstr>Тема Office</vt:lpstr>
      <vt:lpstr>Циклический алгоритм</vt:lpstr>
      <vt:lpstr>Циклический алгоритм </vt:lpstr>
      <vt:lpstr>Циклический алгоритм </vt:lpstr>
      <vt:lpstr>Цикл со счетчиком</vt:lpstr>
      <vt:lpstr>Цикл со счетчиком</vt:lpstr>
      <vt:lpstr>Цикл со счетчиком</vt:lpstr>
      <vt:lpstr>Цикл со счетчиком</vt:lpstr>
      <vt:lpstr>Цикл со счетчиком</vt:lpstr>
      <vt:lpstr>Цикл со счетчиком</vt:lpstr>
      <vt:lpstr>Цикл со счетчиком</vt:lpstr>
      <vt:lpstr>Цикл со счетчиком</vt:lpstr>
      <vt:lpstr>Цикл со счетчиком</vt:lpstr>
      <vt:lpstr>Цикл со счетчиком</vt:lpstr>
      <vt:lpstr>Цикл со счетчиком</vt:lpstr>
      <vt:lpstr>Цикл со счетчиком</vt:lpstr>
      <vt:lpstr>Цикл со счетчиком</vt:lpstr>
      <vt:lpstr>Цикл со счетчиком</vt:lpstr>
      <vt:lpstr>Цикл со счетчиком</vt:lpstr>
      <vt:lpstr>Цикл со счетчиком (графические примеры)</vt:lpstr>
      <vt:lpstr>Цикл со счетчиком (графические примеры)</vt:lpstr>
      <vt:lpstr>Цикл со счетчиком (графические примеры)</vt:lpstr>
      <vt:lpstr>Цикл со счетчиком (графические примеры)</vt:lpstr>
      <vt:lpstr>Цикл со счетчиком (графические примеры)</vt:lpstr>
      <vt:lpstr>Цикл со счетчиком (графические примеры)</vt:lpstr>
      <vt:lpstr>Цикл со счетчиком (графические примеры)</vt:lpstr>
      <vt:lpstr>Цикл со счетчиком (графические примеры)</vt:lpstr>
      <vt:lpstr>Цикл со счетчиком (графические примеры)</vt:lpstr>
      <vt:lpstr>Цикл со счетчиком (графические примеры)</vt:lpstr>
      <vt:lpstr>Цикл со счетчиком </vt:lpstr>
      <vt:lpstr>Цикл со счетчиком </vt:lpstr>
      <vt:lpstr>Цикл со счетчиком </vt:lpstr>
      <vt:lpstr>Цикл со счетчиком (графические примеры)</vt:lpstr>
      <vt:lpstr>Цикл с условием </vt:lpstr>
      <vt:lpstr>Цикл с условием </vt:lpstr>
      <vt:lpstr>Цикл с условием </vt:lpstr>
      <vt:lpstr>Цикл с условием </vt:lpstr>
      <vt:lpstr>Цикл с условием </vt:lpstr>
      <vt:lpstr>Цикл с условием </vt:lpstr>
      <vt:lpstr>Цикл с условием </vt:lpstr>
      <vt:lpstr>Цикл с условием </vt:lpstr>
      <vt:lpstr>Цикл с условием </vt:lpstr>
      <vt:lpstr>Цикл с условием </vt:lpstr>
      <vt:lpstr>Цикл с условием </vt:lpstr>
      <vt:lpstr>Цикл с условием </vt:lpstr>
      <vt:lpstr>Цикл с условием </vt:lpstr>
      <vt:lpstr>Цикл с условием </vt:lpstr>
      <vt:lpstr>Цикл с условием </vt:lpstr>
      <vt:lpstr>Цикл с условием </vt:lpstr>
      <vt:lpstr>Цикл с условием </vt:lpstr>
      <vt:lpstr>Цикл с условием </vt:lpstr>
      <vt:lpstr>Цикл с условием </vt:lpstr>
      <vt:lpstr>Цикл с условием </vt:lpstr>
      <vt:lpstr>Цикл с условием </vt:lpstr>
      <vt:lpstr>Цикл с условием </vt:lpstr>
      <vt:lpstr>Цикл с условием </vt:lpstr>
      <vt:lpstr>Цикл с условием </vt:lpstr>
      <vt:lpstr>Цикл с условием </vt:lpstr>
      <vt:lpstr>Цикл с условием </vt:lpstr>
      <vt:lpstr>Цикл с условием 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Циклический алгоритм</dc:title>
  <dc:creator>Leonid</dc:creator>
  <cp:lastModifiedBy>Leonid</cp:lastModifiedBy>
  <cp:revision>27</cp:revision>
  <dcterms:created xsi:type="dcterms:W3CDTF">2019-08-25T11:15:45Z</dcterms:created>
  <dcterms:modified xsi:type="dcterms:W3CDTF">2019-09-14T03:09:23Z</dcterms:modified>
</cp:coreProperties>
</file>